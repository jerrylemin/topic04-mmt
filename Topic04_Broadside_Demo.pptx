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cefa36a9224605" /><Relationship Type="http://schemas.openxmlformats.org/officeDocument/2006/relationships/extended-properties" Target="/docProps/app.xml" Id="R0858eab436f04110" /><Relationship Type="http://schemas.openxmlformats.org/officeDocument/2006/relationships/officeDocument" Target="/ppt/presentation.xml" Id="Rc6fb4e10f75d4e62" /></Relationships>
</file>

<file path=ppt/presentation.xml><?xml version="1.0" encoding="utf-8"?>
<p:presentation xmlns:p="http://schemas.openxmlformats.org/presentationml/2006/main">
  <p:sldMasterIdLst>
    <p:sldMasterId xmlns:r="http://schemas.openxmlformats.org/officeDocument/2006/relationships" id="2147483648" r:id="R65596750a4124384"/>
  </p:sldMasterIdLst>
  <p:notesMasterIdLst>
    <p:notesMasterId xmlns:r="http://schemas.openxmlformats.org/officeDocument/2006/relationships" r:id="Rc21b337b2e3c44d6"/>
  </p:notesMasterIdLst>
  <p:sldIdLst>
    <p:sldId xmlns:r="http://schemas.openxmlformats.org/officeDocument/2006/relationships" id="256" r:id="Rccebe6ff61344f18"/>
    <p:sldId xmlns:r="http://schemas.openxmlformats.org/officeDocument/2006/relationships" id="257" r:id="R9ecd55582c04485a"/>
    <p:sldId xmlns:r="http://schemas.openxmlformats.org/officeDocument/2006/relationships" id="258" r:id="R3ce00f2c945f4f61"/>
    <p:sldId xmlns:r="http://schemas.openxmlformats.org/officeDocument/2006/relationships" id="259" r:id="R246a852e74804ce2"/>
    <p:sldId xmlns:r="http://schemas.openxmlformats.org/officeDocument/2006/relationships" id="260" r:id="R56599d254b834ec8"/>
    <p:sldId xmlns:r="http://schemas.openxmlformats.org/officeDocument/2006/relationships" id="261" r:id="R0cb23d6254b14d58"/>
    <p:sldId xmlns:r="http://schemas.openxmlformats.org/officeDocument/2006/relationships" id="262" r:id="Ra303a587614d496b"/>
    <p:sldId xmlns:r="http://schemas.openxmlformats.org/officeDocument/2006/relationships" id="263" r:id="R2fae0e27150a4c00"/>
    <p:sldId xmlns:r="http://schemas.openxmlformats.org/officeDocument/2006/relationships" id="264" r:id="R58591f84b2cb4934"/>
    <p:sldId xmlns:r="http://schemas.openxmlformats.org/officeDocument/2006/relationships" id="265" r:id="Ra6a6a55ef7d0486d"/>
    <p:sldId xmlns:r="http://schemas.openxmlformats.org/officeDocument/2006/relationships" id="266" r:id="R4c57257afcba4cb0"/>
    <p:sldId xmlns:r="http://schemas.openxmlformats.org/officeDocument/2006/relationships" id="267" r:id="Rba208a49acf542f2"/>
    <p:sldId xmlns:r="http://schemas.openxmlformats.org/officeDocument/2006/relationships" id="268" r:id="R46bff207e6ae4a4f"/>
    <p:sldId xmlns:r="http://schemas.openxmlformats.org/officeDocument/2006/relationships" id="269" r:id="Rc9e3cd5781204051"/>
    <p:sldId xmlns:r="http://schemas.openxmlformats.org/officeDocument/2006/relationships" id="270" r:id="R83973b71e1204353"/>
    <p:sldId xmlns:r="http://schemas.openxmlformats.org/officeDocument/2006/relationships" id="271" r:id="Rd1c6cc2519374c55"/>
    <p:sldId xmlns:r="http://schemas.openxmlformats.org/officeDocument/2006/relationships" id="272" r:id="R54a2880184614a86"/>
    <p:sldId xmlns:r="http://schemas.openxmlformats.org/officeDocument/2006/relationships" id="273" r:id="R6d3563cbddac46cc"/>
    <p:sldId xmlns:r="http://schemas.openxmlformats.org/officeDocument/2006/relationships" id="274" r:id="R43cdf56d64f34e88"/>
    <p:sldId xmlns:r="http://schemas.openxmlformats.org/officeDocument/2006/relationships" id="275" r:id="Reaa5f9f127fd4067"/>
    <p:sldId xmlns:r="http://schemas.openxmlformats.org/officeDocument/2006/relationships" id="276" r:id="R707c202007ce4d61"/>
    <p:sldId xmlns:r="http://schemas.openxmlformats.org/officeDocument/2006/relationships" id="277" r:id="Rf5e509ecd9014198"/>
    <p:sldId xmlns:r="http://schemas.openxmlformats.org/officeDocument/2006/relationships" id="278" r:id="R7c591858caa64395"/>
    <p:sldId xmlns:r="http://schemas.openxmlformats.org/officeDocument/2006/relationships" id="279" r:id="R6cbbf725cde54afc"/>
    <p:sldId xmlns:r="http://schemas.openxmlformats.org/officeDocument/2006/relationships" id="280" r:id="R2535c836cdf14e25"/>
    <p:sldId xmlns:r="http://schemas.openxmlformats.org/officeDocument/2006/relationships" id="281" r:id="R3017f9dc402c49d6"/>
    <p:sldId xmlns:r="http://schemas.openxmlformats.org/officeDocument/2006/relationships" id="282" r:id="R29ec99caca414e25"/>
    <p:sldId xmlns:r="http://schemas.openxmlformats.org/officeDocument/2006/relationships" id="283" r:id="R28d99957330645ad"/>
    <p:sldId xmlns:r="http://schemas.openxmlformats.org/officeDocument/2006/relationships" id="284" r:id="R73d9fd0a9aa04da5"/>
    <p:sldId xmlns:r="http://schemas.openxmlformats.org/officeDocument/2006/relationships" id="285" r:id="R8f5513e9bbaf415b"/>
    <p:sldId xmlns:r="http://schemas.openxmlformats.org/officeDocument/2006/relationships" id="286" r:id="R920c10dc0c894fb5"/>
    <p:sldId xmlns:r="http://schemas.openxmlformats.org/officeDocument/2006/relationships" id="287" r:id="R75917e4935634128"/>
    <p:sldId xmlns:r="http://schemas.openxmlformats.org/officeDocument/2006/relationships" id="288" r:id="Rff99246bce96450f"/>
    <p:sldId xmlns:r="http://schemas.openxmlformats.org/officeDocument/2006/relationships" id="289" r:id="Rb2bdb6f649e0418f"/>
    <p:sldId xmlns:r="http://schemas.openxmlformats.org/officeDocument/2006/relationships" id="290" r:id="Rc47318554cdc47b9"/>
    <p:sldId xmlns:r="http://schemas.openxmlformats.org/officeDocument/2006/relationships" id="291" r:id="R53c7e2bcc451485d"/>
    <p:sldId xmlns:r="http://schemas.openxmlformats.org/officeDocument/2006/relationships" id="292" r:id="Rb3306ef2d02e49fb"/>
    <p:sldId xmlns:r="http://schemas.openxmlformats.org/officeDocument/2006/relationships" id="293" r:id="R0afcbbdf5152461d"/>
    <p:sldId xmlns:r="http://schemas.openxmlformats.org/officeDocument/2006/relationships" id="294" r:id="R5b3cab70dc054d2e"/>
    <p:sldId xmlns:r="http://schemas.openxmlformats.org/officeDocument/2006/relationships" id="295" r:id="Re9f64505f20446df"/>
    <p:sldId xmlns:r="http://schemas.openxmlformats.org/officeDocument/2006/relationships" id="296" r:id="R54e034c0265846b1"/>
    <p:sldId xmlns:r="http://schemas.openxmlformats.org/officeDocument/2006/relationships" id="297" r:id="R642f4fef99fd4c0d"/>
    <p:sldId xmlns:r="http://schemas.openxmlformats.org/officeDocument/2006/relationships" id="298" r:id="Rf1ef519d73fa4c2d"/>
    <p:sldId xmlns:r="http://schemas.openxmlformats.org/officeDocument/2006/relationships" id="299" r:id="Rc7db01e108314394"/>
    <p:sldId xmlns:r="http://schemas.openxmlformats.org/officeDocument/2006/relationships" id="300" r:id="R0a12b17d6e404868"/>
    <p:sldId xmlns:r="http://schemas.openxmlformats.org/officeDocument/2006/relationships" id="301" r:id="R230319bf395a4c2f"/>
    <p:sldId xmlns:r="http://schemas.openxmlformats.org/officeDocument/2006/relationships" id="302" r:id="R7d11a7921f2b4954"/>
    <p:sldId xmlns:r="http://schemas.openxmlformats.org/officeDocument/2006/relationships" id="303" r:id="Rbaf432a66ceb4162"/>
    <p:sldId xmlns:r="http://schemas.openxmlformats.org/officeDocument/2006/relationships" id="304" r:id="Rfce62987bd534f5c"/>
    <p:sldId xmlns:r="http://schemas.openxmlformats.org/officeDocument/2006/relationships" id="305" r:id="Ra42c316fa8e64983"/>
    <p:sldId xmlns:r="http://schemas.openxmlformats.org/officeDocument/2006/relationships" id="306" r:id="R3540d9010f464c0c"/>
    <p:sldId xmlns:r="http://schemas.openxmlformats.org/officeDocument/2006/relationships" id="307" r:id="Raa59438abda04014"/>
    <p:sldId xmlns:r="http://schemas.openxmlformats.org/officeDocument/2006/relationships" id="308" r:id="R7148bd08350e46da"/>
    <p:sldId xmlns:r="http://schemas.openxmlformats.org/officeDocument/2006/relationships" id="309" r:id="Rd00cb0a988f74c51"/>
    <p:sldId xmlns:r="http://schemas.openxmlformats.org/officeDocument/2006/relationships" id="310" r:id="Rd569c0aa684c41a9"/>
    <p:sldId xmlns:r="http://schemas.openxmlformats.org/officeDocument/2006/relationships" id="311" r:id="R4ddce7cd38dd4234"/>
    <p:sldId xmlns:r="http://schemas.openxmlformats.org/officeDocument/2006/relationships" id="312" r:id="Rf6f503462ab1482b"/>
    <p:sldId xmlns:r="http://schemas.openxmlformats.org/officeDocument/2006/relationships" id="313" r:id="Ref49f928b5084bc4"/>
    <p:sldId xmlns:r="http://schemas.openxmlformats.org/officeDocument/2006/relationships" id="314" r:id="R280ebbb52c174d16"/>
    <p:sldId xmlns:r="http://schemas.openxmlformats.org/officeDocument/2006/relationships" id="315" r:id="R3e689737aec04871"/>
    <p:sldId xmlns:r="http://schemas.openxmlformats.org/officeDocument/2006/relationships" id="316" r:id="R518fb01861514631"/>
    <p:sldId xmlns:r="http://schemas.openxmlformats.org/officeDocument/2006/relationships" id="317" r:id="R3940be1ddb5b4453"/>
    <p:sldId xmlns:r="http://schemas.openxmlformats.org/officeDocument/2006/relationships" id="318" r:id="R97c73cba20004320"/>
    <p:sldId xmlns:r="http://schemas.openxmlformats.org/officeDocument/2006/relationships" id="319" r:id="R915cf3f0801d4319"/>
    <p:sldId xmlns:r="http://schemas.openxmlformats.org/officeDocument/2006/relationships" id="320" r:id="R41b756a5a26f4362"/>
    <p:sldId xmlns:r="http://schemas.openxmlformats.org/officeDocument/2006/relationships" id="321" r:id="R93390ad0ef6a4811"/>
    <p:sldId xmlns:r="http://schemas.openxmlformats.org/officeDocument/2006/relationships" id="322" r:id="R860d35c606054e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9692f39f4e4bb3" /><Relationship Type="http://schemas.openxmlformats.org/officeDocument/2006/relationships/slideMaster" Target="/ppt/slideMasters/slideMaster1.xml" Id="R65596750a4124384" /><Relationship Type="http://schemas.openxmlformats.org/officeDocument/2006/relationships/notesMaster" Target="/ppt/notesMasters/notesMaster1.xml" Id="Rc21b337b2e3c44d6" /><Relationship Type="http://schemas.openxmlformats.org/officeDocument/2006/relationships/presProps" Target="/ppt/presProps.xml" Id="Rf7e96edd64bf422a" /><Relationship Type="http://schemas.openxmlformats.org/officeDocument/2006/relationships/tableStyles" Target="/ppt/tableStyles.xml" Id="R2619a4aafb4e4c27" /><Relationship Type="http://schemas.openxmlformats.org/officeDocument/2006/relationships/slide" Target="/ppt/slides/slide1.xml" Id="Rccebe6ff61344f18" /><Relationship Type="http://schemas.openxmlformats.org/officeDocument/2006/relationships/slide" Target="/ppt/slides/slide2.xml" Id="R9ecd55582c04485a" /><Relationship Type="http://schemas.openxmlformats.org/officeDocument/2006/relationships/slide" Target="/ppt/slides/slide3.xml" Id="R3ce00f2c945f4f61" /><Relationship Type="http://schemas.openxmlformats.org/officeDocument/2006/relationships/slide" Target="/ppt/slides/slide4.xml" Id="R246a852e74804ce2" /><Relationship Type="http://schemas.openxmlformats.org/officeDocument/2006/relationships/slide" Target="/ppt/slides/slide5.xml" Id="R56599d254b834ec8" /><Relationship Type="http://schemas.openxmlformats.org/officeDocument/2006/relationships/slide" Target="/ppt/slides/slide6.xml" Id="R0cb23d6254b14d58" /><Relationship Type="http://schemas.openxmlformats.org/officeDocument/2006/relationships/slide" Target="/ppt/slides/slide7.xml" Id="Ra303a587614d496b" /><Relationship Type="http://schemas.openxmlformats.org/officeDocument/2006/relationships/slide" Target="/ppt/slides/slide8.xml" Id="R2fae0e27150a4c00" /><Relationship Type="http://schemas.openxmlformats.org/officeDocument/2006/relationships/slide" Target="/ppt/slides/slide9.xml" Id="R58591f84b2cb4934" /><Relationship Type="http://schemas.openxmlformats.org/officeDocument/2006/relationships/slide" Target="/ppt/slides/slide10.xml" Id="Ra6a6a55ef7d0486d" /><Relationship Type="http://schemas.openxmlformats.org/officeDocument/2006/relationships/slide" Target="/ppt/slides/slide11.xml" Id="R4c57257afcba4cb0" /><Relationship Type="http://schemas.openxmlformats.org/officeDocument/2006/relationships/slide" Target="/ppt/slides/slide12.xml" Id="Rba208a49acf542f2" /><Relationship Type="http://schemas.openxmlformats.org/officeDocument/2006/relationships/slide" Target="/ppt/slides/slide13.xml" Id="R46bff207e6ae4a4f" /><Relationship Type="http://schemas.openxmlformats.org/officeDocument/2006/relationships/slide" Target="/ppt/slides/slide14.xml" Id="Rc9e3cd5781204051" /><Relationship Type="http://schemas.openxmlformats.org/officeDocument/2006/relationships/slide" Target="/ppt/slides/slide15.xml" Id="R83973b71e1204353" /><Relationship Type="http://schemas.openxmlformats.org/officeDocument/2006/relationships/slide" Target="/ppt/slides/slide16.xml" Id="Rd1c6cc2519374c55" /><Relationship Type="http://schemas.openxmlformats.org/officeDocument/2006/relationships/slide" Target="/ppt/slides/slide17.xml" Id="R54a2880184614a86" /><Relationship Type="http://schemas.openxmlformats.org/officeDocument/2006/relationships/slide" Target="/ppt/slides/slide18.xml" Id="R6d3563cbddac46cc" /><Relationship Type="http://schemas.openxmlformats.org/officeDocument/2006/relationships/slide" Target="/ppt/slides/slide19.xml" Id="R43cdf56d64f34e88" /><Relationship Type="http://schemas.openxmlformats.org/officeDocument/2006/relationships/slide" Target="/ppt/slides/slide20.xml" Id="Reaa5f9f127fd4067" /><Relationship Type="http://schemas.openxmlformats.org/officeDocument/2006/relationships/slide" Target="/ppt/slides/slide21.xml" Id="R707c202007ce4d61" /><Relationship Type="http://schemas.openxmlformats.org/officeDocument/2006/relationships/slide" Target="/ppt/slides/slide22.xml" Id="Rf5e509ecd9014198" /><Relationship Type="http://schemas.openxmlformats.org/officeDocument/2006/relationships/slide" Target="/ppt/slides/slide23.xml" Id="R7c591858caa64395" /><Relationship Type="http://schemas.openxmlformats.org/officeDocument/2006/relationships/slide" Target="/ppt/slides/slide24.xml" Id="R6cbbf725cde54afc" /><Relationship Type="http://schemas.openxmlformats.org/officeDocument/2006/relationships/slide" Target="/ppt/slides/slide25.xml" Id="R2535c836cdf14e25" /><Relationship Type="http://schemas.openxmlformats.org/officeDocument/2006/relationships/slide" Target="/ppt/slides/slide26.xml" Id="R3017f9dc402c49d6" /><Relationship Type="http://schemas.openxmlformats.org/officeDocument/2006/relationships/slide" Target="/ppt/slides/slide27.xml" Id="R29ec99caca414e25" /><Relationship Type="http://schemas.openxmlformats.org/officeDocument/2006/relationships/slide" Target="/ppt/slides/slide28.xml" Id="R28d99957330645ad" /><Relationship Type="http://schemas.openxmlformats.org/officeDocument/2006/relationships/slide" Target="/ppt/slides/slide29.xml" Id="R73d9fd0a9aa04da5" /><Relationship Type="http://schemas.openxmlformats.org/officeDocument/2006/relationships/slide" Target="/ppt/slides/slide30.xml" Id="R8f5513e9bbaf415b" /><Relationship Type="http://schemas.openxmlformats.org/officeDocument/2006/relationships/slide" Target="/ppt/slides/slide31.xml" Id="R920c10dc0c894fb5" /><Relationship Type="http://schemas.openxmlformats.org/officeDocument/2006/relationships/slide" Target="/ppt/slides/slide32.xml" Id="R75917e4935634128" /><Relationship Type="http://schemas.openxmlformats.org/officeDocument/2006/relationships/slide" Target="/ppt/slides/slide33.xml" Id="Rff99246bce96450f" /><Relationship Type="http://schemas.openxmlformats.org/officeDocument/2006/relationships/slide" Target="/ppt/slides/slide34.xml" Id="Rb2bdb6f649e0418f" /><Relationship Type="http://schemas.openxmlformats.org/officeDocument/2006/relationships/slide" Target="/ppt/slides/slide35.xml" Id="Rc47318554cdc47b9" /><Relationship Type="http://schemas.openxmlformats.org/officeDocument/2006/relationships/slide" Target="/ppt/slides/slide36.xml" Id="R53c7e2bcc451485d" /><Relationship Type="http://schemas.openxmlformats.org/officeDocument/2006/relationships/slide" Target="/ppt/slides/slide37.xml" Id="Rb3306ef2d02e49fb" /><Relationship Type="http://schemas.openxmlformats.org/officeDocument/2006/relationships/slide" Target="/ppt/slides/slide38.xml" Id="R0afcbbdf5152461d" /><Relationship Type="http://schemas.openxmlformats.org/officeDocument/2006/relationships/slide" Target="/ppt/slides/slide39.xml" Id="R5b3cab70dc054d2e" /><Relationship Type="http://schemas.openxmlformats.org/officeDocument/2006/relationships/slide" Target="/ppt/slides/slide40.xml" Id="Re9f64505f20446df" /><Relationship Type="http://schemas.openxmlformats.org/officeDocument/2006/relationships/slide" Target="/ppt/slides/slide41.xml" Id="R54e034c0265846b1" /><Relationship Type="http://schemas.openxmlformats.org/officeDocument/2006/relationships/slide" Target="/ppt/slides/slide42.xml" Id="R642f4fef99fd4c0d" /><Relationship Type="http://schemas.openxmlformats.org/officeDocument/2006/relationships/slide" Target="/ppt/slides/slide43.xml" Id="Rf1ef519d73fa4c2d" /><Relationship Type="http://schemas.openxmlformats.org/officeDocument/2006/relationships/slide" Target="/ppt/slides/slide44.xml" Id="Rc7db01e108314394" /><Relationship Type="http://schemas.openxmlformats.org/officeDocument/2006/relationships/slide" Target="/ppt/slides/slide45.xml" Id="R0a12b17d6e404868" /><Relationship Type="http://schemas.openxmlformats.org/officeDocument/2006/relationships/slide" Target="/ppt/slides/slide46.xml" Id="R230319bf395a4c2f" /><Relationship Type="http://schemas.openxmlformats.org/officeDocument/2006/relationships/slide" Target="/ppt/slides/slide47.xml" Id="R7d11a7921f2b4954" /><Relationship Type="http://schemas.openxmlformats.org/officeDocument/2006/relationships/slide" Target="/ppt/slides/slide48.xml" Id="Rbaf432a66ceb4162" /><Relationship Type="http://schemas.openxmlformats.org/officeDocument/2006/relationships/slide" Target="/ppt/slides/slide49.xml" Id="Rfce62987bd534f5c" /><Relationship Type="http://schemas.openxmlformats.org/officeDocument/2006/relationships/slide" Target="/ppt/slides/slide50.xml" Id="Ra42c316fa8e64983" /><Relationship Type="http://schemas.openxmlformats.org/officeDocument/2006/relationships/slide" Target="/ppt/slides/slide51.xml" Id="R3540d9010f464c0c" /><Relationship Type="http://schemas.openxmlformats.org/officeDocument/2006/relationships/slide" Target="/ppt/slides/slide52.xml" Id="Raa59438abda04014" /><Relationship Type="http://schemas.openxmlformats.org/officeDocument/2006/relationships/slide" Target="/ppt/slides/slide53.xml" Id="R7148bd08350e46da" /><Relationship Type="http://schemas.openxmlformats.org/officeDocument/2006/relationships/slide" Target="/ppt/slides/slide54.xml" Id="Rd00cb0a988f74c51" /><Relationship Type="http://schemas.openxmlformats.org/officeDocument/2006/relationships/slide" Target="/ppt/slides/slide55.xml" Id="Rd569c0aa684c41a9" /><Relationship Type="http://schemas.openxmlformats.org/officeDocument/2006/relationships/slide" Target="/ppt/slides/slide56.xml" Id="R4ddce7cd38dd4234" /><Relationship Type="http://schemas.openxmlformats.org/officeDocument/2006/relationships/slide" Target="/ppt/slides/slide57.xml" Id="Rf6f503462ab1482b" /><Relationship Type="http://schemas.openxmlformats.org/officeDocument/2006/relationships/slide" Target="/ppt/slides/slide58.xml" Id="Ref49f928b5084bc4" /><Relationship Type="http://schemas.openxmlformats.org/officeDocument/2006/relationships/slide" Target="/ppt/slides/slide59.xml" Id="R280ebbb52c174d16" /><Relationship Type="http://schemas.openxmlformats.org/officeDocument/2006/relationships/slide" Target="/ppt/slides/slide60.xml" Id="R3e689737aec04871" /><Relationship Type="http://schemas.openxmlformats.org/officeDocument/2006/relationships/slide" Target="/ppt/slides/slide61.xml" Id="R518fb01861514631" /><Relationship Type="http://schemas.openxmlformats.org/officeDocument/2006/relationships/slide" Target="/ppt/slides/slide62.xml" Id="R3940be1ddb5b4453" /><Relationship Type="http://schemas.openxmlformats.org/officeDocument/2006/relationships/slide" Target="/ppt/slides/slide63.xml" Id="R97c73cba20004320" /><Relationship Type="http://schemas.openxmlformats.org/officeDocument/2006/relationships/slide" Target="/ppt/slides/slide64.xml" Id="R915cf3f0801d4319" /><Relationship Type="http://schemas.openxmlformats.org/officeDocument/2006/relationships/slide" Target="/ppt/slides/slide65.xml" Id="R41b756a5a26f4362" /><Relationship Type="http://schemas.openxmlformats.org/officeDocument/2006/relationships/slide" Target="/ppt/slides/slide66.xml" Id="R93390ad0ef6a4811" /><Relationship Type="http://schemas.openxmlformats.org/officeDocument/2006/relationships/slide" Target="/ppt/slides/slide67.xml" Id="R860d35c606054e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73a2ceef343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adb17d4a5d4d78" /><Relationship Type="http://schemas.openxmlformats.org/officeDocument/2006/relationships/notesMaster" Target="/ppt/notesMasters/notesMaster1.xml" Id="Rcb0ba49eced746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3e202716c24fd5" /><Relationship Type="http://schemas.openxmlformats.org/officeDocument/2006/relationships/notesMaster" Target="/ppt/notesMasters/notesMaster1.xml" Id="Rca33f9c4f64944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fde1ba90384352" /><Relationship Type="http://schemas.openxmlformats.org/officeDocument/2006/relationships/notesMaster" Target="/ppt/notesMasters/notesMaster1.xml" Id="Rd15d6bd7109e4a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d41b743a444367" /><Relationship Type="http://schemas.openxmlformats.org/officeDocument/2006/relationships/notesMaster" Target="/ppt/notesMasters/notesMaster1.xml" Id="Rb00e5efe52c944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da3db20e374c9e" /><Relationship Type="http://schemas.openxmlformats.org/officeDocument/2006/relationships/notesMaster" Target="/ppt/notesMasters/notesMaster1.xml" Id="R289c72fe6fb649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cfec4698a54248" /><Relationship Type="http://schemas.openxmlformats.org/officeDocument/2006/relationships/notesMaster" Target="/ppt/notesMasters/notesMaster1.xml" Id="R3e169078815749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0d66fa9a04466a" /><Relationship Type="http://schemas.openxmlformats.org/officeDocument/2006/relationships/notesMaster" Target="/ppt/notesMasters/notesMaster1.xml" Id="R76f8092e44a247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f7f956400c497a" /><Relationship Type="http://schemas.openxmlformats.org/officeDocument/2006/relationships/notesMaster" Target="/ppt/notesMasters/notesMaster1.xml" Id="Rc6273a18c87f49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331b805c154c1e" /><Relationship Type="http://schemas.openxmlformats.org/officeDocument/2006/relationships/notesMaster" Target="/ppt/notesMasters/notesMaster1.xml" Id="R9a5c0d5bd11744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00743e8d2344d0" /><Relationship Type="http://schemas.openxmlformats.org/officeDocument/2006/relationships/notesMaster" Target="/ppt/notesMasters/notesMaster1.xml" Id="R77046487d0094d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1c9e9cc42044eb" /><Relationship Type="http://schemas.openxmlformats.org/officeDocument/2006/relationships/notesMaster" Target="/ppt/notesMasters/notesMaster1.xml" Id="R3999ef3981bd46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067f28325a493d" /><Relationship Type="http://schemas.openxmlformats.org/officeDocument/2006/relationships/notesMaster" Target="/ppt/notesMasters/notesMaster1.xml" Id="R0fb3a3f3202748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7b51aee13f4131" /><Relationship Type="http://schemas.openxmlformats.org/officeDocument/2006/relationships/notesMaster" Target="/ppt/notesMasters/notesMaster1.xml" Id="Ra0a133f835204c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278b3d5bf944fc" /><Relationship Type="http://schemas.openxmlformats.org/officeDocument/2006/relationships/notesMaster" Target="/ppt/notesMasters/notesMaster1.xml" Id="R6713a237c49341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0cc17adaa94e2b" /><Relationship Type="http://schemas.openxmlformats.org/officeDocument/2006/relationships/notesMaster" Target="/ppt/notesMasters/notesMaster1.xml" Id="R286eaf25730441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64378b0e7741b7" /><Relationship Type="http://schemas.openxmlformats.org/officeDocument/2006/relationships/notesMaster" Target="/ppt/notesMasters/notesMaster1.xml" Id="R3b1f212286b241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f604441a914494" /><Relationship Type="http://schemas.openxmlformats.org/officeDocument/2006/relationships/notesMaster" Target="/ppt/notesMasters/notesMaster1.xml" Id="Rba25376eebde45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99fc512632475b" /><Relationship Type="http://schemas.openxmlformats.org/officeDocument/2006/relationships/notesMaster" Target="/ppt/notesMasters/notesMaster1.xml" Id="R45b250534ace4e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b0d6555adc4bb6" /><Relationship Type="http://schemas.openxmlformats.org/officeDocument/2006/relationships/notesMaster" Target="/ppt/notesMasters/notesMaster1.xml" Id="R95e1a16c2acc46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2428a8c53140e9" /><Relationship Type="http://schemas.openxmlformats.org/officeDocument/2006/relationships/notesMaster" Target="/ppt/notesMasters/notesMaster1.xml" Id="Rd15829f3c18f4b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1fcb9c3edb48b4" /><Relationship Type="http://schemas.openxmlformats.org/officeDocument/2006/relationships/notesMaster" Target="/ppt/notesMasters/notesMaster1.xml" Id="Rdc850680d87141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8aa302283b4316" /><Relationship Type="http://schemas.openxmlformats.org/officeDocument/2006/relationships/notesMaster" Target="/ppt/notesMasters/notesMaster1.xml" Id="R7aca761014cf4b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618f70081e445e0" /><Relationship Type="http://schemas.openxmlformats.org/officeDocument/2006/relationships/notesMaster" Target="/ppt/notesMasters/notesMaster1.xml" Id="R406203098199477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0bbe0994694d29" /><Relationship Type="http://schemas.openxmlformats.org/officeDocument/2006/relationships/notesMaster" Target="/ppt/notesMasters/notesMaster1.xml" Id="R916c22673ee8477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8593b4dd0b48c8" /><Relationship Type="http://schemas.openxmlformats.org/officeDocument/2006/relationships/notesMaster" Target="/ppt/notesMasters/notesMaster1.xml" Id="R6acaf6b150f04a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d1c771483348d1" /><Relationship Type="http://schemas.openxmlformats.org/officeDocument/2006/relationships/notesMaster" Target="/ppt/notesMasters/notesMaster1.xml" Id="R1cf31ec7ac9f42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456d3ab8c7d4388" /><Relationship Type="http://schemas.openxmlformats.org/officeDocument/2006/relationships/notesMaster" Target="/ppt/notesMasters/notesMaster1.xml" Id="R9930e5bacc4d48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e5258f9f8b4904" /><Relationship Type="http://schemas.openxmlformats.org/officeDocument/2006/relationships/notesMaster" Target="/ppt/notesMasters/notesMaster1.xml" Id="R198e1aceb77046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4fa41c33a742d8" /><Relationship Type="http://schemas.openxmlformats.org/officeDocument/2006/relationships/notesMaster" Target="/ppt/notesMasters/notesMaster1.xml" Id="Rc2ff1054b8a146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b7a1005e614676" /><Relationship Type="http://schemas.openxmlformats.org/officeDocument/2006/relationships/notesMaster" Target="/ppt/notesMasters/notesMaster1.xml" Id="R151d0a3d0d3f4d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d657738b9a4e9e" /><Relationship Type="http://schemas.openxmlformats.org/officeDocument/2006/relationships/notesMaster" Target="/ppt/notesMasters/notesMaster1.xml" Id="R627c6fcb021e4f1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9283be5c3346dd" /><Relationship Type="http://schemas.openxmlformats.org/officeDocument/2006/relationships/notesMaster" Target="/ppt/notesMasters/notesMaster1.xml" Id="R012da8e3ec12405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de9b0eec6d94306" /><Relationship Type="http://schemas.openxmlformats.org/officeDocument/2006/relationships/notesMaster" Target="/ppt/notesMasters/notesMaster1.xml" Id="R7fcc67675c1047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a4c6285214448c0" /><Relationship Type="http://schemas.openxmlformats.org/officeDocument/2006/relationships/notesMaster" Target="/ppt/notesMasters/notesMaster1.xml" Id="R0a540c76371149b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9db6bf22d04c79" /><Relationship Type="http://schemas.openxmlformats.org/officeDocument/2006/relationships/notesMaster" Target="/ppt/notesMasters/notesMaster1.xml" Id="R65a9387d0feb492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f38f39b41db4508" /><Relationship Type="http://schemas.openxmlformats.org/officeDocument/2006/relationships/notesMaster" Target="/ppt/notesMasters/notesMaster1.xml" Id="Rcc2f32adc98e41e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e4021c11d814e78" /><Relationship Type="http://schemas.openxmlformats.org/officeDocument/2006/relationships/notesMaster" Target="/ppt/notesMasters/notesMaster1.xml" Id="R3b681699a7a5446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f7b6162938d428c" /><Relationship Type="http://schemas.openxmlformats.org/officeDocument/2006/relationships/notesMaster" Target="/ppt/notesMasters/notesMaster1.xml" Id="R260f1a7749cd43a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105d1d7262a4af0" /><Relationship Type="http://schemas.openxmlformats.org/officeDocument/2006/relationships/notesMaster" Target="/ppt/notesMasters/notesMaster1.xml" Id="R373ad1c800ae4f5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0b8245ee34413f" /><Relationship Type="http://schemas.openxmlformats.org/officeDocument/2006/relationships/notesMaster" Target="/ppt/notesMasters/notesMaster1.xml" Id="Ref90454666024e5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0d44ea2f6e04b09" /><Relationship Type="http://schemas.openxmlformats.org/officeDocument/2006/relationships/notesMaster" Target="/ppt/notesMasters/notesMaster1.xml" Id="R0c45189b11354fd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214d1b6060e4ce4" /><Relationship Type="http://schemas.openxmlformats.org/officeDocument/2006/relationships/notesMaster" Target="/ppt/notesMasters/notesMaster1.xml" Id="R2425bca513ac42b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d3d7b27bae048dc" /><Relationship Type="http://schemas.openxmlformats.org/officeDocument/2006/relationships/notesMaster" Target="/ppt/notesMasters/notesMaster1.xml" Id="R1009e7ba875f4de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ebfc3be7d9d44c8" /><Relationship Type="http://schemas.openxmlformats.org/officeDocument/2006/relationships/notesMaster" Target="/ppt/notesMasters/notesMaster1.xml" Id="R474a48b3aca2405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25622a489064ec7" /><Relationship Type="http://schemas.openxmlformats.org/officeDocument/2006/relationships/notesMaster" Target="/ppt/notesMasters/notesMaster1.xml" Id="R161c4b5aacc2411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3da72679edb4e2a" /><Relationship Type="http://schemas.openxmlformats.org/officeDocument/2006/relationships/notesMaster" Target="/ppt/notesMasters/notesMaster1.xml" Id="Radaa78eb618341b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c39ddaec63948ce" /><Relationship Type="http://schemas.openxmlformats.org/officeDocument/2006/relationships/notesMaster" Target="/ppt/notesMasters/notesMaster1.xml" Id="Rdd3832b49dfc45c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2f69a071704404e" /><Relationship Type="http://schemas.openxmlformats.org/officeDocument/2006/relationships/notesMaster" Target="/ppt/notesMasters/notesMaster1.xml" Id="R9a791d389450419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2517c6290224e24" /><Relationship Type="http://schemas.openxmlformats.org/officeDocument/2006/relationships/notesMaster" Target="/ppt/notesMasters/notesMaster1.xml" Id="R10b67107a5864c1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fb6967eb64b4301" /><Relationship Type="http://schemas.openxmlformats.org/officeDocument/2006/relationships/notesMaster" Target="/ppt/notesMasters/notesMaster1.xml" Id="R72d02eae45584b6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673e552b2d04db3" /><Relationship Type="http://schemas.openxmlformats.org/officeDocument/2006/relationships/notesMaster" Target="/ppt/notesMasters/notesMaster1.xml" Id="R8e9aac55aec741f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f370e0d5c50473c" /><Relationship Type="http://schemas.openxmlformats.org/officeDocument/2006/relationships/notesMaster" Target="/ppt/notesMasters/notesMaster1.xml" Id="Red239e1c92d54f5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130fa2b50b74675" /><Relationship Type="http://schemas.openxmlformats.org/officeDocument/2006/relationships/notesMaster" Target="/ppt/notesMasters/notesMaster1.xml" Id="R57a507eca342410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b58540f0b974a36" /><Relationship Type="http://schemas.openxmlformats.org/officeDocument/2006/relationships/notesMaster" Target="/ppt/notesMasters/notesMaster1.xml" Id="R84e3a46958c0440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4492244708b4f01" /><Relationship Type="http://schemas.openxmlformats.org/officeDocument/2006/relationships/notesMaster" Target="/ppt/notesMasters/notesMaster1.xml" Id="R2257307d47aa409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a665a36df604c2d" /><Relationship Type="http://schemas.openxmlformats.org/officeDocument/2006/relationships/notesMaster" Target="/ppt/notesMasters/notesMaster1.xml" Id="R5832b873be1a4b0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89e7087ee5449d6" /><Relationship Type="http://schemas.openxmlformats.org/officeDocument/2006/relationships/notesMaster" Target="/ppt/notesMasters/notesMaster1.xml" Id="R2b92da7fa95745f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843b1d03237418a" /><Relationship Type="http://schemas.openxmlformats.org/officeDocument/2006/relationships/notesMaster" Target="/ppt/notesMasters/notesMaster1.xml" Id="Rb4a3ea10298b459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118a70de4ec4b4e" /><Relationship Type="http://schemas.openxmlformats.org/officeDocument/2006/relationships/notesMaster" Target="/ppt/notesMasters/notesMaster1.xml" Id="Rc4ce93da5174422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94d6a214c3245a3" /><Relationship Type="http://schemas.openxmlformats.org/officeDocument/2006/relationships/notesMaster" Target="/ppt/notesMasters/notesMaster1.xml" Id="Rc9e73ed9fbda408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226b328fe054e40" /><Relationship Type="http://schemas.openxmlformats.org/officeDocument/2006/relationships/notesMaster" Target="/ppt/notesMasters/notesMaster1.xml" Id="R71af311006f849a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fd63e12465846d0" /><Relationship Type="http://schemas.openxmlformats.org/officeDocument/2006/relationships/notesMaster" Target="/ppt/notesMasters/notesMaster1.xml" Id="Rc565b49b18e6490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6190f9f3e2c4774" /><Relationship Type="http://schemas.openxmlformats.org/officeDocument/2006/relationships/notesMaster" Target="/ppt/notesMasters/notesMaster1.xml" Id="Rff25eb0ac51249d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0523e2181bc4dda" /><Relationship Type="http://schemas.openxmlformats.org/officeDocument/2006/relationships/notesMaster" Target="/ppt/notesMasters/notesMaster1.xml" Id="R40bbddc38a3d415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9d5fe63d6754a29" /><Relationship Type="http://schemas.openxmlformats.org/officeDocument/2006/relationships/notesMaster" Target="/ppt/notesMasters/notesMaster1.xml" Id="R4421105225c3427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6470cd2403541ed" /><Relationship Type="http://schemas.openxmlformats.org/officeDocument/2006/relationships/notesMaster" Target="/ppt/notesMasters/notesMaster1.xml" Id="Rd5f205e08d8342f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7b8446313ea40f5" /><Relationship Type="http://schemas.openxmlformats.org/officeDocument/2006/relationships/notesMaster" Target="/ppt/notesMasters/notesMaster1.xml" Id="R08da554468ba4c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buổi trình bày: không chỉ liệt kê payload, mà chứng minh đường đi của dữ liệu, nguyên nhân gốc và bản vá. Báo trước rằng mọi thao tác chỉ diễn ra trên localhost và dữ liệu giả lập.</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ngắn quy định an toàn trước khi demo. Đây là điều kiện để phần trình diễn không bị hiểu thành hướng dẫn tấn công hệ thống thật.</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câu này làm sợi chỉ đỏ. XSS là sai ở output sink; Buffer Overflow là sai ở giới hạn vùng nhớ; bốn lab còn lại đều cho thấy client không phải nguồn dữ liệu có thẩm quyền.</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Topic04_Lo-Hong-Bao-Mat-Ung-Dung-Web.pptx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Trước buổi trình bày nên mở sẵn sáu tab home và một cửa sổ DevTools riêng. Lab04 cần hai origin: Victim App ở 5004 và Demo Page ở 9004.</a:t>
            </a:r>
          </a:p>
          <a:p xmlns:a="http://schemas.openxmlformats.org/drawingml/2006/main">
            <a:r>
              <a:t/>
            </a:r>
          </a:p>
          <a:p xmlns:a="http://schemas.openxmlformats.org/drawingml/2006/main">
            <a:r>
              <a:t>[Sources]</a:t>
            </a:r>
          </a:p>
          <a:p xmlns:a="http://schemas.openxmlformats.org/drawingml/2006/main">
            <a:r>
              <a:t>- Lab01/README.md</a:t>
            </a:r>
          </a:p>
          <a:p xmlns:a="http://schemas.openxmlformats.org/drawingml/2006/main">
            <a:r>
              <a:t>- Lab02/README.md</a:t>
            </a:r>
          </a:p>
          <a:p xmlns:a="http://schemas.openxmlformats.org/drawingml/2006/main">
            <a:r>
              <a:t>- Lab03/README.md</a:t>
            </a:r>
          </a:p>
          <a:p xmlns:a="http://schemas.openxmlformats.org/drawingml/2006/main">
            <a:r>
              <a:t>- Lab04/README.md</a:t>
            </a:r>
          </a:p>
          <a:p xmlns:a="http://schemas.openxmlformats.org/drawingml/2006/main">
            <a:r>
              <a:t>- Lab05/README.md</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chuyển lab, luôn nói rõ đang ở nhịp nào. Điều này giúp người nghe theo dõi dù mỗi lỗ hổng dùng cơ chế khác nhau.</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Lab01: cùng là XSS nhưng khác nơi dữ liệu đi qua, nơi payload tồn tại và thời điểm browser parse thành mã.</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XSS là bài toán source-to-sink. Dữ liệu parameterized trong SQL vẫn có thể gây Stored XSS nếu output được Markup không an toàn.</a:t>
            </a:r>
          </a:p>
          <a:p xmlns:a="http://schemas.openxmlformats.org/drawingml/2006/main">
            <a:r>
              <a:t/>
            </a:r>
          </a:p>
          <a:p xmlns:a="http://schemas.openxmlformats.org/drawingml/2006/main">
            <a:r>
              <a:t>[Sources]</a:t>
            </a:r>
          </a:p>
          <a:p xmlns:a="http://schemas.openxmlformats.org/drawingml/2006/main">
            <a:r>
              <a:t>- Lab01/app.py</a:t>
            </a:r>
          </a:p>
          <a:p xmlns:a="http://schemas.openxmlformats.org/drawingml/2006/main">
            <a:r>
              <a:t>- Lab01/static/js/dom_vulnerable.js</a:t>
            </a:r>
          </a:p>
          <a:p xmlns:a="http://schemas.openxmlformats.org/drawingml/2006/main">
            <a:r>
              <a:t>- Lab01/report/21127645_LeMinh_21127224_NguyenVuBach_Lab01_XSS.docx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 mọi cookie. Chỉ dùng payload có sẵn trong README. Sau alert, chỉ ra q được đưa qua Markup(q) ở vulnerable và giữ autoescape ở secure.</a:t>
            </a:r>
          </a:p>
          <a:p xmlns:a="http://schemas.openxmlformats.org/drawingml/2006/main">
            <a:r>
              <a:t/>
            </a:r>
          </a:p>
          <a:p xmlns:a="http://schemas.openxmlformats.org/drawingml/2006/main">
            <a:r>
              <a:t>[Sources]</a:t>
            </a:r>
          </a:p>
          <a:p xmlns:a="http://schemas.openxmlformats.org/drawingml/2006/main">
            <a:r>
              <a:t>- Lab01/README.md</a:t>
            </a:r>
          </a:p>
          <a:p xmlns:a="http://schemas.openxmlformats.org/drawingml/2006/main">
            <a:r>
              <a:t>- Lab01/app.py</a:t>
            </a:r>
          </a:p>
          <a:p xmlns:a="http://schemas.openxmlformats.org/drawingml/2006/main">
            <a:r>
              <a:t>- Lab01/HUONG_DAN_CHUP_ANH.md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Trả lời theo đúng thứ tự đề. Phân biệt URL encoding với HTML output encoding: percent-encoding chỉ vận chuyển URL, không tự làm dữ liệu an toàn khi chèn vào HTML.</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Lab01/app.py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sự khác nhau giữa parameterized SQL và output safety. Database insert có thể hoàn toàn parameterized nhưng khi render dùng Markup(row['body']) thì XSS vẫn xảy ra.</a:t>
            </a:r>
          </a:p>
          <a:p xmlns:a="http://schemas.openxmlformats.org/drawingml/2006/main">
            <a:r>
              <a:t/>
            </a:r>
          </a:p>
          <a:p xmlns:a="http://schemas.openxmlformats.org/drawingml/2006/main">
            <a:r>
              <a:t>[Sources]</a:t>
            </a:r>
          </a:p>
          <a:p xmlns:a="http://schemas.openxmlformats.org/drawingml/2006/main">
            <a:r>
              <a:t>- Lab01/README.md</a:t>
            </a:r>
          </a:p>
          <a:p xmlns:a="http://schemas.openxmlformats.org/drawingml/2006/main">
            <a:r>
              <a:t>- Lab01/app.py</a:t>
            </a:r>
          </a:p>
          <a:p xmlns:a="http://schemas.openxmlformats.org/drawingml/2006/main">
            <a:r>
              <a:t>- Lab01/HUONG_DAN_CHUP_ANH.md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Stored thường có blast radius lớn hơn, không có nghĩa mọi Stored XSS luôn nghiêm trọng hơn trong mọi bối cảnh. Tác động phụ thuộc vị trí render và quyền của người xem.</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Lab01/report/21127645_LeMinh_21127224_NguyenVuBach_Lab01_XSS.docx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điểm phân biệt DOM-based XSS với hai loại trước. Server có thể trả HTML hoàn toàn tĩnh; JavaScript phía client tự đưa dữ liệu không tin cậy vào DOM sink.</a:t>
            </a:r>
          </a:p>
          <a:p xmlns:a="http://schemas.openxmlformats.org/drawingml/2006/main">
            <a:r>
              <a:t/>
            </a:r>
          </a:p>
          <a:p xmlns:a="http://schemas.openxmlformats.org/drawingml/2006/main">
            <a:r>
              <a:t>[Sources]</a:t>
            </a:r>
          </a:p>
          <a:p xmlns:a="http://schemas.openxmlformats.org/drawingml/2006/main">
            <a:r>
              <a:t>- Lab01/static/js/dom_vulnerable.js</a:t>
            </a:r>
          </a:p>
          <a:p xmlns:a="http://schemas.openxmlformats.org/drawingml/2006/main">
            <a:r>
              <a:t>- Lab01/static/js/dom_secure.js</a:t>
            </a:r>
          </a:p>
          <a:p xmlns:a="http://schemas.openxmlformats.org/drawingml/2006/main">
            <a:r>
              <a:t>- Lab01/HUONG_DAN_CHUP_ANH.md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thể quay lại slide ma trận. Nhấn mạnh validate theo business rule và encode theo output context là hai nhiệm vụ khác nhau.</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Lab01/report/21127645_LeMinh_21127224_NguyenVuBach_Lab01_XSS.docx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CSP là defense in depth. Cookie flags cũng vậy: HttpOnly không ngăn script gửi request cùng origin hay sửa nội dung trang.</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Lab01/app.py</a:t>
            </a:r>
          </a:p>
          <a:p xmlns:a="http://schemas.openxmlformats.org/drawingml/2006/main">
            <a:r>
              <a:t>- Lab01/static/js/dom_secure.js</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vì sao ba bản vá khác nhau: cùng mục tiêu ngăn code execution, nhưng sink HTML server-rendered, rich-text stored và DOM text cần cách xử lý khác nhau.</a:t>
            </a:r>
          </a:p>
          <a:p xmlns:a="http://schemas.openxmlformats.org/drawingml/2006/main">
            <a:r>
              <a:t/>
            </a:r>
          </a:p>
          <a:p xmlns:a="http://schemas.openxmlformats.org/drawingml/2006/main">
            <a:r>
              <a:t>[Sources]</a:t>
            </a:r>
          </a:p>
          <a:p xmlns:a="http://schemas.openxmlformats.org/drawingml/2006/main">
            <a:r>
              <a:t>- Lab01/app.py</a:t>
            </a:r>
          </a:p>
          <a:p xmlns:a="http://schemas.openxmlformats.org/drawingml/2006/main">
            <a:r>
              <a:t>- Lab01/static/js/dom_vulnerable.js</a:t>
            </a:r>
          </a:p>
          <a:p xmlns:a="http://schemas.openxmlformats.org/drawingml/2006/main">
            <a:r>
              <a:t>- Lab01/static/js/dom_secure.js</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trung thực trạng thái: log ghi 13 passed; report generation ghi thiếu 28 ảnh. Live demo sẽ bù phần quan sát browser.</a:t>
            </a:r>
          </a:p>
          <a:p xmlns:a="http://schemas.openxmlformats.org/drawingml/2006/main">
            <a:r>
              <a:t/>
            </a:r>
          </a:p>
          <a:p xmlns:a="http://schemas.openxmlformats.org/drawingml/2006/main">
            <a:r>
              <a:t>[Sources]</a:t>
            </a:r>
          </a:p>
          <a:p xmlns:a="http://schemas.openxmlformats.org/drawingml/2006/main">
            <a:r>
              <a:t>- Lab01/evidence/logs/pytest.txt</a:t>
            </a:r>
          </a:p>
          <a:p xmlns:a="http://schemas.openxmlformats.org/drawingml/2006/main">
            <a:r>
              <a:t>- Lab01/evidence/logs/report_generation.txt</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phạm vi: chỉ crash có kiểm soát và phân tích. Không shellcode, không sửa return address, không khai thác chiếm quyền.</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Lab02/README.md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qua từng node. Buffer name là biến cục bộ trong stack frame của process C. Flask chỉ là cầu nối; firewall không biết capacity 32 byte của biến nội bộ.</a:t>
            </a:r>
          </a:p>
          <a:p xmlns:a="http://schemas.openxmlformats.org/drawingml/2006/main">
            <a:r>
              <a:t/>
            </a:r>
          </a:p>
          <a:p xmlns:a="http://schemas.openxmlformats.org/drawingml/2006/main">
            <a:r>
              <a:t>[Sources]</a:t>
            </a:r>
          </a:p>
          <a:p xmlns:a="http://schemas.openxmlformats.org/drawingml/2006/main">
            <a:r>
              <a:t>- Lab02/README.md</a:t>
            </a:r>
          </a:p>
          <a:p xmlns:a="http://schemas.openxmlformats.org/drawingml/2006/main">
            <a:r>
              <a:t>- Lab02/native_runner.py</a:t>
            </a:r>
          </a:p>
          <a:p xmlns:a="http://schemas.openxmlformats.org/drawingml/2006/main">
            <a:r>
              <a:t>- Lab02/native/vulnerable_processor.c</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khẳng định input 32 luôn crash. Tách ba mốc: vượt capacity, ASan phát hiện, và process thực sự dừng — chúng có thể khác nhau theo compiler/ABI.</a:t>
            </a:r>
          </a:p>
          <a:p xmlns:a="http://schemas.openxmlformats.org/drawingml/2006/main">
            <a:r>
              <a:t/>
            </a:r>
          </a:p>
          <a:p xmlns:a="http://schemas.openxmlformats.org/drawingml/2006/main">
            <a:r>
              <a:t>[Sources]</a:t>
            </a:r>
          </a:p>
          <a:p xmlns:a="http://schemas.openxmlformats.org/drawingml/2006/main">
            <a:r>
              <a:t>- Lab02/README.md</a:t>
            </a:r>
          </a:p>
          <a:p xmlns:a="http://schemas.openxmlformats.org/drawingml/2006/main">
            <a:r>
              <a:t>- Lab02/HUONG_DAN_CHUP_ANH.md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WSL/Linux hoặc Docker profile gdb. Không chạy GDB native Windows. Nếu chưa có log thật, nói rõ đây là thao tác cần thực hiện live, không đọc source rồi suy diễn địa chỉ stack.</a:t>
            </a:r>
          </a:p>
          <a:p xmlns:a="http://schemas.openxmlformats.org/drawingml/2006/main">
            <a:r>
              <a:t/>
            </a:r>
          </a:p>
          <a:p xmlns:a="http://schemas.openxmlformats.org/drawingml/2006/main">
            <a:r>
              <a:t>[Sources]</a:t>
            </a:r>
          </a:p>
          <a:p xmlns:a="http://schemas.openxmlformats.org/drawingml/2006/main">
            <a:r>
              <a:t>- Lab02/gdb/README_GDB.md</a:t>
            </a:r>
          </a:p>
          <a:p xmlns:a="http://schemas.openxmlformats.org/drawingml/2006/main">
            <a:r>
              <a:t>- Lab02/gdb/inspect_overflow.gdb</a:t>
            </a:r>
          </a:p>
          <a:p xmlns:a="http://schemas.openxmlformats.org/drawingml/2006/main">
            <a:r>
              <a:t>- Lab02/README.md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chính xác theo source hiện tại. Không khẳng định layout tuyệt đối giữa các build; compiler và ABI có thể thay đổi vị trí tương đối.</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Lab02/native/vulnerable_processor.c</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Bổ sung RELRO bảo vệ relocation và FORTIFY thêm kiểm tra thư viện. Tất cả là lớp giảm khả năng khai thác, không thay invariant độ dài.</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Lab02/Makefile</a:t>
            </a:r>
          </a:p>
          <a:p xmlns:a="http://schemas.openxmlformats.org/drawingml/2006/main">
            <a:r>
              <a:t>- Lab02/README.md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Liên hệ Lab05: SQLi vẫn có thể xảy ra với chuỗi ngắn; Buffer Overflow có thể xảy ra với dữ liệu không có cú pháp đặc biệt, chỉ cần vượt capacity.</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Lab02/native_runner.py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bản snprintf không im lặng cắt chuỗi; nó kiểm written &gt;= sizeof(name) rồi reject. Cắt im lặng có thể tạo lỗi logic khác.</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Lab02/native/secure_length_processor.c</a:t>
            </a:r>
          </a:p>
          <a:p xmlns:a="http://schemas.openxmlformats.org/drawingml/2006/main">
            <a:r>
              <a:t>- Lab02/native/secure_snprintf_processor.c</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hai nhánh secure. Bản vá đặt quyết định trước khi copy hoặc dựa trên return value của API bounded. Request limit ở Flask là lớp ngoài, không thay check trong native code.</a:t>
            </a:r>
          </a:p>
          <a:p xmlns:a="http://schemas.openxmlformats.org/drawingml/2006/main">
            <a:r>
              <a:t/>
            </a:r>
          </a:p>
          <a:p xmlns:a="http://schemas.openxmlformats.org/drawingml/2006/main">
            <a:r>
              <a:t>[Sources]</a:t>
            </a:r>
          </a:p>
          <a:p xmlns:a="http://schemas.openxmlformats.org/drawingml/2006/main">
            <a:r>
              <a:t>- Lab02/native/vulnerable_processor.c</a:t>
            </a:r>
          </a:p>
          <a:p xmlns:a="http://schemas.openxmlformats.org/drawingml/2006/main">
            <a:r>
              <a:t>- Lab02/native/secure_length_processor.c</a:t>
            </a:r>
          </a:p>
          <a:p xmlns:a="http://schemas.openxmlformats.org/drawingml/2006/main">
            <a:r>
              <a:t>- Lab02/native/secure_snprintf_processor.c</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caveat quan trọng của Lab02. Khi trình bày, nếu không chạy được WSL/GDB thì chỉ demo UI secure/vulnerable và nói rõ phần crash/GDB chưa được đo ở máy hiện tại.</a:t>
            </a:r>
          </a:p>
          <a:p xmlns:a="http://schemas.openxmlformats.org/drawingml/2006/main">
            <a:r>
              <a:t/>
            </a:r>
          </a:p>
          <a:p xmlns:a="http://schemas.openxmlformats.org/drawingml/2006/main">
            <a:r>
              <a:t>[Sources]</a:t>
            </a:r>
          </a:p>
          <a:p xmlns:a="http://schemas.openxmlformats.org/drawingml/2006/main">
            <a:r>
              <a:t>- Lab02/evidence/logs/pytest.txt</a:t>
            </a:r>
          </a:p>
          <a:p xmlns:a="http://schemas.openxmlformats.org/drawingml/2006/main">
            <a:r>
              <a:t>- Lab02/Makefile</a:t>
            </a:r>
          </a:p>
          <a:p xmlns:a="http://schemas.openxmlformats.org/drawingml/2006/main">
            <a:r>
              <a:t>- Lab02/docs/feature_progress.md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từ memory safety sang business logic. Dữ liệu có thể đúng kiểu và query vẫn parameterized, nhưng quyết định vẫn sai nếu server tin client.</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Lab03/README.md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từng trust boundary. Giá phải lấy từ DB; invoice phải kiểm owner/admin; role không được nhận từ form self-service.</a:t>
            </a:r>
          </a:p>
          <a:p xmlns:a="http://schemas.openxmlformats.org/drawingml/2006/main">
            <a:r>
              <a:t/>
            </a:r>
          </a:p>
          <a:p xmlns:a="http://schemas.openxmlformats.org/drawingml/2006/main">
            <a:r>
              <a:t>[Sources]</a:t>
            </a:r>
          </a:p>
          <a:p xmlns:a="http://schemas.openxmlformats.org/drawingml/2006/main">
            <a:r>
              <a:t>- Lab03/README.md</a:t>
            </a:r>
          </a:p>
          <a:p xmlns:a="http://schemas.openxmlformats.org/drawingml/2006/main">
            <a:r>
              <a:t>- Lab03/services.py</a:t>
            </a:r>
          </a:p>
          <a:p xmlns:a="http://schemas.openxmlformats.org/drawingml/2006/main">
            <a:r>
              <a:t>- Lab03/authorization.py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Parameter Diff, Database Inspector và Final Verdict. Nhấn mạnh query có thể parameterized mà business logic vẫn bị tamper.</a:t>
            </a:r>
          </a:p>
          <a:p xmlns:a="http://schemas.openxmlformats.org/drawingml/2006/main">
            <a:r>
              <a:t/>
            </a:r>
          </a:p>
          <a:p xmlns:a="http://schemas.openxmlformats.org/drawingml/2006/main">
            <a:r>
              <a:t>[Sources]</a:t>
            </a:r>
          </a:p>
          <a:p xmlns:a="http://schemas.openxmlformats.org/drawingml/2006/main">
            <a:r>
              <a:t>- Lab03/README.md</a:t>
            </a:r>
          </a:p>
          <a:p xmlns:a="http://schemas.openxmlformats.org/drawingml/2006/main">
            <a:r>
              <a:t>- Lab03/services.py</a:t>
            </a:r>
          </a:p>
          <a:p xmlns:a="http://schemas.openxmlformats.org/drawingml/2006/main">
            <a:r>
              <a:t>- Lab03/HUONG_DAN_CHUP_ANH.md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chỉ kiểm user đã login. Policy phải nhận subject, action, object và owner. ID khó đoán chỉ là defense in depth.</a:t>
            </a:r>
          </a:p>
          <a:p xmlns:a="http://schemas.openxmlformats.org/drawingml/2006/main">
            <a:r>
              <a:t/>
            </a:r>
          </a:p>
          <a:p xmlns:a="http://schemas.openxmlformats.org/drawingml/2006/main">
            <a:r>
              <a:t>[Sources]</a:t>
            </a:r>
          </a:p>
          <a:p xmlns:a="http://schemas.openxmlformats.org/drawingml/2006/main">
            <a:r>
              <a:t>- Lab03/README.md</a:t>
            </a:r>
          </a:p>
          <a:p xmlns:a="http://schemas.openxmlformats.org/drawingml/2006/main">
            <a:r>
              <a:t>- Lab03/authorization.py</a:t>
            </a:r>
          </a:p>
          <a:p xmlns:a="http://schemas.openxmlformats.org/drawingml/2006/main">
            <a:r>
              <a:t>- https://owasp.org/www-community/attacks/insecure_direct_object_reference</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Authorization/Audit Inspector. Nhấn mạnh validate role thuộc {user,admin} vẫn không đủ: user không có quyền tự chọn field role.</a:t>
            </a:r>
          </a:p>
          <a:p xmlns:a="http://schemas.openxmlformats.org/drawingml/2006/main">
            <a:r>
              <a:t/>
            </a:r>
          </a:p>
          <a:p xmlns:a="http://schemas.openxmlformats.org/drawingml/2006/main">
            <a:r>
              <a:t>[Sources]</a:t>
            </a:r>
          </a:p>
          <a:p xmlns:a="http://schemas.openxmlformats.org/drawingml/2006/main">
            <a:r>
              <a:t>- Lab03/README.md</a:t>
            </a:r>
          </a:p>
          <a:p xmlns:a="http://schemas.openxmlformats.org/drawingml/2006/main">
            <a:r>
              <a:t>- Lab03/services.py</a:t>
            </a:r>
          </a:p>
          <a:p xmlns:a="http://schemas.openxmlformats.org/drawingml/2006/main">
            <a:r>
              <a:t>- Lab03/authorization.py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lại demo price/role làm bằng chứng. Hidden field có thể hữu ích cho state UI, nhưng không thể là nguồn authoritative cho quyết định nhạy cảm.</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Lab03/report/21127645_LeMinh_21127224_NguyenVuBach_Lab03_ParameterTampering.docx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bản cập nhật OWASP hiện hành: A01:2025 Broken Access Control. Đây vẫn cùng kết luận với báo cáo local: IDOR là Broken Access Control.</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https://owasp.org/Top10/2025/A01_2025-Broken_Access_Control/</a:t>
            </a:r>
          </a:p>
          <a:p xmlns:a="http://schemas.openxmlformats.org/drawingml/2006/main">
            <a:r>
              <a:t>- https://owasp.org/www-community/attacks/insecure_direct_object_reference</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live demo gặp state bẩn, reset database trước từng nhóm. Autoplay chỉ trình bày trace, không gửi lại request.</a:t>
            </a:r>
          </a:p>
          <a:p xmlns:a="http://schemas.openxmlformats.org/drawingml/2006/main">
            <a:r>
              <a:t/>
            </a:r>
          </a:p>
          <a:p xmlns:a="http://schemas.openxmlformats.org/drawingml/2006/main">
            <a:r>
              <a:t>[Sources]</a:t>
            </a:r>
          </a:p>
          <a:p xmlns:a="http://schemas.openxmlformats.org/drawingml/2006/main">
            <a:r>
              <a:t>- Lab03/evidence/logs/pytest.txt</a:t>
            </a:r>
          </a:p>
          <a:p xmlns:a="http://schemas.openxmlformats.org/drawingml/2006/main">
            <a:r>
              <a:t>- Lab03/evidence/logs/demo_flows.json</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Lab04 có hai origin local. Nói rõ attacker không cần biết mật khẩu vì browser của victim đã có session.</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Lab04/README.md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same-origin và same-site là hai khái niệm khác. 127.0.0.1:9004 → 127.0.0.1:5004 là cross-origin nhưng same-site.</a:t>
            </a:r>
          </a:p>
          <a:p xmlns:a="http://schemas.openxmlformats.org/drawingml/2006/main">
            <a:r>
              <a:t/>
            </a:r>
          </a:p>
          <a:p xmlns:a="http://schemas.openxmlformats.org/drawingml/2006/main">
            <a:r>
              <a:t>[Sources]</a:t>
            </a:r>
          </a:p>
          <a:p xmlns:a="http://schemas.openxmlformats.org/drawingml/2006/main">
            <a:r>
              <a:t>- Lab04/README.md</a:t>
            </a:r>
          </a:p>
          <a:p xmlns:a="http://schemas.openxmlformats.org/drawingml/2006/main">
            <a:r>
              <a:t>- Lab04/docs/project_context.md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hiện dùng nút bấm + xác nhận, không auto-submit. Trình bày đúng hành vi thật, không tuyên bố trang tự động gửi nếu chưa sửa source.</a:t>
            </a:r>
          </a:p>
          <a:p xmlns:a="http://schemas.openxmlformats.org/drawingml/2006/main">
            <a:r>
              <a:t/>
            </a:r>
          </a:p>
          <a:p xmlns:a="http://schemas.openxmlformats.org/drawingml/2006/main">
            <a:r>
              <a:t>[Sources]</a:t>
            </a:r>
          </a:p>
          <a:p xmlns:a="http://schemas.openxmlformats.org/drawingml/2006/main">
            <a:r>
              <a:t>- Lab04/README.md</a:t>
            </a:r>
          </a:p>
          <a:p xmlns:a="http://schemas.openxmlformats.org/drawingml/2006/main">
            <a:r>
              <a:t>- Lab04/attacker_templates/attack_page.html</a:t>
            </a:r>
          </a:p>
          <a:p xmlns:a="http://schemas.openxmlformats.org/drawingml/2006/main">
            <a:r>
              <a:t>- Lab04/HUONG_DAN_CHUP_ANH.md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Thứ tự là invariant. Denial phải giữ nguyên database/session và vẫn ghi audit + trace. Token dùng secrets.token_urlsafe(32) và compare_digest.</a:t>
            </a:r>
          </a:p>
          <a:p xmlns:a="http://schemas.openxmlformats.org/drawingml/2006/main">
            <a:r>
              <a:t/>
            </a:r>
          </a:p>
          <a:p xmlns:a="http://schemas.openxmlformats.org/drawingml/2006/main">
            <a:r>
              <a:t>[Sources]</a:t>
            </a:r>
          </a:p>
          <a:p xmlns:a="http://schemas.openxmlformats.org/drawingml/2006/main">
            <a:r>
              <a:t>- Lab04/csrf_service.py</a:t>
            </a:r>
          </a:p>
          <a:p xmlns:a="http://schemas.openxmlformats.org/drawingml/2006/main">
            <a:r>
              <a:t>- Lab04/origin_service.py</a:t>
            </a:r>
          </a:p>
          <a:p xmlns:a="http://schemas.openxmlformats.org/drawingml/2006/main">
            <a:r>
              <a:t>- Lab04/victim_app.py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Request Headers để chỉ ra Cookie được browser thêm; form attacker không chứa field cookie.</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Lab04/report/21127645_LeMinh_21127224_NguyenVuBach_Lab04_CSRF.docx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Bổ sung: CORS không phải bản vá CSRF cho HTML form truyền thống; SOP chủ yếu kiểm soát khả năng đọc response bằng script.</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Lab04/README.md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SameSite có thể giảm credential cross-site nhưng không thay token, đặc biệt khi same-site/cross-origin hoặc browser policy khác nhau.</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Lab04/csrf_service.py</a:t>
            </a:r>
          </a:p>
          <a:p xmlns:a="http://schemas.openxmlformats.org/drawingml/2006/main">
            <a:r>
              <a:t>- Lab04/origin_service.py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nói trung thực về giới hạn bằng chứng. Khi live, F12 mới là bằng chứng browser cookie/origin.</a:t>
            </a:r>
          </a:p>
          <a:p xmlns:a="http://schemas.openxmlformats.org/drawingml/2006/main">
            <a:r>
              <a:t/>
            </a:r>
          </a:p>
          <a:p xmlns:a="http://schemas.openxmlformats.org/drawingml/2006/main">
            <a:r>
              <a:t>[Sources]</a:t>
            </a:r>
          </a:p>
          <a:p xmlns:a="http://schemas.openxmlformats.org/drawingml/2006/main">
            <a:r>
              <a:t>- Lab04/evidence/logs/pytest.txt</a:t>
            </a:r>
          </a:p>
          <a:p xmlns:a="http://schemas.openxmlformats.org/drawingml/2006/main">
            <a:r>
              <a:t>- Lab04/evidence/logs/coverage.txt</a:t>
            </a:r>
          </a:p>
          <a:p xmlns:a="http://schemas.openxmlformats.org/drawingml/2006/main">
            <a:r>
              <a:t>- Lab04/evidence/logs/runtime_smoke_test.txt</a:t>
            </a:r>
          </a:p>
          <a:p xmlns:a="http://schemas.openxmlformats.org/drawingml/2006/main">
            <a:r>
              <a:t>- Lab04/evidence/logs/security_review.txt</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dùng scenario SELECT cố định trong Lab05. Không UNION, blind/time-based, stacked query, schema enumeration hay target bên ngoài.</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Lab05/README.md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prepared statement ở mức khái niệm: structure SQL cố định, tham số được bind riêng. Không mô tả escaping thủ công như biện pháp chính.</a:t>
            </a:r>
          </a:p>
          <a:p xmlns:a="http://schemas.openxmlformats.org/drawingml/2006/main">
            <a:r>
              <a:t/>
            </a:r>
          </a:p>
          <a:p xmlns:a="http://schemas.openxmlformats.org/drawingml/2006/main">
            <a:r>
              <a:t>[Sources]</a:t>
            </a:r>
          </a:p>
          <a:p xmlns:a="http://schemas.openxmlformats.org/drawingml/2006/main">
            <a:r>
              <a:t>- Lab05/vulnerable_queries.py</a:t>
            </a:r>
          </a:p>
          <a:p xmlns:a="http://schemas.openxmlformats.org/drawingml/2006/main">
            <a:r>
              <a:t>- Lab05/secure_queries.py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dùng nút scenario cố định trong UI. Không gõ payload khác và không dùng tool ngoài. Mở Query Construction, SQL Execution và Authentication Decision.</a:t>
            </a:r>
          </a:p>
          <a:p xmlns:a="http://schemas.openxmlformats.org/drawingml/2006/main">
            <a:r>
              <a:t/>
            </a:r>
          </a:p>
          <a:p xmlns:a="http://schemas.openxmlformats.org/drawingml/2006/main">
            <a:r>
              <a:t>[Sources]</a:t>
            </a:r>
          </a:p>
          <a:p xmlns:a="http://schemas.openxmlformats.org/drawingml/2006/main">
            <a:r>
              <a:t>- Lab05/README.md</a:t>
            </a:r>
          </a:p>
          <a:p xmlns:a="http://schemas.openxmlformats.org/drawingml/2006/main">
            <a:r>
              <a:t>- Lab05/HUONG_DAN_CHUP_ANH.md</a:t>
            </a:r>
          </a:p>
          <a:p xmlns:a="http://schemas.openxmlformats.org/drawingml/2006/main">
            <a:r>
              <a:t>- Lab05/vulnerable_queries.py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gọi đây là dump database: phạm vi chỉ bảng products giả lập và SELECT-only. Result limit/audit là lớp phụ.</a:t>
            </a:r>
          </a:p>
          <a:p xmlns:a="http://schemas.openxmlformats.org/drawingml/2006/main">
            <a:r>
              <a:t/>
            </a:r>
          </a:p>
          <a:p xmlns:a="http://schemas.openxmlformats.org/drawingml/2006/main">
            <a:r>
              <a:t>[Sources]</a:t>
            </a:r>
          </a:p>
          <a:p xmlns:a="http://schemas.openxmlformats.org/drawingml/2006/main">
            <a:r>
              <a:t>- Lab05/README.md</a:t>
            </a:r>
          </a:p>
          <a:p xmlns:a="http://schemas.openxmlformats.org/drawingml/2006/main">
            <a:r>
              <a:t>- Lab05/evidence/logs/runtime_smoke_test.txt</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validation với parameter binding: validation hỗ trợ business rule, nhưng input hợp lệ vẫn phải bind như data.</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Lab05/report/21127645_LeMinh_21127224_NguyenVuBach_Lab05_SQLInjection.docx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thêm: password phải hash bằng PBKDF2/bcrypt/Argon2; least privilege và WAF giảm tác động nhưng không cứu query nối chuỗi.</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Lab05/secure_queries.py</a:t>
            </a:r>
          </a:p>
          <a:p xmlns:a="http://schemas.openxmlformats.org/drawingml/2006/main">
            <a:r>
              <a:t>- Lab05/auth_service.py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secure login lookup user theo username placeholder, rồi check_password_hash. Không đưa password hash vào query và không lưu plaintext.</a:t>
            </a:r>
          </a:p>
          <a:p xmlns:a="http://schemas.openxmlformats.org/drawingml/2006/main">
            <a:r>
              <a:t/>
            </a:r>
          </a:p>
          <a:p xmlns:a="http://schemas.openxmlformats.org/drawingml/2006/main">
            <a:r>
              <a:t>[Sources]</a:t>
            </a:r>
          </a:p>
          <a:p xmlns:a="http://schemas.openxmlformats.org/drawingml/2006/main">
            <a:r>
              <a:t>- Lab05/secure_queries.py</a:t>
            </a:r>
          </a:p>
          <a:p xmlns:a="http://schemas.openxmlformats.org/drawingml/2006/main">
            <a:r>
              <a:t>- Lab05/auth_service.py</a:t>
            </a:r>
          </a:p>
          <a:p xmlns:a="http://schemas.openxmlformats.org/drawingml/2006/main">
            <a:r>
              <a:t>- Lab05/error_service.py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Lab05 bằng thông điệp: root fix là tách code và data; monitoring không thay sửa query.</a:t>
            </a:r>
          </a:p>
          <a:p xmlns:a="http://schemas.openxmlformats.org/drawingml/2006/main">
            <a:r>
              <a:t/>
            </a:r>
          </a:p>
          <a:p xmlns:a="http://schemas.openxmlformats.org/drawingml/2006/main">
            <a:r>
              <a:t>[Sources]</a:t>
            </a:r>
          </a:p>
          <a:p xmlns:a="http://schemas.openxmlformats.org/drawingml/2006/main">
            <a:r>
              <a:t>- Lab05/evidence/logs/pytest.txt</a:t>
            </a:r>
          </a:p>
          <a:p xmlns:a="http://schemas.openxmlformats.org/drawingml/2006/main">
            <a:r>
              <a:t>- Lab05/evidence/logs/coverage.txt</a:t>
            </a:r>
          </a:p>
          <a:p xmlns:a="http://schemas.openxmlformats.org/drawingml/2006/main">
            <a:r>
              <a:t>- Lab05/evidence/logs/runtime_smoke_test.txt</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Cookie Poisoning là sửa nội dung cookie, khác với đánh cắp session token. Mọi thao tác sửa chỉ dùng DevTools trên cookie Lab06 cố định.</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signing bảo vệ integrity/authenticity chứ không confidentiality. Fernet vừa mã hóa vừa xác thực, nhưng payload hợp lệ vẫn không nên là nguồn role động nếu cần revoke ngay.</a:t>
            </a:r>
          </a:p>
          <a:p xmlns:a="http://schemas.openxmlformats.org/drawingml/2006/main">
            <a:r>
              <a:t/>
            </a:r>
          </a:p>
          <a:p xmlns:a="http://schemas.openxmlformats.org/drawingml/2006/main">
            <a:r>
              <a:t>[Sources]</a:t>
            </a:r>
          </a:p>
          <a:p xmlns:a="http://schemas.openxmlformats.org/drawingml/2006/main">
            <a:r>
              <a:t>- Lab06/README.md</a:t>
            </a:r>
          </a:p>
          <a:p xmlns:a="http://schemas.openxmlformats.org/drawingml/2006/main">
            <a:r>
              <a:t>- Lab06/signed_cookie_service.py</a:t>
            </a:r>
          </a:p>
          <a:p xmlns:a="http://schemas.openxmlformats.org/drawingml/2006/main">
            <a:r>
              <a:t>- Lab06/encrypted_cookie_service.py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 cookie value ngoài hai giá trị demo. Nhấn mạnh cookie flags không xác minh payload; HttpOnly chỉ chặn JavaScript đọc cookie.</a:t>
            </a:r>
          </a:p>
          <a:p xmlns:a="http://schemas.openxmlformats.org/drawingml/2006/main">
            <a:r>
              <a:t/>
            </a:r>
          </a:p>
          <a:p xmlns:a="http://schemas.openxmlformats.org/drawingml/2006/main">
            <a:r>
              <a:t>[Sources]</a:t>
            </a:r>
          </a:p>
          <a:p xmlns:a="http://schemas.openxmlformats.org/drawingml/2006/main">
            <a:r>
              <a:t>- Lab06/README.md</a:t>
            </a:r>
          </a:p>
          <a:p xmlns:a="http://schemas.openxmlformats.org/drawingml/2006/main">
            <a:r>
              <a:t>- Lab06/HUONG_DAN_CHUP_ANH.md</a:t>
            </a:r>
          </a:p>
          <a:p xmlns:a="http://schemas.openxmlformats.org/drawingml/2006/main">
            <a:r>
              <a:t>- Lab06/authorization_service.py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dùng decoder online và không nhập JSON tùy ý. Giải thích encode/decode ai cũng làm được, không cần key.</a:t>
            </a:r>
          </a:p>
          <a:p xmlns:a="http://schemas.openxmlformats.org/drawingml/2006/main">
            <a:r>
              <a:t/>
            </a:r>
          </a:p>
          <a:p xmlns:a="http://schemas.openxmlformats.org/drawingml/2006/main">
            <a:r>
              <a:t>[Sources]</a:t>
            </a:r>
          </a:p>
          <a:p xmlns:a="http://schemas.openxmlformats.org/drawingml/2006/main">
            <a:r>
              <a:t>- Lab06/README.md</a:t>
            </a:r>
          </a:p>
          <a:p xmlns:a="http://schemas.openxmlformats.org/drawingml/2006/main">
            <a:r>
              <a:t>- Lab06/base64_cookie_service.py</a:t>
            </a:r>
          </a:p>
          <a:p xmlns:a="http://schemas.openxmlformats.org/drawingml/2006/main">
            <a:r>
              <a:t>- Lab06/HUONG_DAN_CHUP_ANH.md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hiển thị secret, full token hay cookie dài. Nói rõ signed payload có thể đọc được; encrypted token mới che nội dung.</a:t>
            </a:r>
          </a:p>
          <a:p xmlns:a="http://schemas.openxmlformats.org/drawingml/2006/main">
            <a:r>
              <a:t/>
            </a:r>
          </a:p>
          <a:p xmlns:a="http://schemas.openxmlformats.org/drawingml/2006/main">
            <a:r>
              <a:t>[Sources]</a:t>
            </a:r>
          </a:p>
          <a:p xmlns:a="http://schemas.openxmlformats.org/drawingml/2006/main">
            <a:r>
              <a:t>- Lab06/signed_cookie_service.py</a:t>
            </a:r>
          </a:p>
          <a:p xmlns:a="http://schemas.openxmlformats.org/drawingml/2006/main">
            <a:r>
              <a:t>- Lab06/encrypted_cookie_service.py</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Session, Database và Authorization Inspector. Chỉ hiển thị fingerprint; database lưu SHA-256 token, không raw Session ID.</a:t>
            </a:r>
          </a:p>
          <a:p xmlns:a="http://schemas.openxmlformats.org/drawingml/2006/main">
            <a:r>
              <a:t/>
            </a:r>
          </a:p>
          <a:p xmlns:a="http://schemas.openxmlformats.org/drawingml/2006/main">
            <a:r>
              <a:t>[Sources]</a:t>
            </a:r>
          </a:p>
          <a:p xmlns:a="http://schemas.openxmlformats.org/drawingml/2006/main">
            <a:r>
              <a:t>- Lab06/server_session_service.py</a:t>
            </a:r>
          </a:p>
          <a:p xmlns:a="http://schemas.openxmlformats.org/drawingml/2006/main">
            <a:r>
              <a:t>- Lab06/authorization_service.py</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thể bổ sung Session Fixation: ép nạn nhân dùng Session ID đã biết trước. Đây là lớp rủi ro khác và không được thực thi trong lab.</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Lab06/report/21127645_LeMinh_21127224_NguyenVuBach_Lab06_CookiePoisoning.docx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bốn thuộc tính: encoding là biểu diễn; encryption là confidentiality; signing/MAC là integrity/authenticity; authorization là quyết định quyền.</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qua source rotate_session, resolve_session và revoke_session. Old token bị inactive nên request sau rotation/logout phải fail.</a:t>
            </a:r>
          </a:p>
          <a:p xmlns:a="http://schemas.openxmlformats.org/drawingml/2006/main">
            <a:r>
              <a:t/>
            </a:r>
          </a:p>
          <a:p xmlns:a="http://schemas.openxmlformats.org/drawingml/2006/main">
            <a:r>
              <a:t>[Sources]</a:t>
            </a:r>
          </a:p>
          <a:p xmlns:a="http://schemas.openxmlformats.org/drawingml/2006/main">
            <a:r>
              <a:t>- Lab06/server_session_service.py</a:t>
            </a:r>
          </a:p>
          <a:p xmlns:a="http://schemas.openxmlformats.org/drawingml/2006/main">
            <a:r>
              <a:t>- Lab06/authorization_service.py</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những negative path quan trọng: plain/base64 tamper được allow có chủ đích; signed tamper 400; student session 403; old session 401.</a:t>
            </a:r>
          </a:p>
          <a:p xmlns:a="http://schemas.openxmlformats.org/drawingml/2006/main">
            <a:r>
              <a:t/>
            </a:r>
          </a:p>
          <a:p xmlns:a="http://schemas.openxmlformats.org/drawingml/2006/main">
            <a:r>
              <a:t>[Sources]</a:t>
            </a:r>
          </a:p>
          <a:p xmlns:a="http://schemas.openxmlformats.org/drawingml/2006/main">
            <a:r>
              <a:t>- Lab06/evidence/logs/pytest.txt</a:t>
            </a:r>
          </a:p>
          <a:p xmlns:a="http://schemas.openxmlformats.org/drawingml/2006/main">
            <a:r>
              <a:t>- Lab06/evidence/logs/coverage.txt</a:t>
            </a:r>
          </a:p>
          <a:p xmlns:a="http://schemas.openxmlformats.org/drawingml/2006/main">
            <a:r>
              <a:t>- Lab06/evidence/logs/runtime_smoke.txt</a:t>
            </a:r>
          </a:p>
          <a:p xmlns:a="http://schemas.openxmlformats.org/drawingml/2006/main">
            <a:r>
              <a:t>- Lab06/evidence/logs/evidence_export_summary.json</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ma trận để trả lời câu hỏi tổng quát: payload chỉ là cách kích hoạt; root cause là quyết định sai ở trust boundary.</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Lab01/README.md</a:t>
            </a:r>
          </a:p>
          <a:p xmlns:a="http://schemas.openxmlformats.org/drawingml/2006/main">
            <a:r>
              <a:t>- Lab02/README.md</a:t>
            </a:r>
          </a:p>
          <a:p xmlns:a="http://schemas.openxmlformats.org/drawingml/2006/main">
            <a:r>
              <a:t>- Lab03/README.md</a:t>
            </a:r>
          </a:p>
          <a:p xmlns:a="http://schemas.openxmlformats.org/drawingml/2006/main">
            <a:r>
              <a:t>- Lab04/README.md</a:t>
            </a:r>
          </a:p>
          <a:p xmlns:a="http://schemas.openxmlformats.org/drawingml/2006/main">
            <a:r>
              <a:t>- Lab05/README.md</a:t>
            </a:r>
          </a:p>
          <a:p xmlns:a="http://schemas.openxmlformats.org/drawingml/2006/main">
            <a:r>
              <a:t>- Lab06/README.md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Khuyến khích người nghe dùng ba câu hỏi này trong code review. Chúng bao phủ cả sáu lab mà không phụ thuộc payload cụ thể.</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rõ root fix và lớp giảm tác động. Đây là kết luận chung của toàn Topic04.</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Lab02 để cuối vì phụ thuộc Linux/WSL/GDB và có khả năng kéo dài. Nếu thời gian ngắn, demo UI secure/vulnerable và dùng source/Makefile để giải thích.</a:t>
            </a:r>
          </a:p>
          <a:p xmlns:a="http://schemas.openxmlformats.org/drawingml/2006/main">
            <a:r>
              <a:t/>
            </a:r>
          </a:p>
          <a:p xmlns:a="http://schemas.openxmlformats.org/drawingml/2006/main">
            <a:r>
              <a:t>[Sources]</a:t>
            </a:r>
          </a:p>
          <a:p xmlns:a="http://schemas.openxmlformats.org/drawingml/2006/main">
            <a:r>
              <a:t>- HUONG_DAN_TRINH_BAY_DEMO_TOPIC04.md</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một cửa sổ File Explorer ở evidence/logs và route comparison của từng lab. Không dùng ảnh giả hay sửa DOM để tạo kết quả.</a:t>
            </a:r>
          </a:p>
          <a:p xmlns:a="http://schemas.openxmlformats.org/drawingml/2006/main">
            <a:r>
              <a:t/>
            </a:r>
          </a:p>
          <a:p xmlns:a="http://schemas.openxmlformats.org/drawingml/2006/main">
            <a:r>
              <a:t>[Sources]</a:t>
            </a:r>
          </a:p>
          <a:p xmlns:a="http://schemas.openxmlformats.org/drawingml/2006/main">
            <a:r>
              <a:t>- Lab02/docs/feature_progress.md</a:t>
            </a:r>
          </a:p>
          <a:p xmlns:a="http://schemas.openxmlformats.org/drawingml/2006/main">
            <a:r>
              <a:t>- Lab04/evidence/logs/security_review.txt</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checklist nội bộ được đưa thành slide audience-facing để giảng viên dễ đối chiếu. Câu hỏi Lab03–Lab06 lần lượt 5 câu mỗi lab.</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cách quay lại luận điểm mở đầu. Mời câu hỏi theo từng lab hoặc theo một trust boundary cụ thể.</a:t>
            </a:r>
          </a:p>
          <a:p xmlns:a="http://schemas.openxmlformats.org/drawingml/2006/main">
            <a:r>
              <a:t/>
            </a:r>
          </a:p>
          <a:p xmlns:a="http://schemas.openxmlformats.org/drawingml/2006/main">
            <a:r>
              <a:t>[Sources]</a:t>
            </a:r>
          </a:p>
          <a:p xmlns:a="http://schemas.openxmlformats.org/drawingml/2006/main">
            <a:r>
              <a:t>- BaiTapTopic04.docx</a:t>
            </a:r>
          </a:p>
          <a:p xmlns:a="http://schemas.openxmlformats.org/drawingml/2006/main">
            <a:r>
              <a:t>- https://github.com/zarazhangrui/beautiful-html-templates/tree/main/templates/broadside/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bf704e97744c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8f554ed11e4cfd" /><Relationship Type="http://schemas.openxmlformats.org/officeDocument/2006/relationships/slideLayout" Target="/ppt/slideLayouts/slideLayout1.xml" Id="R193242d2285b4f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3242d2285b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428c61ed124a67" /><Relationship Type="http://schemas.openxmlformats.org/officeDocument/2006/relationships/notesSlide" Target="/ppt/notesSlides/notesSlide1.xml" Id="Re19785830ed444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f9776cf00d4a6c" /><Relationship Type="http://schemas.openxmlformats.org/officeDocument/2006/relationships/notesSlide" Target="/ppt/notesSlides/notesSlide2.xml" Id="R760f9560746343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01d12aed50461f" /><Relationship Type="http://schemas.openxmlformats.org/officeDocument/2006/relationships/notesSlide" Target="/ppt/notesSlides/notesSlide3.xml" Id="R627ee25fdbd34e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36777a6e504fa5" /><Relationship Type="http://schemas.openxmlformats.org/officeDocument/2006/relationships/notesSlide" Target="/ppt/notesSlides/notesSlide4.xml" Id="Rbdff725d533f47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ac320f746e4b17" /><Relationship Type="http://schemas.openxmlformats.org/officeDocument/2006/relationships/notesSlide" Target="/ppt/notesSlides/notesSlide5.xml" Id="R47e3275c502d4a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796508d0694414" /><Relationship Type="http://schemas.openxmlformats.org/officeDocument/2006/relationships/notesSlide" Target="/ppt/notesSlides/notesSlide6.xml" Id="R642978c8c8e448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c63ec96d3542f2" /><Relationship Type="http://schemas.openxmlformats.org/officeDocument/2006/relationships/notesSlide" Target="/ppt/notesSlides/notesSlide7.xml" Id="R8ed7a76b1c1749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7840bde3f644d3" /><Relationship Type="http://schemas.openxmlformats.org/officeDocument/2006/relationships/notesSlide" Target="/ppt/notesSlides/notesSlide8.xml" Id="R82b64a22219240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6d411389fc40da" /><Relationship Type="http://schemas.openxmlformats.org/officeDocument/2006/relationships/notesSlide" Target="/ppt/notesSlides/notesSlide9.xml" Id="Rf835259237274e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ed2a7b8fea484e" /><Relationship Type="http://schemas.openxmlformats.org/officeDocument/2006/relationships/notesSlide" Target="/ppt/notesSlides/notesSlide10.xml" Id="Rb563a745581a4e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115698530e429e" /><Relationship Type="http://schemas.openxmlformats.org/officeDocument/2006/relationships/notesSlide" Target="/ppt/notesSlides/notesSlide11.xml" Id="R94bf482788f041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d96205d6a94198" /><Relationship Type="http://schemas.openxmlformats.org/officeDocument/2006/relationships/notesSlide" Target="/ppt/notesSlides/notesSlide12.xml" Id="R97ffc42edfed40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f166219c7448f1" /><Relationship Type="http://schemas.openxmlformats.org/officeDocument/2006/relationships/notesSlide" Target="/ppt/notesSlides/notesSlide13.xml" Id="Rf218ebe47a1349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16c38db0364b7a" /><Relationship Type="http://schemas.openxmlformats.org/officeDocument/2006/relationships/notesSlide" Target="/ppt/notesSlides/notesSlide14.xml" Id="R9ba2a4c74e354c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cee933692842af" /><Relationship Type="http://schemas.openxmlformats.org/officeDocument/2006/relationships/notesSlide" Target="/ppt/notesSlides/notesSlide15.xml" Id="R7cac5248ac9c4f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2fda4381be04897" /><Relationship Type="http://schemas.openxmlformats.org/officeDocument/2006/relationships/notesSlide" Target="/ppt/notesSlides/notesSlide16.xml" Id="R5f68f518285748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5ee6d305064703" /><Relationship Type="http://schemas.openxmlformats.org/officeDocument/2006/relationships/notesSlide" Target="/ppt/notesSlides/notesSlide17.xml" Id="Ra78a2fa405614d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7f2529fd2e4956" /><Relationship Type="http://schemas.openxmlformats.org/officeDocument/2006/relationships/notesSlide" Target="/ppt/notesSlides/notesSlide18.xml" Id="R494c1743763445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aa68f091b44452" /><Relationship Type="http://schemas.openxmlformats.org/officeDocument/2006/relationships/notesSlide" Target="/ppt/notesSlides/notesSlide19.xml" Id="Raf71a4dc553d45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e09ae071d541dd" /><Relationship Type="http://schemas.openxmlformats.org/officeDocument/2006/relationships/notesSlide" Target="/ppt/notesSlides/notesSlide20.xml" Id="Rdbc18aeef8b641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e145c640e974674" /><Relationship Type="http://schemas.openxmlformats.org/officeDocument/2006/relationships/notesSlide" Target="/ppt/notesSlides/notesSlide21.xml" Id="R74f6d44635f549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eaaa9d6cb6c4a84" /><Relationship Type="http://schemas.openxmlformats.org/officeDocument/2006/relationships/notesSlide" Target="/ppt/notesSlides/notesSlide22.xml" Id="R7f0feda439be4f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f0c04734564f92" /><Relationship Type="http://schemas.openxmlformats.org/officeDocument/2006/relationships/notesSlide" Target="/ppt/notesSlides/notesSlide23.xml" Id="Rbe69669fb1e042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9c9da0670d4bf6" /><Relationship Type="http://schemas.openxmlformats.org/officeDocument/2006/relationships/notesSlide" Target="/ppt/notesSlides/notesSlide24.xml" Id="Rc7b6427eced14bb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6f2ff41365d437b" /><Relationship Type="http://schemas.openxmlformats.org/officeDocument/2006/relationships/notesSlide" Target="/ppt/notesSlides/notesSlide25.xml" Id="R34f32679814446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ffd8ca1b0354645" /><Relationship Type="http://schemas.openxmlformats.org/officeDocument/2006/relationships/notesSlide" Target="/ppt/notesSlides/notesSlide26.xml" Id="Rdbf2c6b65e364d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0987e142bb24404" /><Relationship Type="http://schemas.openxmlformats.org/officeDocument/2006/relationships/notesSlide" Target="/ppt/notesSlides/notesSlide27.xml" Id="R6db483743a1e487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dfb94695df64a6c" /><Relationship Type="http://schemas.openxmlformats.org/officeDocument/2006/relationships/notesSlide" Target="/ppt/notesSlides/notesSlide28.xml" Id="Rddae8c22a6d54b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cd69cb766e54db9" /><Relationship Type="http://schemas.openxmlformats.org/officeDocument/2006/relationships/notesSlide" Target="/ppt/notesSlides/notesSlide29.xml" Id="R8639e86919434cb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8e005e06d234b85" /><Relationship Type="http://schemas.openxmlformats.org/officeDocument/2006/relationships/notesSlide" Target="/ppt/notesSlides/notesSlide30.xml" Id="R88407e2cc49a456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3bb55c2401a4c1f" /><Relationship Type="http://schemas.openxmlformats.org/officeDocument/2006/relationships/notesSlide" Target="/ppt/notesSlides/notesSlide31.xml" Id="R1f5217fcc26c4a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1b8aa3601c04055" /><Relationship Type="http://schemas.openxmlformats.org/officeDocument/2006/relationships/notesSlide" Target="/ppt/notesSlides/notesSlide32.xml" Id="R38879c7afa9f43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1e86a38fbf94c43" /><Relationship Type="http://schemas.openxmlformats.org/officeDocument/2006/relationships/notesSlide" Target="/ppt/notesSlides/notesSlide33.xml" Id="Rb98d60b953ba4d1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38fb211e13a41e4" /><Relationship Type="http://schemas.openxmlformats.org/officeDocument/2006/relationships/notesSlide" Target="/ppt/notesSlides/notesSlide34.xml" Id="Re535f0bb29414ed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d42aa79bb4147aa" /><Relationship Type="http://schemas.openxmlformats.org/officeDocument/2006/relationships/notesSlide" Target="/ppt/notesSlides/notesSlide35.xml" Id="Rffcf6be608884e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56e9cb044054c82" /><Relationship Type="http://schemas.openxmlformats.org/officeDocument/2006/relationships/notesSlide" Target="/ppt/notesSlides/notesSlide36.xml" Id="R1e3c2aacbebd48e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f957d634e574faa" /><Relationship Type="http://schemas.openxmlformats.org/officeDocument/2006/relationships/notesSlide" Target="/ppt/notesSlides/notesSlide37.xml" Id="R0e26d004072143a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f33b6e09cea4e02" /><Relationship Type="http://schemas.openxmlformats.org/officeDocument/2006/relationships/notesSlide" Target="/ppt/notesSlides/notesSlide38.xml" Id="R223c79b9813c423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08caab0a96443d6" /><Relationship Type="http://schemas.openxmlformats.org/officeDocument/2006/relationships/notesSlide" Target="/ppt/notesSlides/notesSlide39.xml" Id="R4f1dcc0e585b4f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96545586cdf4575" /><Relationship Type="http://schemas.openxmlformats.org/officeDocument/2006/relationships/notesSlide" Target="/ppt/notesSlides/notesSlide40.xml" Id="Rca58993f62fa4b6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dc8d40df40444e5" /><Relationship Type="http://schemas.openxmlformats.org/officeDocument/2006/relationships/notesSlide" Target="/ppt/notesSlides/notesSlide41.xml" Id="R1b133bc2c9c6461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47e161c77d64ab5" /><Relationship Type="http://schemas.openxmlformats.org/officeDocument/2006/relationships/notesSlide" Target="/ppt/notesSlides/notesSlide42.xml" Id="R066e3131641142d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a421918dd634aaa" /><Relationship Type="http://schemas.openxmlformats.org/officeDocument/2006/relationships/notesSlide" Target="/ppt/notesSlides/notesSlide43.xml" Id="Ra8afdefe338e498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e8010e8b32c4d58" /><Relationship Type="http://schemas.openxmlformats.org/officeDocument/2006/relationships/notesSlide" Target="/ppt/notesSlides/notesSlide44.xml" Id="Rf91d7f1ff22c49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eaa294adad54028" /><Relationship Type="http://schemas.openxmlformats.org/officeDocument/2006/relationships/notesSlide" Target="/ppt/notesSlides/notesSlide45.xml" Id="Rd6eb82000364446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e9234d4f94a4af1" /><Relationship Type="http://schemas.openxmlformats.org/officeDocument/2006/relationships/notesSlide" Target="/ppt/notesSlides/notesSlide46.xml" Id="Rdc249d78800c45c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052a67a28bf4d1c" /><Relationship Type="http://schemas.openxmlformats.org/officeDocument/2006/relationships/notesSlide" Target="/ppt/notesSlides/notesSlide47.xml" Id="Ra4ec67e26ed2488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254bd2bb7604d22" /><Relationship Type="http://schemas.openxmlformats.org/officeDocument/2006/relationships/notesSlide" Target="/ppt/notesSlides/notesSlide48.xml" Id="Rdb2feac61361491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5bb4f89a2a24248" /><Relationship Type="http://schemas.openxmlformats.org/officeDocument/2006/relationships/notesSlide" Target="/ppt/notesSlides/notesSlide49.xml" Id="R39f82d0cd5d2448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dcf8baf658e4de9" /><Relationship Type="http://schemas.openxmlformats.org/officeDocument/2006/relationships/notesSlide" Target="/ppt/notesSlides/notesSlide50.xml" Id="Rb8825ea09640450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540ff9f07a24ca1" /><Relationship Type="http://schemas.openxmlformats.org/officeDocument/2006/relationships/notesSlide" Target="/ppt/notesSlides/notesSlide51.xml" Id="Rdcb9cbfff90b4ac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a4d733a5c094a64" /><Relationship Type="http://schemas.openxmlformats.org/officeDocument/2006/relationships/notesSlide" Target="/ppt/notesSlides/notesSlide52.xml" Id="R0582d0805b6742c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e429db340334dab" /><Relationship Type="http://schemas.openxmlformats.org/officeDocument/2006/relationships/notesSlide" Target="/ppt/notesSlides/notesSlide53.xml" Id="R382dd607066848f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c85fbce0fd14a94" /><Relationship Type="http://schemas.openxmlformats.org/officeDocument/2006/relationships/notesSlide" Target="/ppt/notesSlides/notesSlide54.xml" Id="R767b6b7ca75d405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4276cb85f444c89" /><Relationship Type="http://schemas.openxmlformats.org/officeDocument/2006/relationships/notesSlide" Target="/ppt/notesSlides/notesSlide55.xml" Id="R8a04a9cf1067479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8d682960bad40a3" /><Relationship Type="http://schemas.openxmlformats.org/officeDocument/2006/relationships/notesSlide" Target="/ppt/notesSlides/notesSlide56.xml" Id="Reb4d60f1fff44a6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ac1f8d9a70e4c6f" /><Relationship Type="http://schemas.openxmlformats.org/officeDocument/2006/relationships/notesSlide" Target="/ppt/notesSlides/notesSlide57.xml" Id="R53761f519a554b0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5dc9de3d2004cbe" /><Relationship Type="http://schemas.openxmlformats.org/officeDocument/2006/relationships/notesSlide" Target="/ppt/notesSlides/notesSlide58.xml" Id="Rdc7863226e684c8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da97f8fc73d4e9f" /><Relationship Type="http://schemas.openxmlformats.org/officeDocument/2006/relationships/notesSlide" Target="/ppt/notesSlides/notesSlide59.xml" Id="R4c4d72de8257461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4e4b2e0db3e42ea" /><Relationship Type="http://schemas.openxmlformats.org/officeDocument/2006/relationships/notesSlide" Target="/ppt/notesSlides/notesSlide60.xml" Id="R084297a051ff44f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b7672e8db084e65" /><Relationship Type="http://schemas.openxmlformats.org/officeDocument/2006/relationships/notesSlide" Target="/ppt/notesSlides/notesSlide61.xml" Id="R9a3bda9b028a4f3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960cd072ccc64a8c" /><Relationship Type="http://schemas.openxmlformats.org/officeDocument/2006/relationships/notesSlide" Target="/ppt/notesSlides/notesSlide62.xml" Id="R96ebe9dd315e4e9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581748a98184eaf" /><Relationship Type="http://schemas.openxmlformats.org/officeDocument/2006/relationships/notesSlide" Target="/ppt/notesSlides/notesSlide63.xml" Id="Rdaeddaffefc3420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5106ee2b591e485c" /><Relationship Type="http://schemas.openxmlformats.org/officeDocument/2006/relationships/notesSlide" Target="/ppt/notesSlides/notesSlide64.xml" Id="Re6f0552fdcf6448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c594f28d9834709" /><Relationship Type="http://schemas.openxmlformats.org/officeDocument/2006/relationships/notesSlide" Target="/ppt/notesSlides/notesSlide65.xml" Id="R64623849b2964d2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a6e853cf6c194289" /><Relationship Type="http://schemas.openxmlformats.org/officeDocument/2006/relationships/notesSlide" Target="/ppt/notesSlides/notesSlide66.xml" Id="Rb24b06917a2242c8"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5f718003b9ad40be" /><Relationship Type="http://schemas.openxmlformats.org/officeDocument/2006/relationships/notesSlide" Target="/ppt/notesSlides/notesSlide67.xml" Id="R5453791eeb7f41bb" /></Relationships>
</file>

<file path=ppt/slides/slide1.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5" name="cover-number">
            <a:extLst xmlns:a="http://schemas.openxmlformats.org/drawingml/2006/main">
              <a:ext uri="{FF2B5EF4-FFF2-40B4-BE49-F238E27FC236}">
                <a16:creationId xmlns:a16="http://schemas.microsoft.com/office/drawing/2014/main" id="{349FA8EA-2FC2-4B09-B684-2710702BD066}"/>
              </a:ext>
            </a:extLst>
          </p:cNvPr>
          <p:cNvSpPr>
            <a:spLocks xmlns:a="http://schemas.openxmlformats.org/drawingml/2006/main" noGrp="1"/>
          </p:cNvSpPr>
          <p:nvPr/>
        </p:nvSpPr>
        <p:spPr>
          <a:xfrm xmlns:a="http://schemas.openxmlformats.org/drawingml/2006/main">
            <a:off x="685800" y="438150"/>
            <a:ext cx="85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1">
                <a:solidFill>
                  <a:srgbClr val="73311C"/>
                </a:solidFill>
                <a:latin typeface="Consolas"/>
                <a:ea typeface="Consolas"/>
                <a:cs typeface="Consolas"/>
              </a:defRPr>
            </a:pPr>
            <a:r>
              <a:rPr sz="2100" b="1">
                <a:solidFill>
                  <a:srgbClr val="73311C"/>
                </a:solidFill>
                <a:latin typeface="Consolas"/>
                <a:ea typeface="Consolas"/>
                <a:cs typeface="Consolas"/>
              </a:rPr>
              <a:t>04</a:t>
            </a:r>
          </a:p>
        </p:txBody>
      </p:sp>
      <p:sp>
        <p:nvSpPr>
          <p:cNvPr id="2" name="cover-title">
            <a:extLst xmlns:a="http://schemas.openxmlformats.org/drawingml/2006/main">
              <a:ext uri="{FF2B5EF4-FFF2-40B4-BE49-F238E27FC236}">
                <a16:creationId xmlns:a16="http://schemas.microsoft.com/office/drawing/2014/main" id="{2A0EB28E-04E2-4496-A2D7-BBF7F0383B44}"/>
              </a:ext>
            </a:extLst>
          </p:cNvPr>
          <p:cNvSpPr>
            <a:spLocks xmlns:a="http://schemas.openxmlformats.org/drawingml/2006/main" noGrp="1"/>
          </p:cNvSpPr>
          <p:nvPr/>
        </p:nvSpPr>
        <p:spPr>
          <a:xfrm xmlns:a="http://schemas.openxmlformats.org/drawingml/2006/main">
            <a:off x="666750" y="1428750"/>
            <a:ext cx="10858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2000"/>
              </a:lnSpc>
              <a:buNone/>
              <a:defRPr sz="7800" b="1">
                <a:solidFill>
                  <a:srgbClr val="111111"/>
                </a:solidFill>
                <a:latin typeface="Arial Narrow"/>
                <a:ea typeface="Arial Narrow"/>
                <a:cs typeface="Arial Narrow"/>
              </a:defRPr>
            </a:pPr>
            <a:r>
              <a:rPr sz="7800" b="1">
                <a:solidFill>
                  <a:srgbClr val="111111"/>
                </a:solidFill>
                <a:latin typeface="Arial Narrow"/>
                <a:ea typeface="Arial Narrow"/>
                <a:cs typeface="Arial Narrow"/>
              </a:rPr>
              <a:t>topic04</a:t>
            </a:r>
          </a:p>
          <a:p xmlns:a="http://schemas.openxmlformats.org/drawingml/2006/main">
            <a:pPr algn="l">
              <a:lnSpc>
                <a:spcPct val="82000"/>
              </a:lnSpc>
              <a:buNone/>
              <a:defRPr sz="7800" b="1">
                <a:solidFill>
                  <a:srgbClr val="111111"/>
                </a:solidFill>
                <a:latin typeface="Arial Narrow"/>
                <a:ea typeface="Arial Narrow"/>
                <a:cs typeface="Arial Narrow"/>
              </a:defRPr>
            </a:pPr>
            <a:r>
              <a:rPr sz="7800" b="1">
                <a:solidFill>
                  <a:srgbClr val="111111"/>
                </a:solidFill>
                <a:latin typeface="Arial Narrow"/>
                <a:ea typeface="Arial Narrow"/>
                <a:cs typeface="Arial Narrow"/>
              </a:rPr>
              <a:t>lỗ hổng web</a:t>
            </a:r>
          </a:p>
        </p:txBody>
      </p:sp>
      <p:sp>
        <p:nvSpPr>
          <p:cNvPr id="3" name="cover-subtitle">
            <a:extLst xmlns:a="http://schemas.openxmlformats.org/drawingml/2006/main">
              <a:ext uri="{FF2B5EF4-FFF2-40B4-BE49-F238E27FC236}">
                <a16:creationId xmlns:a16="http://schemas.microsoft.com/office/drawing/2014/main" id="{7937F28F-B6B9-445B-A3E3-4A3928B04DF1}"/>
              </a:ext>
            </a:extLst>
          </p:cNvPr>
          <p:cNvSpPr>
            <a:spLocks xmlns:a="http://schemas.openxmlformats.org/drawingml/2006/main" noGrp="1"/>
          </p:cNvSpPr>
          <p:nvPr/>
        </p:nvSpPr>
        <p:spPr>
          <a:xfrm xmlns:a="http://schemas.openxmlformats.org/drawingml/2006/main">
            <a:off x="723900" y="4267200"/>
            <a:ext cx="8096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Trình bày lý thuyết đến đâu, demo đúng lab đến đó — rồi trả lời toàn bộ câu hỏi trong đề.</a:t>
            </a:r>
          </a:p>
        </p:txBody>
      </p:sp>
      <p:sp>
        <p:nvSpPr>
          <p:cNvPr id="4" name="cover-tag">
            <a:extLst xmlns:a="http://schemas.openxmlformats.org/drawingml/2006/main">
              <a:ext uri="{FF2B5EF4-FFF2-40B4-BE49-F238E27FC236}">
                <a16:creationId xmlns:a16="http://schemas.microsoft.com/office/drawing/2014/main" id="{38FDEB5B-DD19-4A23-8A41-E07F3CD46376}"/>
              </a:ext>
            </a:extLst>
          </p:cNvPr>
          <p:cNvSpPr>
            <a:spLocks xmlns:a="http://schemas.openxmlformats.org/drawingml/2006/main" noGrp="1"/>
          </p:cNvSpPr>
          <p:nvPr/>
        </p:nvSpPr>
        <p:spPr>
          <a:xfrm xmlns:a="http://schemas.openxmlformats.org/drawingml/2006/main">
            <a:off x="723900" y="594360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LÊ MINH 21127645 / NGUYỄN VŨ BÁCH 21127224 / 6 LAB LOCAL</a:t>
            </a:r>
          </a:p>
        </p:txBody>
      </p:sp>
    </p:spTree>
    <p:extLst>
      <p:ext uri="{BB962C8B-B14F-4D97-AF65-F5344CB8AC3E}">
        <p14:creationId xmlns:p14="http://schemas.microsoft.com/office/powerpoint/2010/main" val="285107180"/>
      </p:ext>
    </p:extLst>
  </p:cSld>
</p:sld>
</file>

<file path=ppt/slides/slide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D77B777E-0C0F-4B8B-A8FA-3C76CA9DEAAF}"/>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PHẠM VI</a:t>
            </a:r>
          </a:p>
        </p:txBody>
      </p:sp>
      <p:sp>
        <p:nvSpPr>
          <p:cNvPr id="2" name="chrome-number">
            <a:extLst xmlns:a="http://schemas.openxmlformats.org/drawingml/2006/main">
              <a:ext uri="{FF2B5EF4-FFF2-40B4-BE49-F238E27FC236}">
                <a16:creationId xmlns:a16="http://schemas.microsoft.com/office/drawing/2014/main" id="{A5A34007-4403-4D4F-8714-E551B978DFCC}"/>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02</a:t>
            </a:r>
          </a:p>
        </p:txBody>
      </p:sp>
      <p:sp>
        <p:nvSpPr>
          <p:cNvPr id="3" name="rule-70-58">
            <a:extLst xmlns:a="http://schemas.openxmlformats.org/drawingml/2006/main">
              <a:ext uri="{FF2B5EF4-FFF2-40B4-BE49-F238E27FC236}">
                <a16:creationId xmlns:a16="http://schemas.microsoft.com/office/drawing/2014/main" id="{2DB13956-56E9-446D-8A25-D6DD5C6156C1}"/>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79E284F7-2E47-45B6-818B-D6F0B1196A23}"/>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43DF0E47-E2C5-4DE7-A048-CB6531F58F9C}"/>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Chỉ thử nghiệm trong môi trường hợp pháp</a:t>
            </a:r>
          </a:p>
        </p:txBody>
      </p:sp>
      <p:sp>
        <p:nvSpPr>
          <p:cNvPr id="6" name="rule-70-672">
            <a:extLst xmlns:a="http://schemas.openxmlformats.org/drawingml/2006/main">
              <a:ext uri="{FF2B5EF4-FFF2-40B4-BE49-F238E27FC236}">
                <a16:creationId xmlns:a16="http://schemas.microsoft.com/office/drawing/2014/main" id="{A9A79281-DAE9-4664-98F0-7648B053A9A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3B47CB68-AA63-4554-8C20-149D8E44103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135F8B47-9DD6-4968-9632-B264CC522A97}"/>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D3ACA5D1-2597-443D-B200-92D4B12004C7}"/>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Chỉ dùng máy local, Docker/VM local hoặc ứng dụng cố tình có lỗ hổng.</a:t>
            </a:r>
          </a:p>
        </p:txBody>
      </p:sp>
      <p:sp>
        <p:nvSpPr>
          <p:cNvPr id="10" name="bullet-marker-1">
            <a:extLst xmlns:a="http://schemas.openxmlformats.org/drawingml/2006/main">
              <a:ext uri="{FF2B5EF4-FFF2-40B4-BE49-F238E27FC236}">
                <a16:creationId xmlns:a16="http://schemas.microsoft.com/office/drawing/2014/main" id="{157422F7-AB23-4B76-9884-C8B0B8B2A36E}"/>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C234D680-EB53-4D75-8F73-470CC4BC1CBF}"/>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Không thử payload trên website thật; không đánh cắp cookie, tài khoản hay dữ liệu thật.</a:t>
            </a:r>
          </a:p>
        </p:txBody>
      </p:sp>
      <p:sp>
        <p:nvSpPr>
          <p:cNvPr id="12" name="bullet-marker-2">
            <a:extLst xmlns:a="http://schemas.openxmlformats.org/drawingml/2006/main">
              <a:ext uri="{FF2B5EF4-FFF2-40B4-BE49-F238E27FC236}">
                <a16:creationId xmlns:a16="http://schemas.microsoft.com/office/drawing/2014/main" id="{36A45773-3121-46E2-8185-A6337C0A1882}"/>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E5691B4F-95EA-4164-B4B6-60C13DECDDD5}"/>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Lab02 chỉ gây crash có kiểm soát — không shellcode, ROP, reverse shell hay persistence.</a:t>
            </a:r>
          </a:p>
        </p:txBody>
      </p:sp>
    </p:spTree>
    <p:extLst>
      <p:ext uri="{BB962C8B-B14F-4D97-AF65-F5344CB8AC3E}">
        <p14:creationId xmlns:p14="http://schemas.microsoft.com/office/powerpoint/2010/main" val="2145106595"/>
      </p:ext>
    </p:extLst>
  </p:cSld>
</p:sld>
</file>

<file path=ppt/slides/slide3.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5" name="statement-section">
            <a:extLst xmlns:a="http://schemas.openxmlformats.org/drawingml/2006/main">
              <a:ext uri="{FF2B5EF4-FFF2-40B4-BE49-F238E27FC236}">
                <a16:creationId xmlns:a16="http://schemas.microsoft.com/office/drawing/2014/main" id="{A27B35B6-542C-4078-A86C-94E7AB0B1B72}"/>
              </a:ext>
            </a:extLst>
          </p:cNvPr>
          <p:cNvSpPr>
            <a:spLocks xmlns:a="http://schemas.openxmlformats.org/drawingml/2006/main" noGrp="1"/>
          </p:cNvSpPr>
          <p:nvPr/>
        </p:nvSpPr>
        <p:spPr>
          <a:xfrm xmlns:a="http://schemas.openxmlformats.org/drawingml/2006/main">
            <a:off x="685800" y="4762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LUẬN ĐIỂM XUYÊN SUỐT</a:t>
            </a:r>
          </a:p>
        </p:txBody>
      </p:sp>
      <p:sp>
        <p:nvSpPr>
          <p:cNvPr id="2" name="statement-number">
            <a:extLst xmlns:a="http://schemas.openxmlformats.org/drawingml/2006/main">
              <a:ext uri="{FF2B5EF4-FFF2-40B4-BE49-F238E27FC236}">
                <a16:creationId xmlns:a16="http://schemas.microsoft.com/office/drawing/2014/main" id="{94A24C46-2E20-4F16-9936-D3D470EAA50C}"/>
              </a:ext>
            </a:extLst>
          </p:cNvPr>
          <p:cNvSpPr>
            <a:spLocks xmlns:a="http://schemas.openxmlformats.org/drawingml/2006/main" noGrp="1"/>
          </p:cNvSpPr>
          <p:nvPr/>
        </p:nvSpPr>
        <p:spPr>
          <a:xfrm xmlns:a="http://schemas.openxmlformats.org/drawingml/2006/main">
            <a:off x="10668000" y="4762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125" b="1">
                <a:solidFill>
                  <a:srgbClr val="73311C"/>
                </a:solidFill>
                <a:latin typeface="Consolas"/>
                <a:ea typeface="Consolas"/>
                <a:cs typeface="Consolas"/>
              </a:defRPr>
            </a:pPr>
            <a:r>
              <a:rPr sz="1125" b="1">
                <a:solidFill>
                  <a:srgbClr val="73311C"/>
                </a:solidFill>
                <a:latin typeface="Consolas"/>
                <a:ea typeface="Consolas"/>
                <a:cs typeface="Consolas"/>
              </a:rPr>
              <a:t>03</a:t>
            </a:r>
          </a:p>
        </p:txBody>
      </p:sp>
      <p:sp>
        <p:nvSpPr>
          <p:cNvPr id="3" name="statement">
            <a:extLst xmlns:a="http://schemas.openxmlformats.org/drawingml/2006/main">
              <a:ext uri="{FF2B5EF4-FFF2-40B4-BE49-F238E27FC236}">
                <a16:creationId xmlns:a16="http://schemas.microsoft.com/office/drawing/2014/main" id="{93A188E1-2B22-4364-807F-7148C60F4FCC}"/>
              </a:ext>
            </a:extLst>
          </p:cNvPr>
          <p:cNvSpPr>
            <a:spLocks xmlns:a="http://schemas.openxmlformats.org/drawingml/2006/main" noGrp="1"/>
          </p:cNvSpPr>
          <p:nvPr/>
        </p:nvSpPr>
        <p:spPr>
          <a:xfrm xmlns:a="http://schemas.openxmlformats.org/drawingml/2006/main">
            <a:off x="647700" y="1447800"/>
            <a:ext cx="10858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5000"/>
              </a:lnSpc>
              <a:buNone/>
              <a:defRPr sz="6600" b="1">
                <a:solidFill>
                  <a:srgbClr val="111111"/>
                </a:solidFill>
                <a:latin typeface="Arial Narrow"/>
                <a:ea typeface="Arial Narrow"/>
                <a:cs typeface="Arial Narrow"/>
              </a:defRPr>
            </a:pPr>
            <a:r>
              <a:rPr sz="6600" b="1">
                <a:solidFill>
                  <a:srgbClr val="111111"/>
                </a:solidFill>
                <a:latin typeface="Arial Narrow"/>
                <a:ea typeface="Arial Narrow"/>
                <a:cs typeface="Arial Narrow"/>
              </a:rPr>
              <a:t>mọi input từ client đều không đáng tin</a:t>
            </a:r>
          </a:p>
        </p:txBody>
      </p:sp>
      <p:sp>
        <p:nvSpPr>
          <p:cNvPr id="4" name="statement-caption">
            <a:extLst xmlns:a="http://schemas.openxmlformats.org/drawingml/2006/main">
              <a:ext uri="{FF2B5EF4-FFF2-40B4-BE49-F238E27FC236}">
                <a16:creationId xmlns:a16="http://schemas.microsoft.com/office/drawing/2014/main" id="{6D70185D-C188-4FBB-AF88-2AFD2343F0B6}"/>
              </a:ext>
            </a:extLst>
          </p:cNvPr>
          <p:cNvSpPr>
            <a:spLocks xmlns:a="http://schemas.openxmlformats.org/drawingml/2006/main" noGrp="1"/>
          </p:cNvSpPr>
          <p:nvPr/>
        </p:nvSpPr>
        <p:spPr>
          <a:xfrm xmlns:a="http://schemas.openxmlformats.org/drawingml/2006/main">
            <a:off x="723900" y="4953000"/>
            <a:ext cx="895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0">
                <a:solidFill>
                  <a:srgbClr val="111111"/>
                </a:solidFill>
                <a:latin typeface="Arial Narrow"/>
                <a:ea typeface="Arial Narrow"/>
                <a:cs typeface="Arial Narrow"/>
              </a:defRPr>
            </a:pPr>
            <a:r>
              <a:rPr sz="1950" b="0">
                <a:solidFill>
                  <a:srgbClr val="111111"/>
                </a:solidFill>
                <a:latin typeface="Arial Narrow"/>
                <a:ea typeface="Arial Narrow"/>
                <a:cs typeface="Arial Narrow"/>
              </a:rPr>
              <a:t>Sáu lab khác nhau, nhưng cùng một câu hỏi: server đã kiểm tra dữ liệu, quyền và tính toàn vẹn ở đúng ranh giới chưa?</a:t>
            </a:r>
          </a:p>
        </p:txBody>
      </p:sp>
    </p:spTree>
    <p:extLst>
      <p:ext uri="{BB962C8B-B14F-4D97-AF65-F5344CB8AC3E}">
        <p14:creationId xmlns:p14="http://schemas.microsoft.com/office/powerpoint/2010/main" val="1908660028"/>
      </p:ext>
    </p:extLst>
  </p:cSld>
</p:sld>
</file>

<file path=ppt/slides/slide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3" name="chrome-section">
            <a:extLst xmlns:a="http://schemas.openxmlformats.org/drawingml/2006/main">
              <a:ext uri="{FF2B5EF4-FFF2-40B4-BE49-F238E27FC236}">
                <a16:creationId xmlns:a16="http://schemas.microsoft.com/office/drawing/2014/main" id="{E4580D2D-35A2-40C3-A58C-1F27A9CB5F4C}"/>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BẢN ĐỒ DEMO</a:t>
            </a:r>
          </a:p>
        </p:txBody>
      </p:sp>
      <p:sp>
        <p:nvSpPr>
          <p:cNvPr id="2" name="chrome-number">
            <a:extLst xmlns:a="http://schemas.openxmlformats.org/drawingml/2006/main">
              <a:ext uri="{FF2B5EF4-FFF2-40B4-BE49-F238E27FC236}">
                <a16:creationId xmlns:a16="http://schemas.microsoft.com/office/drawing/2014/main" id="{FDDA2D1C-9C95-4033-A837-336E938496B2}"/>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04</a:t>
            </a:r>
          </a:p>
        </p:txBody>
      </p:sp>
      <p:sp>
        <p:nvSpPr>
          <p:cNvPr id="3" name="rule-70-58">
            <a:extLst xmlns:a="http://schemas.openxmlformats.org/drawingml/2006/main">
              <a:ext uri="{FF2B5EF4-FFF2-40B4-BE49-F238E27FC236}">
                <a16:creationId xmlns:a16="http://schemas.microsoft.com/office/drawing/2014/main" id="{47684156-AAF5-416C-BD70-7FF3B25B4EAA}"/>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D1F5E39-AD27-448A-8F02-840BAF2F2626}"/>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MA TRẬN ĐỐI CHIẾU</a:t>
            </a:r>
          </a:p>
        </p:txBody>
      </p:sp>
      <p:sp>
        <p:nvSpPr>
          <p:cNvPr id="5" name="slide-title">
            <a:extLst xmlns:a="http://schemas.openxmlformats.org/drawingml/2006/main">
              <a:ext uri="{FF2B5EF4-FFF2-40B4-BE49-F238E27FC236}">
                <a16:creationId xmlns:a16="http://schemas.microsoft.com/office/drawing/2014/main" id="{5705B104-D3D0-4CD1-B408-E24A35672235}"/>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Sáu ứng dụng, sáu cổng, một nhịp trình bày</a:t>
            </a:r>
          </a:p>
        </p:txBody>
      </p:sp>
      <p:sp>
        <p:nvSpPr>
          <p:cNvPr id="6" name="rule-70-672">
            <a:extLst xmlns:a="http://schemas.openxmlformats.org/drawingml/2006/main">
              <a:ext uri="{FF2B5EF4-FFF2-40B4-BE49-F238E27FC236}">
                <a16:creationId xmlns:a16="http://schemas.microsoft.com/office/drawing/2014/main" id="{D6828EC9-F3E3-4E15-B395-36E5992DDF94}"/>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48FBBCA-B6C8-4FF7-A038-9D2E3A605D20}"/>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72">
            <a:extLst xmlns:a="http://schemas.openxmlformats.org/drawingml/2006/main">
              <a:ext uri="{FF2B5EF4-FFF2-40B4-BE49-F238E27FC236}">
                <a16:creationId xmlns:a16="http://schemas.microsoft.com/office/drawing/2014/main" id="{88D4F3B2-B745-4D71-96DD-23CD88EA06C9}"/>
              </a:ext>
            </a:extLst>
          </p:cNvPr>
          <p:cNvSpPr>
            <a:spLocks xmlns:a="http://schemas.openxmlformats.org/drawingml/2006/main" noGrp="1"/>
          </p:cNvSpPr>
          <p:nvPr/>
        </p:nvSpPr>
        <p:spPr>
          <a:xfrm xmlns:a="http://schemas.openxmlformats.org/drawingml/2006/main">
            <a:off x="666750" y="2590800"/>
            <a:ext cx="1085850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9" name="cell-0-0">
            <a:extLst xmlns:a="http://schemas.openxmlformats.org/drawingml/2006/main">
              <a:ext uri="{FF2B5EF4-FFF2-40B4-BE49-F238E27FC236}">
                <a16:creationId xmlns:a16="http://schemas.microsoft.com/office/drawing/2014/main" id="{1AA04DCB-C2AB-437B-8F81-FF82EB37973A}"/>
              </a:ext>
            </a:extLst>
          </p:cNvPr>
          <p:cNvSpPr>
            <a:spLocks xmlns:a="http://schemas.openxmlformats.org/drawingml/2006/main" noGrp="1"/>
          </p:cNvSpPr>
          <p:nvPr/>
        </p:nvSpPr>
        <p:spPr>
          <a:xfrm xmlns:a="http://schemas.openxmlformats.org/drawingml/2006/main">
            <a:off x="666750" y="20955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LAB</a:t>
            </a:r>
          </a:p>
        </p:txBody>
      </p:sp>
      <p:sp>
        <p:nvSpPr>
          <p:cNvPr id="10" name="cell-0-1">
            <a:extLst xmlns:a="http://schemas.openxmlformats.org/drawingml/2006/main">
              <a:ext uri="{FF2B5EF4-FFF2-40B4-BE49-F238E27FC236}">
                <a16:creationId xmlns:a16="http://schemas.microsoft.com/office/drawing/2014/main" id="{90F0B05A-97B2-4C30-9552-4D89F94FD389}"/>
              </a:ext>
            </a:extLst>
          </p:cNvPr>
          <p:cNvSpPr>
            <a:spLocks xmlns:a="http://schemas.openxmlformats.org/drawingml/2006/main" noGrp="1"/>
          </p:cNvSpPr>
          <p:nvPr/>
        </p:nvSpPr>
        <p:spPr>
          <a:xfrm xmlns:a="http://schemas.openxmlformats.org/drawingml/2006/main">
            <a:off x="2667000" y="20955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CHỦ ĐỀ</a:t>
            </a:r>
          </a:p>
        </p:txBody>
      </p:sp>
      <p:sp>
        <p:nvSpPr>
          <p:cNvPr id="11" name="cell-0-2">
            <a:extLst xmlns:a="http://schemas.openxmlformats.org/drawingml/2006/main">
              <a:ext uri="{FF2B5EF4-FFF2-40B4-BE49-F238E27FC236}">
                <a16:creationId xmlns:a16="http://schemas.microsoft.com/office/drawing/2014/main" id="{22011EEF-38A4-4500-AC31-BF710B9AFD5E}"/>
              </a:ext>
            </a:extLst>
          </p:cNvPr>
          <p:cNvSpPr>
            <a:spLocks xmlns:a="http://schemas.openxmlformats.org/drawingml/2006/main" noGrp="1"/>
          </p:cNvSpPr>
          <p:nvPr/>
        </p:nvSpPr>
        <p:spPr>
          <a:xfrm xmlns:a="http://schemas.openxmlformats.org/drawingml/2006/main">
            <a:off x="5238750" y="20955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URL</a:t>
            </a:r>
          </a:p>
        </p:txBody>
      </p:sp>
      <p:sp>
        <p:nvSpPr>
          <p:cNvPr id="12" name="cell-0-3">
            <a:extLst xmlns:a="http://schemas.openxmlformats.org/drawingml/2006/main">
              <a:ext uri="{FF2B5EF4-FFF2-40B4-BE49-F238E27FC236}">
                <a16:creationId xmlns:a16="http://schemas.microsoft.com/office/drawing/2014/main" id="{29A4E531-1DAC-4EF4-93FB-0289E8078FD8}"/>
              </a:ext>
            </a:extLst>
          </p:cNvPr>
          <p:cNvSpPr>
            <a:spLocks xmlns:a="http://schemas.openxmlformats.org/drawingml/2006/main" noGrp="1"/>
          </p:cNvSpPr>
          <p:nvPr/>
        </p:nvSpPr>
        <p:spPr>
          <a:xfrm xmlns:a="http://schemas.openxmlformats.org/drawingml/2006/main">
            <a:off x="8096250" y="20955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ĐIỂM DEMO</a:t>
            </a:r>
          </a:p>
        </p:txBody>
      </p:sp>
      <p:sp>
        <p:nvSpPr>
          <p:cNvPr id="13" name="rule-70-330">
            <a:extLst xmlns:a="http://schemas.openxmlformats.org/drawingml/2006/main">
              <a:ext uri="{FF2B5EF4-FFF2-40B4-BE49-F238E27FC236}">
                <a16:creationId xmlns:a16="http://schemas.microsoft.com/office/drawing/2014/main" id="{B655D183-14A2-44EB-913D-E89FB6E97844}"/>
              </a:ext>
            </a:extLst>
          </p:cNvPr>
          <p:cNvSpPr>
            <a:spLocks xmlns:a="http://schemas.openxmlformats.org/drawingml/2006/main" noGrp="1"/>
          </p:cNvSpPr>
          <p:nvPr/>
        </p:nvSpPr>
        <p:spPr>
          <a:xfrm xmlns:a="http://schemas.openxmlformats.org/drawingml/2006/main">
            <a:off x="666750" y="31432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cell-1-0">
            <a:extLst xmlns:a="http://schemas.openxmlformats.org/drawingml/2006/main">
              <a:ext uri="{FF2B5EF4-FFF2-40B4-BE49-F238E27FC236}">
                <a16:creationId xmlns:a16="http://schemas.microsoft.com/office/drawing/2014/main" id="{F94B4EF6-B65A-46AB-B952-4CA16C68B4EF}"/>
              </a:ext>
            </a:extLst>
          </p:cNvPr>
          <p:cNvSpPr>
            <a:spLocks xmlns:a="http://schemas.openxmlformats.org/drawingml/2006/main" noGrp="1"/>
          </p:cNvSpPr>
          <p:nvPr/>
        </p:nvSpPr>
        <p:spPr>
          <a:xfrm xmlns:a="http://schemas.openxmlformats.org/drawingml/2006/main">
            <a:off x="666750" y="26479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01</a:t>
            </a:r>
          </a:p>
        </p:txBody>
      </p:sp>
      <p:sp>
        <p:nvSpPr>
          <p:cNvPr id="15" name="cell-1-1">
            <a:extLst xmlns:a="http://schemas.openxmlformats.org/drawingml/2006/main">
              <a:ext uri="{FF2B5EF4-FFF2-40B4-BE49-F238E27FC236}">
                <a16:creationId xmlns:a16="http://schemas.microsoft.com/office/drawing/2014/main" id="{7A4DBB12-97CE-4350-91F6-26A1CE697E98}"/>
              </a:ext>
            </a:extLst>
          </p:cNvPr>
          <p:cNvSpPr>
            <a:spLocks xmlns:a="http://schemas.openxmlformats.org/drawingml/2006/main" noGrp="1"/>
          </p:cNvSpPr>
          <p:nvPr/>
        </p:nvSpPr>
        <p:spPr>
          <a:xfrm xmlns:a="http://schemas.openxmlformats.org/drawingml/2006/main">
            <a:off x="2667000" y="26479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XSS</a:t>
            </a:r>
          </a:p>
        </p:txBody>
      </p:sp>
      <p:sp>
        <p:nvSpPr>
          <p:cNvPr id="16" name="cell-1-2">
            <a:extLst xmlns:a="http://schemas.openxmlformats.org/drawingml/2006/main">
              <a:ext uri="{FF2B5EF4-FFF2-40B4-BE49-F238E27FC236}">
                <a16:creationId xmlns:a16="http://schemas.microsoft.com/office/drawing/2014/main" id="{58C13449-BDA7-4DA9-9F8F-E14E0BD6C060}"/>
              </a:ext>
            </a:extLst>
          </p:cNvPr>
          <p:cNvSpPr>
            <a:spLocks xmlns:a="http://schemas.openxmlformats.org/drawingml/2006/main" noGrp="1"/>
          </p:cNvSpPr>
          <p:nvPr/>
        </p:nvSpPr>
        <p:spPr>
          <a:xfrm xmlns:a="http://schemas.openxmlformats.org/drawingml/2006/main">
            <a:off x="5238750" y="2647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127.0.0.1:5000</a:t>
            </a:r>
          </a:p>
        </p:txBody>
      </p:sp>
      <p:sp>
        <p:nvSpPr>
          <p:cNvPr id="17" name="cell-1-3">
            <a:extLst xmlns:a="http://schemas.openxmlformats.org/drawingml/2006/main">
              <a:ext uri="{FF2B5EF4-FFF2-40B4-BE49-F238E27FC236}">
                <a16:creationId xmlns:a16="http://schemas.microsoft.com/office/drawing/2014/main" id="{8DD747F0-E1C7-4862-B452-87A57A9E6098}"/>
              </a:ext>
            </a:extLst>
          </p:cNvPr>
          <p:cNvSpPr>
            <a:spLocks xmlns:a="http://schemas.openxmlformats.org/drawingml/2006/main" noGrp="1"/>
          </p:cNvSpPr>
          <p:nvPr/>
        </p:nvSpPr>
        <p:spPr>
          <a:xfrm xmlns:a="http://schemas.openxmlformats.org/drawingml/2006/main">
            <a:off x="8096250" y="26479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source → sink</a:t>
            </a:r>
          </a:p>
        </p:txBody>
      </p:sp>
      <p:sp>
        <p:nvSpPr>
          <p:cNvPr id="18" name="rule-70-388">
            <a:extLst xmlns:a="http://schemas.openxmlformats.org/drawingml/2006/main">
              <a:ext uri="{FF2B5EF4-FFF2-40B4-BE49-F238E27FC236}">
                <a16:creationId xmlns:a16="http://schemas.microsoft.com/office/drawing/2014/main" id="{E6A05C6B-A6DD-46B4-912F-66996E89EDC8}"/>
              </a:ext>
            </a:extLst>
          </p:cNvPr>
          <p:cNvSpPr>
            <a:spLocks xmlns:a="http://schemas.openxmlformats.org/drawingml/2006/main" noGrp="1"/>
          </p:cNvSpPr>
          <p:nvPr/>
        </p:nvSpPr>
        <p:spPr>
          <a:xfrm xmlns:a="http://schemas.openxmlformats.org/drawingml/2006/main">
            <a:off x="666750" y="36957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9" name="cell-2-0">
            <a:extLst xmlns:a="http://schemas.openxmlformats.org/drawingml/2006/main">
              <a:ext uri="{FF2B5EF4-FFF2-40B4-BE49-F238E27FC236}">
                <a16:creationId xmlns:a16="http://schemas.microsoft.com/office/drawing/2014/main" id="{85A3758A-E9CF-4FF2-8270-C385329B2D97}"/>
              </a:ext>
            </a:extLst>
          </p:cNvPr>
          <p:cNvSpPr>
            <a:spLocks xmlns:a="http://schemas.openxmlformats.org/drawingml/2006/main" noGrp="1"/>
          </p:cNvSpPr>
          <p:nvPr/>
        </p:nvSpPr>
        <p:spPr>
          <a:xfrm xmlns:a="http://schemas.openxmlformats.org/drawingml/2006/main">
            <a:off x="666750" y="32004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02</a:t>
            </a:r>
          </a:p>
        </p:txBody>
      </p:sp>
      <p:sp>
        <p:nvSpPr>
          <p:cNvPr id="20" name="cell-2-1">
            <a:extLst xmlns:a="http://schemas.openxmlformats.org/drawingml/2006/main">
              <a:ext uri="{FF2B5EF4-FFF2-40B4-BE49-F238E27FC236}">
                <a16:creationId xmlns:a16="http://schemas.microsoft.com/office/drawing/2014/main" id="{7C12359E-6753-487A-B08A-1B5442F3CE89}"/>
              </a:ext>
            </a:extLst>
          </p:cNvPr>
          <p:cNvSpPr>
            <a:spLocks xmlns:a="http://schemas.openxmlformats.org/drawingml/2006/main" noGrp="1"/>
          </p:cNvSpPr>
          <p:nvPr/>
        </p:nvSpPr>
        <p:spPr>
          <a:xfrm xmlns:a="http://schemas.openxmlformats.org/drawingml/2006/main">
            <a:off x="2667000" y="3200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Buffer Overflow</a:t>
            </a:r>
          </a:p>
        </p:txBody>
      </p:sp>
      <p:sp>
        <p:nvSpPr>
          <p:cNvPr id="21" name="cell-2-2">
            <a:extLst xmlns:a="http://schemas.openxmlformats.org/drawingml/2006/main">
              <a:ext uri="{FF2B5EF4-FFF2-40B4-BE49-F238E27FC236}">
                <a16:creationId xmlns:a16="http://schemas.microsoft.com/office/drawing/2014/main" id="{E80272CF-26D8-45D1-ACDF-A5F5AF5E9F44}"/>
              </a:ext>
            </a:extLst>
          </p:cNvPr>
          <p:cNvSpPr>
            <a:spLocks xmlns:a="http://schemas.openxmlformats.org/drawingml/2006/main" noGrp="1"/>
          </p:cNvSpPr>
          <p:nvPr/>
        </p:nvSpPr>
        <p:spPr>
          <a:xfrm xmlns:a="http://schemas.openxmlformats.org/drawingml/2006/main">
            <a:off x="5238750" y="32004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127.0.0.1:5002</a:t>
            </a:r>
          </a:p>
        </p:txBody>
      </p:sp>
      <p:sp>
        <p:nvSpPr>
          <p:cNvPr id="22" name="cell-2-3">
            <a:extLst xmlns:a="http://schemas.openxmlformats.org/drawingml/2006/main">
              <a:ext uri="{FF2B5EF4-FFF2-40B4-BE49-F238E27FC236}">
                <a16:creationId xmlns:a16="http://schemas.microsoft.com/office/drawing/2014/main" id="{5421C8A1-243E-48CA-BE40-66B9F84787B5}"/>
              </a:ext>
            </a:extLst>
          </p:cNvPr>
          <p:cNvSpPr>
            <a:spLocks xmlns:a="http://schemas.openxmlformats.org/drawingml/2006/main" noGrp="1"/>
          </p:cNvSpPr>
          <p:nvPr/>
        </p:nvSpPr>
        <p:spPr>
          <a:xfrm xmlns:a="http://schemas.openxmlformats.org/drawingml/2006/main">
            <a:off x="8096250" y="32004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HTTP → C → stack</a:t>
            </a:r>
          </a:p>
        </p:txBody>
      </p:sp>
      <p:sp>
        <p:nvSpPr>
          <p:cNvPr id="23" name="rule-70-446">
            <a:extLst xmlns:a="http://schemas.openxmlformats.org/drawingml/2006/main">
              <a:ext uri="{FF2B5EF4-FFF2-40B4-BE49-F238E27FC236}">
                <a16:creationId xmlns:a16="http://schemas.microsoft.com/office/drawing/2014/main" id="{9E6931D6-0A52-463C-BBBF-5F51F07A39B7}"/>
              </a:ext>
            </a:extLst>
          </p:cNvPr>
          <p:cNvSpPr>
            <a:spLocks xmlns:a="http://schemas.openxmlformats.org/drawingml/2006/main" noGrp="1"/>
          </p:cNvSpPr>
          <p:nvPr/>
        </p:nvSpPr>
        <p:spPr>
          <a:xfrm xmlns:a="http://schemas.openxmlformats.org/drawingml/2006/main">
            <a:off x="666750" y="42481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4" name="cell-3-0">
            <a:extLst xmlns:a="http://schemas.openxmlformats.org/drawingml/2006/main">
              <a:ext uri="{FF2B5EF4-FFF2-40B4-BE49-F238E27FC236}">
                <a16:creationId xmlns:a16="http://schemas.microsoft.com/office/drawing/2014/main" id="{556AD6DB-7F96-4EA4-95DF-B45A8DDAC5F3}"/>
              </a:ext>
            </a:extLst>
          </p:cNvPr>
          <p:cNvSpPr>
            <a:spLocks xmlns:a="http://schemas.openxmlformats.org/drawingml/2006/main" noGrp="1"/>
          </p:cNvSpPr>
          <p:nvPr/>
        </p:nvSpPr>
        <p:spPr>
          <a:xfrm xmlns:a="http://schemas.openxmlformats.org/drawingml/2006/main">
            <a:off x="666750" y="37528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03</a:t>
            </a:r>
          </a:p>
        </p:txBody>
      </p:sp>
      <p:sp>
        <p:nvSpPr>
          <p:cNvPr id="25" name="cell-3-1">
            <a:extLst xmlns:a="http://schemas.openxmlformats.org/drawingml/2006/main">
              <a:ext uri="{FF2B5EF4-FFF2-40B4-BE49-F238E27FC236}">
                <a16:creationId xmlns:a16="http://schemas.microsoft.com/office/drawing/2014/main" id="{CC07367A-0458-451F-AD3C-3FB891887AFE}"/>
              </a:ext>
            </a:extLst>
          </p:cNvPr>
          <p:cNvSpPr>
            <a:spLocks xmlns:a="http://schemas.openxmlformats.org/drawingml/2006/main" noGrp="1"/>
          </p:cNvSpPr>
          <p:nvPr/>
        </p:nvSpPr>
        <p:spPr>
          <a:xfrm xmlns:a="http://schemas.openxmlformats.org/drawingml/2006/main">
            <a:off x="2667000" y="37528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Parameter Tampering</a:t>
            </a:r>
          </a:p>
        </p:txBody>
      </p:sp>
      <p:sp>
        <p:nvSpPr>
          <p:cNvPr id="26" name="cell-3-2">
            <a:extLst xmlns:a="http://schemas.openxmlformats.org/drawingml/2006/main">
              <a:ext uri="{FF2B5EF4-FFF2-40B4-BE49-F238E27FC236}">
                <a16:creationId xmlns:a16="http://schemas.microsoft.com/office/drawing/2014/main" id="{5AC4D47C-0957-4FBF-8C59-95F63D483D8B}"/>
              </a:ext>
            </a:extLst>
          </p:cNvPr>
          <p:cNvSpPr>
            <a:spLocks xmlns:a="http://schemas.openxmlformats.org/drawingml/2006/main" noGrp="1"/>
          </p:cNvSpPr>
          <p:nvPr/>
        </p:nvSpPr>
        <p:spPr>
          <a:xfrm xmlns:a="http://schemas.openxmlformats.org/drawingml/2006/main">
            <a:off x="52387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127.0.0.1:5003</a:t>
            </a:r>
          </a:p>
        </p:txBody>
      </p:sp>
      <p:sp>
        <p:nvSpPr>
          <p:cNvPr id="27" name="cell-3-3">
            <a:extLst xmlns:a="http://schemas.openxmlformats.org/drawingml/2006/main">
              <a:ext uri="{FF2B5EF4-FFF2-40B4-BE49-F238E27FC236}">
                <a16:creationId xmlns:a16="http://schemas.microsoft.com/office/drawing/2014/main" id="{B12563DA-BAAC-4D06-AED5-A59904AD6FEA}"/>
              </a:ext>
            </a:extLst>
          </p:cNvPr>
          <p:cNvSpPr>
            <a:spLocks xmlns:a="http://schemas.openxmlformats.org/drawingml/2006/main" noGrp="1"/>
          </p:cNvSpPr>
          <p:nvPr/>
        </p:nvSpPr>
        <p:spPr>
          <a:xfrm xmlns:a="http://schemas.openxmlformats.org/drawingml/2006/main">
            <a:off x="8096250" y="37528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price / invoice / role</a:t>
            </a:r>
          </a:p>
        </p:txBody>
      </p:sp>
      <p:sp>
        <p:nvSpPr>
          <p:cNvPr id="28" name="rule-70-504">
            <a:extLst xmlns:a="http://schemas.openxmlformats.org/drawingml/2006/main">
              <a:ext uri="{FF2B5EF4-FFF2-40B4-BE49-F238E27FC236}">
                <a16:creationId xmlns:a16="http://schemas.microsoft.com/office/drawing/2014/main" id="{3CF36A12-0B51-4FC6-9F72-A6EC7C63563D}"/>
              </a:ext>
            </a:extLst>
          </p:cNvPr>
          <p:cNvSpPr>
            <a:spLocks xmlns:a="http://schemas.openxmlformats.org/drawingml/2006/main" noGrp="1"/>
          </p:cNvSpPr>
          <p:nvPr/>
        </p:nvSpPr>
        <p:spPr>
          <a:xfrm xmlns:a="http://schemas.openxmlformats.org/drawingml/2006/main">
            <a:off x="666750" y="48006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9" name="cell-4-0">
            <a:extLst xmlns:a="http://schemas.openxmlformats.org/drawingml/2006/main">
              <a:ext uri="{FF2B5EF4-FFF2-40B4-BE49-F238E27FC236}">
                <a16:creationId xmlns:a16="http://schemas.microsoft.com/office/drawing/2014/main" id="{DBEF5D25-B9C1-4057-A931-C913A9CFEA0E}"/>
              </a:ext>
            </a:extLst>
          </p:cNvPr>
          <p:cNvSpPr>
            <a:spLocks xmlns:a="http://schemas.openxmlformats.org/drawingml/2006/main" noGrp="1"/>
          </p:cNvSpPr>
          <p:nvPr/>
        </p:nvSpPr>
        <p:spPr>
          <a:xfrm xmlns:a="http://schemas.openxmlformats.org/drawingml/2006/main">
            <a:off x="66675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04</a:t>
            </a:r>
          </a:p>
        </p:txBody>
      </p:sp>
      <p:sp>
        <p:nvSpPr>
          <p:cNvPr id="30" name="cell-4-1">
            <a:extLst xmlns:a="http://schemas.openxmlformats.org/drawingml/2006/main">
              <a:ext uri="{FF2B5EF4-FFF2-40B4-BE49-F238E27FC236}">
                <a16:creationId xmlns:a16="http://schemas.microsoft.com/office/drawing/2014/main" id="{4E4B1F28-DEA0-4A83-8652-E2267B5FC35A}"/>
              </a:ext>
            </a:extLst>
          </p:cNvPr>
          <p:cNvSpPr>
            <a:spLocks xmlns:a="http://schemas.openxmlformats.org/drawingml/2006/main" noGrp="1"/>
          </p:cNvSpPr>
          <p:nvPr/>
        </p:nvSpPr>
        <p:spPr>
          <a:xfrm xmlns:a="http://schemas.openxmlformats.org/drawingml/2006/main">
            <a:off x="2667000" y="4305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CSRF</a:t>
            </a:r>
          </a:p>
        </p:txBody>
      </p:sp>
      <p:sp>
        <p:nvSpPr>
          <p:cNvPr id="31" name="cell-4-2">
            <a:extLst xmlns:a="http://schemas.openxmlformats.org/drawingml/2006/main">
              <a:ext uri="{FF2B5EF4-FFF2-40B4-BE49-F238E27FC236}">
                <a16:creationId xmlns:a16="http://schemas.microsoft.com/office/drawing/2014/main" id="{A7E50A4E-1543-4C53-ACF7-39CFFCA3E738}"/>
              </a:ext>
            </a:extLst>
          </p:cNvPr>
          <p:cNvSpPr>
            <a:spLocks xmlns:a="http://schemas.openxmlformats.org/drawingml/2006/main" noGrp="1"/>
          </p:cNvSpPr>
          <p:nvPr/>
        </p:nvSpPr>
        <p:spPr>
          <a:xfrm xmlns:a="http://schemas.openxmlformats.org/drawingml/2006/main">
            <a:off x="5238750" y="43053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5004 + 9004</a:t>
            </a:r>
          </a:p>
        </p:txBody>
      </p:sp>
      <p:sp>
        <p:nvSpPr>
          <p:cNvPr id="32" name="cell-4-3">
            <a:extLst xmlns:a="http://schemas.openxmlformats.org/drawingml/2006/main">
              <a:ext uri="{FF2B5EF4-FFF2-40B4-BE49-F238E27FC236}">
                <a16:creationId xmlns:a16="http://schemas.microsoft.com/office/drawing/2014/main" id="{506526F7-4192-444F-9BE1-1D1C0F8FD266}"/>
              </a:ext>
            </a:extLst>
          </p:cNvPr>
          <p:cNvSpPr>
            <a:spLocks xmlns:a="http://schemas.openxmlformats.org/drawingml/2006/main" noGrp="1"/>
          </p:cNvSpPr>
          <p:nvPr/>
        </p:nvSpPr>
        <p:spPr>
          <a:xfrm xmlns:a="http://schemas.openxmlformats.org/drawingml/2006/main">
            <a:off x="8096250" y="43053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cookie / token / origin</a:t>
            </a:r>
          </a:p>
        </p:txBody>
      </p:sp>
      <p:sp>
        <p:nvSpPr>
          <p:cNvPr id="33" name="rule-70-562">
            <a:extLst xmlns:a="http://schemas.openxmlformats.org/drawingml/2006/main">
              <a:ext uri="{FF2B5EF4-FFF2-40B4-BE49-F238E27FC236}">
                <a16:creationId xmlns:a16="http://schemas.microsoft.com/office/drawing/2014/main" id="{8D1B4319-D69B-4248-BA0F-756F9B3B09AF}"/>
              </a:ext>
            </a:extLst>
          </p:cNvPr>
          <p:cNvSpPr>
            <a:spLocks xmlns:a="http://schemas.openxmlformats.org/drawingml/2006/main" noGrp="1"/>
          </p:cNvSpPr>
          <p:nvPr/>
        </p:nvSpPr>
        <p:spPr>
          <a:xfrm xmlns:a="http://schemas.openxmlformats.org/drawingml/2006/main">
            <a:off x="666750" y="53530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4" name="cell-5-0">
            <a:extLst xmlns:a="http://schemas.openxmlformats.org/drawingml/2006/main">
              <a:ext uri="{FF2B5EF4-FFF2-40B4-BE49-F238E27FC236}">
                <a16:creationId xmlns:a16="http://schemas.microsoft.com/office/drawing/2014/main" id="{5D73F068-DD57-443C-8C54-E1C13679D590}"/>
              </a:ext>
            </a:extLst>
          </p:cNvPr>
          <p:cNvSpPr>
            <a:spLocks xmlns:a="http://schemas.openxmlformats.org/drawingml/2006/main" noGrp="1"/>
          </p:cNvSpPr>
          <p:nvPr/>
        </p:nvSpPr>
        <p:spPr>
          <a:xfrm xmlns:a="http://schemas.openxmlformats.org/drawingml/2006/main">
            <a:off x="666750" y="48577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05</a:t>
            </a:r>
          </a:p>
        </p:txBody>
      </p:sp>
      <p:sp>
        <p:nvSpPr>
          <p:cNvPr id="35" name="cell-5-1">
            <a:extLst xmlns:a="http://schemas.openxmlformats.org/drawingml/2006/main">
              <a:ext uri="{FF2B5EF4-FFF2-40B4-BE49-F238E27FC236}">
                <a16:creationId xmlns:a16="http://schemas.microsoft.com/office/drawing/2014/main" id="{782F467E-5016-408B-847C-7F47282AF704}"/>
              </a:ext>
            </a:extLst>
          </p:cNvPr>
          <p:cNvSpPr>
            <a:spLocks xmlns:a="http://schemas.openxmlformats.org/drawingml/2006/main" noGrp="1"/>
          </p:cNvSpPr>
          <p:nvPr/>
        </p:nvSpPr>
        <p:spPr>
          <a:xfrm xmlns:a="http://schemas.openxmlformats.org/drawingml/2006/main">
            <a:off x="2667000" y="48577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SQL Injection</a:t>
            </a:r>
          </a:p>
        </p:txBody>
      </p:sp>
      <p:sp>
        <p:nvSpPr>
          <p:cNvPr id="36" name="cell-5-2">
            <a:extLst xmlns:a="http://schemas.openxmlformats.org/drawingml/2006/main">
              <a:ext uri="{FF2B5EF4-FFF2-40B4-BE49-F238E27FC236}">
                <a16:creationId xmlns:a16="http://schemas.microsoft.com/office/drawing/2014/main" id="{89DE35D0-8EE1-49C7-BFEB-6290A891AD10}"/>
              </a:ext>
            </a:extLst>
          </p:cNvPr>
          <p:cNvSpPr>
            <a:spLocks xmlns:a="http://schemas.openxmlformats.org/drawingml/2006/main" noGrp="1"/>
          </p:cNvSpPr>
          <p:nvPr/>
        </p:nvSpPr>
        <p:spPr>
          <a:xfrm xmlns:a="http://schemas.openxmlformats.org/drawingml/2006/main">
            <a:off x="5238750" y="4857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127.0.0.1:5005</a:t>
            </a:r>
          </a:p>
        </p:txBody>
      </p:sp>
      <p:sp>
        <p:nvSpPr>
          <p:cNvPr id="37" name="cell-5-3">
            <a:extLst xmlns:a="http://schemas.openxmlformats.org/drawingml/2006/main">
              <a:ext uri="{FF2B5EF4-FFF2-40B4-BE49-F238E27FC236}">
                <a16:creationId xmlns:a16="http://schemas.microsoft.com/office/drawing/2014/main" id="{21F08C7D-B6DC-464D-AA26-C96184D77984}"/>
              </a:ext>
            </a:extLst>
          </p:cNvPr>
          <p:cNvSpPr>
            <a:spLocks xmlns:a="http://schemas.openxmlformats.org/drawingml/2006/main" noGrp="1"/>
          </p:cNvSpPr>
          <p:nvPr/>
        </p:nvSpPr>
        <p:spPr>
          <a:xfrm xmlns:a="http://schemas.openxmlformats.org/drawingml/2006/main">
            <a:off x="8096250" y="48577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concat / bind</a:t>
            </a:r>
          </a:p>
        </p:txBody>
      </p:sp>
      <p:sp>
        <p:nvSpPr>
          <p:cNvPr id="38" name="rule-70-620">
            <a:extLst xmlns:a="http://schemas.openxmlformats.org/drawingml/2006/main">
              <a:ext uri="{FF2B5EF4-FFF2-40B4-BE49-F238E27FC236}">
                <a16:creationId xmlns:a16="http://schemas.microsoft.com/office/drawing/2014/main" id="{2CE26FF4-6E24-4AAE-A1F6-D2E4A4493BC1}"/>
              </a:ext>
            </a:extLst>
          </p:cNvPr>
          <p:cNvSpPr>
            <a:spLocks xmlns:a="http://schemas.openxmlformats.org/drawingml/2006/main" noGrp="1"/>
          </p:cNvSpPr>
          <p:nvPr/>
        </p:nvSpPr>
        <p:spPr>
          <a:xfrm xmlns:a="http://schemas.openxmlformats.org/drawingml/2006/main">
            <a:off x="666750" y="59055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9" name="cell-6-0">
            <a:extLst xmlns:a="http://schemas.openxmlformats.org/drawingml/2006/main">
              <a:ext uri="{FF2B5EF4-FFF2-40B4-BE49-F238E27FC236}">
                <a16:creationId xmlns:a16="http://schemas.microsoft.com/office/drawing/2014/main" id="{05D7DA55-C1DB-4DB9-BEFC-D758AF03DDE6}"/>
              </a:ext>
            </a:extLst>
          </p:cNvPr>
          <p:cNvSpPr>
            <a:spLocks xmlns:a="http://schemas.openxmlformats.org/drawingml/2006/main" noGrp="1"/>
          </p:cNvSpPr>
          <p:nvPr/>
        </p:nvSpPr>
        <p:spPr>
          <a:xfrm xmlns:a="http://schemas.openxmlformats.org/drawingml/2006/main">
            <a:off x="666750" y="54102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06</a:t>
            </a:r>
          </a:p>
        </p:txBody>
      </p:sp>
      <p:sp>
        <p:nvSpPr>
          <p:cNvPr id="40" name="cell-6-1">
            <a:extLst xmlns:a="http://schemas.openxmlformats.org/drawingml/2006/main">
              <a:ext uri="{FF2B5EF4-FFF2-40B4-BE49-F238E27FC236}">
                <a16:creationId xmlns:a16="http://schemas.microsoft.com/office/drawing/2014/main" id="{9236AD3F-1ABB-4074-99FC-4E5443DF252F}"/>
              </a:ext>
            </a:extLst>
          </p:cNvPr>
          <p:cNvSpPr>
            <a:spLocks xmlns:a="http://schemas.openxmlformats.org/drawingml/2006/main" noGrp="1"/>
          </p:cNvSpPr>
          <p:nvPr/>
        </p:nvSpPr>
        <p:spPr>
          <a:xfrm xmlns:a="http://schemas.openxmlformats.org/drawingml/2006/main">
            <a:off x="2667000" y="54102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Cookie Poisoning</a:t>
            </a:r>
          </a:p>
        </p:txBody>
      </p:sp>
      <p:sp>
        <p:nvSpPr>
          <p:cNvPr id="41" name="cell-6-2">
            <a:extLst xmlns:a="http://schemas.openxmlformats.org/drawingml/2006/main">
              <a:ext uri="{FF2B5EF4-FFF2-40B4-BE49-F238E27FC236}">
                <a16:creationId xmlns:a16="http://schemas.microsoft.com/office/drawing/2014/main" id="{69F14714-CA0B-48E3-945E-9125F6CF86B4}"/>
              </a:ext>
            </a:extLst>
          </p:cNvPr>
          <p:cNvSpPr>
            <a:spLocks xmlns:a="http://schemas.openxmlformats.org/drawingml/2006/main" noGrp="1"/>
          </p:cNvSpPr>
          <p:nvPr/>
        </p:nvSpPr>
        <p:spPr>
          <a:xfrm xmlns:a="http://schemas.openxmlformats.org/drawingml/2006/main">
            <a:off x="5238750" y="54102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127.0.0.1:5006</a:t>
            </a:r>
          </a:p>
        </p:txBody>
      </p:sp>
      <p:sp>
        <p:nvSpPr>
          <p:cNvPr id="42" name="cell-6-3">
            <a:extLst xmlns:a="http://schemas.openxmlformats.org/drawingml/2006/main">
              <a:ext uri="{FF2B5EF4-FFF2-40B4-BE49-F238E27FC236}">
                <a16:creationId xmlns:a16="http://schemas.microsoft.com/office/drawing/2014/main" id="{DAF35D22-1C6A-443D-8B53-77EE07B5EA7B}"/>
              </a:ext>
            </a:extLst>
          </p:cNvPr>
          <p:cNvSpPr>
            <a:spLocks xmlns:a="http://schemas.openxmlformats.org/drawingml/2006/main" noGrp="1"/>
          </p:cNvSpPr>
          <p:nvPr/>
        </p:nvSpPr>
        <p:spPr>
          <a:xfrm xmlns:a="http://schemas.openxmlformats.org/drawingml/2006/main">
            <a:off x="8096250" y="54102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integrity / session</a:t>
            </a:r>
          </a:p>
        </p:txBody>
      </p:sp>
    </p:spTree>
    <p:extLst>
      <p:ext uri="{BB962C8B-B14F-4D97-AF65-F5344CB8AC3E}">
        <p14:creationId xmlns:p14="http://schemas.microsoft.com/office/powerpoint/2010/main" val="517736993"/>
      </p:ext>
    </p:extLst>
  </p:cSld>
</p:sld>
</file>

<file path=ppt/slides/slide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B8386A29-C6EA-47FA-BEC2-E07B26861EFD}"/>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NHỊP TRÌNH BÀY</a:t>
            </a:r>
          </a:p>
        </p:txBody>
      </p:sp>
      <p:sp>
        <p:nvSpPr>
          <p:cNvPr id="2" name="chrome-number">
            <a:extLst xmlns:a="http://schemas.openxmlformats.org/drawingml/2006/main">
              <a:ext uri="{FF2B5EF4-FFF2-40B4-BE49-F238E27FC236}">
                <a16:creationId xmlns:a16="http://schemas.microsoft.com/office/drawing/2014/main" id="{D6E1C6B2-F39B-4A64-9C1D-3071AC5D2CA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05</a:t>
            </a:r>
          </a:p>
        </p:txBody>
      </p:sp>
      <p:sp>
        <p:nvSpPr>
          <p:cNvPr id="3" name="rule-70-58">
            <a:extLst xmlns:a="http://schemas.openxmlformats.org/drawingml/2006/main">
              <a:ext uri="{FF2B5EF4-FFF2-40B4-BE49-F238E27FC236}">
                <a16:creationId xmlns:a16="http://schemas.microsoft.com/office/drawing/2014/main" id="{6218A180-56F0-4BFF-99A6-FFD47F6EC213}"/>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7BBEE403-BF88-4901-854F-7B6172B8DD9A}"/>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55EDEEDE-8DCE-443A-B2B8-6C245AD1A6D2}"/>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Mỗi lab đi qua năm nhịp giống nhau</a:t>
            </a:r>
          </a:p>
        </p:txBody>
      </p:sp>
      <p:sp>
        <p:nvSpPr>
          <p:cNvPr id="6" name="rule-70-672">
            <a:extLst xmlns:a="http://schemas.openxmlformats.org/drawingml/2006/main">
              <a:ext uri="{FF2B5EF4-FFF2-40B4-BE49-F238E27FC236}">
                <a16:creationId xmlns:a16="http://schemas.microsoft.com/office/drawing/2014/main" id="{2648D792-D583-4B32-ADA4-EA9E5AC5AC8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DB6AA20B-7619-4ED6-93CD-99F550EDFC1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7BFEDBA9-6132-4024-A7F8-69927272228B}"/>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6ED64392-FE92-4A4D-8B8A-05314014F505}"/>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Nhận diện trust boundary và hành vi bình thường.</a:t>
            </a:r>
          </a:p>
        </p:txBody>
      </p:sp>
      <p:sp>
        <p:nvSpPr>
          <p:cNvPr id="10" name="bullet-marker-1">
            <a:extLst xmlns:a="http://schemas.openxmlformats.org/drawingml/2006/main">
              <a:ext uri="{FF2B5EF4-FFF2-40B4-BE49-F238E27FC236}">
                <a16:creationId xmlns:a16="http://schemas.microsoft.com/office/drawing/2014/main" id="{72E42177-B28D-4147-8543-AB912479B1AA}"/>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6DE93E21-1F22-434D-BC0D-7E02A7796AE1}"/>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Kích hoạt lỗi có kiểm soát, đối chiếu request / response / state.</a:t>
            </a:r>
          </a:p>
        </p:txBody>
      </p:sp>
      <p:sp>
        <p:nvSpPr>
          <p:cNvPr id="12" name="bullet-marker-2">
            <a:extLst xmlns:a="http://schemas.openxmlformats.org/drawingml/2006/main">
              <a:ext uri="{FF2B5EF4-FFF2-40B4-BE49-F238E27FC236}">
                <a16:creationId xmlns:a16="http://schemas.microsoft.com/office/drawing/2014/main" id="{BCD0FF2F-E01D-4662-BCAA-43C5D3A762EA}"/>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C3DB4010-DD88-4407-8D2F-029BFA17AA28}"/>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Giải thích nguyên nhân → vá root cause → chạy lại cùng input để chứng minh.</a:t>
            </a:r>
          </a:p>
        </p:txBody>
      </p:sp>
    </p:spTree>
    <p:extLst>
      <p:ext uri="{BB962C8B-B14F-4D97-AF65-F5344CB8AC3E}">
        <p14:creationId xmlns:p14="http://schemas.microsoft.com/office/powerpoint/2010/main" val="802600833"/>
      </p:ext>
    </p:extLst>
  </p:cSld>
</p:sld>
</file>

<file path=ppt/slides/slide6.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7FE8B2E3-7F14-45AC-BD1E-3B1703C6F063}"/>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01</a:t>
            </a:r>
          </a:p>
        </p:txBody>
      </p:sp>
      <p:sp>
        <p:nvSpPr>
          <p:cNvPr id="2" name="chapter-title">
            <a:extLst xmlns:a="http://schemas.openxmlformats.org/drawingml/2006/main">
              <a:ext uri="{FF2B5EF4-FFF2-40B4-BE49-F238E27FC236}">
                <a16:creationId xmlns:a16="http://schemas.microsoft.com/office/drawing/2014/main" id="{6AFE1BD0-55E9-4BE5-B7E2-0FCE307BF70E}"/>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cross-site</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scripting</a:t>
            </a:r>
          </a:p>
        </p:txBody>
      </p:sp>
      <p:sp>
        <p:nvSpPr>
          <p:cNvPr id="3" name="chapter-subtitle">
            <a:extLst xmlns:a="http://schemas.openxmlformats.org/drawingml/2006/main">
              <a:ext uri="{FF2B5EF4-FFF2-40B4-BE49-F238E27FC236}">
                <a16:creationId xmlns:a16="http://schemas.microsoft.com/office/drawing/2014/main" id="{C72413A0-DBFE-480D-8AB4-770FEECB3105}"/>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Reflected / Stored / DOM-based XSS</a:t>
            </a:r>
          </a:p>
        </p:txBody>
      </p:sp>
      <p:sp>
        <p:nvSpPr>
          <p:cNvPr id="4" name="rule-76-618">
            <a:extLst xmlns:a="http://schemas.openxmlformats.org/drawingml/2006/main">
              <a:ext uri="{FF2B5EF4-FFF2-40B4-BE49-F238E27FC236}">
                <a16:creationId xmlns:a16="http://schemas.microsoft.com/office/drawing/2014/main" id="{E3E74531-E160-446C-8963-C90C987D1CB2}"/>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2958329E-349C-4BC1-A2AA-0B2506C4BFAE}"/>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1466451404"/>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chrome-section">
            <a:extLst xmlns:a="http://schemas.openxmlformats.org/drawingml/2006/main">
              <a:ext uri="{FF2B5EF4-FFF2-40B4-BE49-F238E27FC236}">
                <a16:creationId xmlns:a16="http://schemas.microsoft.com/office/drawing/2014/main" id="{2676D65E-CBB0-4398-AF90-BFD29F01E78A}"/>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XSS</a:t>
            </a:r>
          </a:p>
        </p:txBody>
      </p:sp>
      <p:sp>
        <p:nvSpPr>
          <p:cNvPr id="2" name="chrome-number">
            <a:extLst xmlns:a="http://schemas.openxmlformats.org/drawingml/2006/main">
              <a:ext uri="{FF2B5EF4-FFF2-40B4-BE49-F238E27FC236}">
                <a16:creationId xmlns:a16="http://schemas.microsoft.com/office/drawing/2014/main" id="{7863B34B-F355-4011-B21C-0BD8B3247CD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07</a:t>
            </a:r>
          </a:p>
        </p:txBody>
      </p:sp>
      <p:sp>
        <p:nvSpPr>
          <p:cNvPr id="3" name="rule-70-58">
            <a:extLst xmlns:a="http://schemas.openxmlformats.org/drawingml/2006/main">
              <a:ext uri="{FF2B5EF4-FFF2-40B4-BE49-F238E27FC236}">
                <a16:creationId xmlns:a16="http://schemas.microsoft.com/office/drawing/2014/main" id="{7EF61961-FA85-42B7-8BBA-943C58C2620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170D16DC-1D28-43A5-BC39-A259AD822AD9}"/>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MA TRẬN ĐỐI CHIẾU</a:t>
            </a:r>
          </a:p>
        </p:txBody>
      </p:sp>
      <p:sp>
        <p:nvSpPr>
          <p:cNvPr id="5" name="slide-title">
            <a:extLst xmlns:a="http://schemas.openxmlformats.org/drawingml/2006/main">
              <a:ext uri="{FF2B5EF4-FFF2-40B4-BE49-F238E27FC236}">
                <a16:creationId xmlns:a16="http://schemas.microsoft.com/office/drawing/2014/main" id="{5CD91985-FCE7-4AC9-AC2C-532A23AEBD88}"/>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biến thể khác nhau ở nơi dữ liệu gặp sink</a:t>
            </a:r>
          </a:p>
        </p:txBody>
      </p:sp>
      <p:sp>
        <p:nvSpPr>
          <p:cNvPr id="6" name="rule-70-672">
            <a:extLst xmlns:a="http://schemas.openxmlformats.org/drawingml/2006/main">
              <a:ext uri="{FF2B5EF4-FFF2-40B4-BE49-F238E27FC236}">
                <a16:creationId xmlns:a16="http://schemas.microsoft.com/office/drawing/2014/main" id="{6E1732DE-824C-4F1C-A496-D3A0D931456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01F95B3-1108-496E-8CCC-4A59D429175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72">
            <a:extLst xmlns:a="http://schemas.openxmlformats.org/drawingml/2006/main">
              <a:ext uri="{FF2B5EF4-FFF2-40B4-BE49-F238E27FC236}">
                <a16:creationId xmlns:a16="http://schemas.microsoft.com/office/drawing/2014/main" id="{FA210088-5C4A-4E62-9649-A02438EF187A}"/>
              </a:ext>
            </a:extLst>
          </p:cNvPr>
          <p:cNvSpPr>
            <a:spLocks xmlns:a="http://schemas.openxmlformats.org/drawingml/2006/main" noGrp="1"/>
          </p:cNvSpPr>
          <p:nvPr/>
        </p:nvSpPr>
        <p:spPr>
          <a:xfrm xmlns:a="http://schemas.openxmlformats.org/drawingml/2006/main">
            <a:off x="666750" y="2590800"/>
            <a:ext cx="1085850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9" name="cell-0-0">
            <a:extLst xmlns:a="http://schemas.openxmlformats.org/drawingml/2006/main">
              <a:ext uri="{FF2B5EF4-FFF2-40B4-BE49-F238E27FC236}">
                <a16:creationId xmlns:a16="http://schemas.microsoft.com/office/drawing/2014/main" id="{8AD08142-52CA-4990-8575-71F71135CD5A}"/>
              </a:ext>
            </a:extLst>
          </p:cNvPr>
          <p:cNvSpPr>
            <a:spLocks xmlns:a="http://schemas.openxmlformats.org/drawingml/2006/main" noGrp="1"/>
          </p:cNvSpPr>
          <p:nvPr/>
        </p:nvSpPr>
        <p:spPr>
          <a:xfrm xmlns:a="http://schemas.openxmlformats.org/drawingml/2006/main">
            <a:off x="666750" y="20955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LOẠI</a:t>
            </a:r>
          </a:p>
        </p:txBody>
      </p:sp>
      <p:sp>
        <p:nvSpPr>
          <p:cNvPr id="10" name="cell-0-1">
            <a:extLst xmlns:a="http://schemas.openxmlformats.org/drawingml/2006/main">
              <a:ext uri="{FF2B5EF4-FFF2-40B4-BE49-F238E27FC236}">
                <a16:creationId xmlns:a16="http://schemas.microsoft.com/office/drawing/2014/main" id="{595DF1C4-12B8-4B01-8CD6-27E200D86FBF}"/>
              </a:ext>
            </a:extLst>
          </p:cNvPr>
          <p:cNvSpPr>
            <a:spLocks xmlns:a="http://schemas.openxmlformats.org/drawingml/2006/main" noGrp="1"/>
          </p:cNvSpPr>
          <p:nvPr/>
        </p:nvSpPr>
        <p:spPr>
          <a:xfrm xmlns:a="http://schemas.openxmlformats.org/drawingml/2006/main">
            <a:off x="2667000" y="20955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SOURCE</a:t>
            </a:r>
          </a:p>
        </p:txBody>
      </p:sp>
      <p:sp>
        <p:nvSpPr>
          <p:cNvPr id="11" name="cell-0-2">
            <a:extLst xmlns:a="http://schemas.openxmlformats.org/drawingml/2006/main">
              <a:ext uri="{FF2B5EF4-FFF2-40B4-BE49-F238E27FC236}">
                <a16:creationId xmlns:a16="http://schemas.microsoft.com/office/drawing/2014/main" id="{55E41399-F06A-4DD8-917F-204C7E221A1B}"/>
              </a:ext>
            </a:extLst>
          </p:cNvPr>
          <p:cNvSpPr>
            <a:spLocks xmlns:a="http://schemas.openxmlformats.org/drawingml/2006/main" noGrp="1"/>
          </p:cNvSpPr>
          <p:nvPr/>
        </p:nvSpPr>
        <p:spPr>
          <a:xfrm xmlns:a="http://schemas.openxmlformats.org/drawingml/2006/main">
            <a:off x="5238750" y="20955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SINK</a:t>
            </a:r>
          </a:p>
        </p:txBody>
      </p:sp>
      <p:sp>
        <p:nvSpPr>
          <p:cNvPr id="12" name="cell-0-3">
            <a:extLst xmlns:a="http://schemas.openxmlformats.org/drawingml/2006/main">
              <a:ext uri="{FF2B5EF4-FFF2-40B4-BE49-F238E27FC236}">
                <a16:creationId xmlns:a16="http://schemas.microsoft.com/office/drawing/2014/main" id="{F3A1D714-851E-43D4-8EE4-F88E91A1BBDE}"/>
              </a:ext>
            </a:extLst>
          </p:cNvPr>
          <p:cNvSpPr>
            <a:spLocks xmlns:a="http://schemas.openxmlformats.org/drawingml/2006/main" noGrp="1"/>
          </p:cNvSpPr>
          <p:nvPr/>
        </p:nvSpPr>
        <p:spPr>
          <a:xfrm xmlns:a="http://schemas.openxmlformats.org/drawingml/2006/main">
            <a:off x="8096250" y="20955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AI BỊ ẢNH HƯỞNG</a:t>
            </a:r>
          </a:p>
        </p:txBody>
      </p:sp>
      <p:sp>
        <p:nvSpPr>
          <p:cNvPr id="13" name="rule-70-330">
            <a:extLst xmlns:a="http://schemas.openxmlformats.org/drawingml/2006/main">
              <a:ext uri="{FF2B5EF4-FFF2-40B4-BE49-F238E27FC236}">
                <a16:creationId xmlns:a16="http://schemas.microsoft.com/office/drawing/2014/main" id="{3593E0E9-6302-4C1E-BAB7-83D3386B0BAD}"/>
              </a:ext>
            </a:extLst>
          </p:cNvPr>
          <p:cNvSpPr>
            <a:spLocks xmlns:a="http://schemas.openxmlformats.org/drawingml/2006/main" noGrp="1"/>
          </p:cNvSpPr>
          <p:nvPr/>
        </p:nvSpPr>
        <p:spPr>
          <a:xfrm xmlns:a="http://schemas.openxmlformats.org/drawingml/2006/main">
            <a:off x="666750" y="31432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cell-1-0">
            <a:extLst xmlns:a="http://schemas.openxmlformats.org/drawingml/2006/main">
              <a:ext uri="{FF2B5EF4-FFF2-40B4-BE49-F238E27FC236}">
                <a16:creationId xmlns:a16="http://schemas.microsoft.com/office/drawing/2014/main" id="{96C4A9E9-9DE1-449A-8DE8-D7067B602AF5}"/>
              </a:ext>
            </a:extLst>
          </p:cNvPr>
          <p:cNvSpPr>
            <a:spLocks xmlns:a="http://schemas.openxmlformats.org/drawingml/2006/main" noGrp="1"/>
          </p:cNvSpPr>
          <p:nvPr/>
        </p:nvSpPr>
        <p:spPr>
          <a:xfrm xmlns:a="http://schemas.openxmlformats.org/drawingml/2006/main">
            <a:off x="666750" y="26479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Reflected</a:t>
            </a:r>
          </a:p>
        </p:txBody>
      </p:sp>
      <p:sp>
        <p:nvSpPr>
          <p:cNvPr id="15" name="cell-1-1">
            <a:extLst xmlns:a="http://schemas.openxmlformats.org/drawingml/2006/main">
              <a:ext uri="{FF2B5EF4-FFF2-40B4-BE49-F238E27FC236}">
                <a16:creationId xmlns:a16="http://schemas.microsoft.com/office/drawing/2014/main" id="{5E8D6D89-BE14-4FAF-B670-558564F300D1}"/>
              </a:ext>
            </a:extLst>
          </p:cNvPr>
          <p:cNvSpPr>
            <a:spLocks xmlns:a="http://schemas.openxmlformats.org/drawingml/2006/main" noGrp="1"/>
          </p:cNvSpPr>
          <p:nvPr/>
        </p:nvSpPr>
        <p:spPr>
          <a:xfrm xmlns:a="http://schemas.openxmlformats.org/drawingml/2006/main">
            <a:off x="2667000" y="26479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query q</a:t>
            </a:r>
          </a:p>
        </p:txBody>
      </p:sp>
      <p:sp>
        <p:nvSpPr>
          <p:cNvPr id="16" name="cell-1-2">
            <a:extLst xmlns:a="http://schemas.openxmlformats.org/drawingml/2006/main">
              <a:ext uri="{FF2B5EF4-FFF2-40B4-BE49-F238E27FC236}">
                <a16:creationId xmlns:a16="http://schemas.microsoft.com/office/drawing/2014/main" id="{24CA233B-6F05-4038-A88E-A49ADC30EB33}"/>
              </a:ext>
            </a:extLst>
          </p:cNvPr>
          <p:cNvSpPr>
            <a:spLocks xmlns:a="http://schemas.openxmlformats.org/drawingml/2006/main" noGrp="1"/>
          </p:cNvSpPr>
          <p:nvPr/>
        </p:nvSpPr>
        <p:spPr>
          <a:xfrm xmlns:a="http://schemas.openxmlformats.org/drawingml/2006/main">
            <a:off x="5238750" y="2647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HTML response</a:t>
            </a:r>
          </a:p>
        </p:txBody>
      </p:sp>
      <p:sp>
        <p:nvSpPr>
          <p:cNvPr id="17" name="cell-1-3">
            <a:extLst xmlns:a="http://schemas.openxmlformats.org/drawingml/2006/main">
              <a:ext uri="{FF2B5EF4-FFF2-40B4-BE49-F238E27FC236}">
                <a16:creationId xmlns:a16="http://schemas.microsoft.com/office/drawing/2014/main" id="{9151A598-08E0-4291-9EC0-7B258C59B018}"/>
              </a:ext>
            </a:extLst>
          </p:cNvPr>
          <p:cNvSpPr>
            <a:spLocks xmlns:a="http://schemas.openxmlformats.org/drawingml/2006/main" noGrp="1"/>
          </p:cNvSpPr>
          <p:nvPr/>
        </p:nvSpPr>
        <p:spPr>
          <a:xfrm xmlns:a="http://schemas.openxmlformats.org/drawingml/2006/main">
            <a:off x="8096250" y="26479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người mở URL</a:t>
            </a:r>
          </a:p>
        </p:txBody>
      </p:sp>
      <p:sp>
        <p:nvSpPr>
          <p:cNvPr id="18" name="rule-70-388">
            <a:extLst xmlns:a="http://schemas.openxmlformats.org/drawingml/2006/main">
              <a:ext uri="{FF2B5EF4-FFF2-40B4-BE49-F238E27FC236}">
                <a16:creationId xmlns:a16="http://schemas.microsoft.com/office/drawing/2014/main" id="{33B8A07B-1931-4AEF-9D97-4273017B90D1}"/>
              </a:ext>
            </a:extLst>
          </p:cNvPr>
          <p:cNvSpPr>
            <a:spLocks xmlns:a="http://schemas.openxmlformats.org/drawingml/2006/main" noGrp="1"/>
          </p:cNvSpPr>
          <p:nvPr/>
        </p:nvSpPr>
        <p:spPr>
          <a:xfrm xmlns:a="http://schemas.openxmlformats.org/drawingml/2006/main">
            <a:off x="666750" y="36957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9" name="cell-2-0">
            <a:extLst xmlns:a="http://schemas.openxmlformats.org/drawingml/2006/main">
              <a:ext uri="{FF2B5EF4-FFF2-40B4-BE49-F238E27FC236}">
                <a16:creationId xmlns:a16="http://schemas.microsoft.com/office/drawing/2014/main" id="{D5121475-1ED8-44DD-A8B1-8920F991072E}"/>
              </a:ext>
            </a:extLst>
          </p:cNvPr>
          <p:cNvSpPr>
            <a:spLocks xmlns:a="http://schemas.openxmlformats.org/drawingml/2006/main" noGrp="1"/>
          </p:cNvSpPr>
          <p:nvPr/>
        </p:nvSpPr>
        <p:spPr>
          <a:xfrm xmlns:a="http://schemas.openxmlformats.org/drawingml/2006/main">
            <a:off x="666750" y="32004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Stored</a:t>
            </a:r>
          </a:p>
        </p:txBody>
      </p:sp>
      <p:sp>
        <p:nvSpPr>
          <p:cNvPr id="20" name="cell-2-1">
            <a:extLst xmlns:a="http://schemas.openxmlformats.org/drawingml/2006/main">
              <a:ext uri="{FF2B5EF4-FFF2-40B4-BE49-F238E27FC236}">
                <a16:creationId xmlns:a16="http://schemas.microsoft.com/office/drawing/2014/main" id="{B63C2938-8459-4903-B8DD-E9F642431E59}"/>
              </a:ext>
            </a:extLst>
          </p:cNvPr>
          <p:cNvSpPr>
            <a:spLocks xmlns:a="http://schemas.openxmlformats.org/drawingml/2006/main" noGrp="1"/>
          </p:cNvSpPr>
          <p:nvPr/>
        </p:nvSpPr>
        <p:spPr>
          <a:xfrm xmlns:a="http://schemas.openxmlformats.org/drawingml/2006/main">
            <a:off x="2667000" y="3200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comment body</a:t>
            </a:r>
          </a:p>
        </p:txBody>
      </p:sp>
      <p:sp>
        <p:nvSpPr>
          <p:cNvPr id="21" name="cell-2-2">
            <a:extLst xmlns:a="http://schemas.openxmlformats.org/drawingml/2006/main">
              <a:ext uri="{FF2B5EF4-FFF2-40B4-BE49-F238E27FC236}">
                <a16:creationId xmlns:a16="http://schemas.microsoft.com/office/drawing/2014/main" id="{C168F5D2-51B6-407F-8547-1D39C6E69F72}"/>
              </a:ext>
            </a:extLst>
          </p:cNvPr>
          <p:cNvSpPr>
            <a:spLocks xmlns:a="http://schemas.openxmlformats.org/drawingml/2006/main" noGrp="1"/>
          </p:cNvSpPr>
          <p:nvPr/>
        </p:nvSpPr>
        <p:spPr>
          <a:xfrm xmlns:a="http://schemas.openxmlformats.org/drawingml/2006/main">
            <a:off x="5238750" y="32004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HTML sau DB read</a:t>
            </a:r>
          </a:p>
        </p:txBody>
      </p:sp>
      <p:sp>
        <p:nvSpPr>
          <p:cNvPr id="22" name="cell-2-3">
            <a:extLst xmlns:a="http://schemas.openxmlformats.org/drawingml/2006/main">
              <a:ext uri="{FF2B5EF4-FFF2-40B4-BE49-F238E27FC236}">
                <a16:creationId xmlns:a16="http://schemas.microsoft.com/office/drawing/2014/main" id="{4CDA1438-D454-4818-8788-0D75A98076F6}"/>
              </a:ext>
            </a:extLst>
          </p:cNvPr>
          <p:cNvSpPr>
            <a:spLocks xmlns:a="http://schemas.openxmlformats.org/drawingml/2006/main" noGrp="1"/>
          </p:cNvSpPr>
          <p:nvPr/>
        </p:nvSpPr>
        <p:spPr>
          <a:xfrm xmlns:a="http://schemas.openxmlformats.org/drawingml/2006/main">
            <a:off x="8096250" y="32004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mọi người xem</a:t>
            </a:r>
          </a:p>
        </p:txBody>
      </p:sp>
      <p:sp>
        <p:nvSpPr>
          <p:cNvPr id="23" name="rule-70-446">
            <a:extLst xmlns:a="http://schemas.openxmlformats.org/drawingml/2006/main">
              <a:ext uri="{FF2B5EF4-FFF2-40B4-BE49-F238E27FC236}">
                <a16:creationId xmlns:a16="http://schemas.microsoft.com/office/drawing/2014/main" id="{C687BA65-77FE-4239-AB3F-14B7547034AB}"/>
              </a:ext>
            </a:extLst>
          </p:cNvPr>
          <p:cNvSpPr>
            <a:spLocks xmlns:a="http://schemas.openxmlformats.org/drawingml/2006/main" noGrp="1"/>
          </p:cNvSpPr>
          <p:nvPr/>
        </p:nvSpPr>
        <p:spPr>
          <a:xfrm xmlns:a="http://schemas.openxmlformats.org/drawingml/2006/main">
            <a:off x="666750" y="42481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4" name="cell-3-0">
            <a:extLst xmlns:a="http://schemas.openxmlformats.org/drawingml/2006/main">
              <a:ext uri="{FF2B5EF4-FFF2-40B4-BE49-F238E27FC236}">
                <a16:creationId xmlns:a16="http://schemas.microsoft.com/office/drawing/2014/main" id="{79217BAD-3C17-4AAB-9885-070292AB2C68}"/>
              </a:ext>
            </a:extLst>
          </p:cNvPr>
          <p:cNvSpPr>
            <a:spLocks xmlns:a="http://schemas.openxmlformats.org/drawingml/2006/main" noGrp="1"/>
          </p:cNvSpPr>
          <p:nvPr/>
        </p:nvSpPr>
        <p:spPr>
          <a:xfrm xmlns:a="http://schemas.openxmlformats.org/drawingml/2006/main">
            <a:off x="666750" y="37528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DOM</a:t>
            </a:r>
          </a:p>
        </p:txBody>
      </p:sp>
      <p:sp>
        <p:nvSpPr>
          <p:cNvPr id="25" name="cell-3-1">
            <a:extLst xmlns:a="http://schemas.openxmlformats.org/drawingml/2006/main">
              <a:ext uri="{FF2B5EF4-FFF2-40B4-BE49-F238E27FC236}">
                <a16:creationId xmlns:a16="http://schemas.microsoft.com/office/drawing/2014/main" id="{FB5BCBEB-EE48-42F7-B611-D240C5B467BE}"/>
              </a:ext>
            </a:extLst>
          </p:cNvPr>
          <p:cNvSpPr>
            <a:spLocks xmlns:a="http://schemas.openxmlformats.org/drawingml/2006/main" noGrp="1"/>
          </p:cNvSpPr>
          <p:nvPr/>
        </p:nvSpPr>
        <p:spPr>
          <a:xfrm xmlns:a="http://schemas.openxmlformats.org/drawingml/2006/main">
            <a:off x="2667000" y="37528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location.hash</a:t>
            </a:r>
          </a:p>
        </p:txBody>
      </p:sp>
      <p:sp>
        <p:nvSpPr>
          <p:cNvPr id="26" name="cell-3-2">
            <a:extLst xmlns:a="http://schemas.openxmlformats.org/drawingml/2006/main">
              <a:ext uri="{FF2B5EF4-FFF2-40B4-BE49-F238E27FC236}">
                <a16:creationId xmlns:a16="http://schemas.microsoft.com/office/drawing/2014/main" id="{BE665590-E9E1-47D8-8C01-28E5E463F326}"/>
              </a:ext>
            </a:extLst>
          </p:cNvPr>
          <p:cNvSpPr>
            <a:spLocks xmlns:a="http://schemas.openxmlformats.org/drawingml/2006/main" noGrp="1"/>
          </p:cNvSpPr>
          <p:nvPr/>
        </p:nvSpPr>
        <p:spPr>
          <a:xfrm xmlns:a="http://schemas.openxmlformats.org/drawingml/2006/main">
            <a:off x="52387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innerHTML</a:t>
            </a:r>
          </a:p>
        </p:txBody>
      </p:sp>
      <p:sp>
        <p:nvSpPr>
          <p:cNvPr id="27" name="cell-3-3">
            <a:extLst xmlns:a="http://schemas.openxmlformats.org/drawingml/2006/main">
              <a:ext uri="{FF2B5EF4-FFF2-40B4-BE49-F238E27FC236}">
                <a16:creationId xmlns:a16="http://schemas.microsoft.com/office/drawing/2014/main" id="{758970E1-5383-41F2-94B1-5061CF415319}"/>
              </a:ext>
            </a:extLst>
          </p:cNvPr>
          <p:cNvSpPr>
            <a:spLocks xmlns:a="http://schemas.openxmlformats.org/drawingml/2006/main" noGrp="1"/>
          </p:cNvSpPr>
          <p:nvPr/>
        </p:nvSpPr>
        <p:spPr>
          <a:xfrm xmlns:a="http://schemas.openxmlformats.org/drawingml/2006/main">
            <a:off x="8096250" y="37528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browser hiện tại</a:t>
            </a:r>
          </a:p>
        </p:txBody>
      </p:sp>
    </p:spTree>
    <p:extLst>
      <p:ext uri="{BB962C8B-B14F-4D97-AF65-F5344CB8AC3E}">
        <p14:creationId xmlns:p14="http://schemas.microsoft.com/office/powerpoint/2010/main" val="557644466"/>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401AD83F-62AF-46D7-B8E5-88DABB2B76AC}"/>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REFLECTED</a:t>
            </a:r>
          </a:p>
        </p:txBody>
      </p:sp>
      <p:sp>
        <p:nvSpPr>
          <p:cNvPr id="2" name="chrome-number">
            <a:extLst xmlns:a="http://schemas.openxmlformats.org/drawingml/2006/main">
              <a:ext uri="{FF2B5EF4-FFF2-40B4-BE49-F238E27FC236}">
                <a16:creationId xmlns:a16="http://schemas.microsoft.com/office/drawing/2014/main" id="{1099C8A9-A119-48F1-9A78-44145420978B}"/>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08</a:t>
            </a:r>
          </a:p>
        </p:txBody>
      </p:sp>
      <p:sp>
        <p:nvSpPr>
          <p:cNvPr id="3" name="rule-70-58">
            <a:extLst xmlns:a="http://schemas.openxmlformats.org/drawingml/2006/main">
              <a:ext uri="{FF2B5EF4-FFF2-40B4-BE49-F238E27FC236}">
                <a16:creationId xmlns:a16="http://schemas.microsoft.com/office/drawing/2014/main" id="{80C1E8AE-F7D1-456D-8CEF-2E2F1A41921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9C49CFE-85E0-44AE-8C23-5E41B27AB6D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FB6E9F8D-57B3-4F79-9B48-E6A1C88C8E67}"/>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Một query trở thành node có event handler</a:t>
            </a:r>
          </a:p>
        </p:txBody>
      </p:sp>
      <p:sp>
        <p:nvSpPr>
          <p:cNvPr id="6" name="rule-70-672">
            <a:extLst xmlns:a="http://schemas.openxmlformats.org/drawingml/2006/main">
              <a:ext uri="{FF2B5EF4-FFF2-40B4-BE49-F238E27FC236}">
                <a16:creationId xmlns:a16="http://schemas.microsoft.com/office/drawing/2014/main" id="{185956AC-91CF-47A6-A98A-0CB3B9F9175A}"/>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68CD83F7-FD0F-4C9F-A597-958C495E9E8E}"/>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EF126211-6B7C-4341-8CEC-1F11F1D401EA}"/>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http://127.0.0.1:5000/vulnerable/search</a:t>
            </a:r>
          </a:p>
        </p:txBody>
      </p:sp>
      <p:sp>
        <p:nvSpPr>
          <p:cNvPr id="9" name="step-num-0">
            <a:extLst xmlns:a="http://schemas.openxmlformats.org/drawingml/2006/main">
              <a:ext uri="{FF2B5EF4-FFF2-40B4-BE49-F238E27FC236}">
                <a16:creationId xmlns:a16="http://schemas.microsoft.com/office/drawing/2014/main" id="{89BB4BB5-F13E-4E24-BF7C-2D7F81E6D376}"/>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D9804AA5-0CF2-43A3-8842-241220322377}"/>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Nhập payload alert an toàn vào ô tìm kiếm.</a:t>
            </a:r>
          </a:p>
        </p:txBody>
      </p:sp>
      <p:sp>
        <p:nvSpPr>
          <p:cNvPr id="11" name="step-num-1">
            <a:extLst xmlns:a="http://schemas.openxmlformats.org/drawingml/2006/main">
              <a:ext uri="{FF2B5EF4-FFF2-40B4-BE49-F238E27FC236}">
                <a16:creationId xmlns:a16="http://schemas.microsoft.com/office/drawing/2014/main" id="{FDC3450A-4B67-495B-8324-84444845CB8A}"/>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6273282E-F762-4F31-AA40-0BFA669714CC}"/>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Mở Network → Query String → Response.</a:t>
            </a:r>
          </a:p>
        </p:txBody>
      </p:sp>
      <p:sp>
        <p:nvSpPr>
          <p:cNvPr id="13" name="step-num-2">
            <a:extLst xmlns:a="http://schemas.openxmlformats.org/drawingml/2006/main">
              <a:ext uri="{FF2B5EF4-FFF2-40B4-BE49-F238E27FC236}">
                <a16:creationId xmlns:a16="http://schemas.microsoft.com/office/drawing/2014/main" id="{2BC7C500-1C9A-41D6-ABF2-0621344283CF}"/>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45A2F3C8-42DF-4261-8FE6-1089123296FF}"/>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Inspect vùng kết quả, rồi chạy lại ở /secure/search.</a:t>
            </a:r>
          </a:p>
        </p:txBody>
      </p:sp>
      <p:sp>
        <p:nvSpPr>
          <p:cNvPr id="15" name="expected-panel">
            <a:extLst xmlns:a="http://schemas.openxmlformats.org/drawingml/2006/main">
              <a:ext uri="{FF2B5EF4-FFF2-40B4-BE49-F238E27FC236}">
                <a16:creationId xmlns:a16="http://schemas.microsoft.com/office/drawing/2014/main" id="{49552AFF-CE83-4C9A-A295-24A16782AF9B}"/>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CAF7E612-D357-480E-85AC-2AE60EDB32A4}"/>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6487E3DB-37D9-4412-BDCC-70579983C078}"/>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tạo img/onerror; secure hiển thị cùng chuỗi như text đã encode.</a:t>
            </a:r>
          </a:p>
        </p:txBody>
      </p:sp>
    </p:spTree>
    <p:extLst>
      <p:ext uri="{BB962C8B-B14F-4D97-AF65-F5344CB8AC3E}">
        <p14:creationId xmlns:p14="http://schemas.microsoft.com/office/powerpoint/2010/main" val="1633605677"/>
      </p:ext>
    </p:extLst>
  </p:cSld>
</p:sld>
</file>

<file path=ppt/slides/slide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7468992E-C9D8-4C38-8820-895560D80D23}"/>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REFLECTED</a:t>
            </a:r>
          </a:p>
        </p:txBody>
      </p:sp>
      <p:sp>
        <p:nvSpPr>
          <p:cNvPr id="2" name="chrome-number">
            <a:extLst xmlns:a="http://schemas.openxmlformats.org/drawingml/2006/main">
              <a:ext uri="{FF2B5EF4-FFF2-40B4-BE49-F238E27FC236}">
                <a16:creationId xmlns:a16="http://schemas.microsoft.com/office/drawing/2014/main" id="{07D83717-E57C-4147-B39C-18E300BD470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09</a:t>
            </a:r>
          </a:p>
        </p:txBody>
      </p:sp>
      <p:sp>
        <p:nvSpPr>
          <p:cNvPr id="3" name="rule-70-58">
            <a:extLst xmlns:a="http://schemas.openxmlformats.org/drawingml/2006/main">
              <a:ext uri="{FF2B5EF4-FFF2-40B4-BE49-F238E27FC236}">
                <a16:creationId xmlns:a16="http://schemas.microsoft.com/office/drawing/2014/main" id="{454E7CEA-4972-40AA-BD92-E8CC071F78B1}"/>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6E60572A-0A5E-4833-AA32-5755DD03CA96}"/>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CF2C3A62-C4A5-46F6-8C51-BF018EADD512}"/>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câu hỏi ngay sau demo Reflected XSS</a:t>
            </a:r>
          </a:p>
        </p:txBody>
      </p:sp>
      <p:sp>
        <p:nvSpPr>
          <p:cNvPr id="6" name="rule-70-672">
            <a:extLst xmlns:a="http://schemas.openxmlformats.org/drawingml/2006/main">
              <a:ext uri="{FF2B5EF4-FFF2-40B4-BE49-F238E27FC236}">
                <a16:creationId xmlns:a16="http://schemas.microsoft.com/office/drawing/2014/main" id="{4D2EB58A-B923-44BF-8C47-D41356119BD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BE0BF16B-C81E-4D6B-BB9C-588D22500E06}"/>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0831893B-075D-47E5-AB52-4B24F0A7CA2B}"/>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6ABF4A17-B53D-4147-AD71-F37CBB617FA3}"/>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Dữ liệu người dùng được đưa vào HTML ở đâu?</a:t>
            </a:r>
          </a:p>
        </p:txBody>
      </p:sp>
      <p:sp>
        <p:nvSpPr>
          <p:cNvPr id="10" name="a-0">
            <a:extLst xmlns:a="http://schemas.openxmlformats.org/drawingml/2006/main">
              <a:ext uri="{FF2B5EF4-FFF2-40B4-BE49-F238E27FC236}">
                <a16:creationId xmlns:a16="http://schemas.microsoft.com/office/drawing/2014/main" id="{A6BDF7A9-C594-4A48-91FD-FA6DD80045D2}"/>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Query q đi vào vùng “Kết quả cho” trong response; vulnerable biến q thành Markup nên browser parse nó như HTML.</a:t>
            </a:r>
          </a:p>
        </p:txBody>
      </p:sp>
      <p:sp>
        <p:nvSpPr>
          <p:cNvPr id="11" name="rule-150-336">
            <a:extLst xmlns:a="http://schemas.openxmlformats.org/drawingml/2006/main">
              <a:ext uri="{FF2B5EF4-FFF2-40B4-BE49-F238E27FC236}">
                <a16:creationId xmlns:a16="http://schemas.microsoft.com/office/drawing/2014/main" id="{8F7B2E68-C254-49CA-A45E-4911A34DB788}"/>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3818EAF9-52EF-447F-A856-275647D7DB7D}"/>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763D40EE-F853-4A34-91AD-207F6A66FBFD}"/>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Ứng dụng có escape &lt;, &gt;, " và ' không?</a:t>
            </a:r>
          </a:p>
        </p:txBody>
      </p:sp>
      <p:sp>
        <p:nvSpPr>
          <p:cNvPr id="14" name="a-1">
            <a:extLst xmlns:a="http://schemas.openxmlformats.org/drawingml/2006/main">
              <a:ext uri="{FF2B5EF4-FFF2-40B4-BE49-F238E27FC236}">
                <a16:creationId xmlns:a16="http://schemas.microsoft.com/office/drawing/2014/main" id="{A9DF3AFB-23E6-45B3-A033-78020102C29F}"/>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Vulnerable: không ở sink đó. Secure: Jinja autoescape biến ký tự đặc biệt thành entity theo ngữ cảnh HTML.</a:t>
            </a:r>
          </a:p>
        </p:txBody>
      </p:sp>
      <p:sp>
        <p:nvSpPr>
          <p:cNvPr id="15" name="rule-150-474">
            <a:extLst xmlns:a="http://schemas.openxmlformats.org/drawingml/2006/main">
              <a:ext uri="{FF2B5EF4-FFF2-40B4-BE49-F238E27FC236}">
                <a16:creationId xmlns:a16="http://schemas.microsoft.com/office/drawing/2014/main" id="{58D42819-6012-4CB7-AD5A-AD19782A2384}"/>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58ABC93F-9F32-40E8-BEB5-8D09A482B112}"/>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17" name="q-2">
            <a:extLst xmlns:a="http://schemas.openxmlformats.org/drawingml/2006/main">
              <a:ext uri="{FF2B5EF4-FFF2-40B4-BE49-F238E27FC236}">
                <a16:creationId xmlns:a16="http://schemas.microsoft.com/office/drawing/2014/main" id="{ECA327A7-0AD3-42DB-B67A-E0A39759CB77}"/>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Nạn nhân bấm URL có payload thì sao?</a:t>
            </a:r>
          </a:p>
        </p:txBody>
      </p:sp>
      <p:sp>
        <p:nvSpPr>
          <p:cNvPr id="18" name="a-2">
            <a:extLst xmlns:a="http://schemas.openxmlformats.org/drawingml/2006/main">
              <a:ext uri="{FF2B5EF4-FFF2-40B4-BE49-F238E27FC236}">
                <a16:creationId xmlns:a16="http://schemas.microsoft.com/office/drawing/2014/main" id="{9B64BC63-B791-4AC8-9133-68F1449193B4}"/>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Server phản chiếu payload; browser parse node/event handler và JavaScript chạy trong origin của ứng dụng.</a:t>
            </a:r>
          </a:p>
        </p:txBody>
      </p:sp>
    </p:spTree>
    <p:extLst>
      <p:ext uri="{BB962C8B-B14F-4D97-AF65-F5344CB8AC3E}">
        <p14:creationId xmlns:p14="http://schemas.microsoft.com/office/powerpoint/2010/main" val="1945959526"/>
      </p:ext>
    </p:extLst>
  </p:cSld>
</p:sld>
</file>

<file path=ppt/slides/slide1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21E2D5D3-94C3-400C-B132-1302209B41FF}"/>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STORED</a:t>
            </a:r>
          </a:p>
        </p:txBody>
      </p:sp>
      <p:sp>
        <p:nvSpPr>
          <p:cNvPr id="2" name="chrome-number">
            <a:extLst xmlns:a="http://schemas.openxmlformats.org/drawingml/2006/main">
              <a:ext uri="{FF2B5EF4-FFF2-40B4-BE49-F238E27FC236}">
                <a16:creationId xmlns:a16="http://schemas.microsoft.com/office/drawing/2014/main" id="{509E43BD-6100-4285-B01C-09D5B4167A85}"/>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10</a:t>
            </a:r>
          </a:p>
        </p:txBody>
      </p:sp>
      <p:sp>
        <p:nvSpPr>
          <p:cNvPr id="3" name="rule-70-58">
            <a:extLst xmlns:a="http://schemas.openxmlformats.org/drawingml/2006/main">
              <a:ext uri="{FF2B5EF4-FFF2-40B4-BE49-F238E27FC236}">
                <a16:creationId xmlns:a16="http://schemas.microsoft.com/office/drawing/2014/main" id="{242519CC-B4E5-4CD4-81C8-D0C880CDA459}"/>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5F95C44D-2B3C-4096-8A29-2BC5A6281121}"/>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F0786AC9-35F4-47BF-8642-8C1086E6134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Payload sống qua một request mới</a:t>
            </a:r>
          </a:p>
        </p:txBody>
      </p:sp>
      <p:sp>
        <p:nvSpPr>
          <p:cNvPr id="6" name="rule-70-672">
            <a:extLst xmlns:a="http://schemas.openxmlformats.org/drawingml/2006/main">
              <a:ext uri="{FF2B5EF4-FFF2-40B4-BE49-F238E27FC236}">
                <a16:creationId xmlns:a16="http://schemas.microsoft.com/office/drawing/2014/main" id="{7E0019B9-7FAC-4BA3-8A79-FC28FB9CAF41}"/>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ACAC6270-AD24-41D1-83BF-E24341D23FC9}"/>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550AEC58-0065-459E-8C32-C6C7AB3C8847}"/>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http://127.0.0.1:5000/vulnerable/post/1/comments</a:t>
            </a:r>
          </a:p>
        </p:txBody>
      </p:sp>
      <p:sp>
        <p:nvSpPr>
          <p:cNvPr id="9" name="step-num-0">
            <a:extLst xmlns:a="http://schemas.openxmlformats.org/drawingml/2006/main">
              <a:ext uri="{FF2B5EF4-FFF2-40B4-BE49-F238E27FC236}">
                <a16:creationId xmlns:a16="http://schemas.microsoft.com/office/drawing/2014/main" id="{2D5154C7-8CAC-419A-81ED-7CDA0E25357B}"/>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27CFF896-E30C-4D51-B7B8-A6C6FD1AD743}"/>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Đăng comment bình thường, rồi comment có img/onerror + strong.</a:t>
            </a:r>
          </a:p>
        </p:txBody>
      </p:sp>
      <p:sp>
        <p:nvSpPr>
          <p:cNvPr id="11" name="step-num-1">
            <a:extLst xmlns:a="http://schemas.openxmlformats.org/drawingml/2006/main">
              <a:ext uri="{FF2B5EF4-FFF2-40B4-BE49-F238E27FC236}">
                <a16:creationId xmlns:a16="http://schemas.microsoft.com/office/drawing/2014/main" id="{3A1CCF7B-9E5A-4418-81F9-276FE7854C04}"/>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5FD71C7B-1D24-44F0-8F9F-9A81E4DE1401}"/>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Bật Preserve log; quan sát POST → GET/reload.</a:t>
            </a:r>
          </a:p>
        </p:txBody>
      </p:sp>
      <p:sp>
        <p:nvSpPr>
          <p:cNvPr id="13" name="step-num-2">
            <a:extLst xmlns:a="http://schemas.openxmlformats.org/drawingml/2006/main">
              <a:ext uri="{FF2B5EF4-FFF2-40B4-BE49-F238E27FC236}">
                <a16:creationId xmlns:a16="http://schemas.microsoft.com/office/drawing/2014/main" id="{66AD4698-DB73-4F45-8969-DA42078F066B}"/>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6AF3F5E3-1C1C-4A57-B4A6-43496AA5A562}"/>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Đối chiếu Database Inspector và /secure/post/1/comments.</a:t>
            </a:r>
          </a:p>
        </p:txBody>
      </p:sp>
      <p:sp>
        <p:nvSpPr>
          <p:cNvPr id="15" name="expected-panel">
            <a:extLst xmlns:a="http://schemas.openxmlformats.org/drawingml/2006/main">
              <a:ext uri="{FF2B5EF4-FFF2-40B4-BE49-F238E27FC236}">
                <a16:creationId xmlns:a16="http://schemas.microsoft.com/office/drawing/2014/main" id="{6A478781-F17F-4E81-B78F-C51BC238C886}"/>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279D57E6-F612-445A-9F49-4F982035C9C3}"/>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E93F9DAA-2895-4089-970B-BBD43CA867CF}"/>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đọc payload từ SQLite và chạy lại; secure loại event handler bằng allowlist.</a:t>
            </a:r>
          </a:p>
        </p:txBody>
      </p:sp>
    </p:spTree>
    <p:extLst>
      <p:ext uri="{BB962C8B-B14F-4D97-AF65-F5344CB8AC3E}">
        <p14:creationId xmlns:p14="http://schemas.microsoft.com/office/powerpoint/2010/main" val="520057112"/>
      </p:ext>
    </p:extLst>
  </p:cSld>
</p:sld>
</file>

<file path=ppt/slides/slide1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2CD841EF-C63C-4454-92BF-1C8F465A593F}"/>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STORED</a:t>
            </a:r>
          </a:p>
        </p:txBody>
      </p:sp>
      <p:sp>
        <p:nvSpPr>
          <p:cNvPr id="2" name="chrome-number">
            <a:extLst xmlns:a="http://schemas.openxmlformats.org/drawingml/2006/main">
              <a:ext uri="{FF2B5EF4-FFF2-40B4-BE49-F238E27FC236}">
                <a16:creationId xmlns:a16="http://schemas.microsoft.com/office/drawing/2014/main" id="{18E11135-67AD-4685-9F46-CE731F6F47B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11</a:t>
            </a:r>
          </a:p>
        </p:txBody>
      </p:sp>
      <p:sp>
        <p:nvSpPr>
          <p:cNvPr id="3" name="rule-70-58">
            <a:extLst xmlns:a="http://schemas.openxmlformats.org/drawingml/2006/main">
              <a:ext uri="{FF2B5EF4-FFF2-40B4-BE49-F238E27FC236}">
                <a16:creationId xmlns:a16="http://schemas.microsoft.com/office/drawing/2014/main" id="{AB004050-1408-4FF5-9AD0-58AE647EB2E0}"/>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9EACC6B2-983E-42F5-8E5A-6F4DF6A7A7EB}"/>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ADE7B608-FDD9-4EEC-894C-76A0CAB1644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câu hỏi ngay sau demo Stored XSS</a:t>
            </a:r>
          </a:p>
        </p:txBody>
      </p:sp>
      <p:sp>
        <p:nvSpPr>
          <p:cNvPr id="6" name="rule-70-672">
            <a:extLst xmlns:a="http://schemas.openxmlformats.org/drawingml/2006/main">
              <a:ext uri="{FF2B5EF4-FFF2-40B4-BE49-F238E27FC236}">
                <a16:creationId xmlns:a16="http://schemas.microsoft.com/office/drawing/2014/main" id="{E57BBBB8-CD32-4500-9E23-C91AAD0B2A4D}"/>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8EC04784-56BC-4F51-9FD8-F78D5FCCDFA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D4E92CC4-779E-4DAC-9C6B-1315BF949E23}"/>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9" name="q-0">
            <a:extLst xmlns:a="http://schemas.openxmlformats.org/drawingml/2006/main">
              <a:ext uri="{FF2B5EF4-FFF2-40B4-BE49-F238E27FC236}">
                <a16:creationId xmlns:a16="http://schemas.microsoft.com/office/drawing/2014/main" id="{A1A27CE8-E55C-42A8-B4B3-A1E3D291D57A}"/>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Stored XSS nguy hiểm hơn Reflected XSS?</a:t>
            </a:r>
          </a:p>
        </p:txBody>
      </p:sp>
      <p:sp>
        <p:nvSpPr>
          <p:cNvPr id="10" name="a-0">
            <a:extLst xmlns:a="http://schemas.openxmlformats.org/drawingml/2006/main">
              <a:ext uri="{FF2B5EF4-FFF2-40B4-BE49-F238E27FC236}">
                <a16:creationId xmlns:a16="http://schemas.microsoft.com/office/drawing/2014/main" id="{F169469D-1A70-4B71-AA71-100111235037}"/>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Payload được lưu và tự phát lại cho nhiều phiên/người dùng; attacker không cần gửi một URL riêng cho từng nạn nhân.</a:t>
            </a:r>
          </a:p>
        </p:txBody>
      </p:sp>
      <p:sp>
        <p:nvSpPr>
          <p:cNvPr id="11" name="rule-150-336">
            <a:extLst xmlns:a="http://schemas.openxmlformats.org/drawingml/2006/main">
              <a:ext uri="{FF2B5EF4-FFF2-40B4-BE49-F238E27FC236}">
                <a16:creationId xmlns:a16="http://schemas.microsoft.com/office/drawing/2014/main" id="{E4D37F92-243B-4DB2-AEC3-FDAA6A681634}"/>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ED5B4AD7-D9DA-47B9-BDF1-98ED3D69F6C4}"/>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3" name="q-1">
            <a:extLst xmlns:a="http://schemas.openxmlformats.org/drawingml/2006/main">
              <a:ext uri="{FF2B5EF4-FFF2-40B4-BE49-F238E27FC236}">
                <a16:creationId xmlns:a16="http://schemas.microsoft.com/office/drawing/2014/main" id="{95E0033C-39EB-4713-B076-505C1C0FA4D1}"/>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Payload có ảnh hưởng mọi người xem trang không?</a:t>
            </a:r>
          </a:p>
        </p:txBody>
      </p:sp>
      <p:sp>
        <p:nvSpPr>
          <p:cNvPr id="14" name="a-1">
            <a:extLst xmlns:a="http://schemas.openxmlformats.org/drawingml/2006/main">
              <a:ext uri="{FF2B5EF4-FFF2-40B4-BE49-F238E27FC236}">
                <a16:creationId xmlns:a16="http://schemas.microsoft.com/office/drawing/2014/main" id="{D484CE1C-7419-41F4-BC24-1144F63CAF53}"/>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Có, nếu cùng dữ liệu stored được render vào trang của họ và không có encoding/sanitization đúng ngữ cảnh.</a:t>
            </a:r>
          </a:p>
        </p:txBody>
      </p:sp>
      <p:sp>
        <p:nvSpPr>
          <p:cNvPr id="15" name="rule-150-474">
            <a:extLst xmlns:a="http://schemas.openxmlformats.org/drawingml/2006/main">
              <a:ext uri="{FF2B5EF4-FFF2-40B4-BE49-F238E27FC236}">
                <a16:creationId xmlns:a16="http://schemas.microsoft.com/office/drawing/2014/main" id="{D969B1C0-930A-46DD-AD00-7FAF5D53739B}"/>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47CAB5FB-EC44-49A9-8D8E-598D9E8B1697}"/>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Q6</a:t>
            </a:r>
          </a:p>
        </p:txBody>
      </p:sp>
      <p:sp>
        <p:nvSpPr>
          <p:cNvPr id="17" name="q-2">
            <a:extLst xmlns:a="http://schemas.openxmlformats.org/drawingml/2006/main">
              <a:ext uri="{FF2B5EF4-FFF2-40B4-BE49-F238E27FC236}">
                <a16:creationId xmlns:a16="http://schemas.microsoft.com/office/drawing/2014/main" id="{385C6299-E7AB-4CB5-A4D3-CDF26A527633}"/>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Cookie không có HttpOnly thì rủi ro gì?</a:t>
            </a:r>
          </a:p>
        </p:txBody>
      </p:sp>
      <p:sp>
        <p:nvSpPr>
          <p:cNvPr id="18" name="a-2">
            <a:extLst xmlns:a="http://schemas.openxmlformats.org/drawingml/2006/main">
              <a:ext uri="{FF2B5EF4-FFF2-40B4-BE49-F238E27FC236}">
                <a16:creationId xmlns:a16="http://schemas.microsoft.com/office/drawing/2014/main" id="{374553EB-9261-4E03-818C-FD891B2C328C}"/>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Script XSS có thể đọc cookie không-HttpOnly; nhưng HttpOnly chỉ giảm hậu quả, không vá quyền thao tác DOM/request.</a:t>
            </a:r>
          </a:p>
        </p:txBody>
      </p:sp>
    </p:spTree>
    <p:extLst>
      <p:ext uri="{BB962C8B-B14F-4D97-AF65-F5344CB8AC3E}">
        <p14:creationId xmlns:p14="http://schemas.microsoft.com/office/powerpoint/2010/main" val="1532414315"/>
      </p:ext>
    </p:extLst>
  </p:cSld>
</p:sld>
</file>

<file path=ppt/slides/slide1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CBFAF24A-247D-4F1E-AAD8-78AEFBC3F6C1}"/>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DOM</a:t>
            </a:r>
          </a:p>
        </p:txBody>
      </p:sp>
      <p:sp>
        <p:nvSpPr>
          <p:cNvPr id="2" name="chrome-number">
            <a:extLst xmlns:a="http://schemas.openxmlformats.org/drawingml/2006/main">
              <a:ext uri="{FF2B5EF4-FFF2-40B4-BE49-F238E27FC236}">
                <a16:creationId xmlns:a16="http://schemas.microsoft.com/office/drawing/2014/main" id="{C6B4D46E-CDA0-4363-BDA0-C1CC88D9C36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12</a:t>
            </a:r>
          </a:p>
        </p:txBody>
      </p:sp>
      <p:sp>
        <p:nvSpPr>
          <p:cNvPr id="3" name="rule-70-58">
            <a:extLst xmlns:a="http://schemas.openxmlformats.org/drawingml/2006/main">
              <a:ext uri="{FF2B5EF4-FFF2-40B4-BE49-F238E27FC236}">
                <a16:creationId xmlns:a16="http://schemas.microsoft.com/office/drawing/2014/main" id="{1764C1F9-D774-40F3-98A3-ECBE8CFC081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AC35BC35-228B-4A05-B20E-2C7EA87CCF6F}"/>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03775946-98EB-45B7-977C-11D39135CA39}"/>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Fragment không lên server — lỗi vẫn xảy ra</a:t>
            </a:r>
          </a:p>
        </p:txBody>
      </p:sp>
      <p:sp>
        <p:nvSpPr>
          <p:cNvPr id="6" name="rule-70-672">
            <a:extLst xmlns:a="http://schemas.openxmlformats.org/drawingml/2006/main">
              <a:ext uri="{FF2B5EF4-FFF2-40B4-BE49-F238E27FC236}">
                <a16:creationId xmlns:a16="http://schemas.microsoft.com/office/drawing/2014/main" id="{98502B3F-3CB2-488E-949E-6AC268F03803}"/>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B8090428-A5F4-43F5-A413-A154F68A50D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0314D605-EC36-4039-B573-91B9A9E29E99}"/>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http://127.0.0.1:5000/vulnerable/dom-search</a:t>
            </a:r>
          </a:p>
        </p:txBody>
      </p:sp>
      <p:sp>
        <p:nvSpPr>
          <p:cNvPr id="9" name="step-num-0">
            <a:extLst xmlns:a="http://schemas.openxmlformats.org/drawingml/2006/main">
              <a:ext uri="{FF2B5EF4-FFF2-40B4-BE49-F238E27FC236}">
                <a16:creationId xmlns:a16="http://schemas.microsoft.com/office/drawing/2014/main" id="{111C0160-1E1B-4894-8E67-873EC0A719DE}"/>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E9B25097-8DBE-4B77-8E12-7E0879897BE5}"/>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Clear Network; đổi location.hash bằng payload an toàn.</a:t>
            </a:r>
          </a:p>
        </p:txBody>
      </p:sp>
      <p:sp>
        <p:nvSpPr>
          <p:cNvPr id="11" name="step-num-1">
            <a:extLst xmlns:a="http://schemas.openxmlformats.org/drawingml/2006/main">
              <a:ext uri="{FF2B5EF4-FFF2-40B4-BE49-F238E27FC236}">
                <a16:creationId xmlns:a16="http://schemas.microsoft.com/office/drawing/2014/main" id="{A8DBB2A4-C3E2-4621-ADB0-7C75643D36C8}"/>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2A0FBC9D-939B-4289-B2F1-789D70D7E693}"/>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Chứng minh không có request mới và fragment không nằm trong Request URL.</a:t>
            </a:r>
          </a:p>
        </p:txBody>
      </p:sp>
      <p:sp>
        <p:nvSpPr>
          <p:cNvPr id="13" name="step-num-2">
            <a:extLst xmlns:a="http://schemas.openxmlformats.org/drawingml/2006/main">
              <a:ext uri="{FF2B5EF4-FFF2-40B4-BE49-F238E27FC236}">
                <a16:creationId xmlns:a16="http://schemas.microsoft.com/office/drawing/2014/main" id="{608D6178-186A-4DC6-B156-6BDBEB01FB56}"/>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7D8B3630-D12F-4CF4-AC8B-208D998CACAA}"/>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Inspect #dom-result: innerHTML tạo node; secure dùng textContent.</a:t>
            </a:r>
          </a:p>
        </p:txBody>
      </p:sp>
      <p:sp>
        <p:nvSpPr>
          <p:cNvPr id="15" name="expected-panel">
            <a:extLst xmlns:a="http://schemas.openxmlformats.org/drawingml/2006/main">
              <a:ext uri="{FF2B5EF4-FFF2-40B4-BE49-F238E27FC236}">
                <a16:creationId xmlns:a16="http://schemas.microsoft.com/office/drawing/2014/main" id="{0AA3B126-6352-4168-87C4-C8B078E5D5D4}"/>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F45FD107-A9FF-4742-9BB9-B4359C2B6A83}"/>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4016BCFD-6C1D-45C6-A8E8-7DB9A260550F}"/>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Lỗi ở browser: source location.hash → sink innerHTML; textContent chỉ tạo text node.</a:t>
            </a:r>
          </a:p>
        </p:txBody>
      </p:sp>
    </p:spTree>
    <p:extLst>
      <p:ext uri="{BB962C8B-B14F-4D97-AF65-F5344CB8AC3E}">
        <p14:creationId xmlns:p14="http://schemas.microsoft.com/office/powerpoint/2010/main" val="233504912"/>
      </p:ext>
    </p:extLst>
  </p:cSld>
</p:sld>
</file>

<file path=ppt/slides/slide1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9011A8B0-E6CC-4352-977B-B7FA78F14527}"/>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BÁO CÁO</a:t>
            </a:r>
          </a:p>
        </p:txBody>
      </p:sp>
      <p:sp>
        <p:nvSpPr>
          <p:cNvPr id="2" name="chrome-number">
            <a:extLst xmlns:a="http://schemas.openxmlformats.org/drawingml/2006/main">
              <a:ext uri="{FF2B5EF4-FFF2-40B4-BE49-F238E27FC236}">
                <a16:creationId xmlns:a16="http://schemas.microsoft.com/office/drawing/2014/main" id="{0B3C445C-870E-483C-A32A-40ECC727EC5F}"/>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13</a:t>
            </a:r>
          </a:p>
        </p:txBody>
      </p:sp>
      <p:sp>
        <p:nvSpPr>
          <p:cNvPr id="3" name="rule-70-58">
            <a:extLst xmlns:a="http://schemas.openxmlformats.org/drawingml/2006/main">
              <a:ext uri="{FF2B5EF4-FFF2-40B4-BE49-F238E27FC236}">
                <a16:creationId xmlns:a16="http://schemas.microsoft.com/office/drawing/2014/main" id="{D1094B09-2EAB-4DA4-A969-30EFB79DDB71}"/>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3EA4B698-B640-4CCF-AE10-2C23DBF4F1E5}"/>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99A61D3A-5A16-4203-B92B-5667D9926E6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báo cáo 1–2</a:t>
            </a:r>
          </a:p>
        </p:txBody>
      </p:sp>
      <p:sp>
        <p:nvSpPr>
          <p:cNvPr id="6" name="rule-70-672">
            <a:extLst xmlns:a="http://schemas.openxmlformats.org/drawingml/2006/main">
              <a:ext uri="{FF2B5EF4-FFF2-40B4-BE49-F238E27FC236}">
                <a16:creationId xmlns:a16="http://schemas.microsoft.com/office/drawing/2014/main" id="{A4266E7B-7824-4E28-A826-2EAA1E1E099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F750FD4A-3DB2-4D32-B3AB-0CF93B79440A}"/>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C2330292-847B-4258-B6A0-4F893974A073}"/>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Q7</a:t>
            </a:r>
          </a:p>
        </p:txBody>
      </p:sp>
      <p:sp>
        <p:nvSpPr>
          <p:cNvPr id="9" name="q-0">
            <a:extLst xmlns:a="http://schemas.openxmlformats.org/drawingml/2006/main">
              <a:ext uri="{FF2B5EF4-FFF2-40B4-BE49-F238E27FC236}">
                <a16:creationId xmlns:a16="http://schemas.microsoft.com/office/drawing/2014/main" id="{2874A681-8BB6-4991-AC2C-E5426E014DC7}"/>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So sánh Reflected, Stored và DOM-based XSS.</a:t>
            </a:r>
          </a:p>
        </p:txBody>
      </p:sp>
      <p:sp>
        <p:nvSpPr>
          <p:cNvPr id="10" name="a-0">
            <a:extLst xmlns:a="http://schemas.openxmlformats.org/drawingml/2006/main">
              <a:ext uri="{FF2B5EF4-FFF2-40B4-BE49-F238E27FC236}">
                <a16:creationId xmlns:a16="http://schemas.microsoft.com/office/drawing/2014/main" id="{E55EE932-E127-4DAB-9A1D-04B6507D5345}"/>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Reflected theo request hiện tại; Stored lưu và phát lại; DOM diễn ra hoàn toàn từ DOM source đến DOM sink ở client.</a:t>
            </a:r>
          </a:p>
        </p:txBody>
      </p:sp>
      <p:sp>
        <p:nvSpPr>
          <p:cNvPr id="11" name="rule-150-402">
            <a:extLst xmlns:a="http://schemas.openxmlformats.org/drawingml/2006/main">
              <a:ext uri="{FF2B5EF4-FFF2-40B4-BE49-F238E27FC236}">
                <a16:creationId xmlns:a16="http://schemas.microsoft.com/office/drawing/2014/main" id="{49E25A42-581A-4BCA-82E3-146516B2F115}"/>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00748DA6-7BE8-4C25-84DA-3E7AF07C89D0}"/>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Q8</a:t>
            </a:r>
          </a:p>
        </p:txBody>
      </p:sp>
      <p:sp>
        <p:nvSpPr>
          <p:cNvPr id="13" name="q-1">
            <a:extLst xmlns:a="http://schemas.openxmlformats.org/drawingml/2006/main">
              <a:ext uri="{FF2B5EF4-FFF2-40B4-BE49-F238E27FC236}">
                <a16:creationId xmlns:a16="http://schemas.microsoft.com/office/drawing/2014/main" id="{EE59C182-0112-4952-8051-7005CFA6C47A}"/>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validate input chưa đủ?</a:t>
            </a:r>
          </a:p>
        </p:txBody>
      </p:sp>
      <p:sp>
        <p:nvSpPr>
          <p:cNvPr id="14" name="a-1">
            <a:extLst xmlns:a="http://schemas.openxmlformats.org/drawingml/2006/main">
              <a:ext uri="{FF2B5EF4-FFF2-40B4-BE49-F238E27FC236}">
                <a16:creationId xmlns:a16="http://schemas.microsoft.com/office/drawing/2014/main" id="{78AEC63F-E855-4B79-82DE-D99B0F073B79}"/>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Một chuỗi hợp lệ ở input vẫn nguy hiểm khi đặt vào HTML, JS, URL hoặc attribute; biện pháp quyết định nằm ở output context.</a:t>
            </a:r>
          </a:p>
        </p:txBody>
      </p:sp>
    </p:spTree>
    <p:extLst>
      <p:ext uri="{BB962C8B-B14F-4D97-AF65-F5344CB8AC3E}">
        <p14:creationId xmlns:p14="http://schemas.microsoft.com/office/powerpoint/2010/main" val="1645126248"/>
      </p:ext>
    </p:extLst>
  </p:cSld>
</p:sld>
</file>

<file path=ppt/slides/slide1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BC99F3D9-93AF-4F7F-B8CC-1BB547AFE13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BÁO CÁO</a:t>
            </a:r>
          </a:p>
        </p:txBody>
      </p:sp>
      <p:sp>
        <p:nvSpPr>
          <p:cNvPr id="2" name="chrome-number">
            <a:extLst xmlns:a="http://schemas.openxmlformats.org/drawingml/2006/main">
              <a:ext uri="{FF2B5EF4-FFF2-40B4-BE49-F238E27FC236}">
                <a16:creationId xmlns:a16="http://schemas.microsoft.com/office/drawing/2014/main" id="{06EDA00D-C66F-40FC-B8D8-9193CA47863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14</a:t>
            </a:r>
          </a:p>
        </p:txBody>
      </p:sp>
      <p:sp>
        <p:nvSpPr>
          <p:cNvPr id="3" name="rule-70-58">
            <a:extLst xmlns:a="http://schemas.openxmlformats.org/drawingml/2006/main">
              <a:ext uri="{FF2B5EF4-FFF2-40B4-BE49-F238E27FC236}">
                <a16:creationId xmlns:a16="http://schemas.microsoft.com/office/drawing/2014/main" id="{17914BDA-3882-479A-B91F-4A7D7A6726C0}"/>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0AA10B58-E0E2-45F1-88CB-D7671C7B041B}"/>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9E10609F-74BA-4CC2-80E0-B23F9E53A195}"/>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báo cáo 3–5</a:t>
            </a:r>
          </a:p>
        </p:txBody>
      </p:sp>
      <p:sp>
        <p:nvSpPr>
          <p:cNvPr id="6" name="rule-70-672">
            <a:extLst xmlns:a="http://schemas.openxmlformats.org/drawingml/2006/main">
              <a:ext uri="{FF2B5EF4-FFF2-40B4-BE49-F238E27FC236}">
                <a16:creationId xmlns:a16="http://schemas.microsoft.com/office/drawing/2014/main" id="{C09FF43A-9107-4CD2-8B32-7C32F0F85F9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ABFFE767-4258-495D-817A-413126D0CEB0}"/>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05DB50E2-5302-4417-A713-31FB730EB818}"/>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Q9</a:t>
            </a:r>
          </a:p>
        </p:txBody>
      </p:sp>
      <p:sp>
        <p:nvSpPr>
          <p:cNvPr id="9" name="q-0">
            <a:extLst xmlns:a="http://schemas.openxmlformats.org/drawingml/2006/main">
              <a:ext uri="{FF2B5EF4-FFF2-40B4-BE49-F238E27FC236}">
                <a16:creationId xmlns:a16="http://schemas.microsoft.com/office/drawing/2014/main" id="{64F899DB-4A32-4D08-B24E-572C3BEEB7C5}"/>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cần output encoding?</a:t>
            </a:r>
          </a:p>
        </p:txBody>
      </p:sp>
      <p:sp>
        <p:nvSpPr>
          <p:cNvPr id="10" name="a-0">
            <a:extLst xmlns:a="http://schemas.openxmlformats.org/drawingml/2006/main">
              <a:ext uri="{FF2B5EF4-FFF2-40B4-BE49-F238E27FC236}">
                <a16:creationId xmlns:a16="http://schemas.microsoft.com/office/drawing/2014/main" id="{2EBEADAA-5EC1-470A-AEE0-46E27DB6A037}"/>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Để parser hiểu ký tự là dữ liệu, không phải thẻ, script, URL hay attribute có khả năng thực thi.</a:t>
            </a:r>
          </a:p>
        </p:txBody>
      </p:sp>
      <p:sp>
        <p:nvSpPr>
          <p:cNvPr id="11" name="rule-150-336">
            <a:extLst xmlns:a="http://schemas.openxmlformats.org/drawingml/2006/main">
              <a:ext uri="{FF2B5EF4-FFF2-40B4-BE49-F238E27FC236}">
                <a16:creationId xmlns:a16="http://schemas.microsoft.com/office/drawing/2014/main" id="{D446F973-F0E5-4121-99C3-FC111786C94B}"/>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447ADFF6-D1A6-47CE-9F74-36C4A810D5BF}"/>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Q10</a:t>
            </a:r>
          </a:p>
        </p:txBody>
      </p:sp>
      <p:sp>
        <p:nvSpPr>
          <p:cNvPr id="13" name="q-1">
            <a:extLst xmlns:a="http://schemas.openxmlformats.org/drawingml/2006/main">
              <a:ext uri="{FF2B5EF4-FFF2-40B4-BE49-F238E27FC236}">
                <a16:creationId xmlns:a16="http://schemas.microsoft.com/office/drawing/2014/main" id="{D4E8CFB8-DC3C-4F29-9F6A-60981D970D8B}"/>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CSP có thay thế sửa code không?</a:t>
            </a:r>
          </a:p>
        </p:txBody>
      </p:sp>
      <p:sp>
        <p:nvSpPr>
          <p:cNvPr id="14" name="a-1">
            <a:extLst xmlns:a="http://schemas.openxmlformats.org/drawingml/2006/main">
              <a:ext uri="{FF2B5EF4-FFF2-40B4-BE49-F238E27FC236}">
                <a16:creationId xmlns:a16="http://schemas.microsoft.com/office/drawing/2014/main" id="{6F253985-BBA8-4506-BC76-9E4D7BEE3A1B}"/>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Không. CSP giảm khả năng thực thi và hậu quả; sink không an toàn vẫn phải sửa.</a:t>
            </a:r>
          </a:p>
        </p:txBody>
      </p:sp>
      <p:sp>
        <p:nvSpPr>
          <p:cNvPr id="15" name="rule-150-474">
            <a:extLst xmlns:a="http://schemas.openxmlformats.org/drawingml/2006/main">
              <a:ext uri="{FF2B5EF4-FFF2-40B4-BE49-F238E27FC236}">
                <a16:creationId xmlns:a16="http://schemas.microsoft.com/office/drawing/2014/main" id="{775AB060-9861-4DA6-A5EB-6B4B26FB5E87}"/>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F0CF2F7C-1BAD-4E5C-9FB7-7B57F1300523}"/>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Q11</a:t>
            </a:r>
          </a:p>
        </p:txBody>
      </p:sp>
      <p:sp>
        <p:nvSpPr>
          <p:cNvPr id="17" name="q-2">
            <a:extLst xmlns:a="http://schemas.openxmlformats.org/drawingml/2006/main">
              <a:ext uri="{FF2B5EF4-FFF2-40B4-BE49-F238E27FC236}">
                <a16:creationId xmlns:a16="http://schemas.microsoft.com/office/drawing/2014/main" id="{E57C86D5-C6F5-40CC-99C7-2C1F759708AA}"/>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Vá từng lỗi thế nào?</a:t>
            </a:r>
          </a:p>
        </p:txBody>
      </p:sp>
      <p:sp>
        <p:nvSpPr>
          <p:cNvPr id="18" name="a-2">
            <a:extLst xmlns:a="http://schemas.openxmlformats.org/drawingml/2006/main">
              <a:ext uri="{FF2B5EF4-FFF2-40B4-BE49-F238E27FC236}">
                <a16:creationId xmlns:a16="http://schemas.microsoft.com/office/drawing/2014/main" id="{FAE487AA-D3BF-4114-A8D5-97FC52F064C6}"/>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Reflected: autoescape; Stored: sanitize/encode; DOM: safe DOM API như textContent.</a:t>
            </a:r>
          </a:p>
        </p:txBody>
      </p:sp>
    </p:spTree>
    <p:extLst>
      <p:ext uri="{BB962C8B-B14F-4D97-AF65-F5344CB8AC3E}">
        <p14:creationId xmlns:p14="http://schemas.microsoft.com/office/powerpoint/2010/main" val="1121165145"/>
      </p:ext>
    </p:extLst>
  </p:cSld>
</p:sld>
</file>

<file path=ppt/slides/slide1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5B68AC24-4208-420B-989F-FFBCA104311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BẢN VÁ</a:t>
            </a:r>
          </a:p>
        </p:txBody>
      </p:sp>
      <p:sp>
        <p:nvSpPr>
          <p:cNvPr id="2" name="chrome-number">
            <a:extLst xmlns:a="http://schemas.openxmlformats.org/drawingml/2006/main">
              <a:ext uri="{FF2B5EF4-FFF2-40B4-BE49-F238E27FC236}">
                <a16:creationId xmlns:a16="http://schemas.microsoft.com/office/drawing/2014/main" id="{FD39AFFA-2401-4C8C-B47C-FC9F4142E9BE}"/>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15</a:t>
            </a:r>
          </a:p>
        </p:txBody>
      </p:sp>
      <p:sp>
        <p:nvSpPr>
          <p:cNvPr id="3" name="rule-70-58">
            <a:extLst xmlns:a="http://schemas.openxmlformats.org/drawingml/2006/main">
              <a:ext uri="{FF2B5EF4-FFF2-40B4-BE49-F238E27FC236}">
                <a16:creationId xmlns:a16="http://schemas.microsoft.com/office/drawing/2014/main" id="{933839E8-D3CF-488D-B7D2-1D1B0EEB43D7}"/>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70B394C7-CF98-42E5-B782-E556B89C9BB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VULNERABLE / SECURE</a:t>
            </a:r>
          </a:p>
        </p:txBody>
      </p:sp>
      <p:sp>
        <p:nvSpPr>
          <p:cNvPr id="5" name="slide-title">
            <a:extLst xmlns:a="http://schemas.openxmlformats.org/drawingml/2006/main">
              <a:ext uri="{FF2B5EF4-FFF2-40B4-BE49-F238E27FC236}">
                <a16:creationId xmlns:a16="http://schemas.microsoft.com/office/drawing/2014/main" id="{7E8F0D4E-7F08-474D-BAEB-1D3501983C67}"/>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Bản vá phải nằm đúng sink</a:t>
            </a:r>
          </a:p>
        </p:txBody>
      </p:sp>
      <p:sp>
        <p:nvSpPr>
          <p:cNvPr id="6" name="rule-70-672">
            <a:extLst xmlns:a="http://schemas.openxmlformats.org/drawingml/2006/main">
              <a:ext uri="{FF2B5EF4-FFF2-40B4-BE49-F238E27FC236}">
                <a16:creationId xmlns:a16="http://schemas.microsoft.com/office/drawing/2014/main" id="{2275EFEE-9E84-48B4-A52C-DD0A73AB0C43}"/>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42D14B0-50B3-423F-AEE4-AB0E85DDBDD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640-220">
            <a:extLst xmlns:a="http://schemas.openxmlformats.org/drawingml/2006/main">
              <a:ext uri="{FF2B5EF4-FFF2-40B4-BE49-F238E27FC236}">
                <a16:creationId xmlns:a16="http://schemas.microsoft.com/office/drawing/2014/main" id="{3607833E-FDDF-499E-924D-0F58352D87B9}"/>
              </a:ext>
            </a:extLst>
          </p:cNvPr>
          <p:cNvSpPr>
            <a:spLocks xmlns:a="http://schemas.openxmlformats.org/drawingml/2006/main" noGrp="1"/>
          </p:cNvSpPr>
          <p:nvPr/>
        </p:nvSpPr>
        <p:spPr>
          <a:xfrm xmlns:a="http://schemas.openxmlformats.org/drawingml/2006/main">
            <a:off x="6096000" y="2095500"/>
            <a:ext cx="9525" cy="376237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left-title">
            <a:extLst xmlns:a="http://schemas.openxmlformats.org/drawingml/2006/main">
              <a:ext uri="{FF2B5EF4-FFF2-40B4-BE49-F238E27FC236}">
                <a16:creationId xmlns:a16="http://schemas.microsoft.com/office/drawing/2014/main" id="{F8D80F7C-DF4E-44C9-A824-6307B6AF6BEC}"/>
              </a:ext>
            </a:extLst>
          </p:cNvPr>
          <p:cNvSpPr>
            <a:spLocks xmlns:a="http://schemas.openxmlformats.org/drawingml/2006/main" noGrp="1"/>
          </p:cNvSpPr>
          <p:nvPr/>
        </p:nvSpPr>
        <p:spPr>
          <a:xfrm xmlns:a="http://schemas.openxmlformats.org/drawingml/2006/main">
            <a:off x="666750" y="20764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888880"/>
                </a:solidFill>
                <a:latin typeface="Consolas"/>
                <a:ea typeface="Consolas"/>
                <a:cs typeface="Consolas"/>
              </a:defRPr>
            </a:pPr>
            <a:r>
              <a:rPr sz="1125" b="1">
                <a:solidFill>
                  <a:srgbClr val="888880"/>
                </a:solidFill>
                <a:latin typeface="Consolas"/>
                <a:ea typeface="Consolas"/>
                <a:cs typeface="Consolas"/>
              </a:rPr>
              <a:t>VULNERABLE</a:t>
            </a:r>
          </a:p>
        </p:txBody>
      </p:sp>
      <p:sp>
        <p:nvSpPr>
          <p:cNvPr id="10" name="left-body">
            <a:extLst xmlns:a="http://schemas.openxmlformats.org/drawingml/2006/main">
              <a:ext uri="{FF2B5EF4-FFF2-40B4-BE49-F238E27FC236}">
                <a16:creationId xmlns:a16="http://schemas.microsoft.com/office/drawing/2014/main" id="{01DCBEDD-2C66-4FF4-AAF6-5DF5150C484C}"/>
              </a:ext>
            </a:extLst>
          </p:cNvPr>
          <p:cNvSpPr>
            <a:spLocks xmlns:a="http://schemas.openxmlformats.org/drawingml/2006/main" noGrp="1"/>
          </p:cNvSpPr>
          <p:nvPr/>
        </p:nvSpPr>
        <p:spPr>
          <a:xfrm xmlns:a="http://schemas.openxmlformats.org/drawingml/2006/main">
            <a:off x="666750" y="25908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q = Markup(q)</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row.body = Markup(body)</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result.innerHTML = value</a:t>
            </a:r>
          </a:p>
        </p:txBody>
      </p:sp>
      <p:sp>
        <p:nvSpPr>
          <p:cNvPr id="11" name="right-panel">
            <a:extLst xmlns:a="http://schemas.openxmlformats.org/drawingml/2006/main">
              <a:ext uri="{FF2B5EF4-FFF2-40B4-BE49-F238E27FC236}">
                <a16:creationId xmlns:a16="http://schemas.microsoft.com/office/drawing/2014/main" id="{76F3FB00-F376-4CF8-84EF-D482EAA18C40}"/>
              </a:ext>
            </a:extLst>
          </p:cNvPr>
          <p:cNvSpPr>
            <a:spLocks xmlns:a="http://schemas.openxmlformats.org/drawingml/2006/main" noGrp="1"/>
          </p:cNvSpPr>
          <p:nvPr/>
        </p:nvSpPr>
        <p:spPr>
          <a:xfrm xmlns:a="http://schemas.openxmlformats.org/drawingml/2006/main">
            <a:off x="6429375" y="1952625"/>
            <a:ext cx="5095875" cy="3905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2" name="right-title">
            <a:extLst xmlns:a="http://schemas.openxmlformats.org/drawingml/2006/main">
              <a:ext uri="{FF2B5EF4-FFF2-40B4-BE49-F238E27FC236}">
                <a16:creationId xmlns:a16="http://schemas.microsoft.com/office/drawing/2014/main" id="{967F87D8-C58E-438A-8BA4-8143ED038E92}"/>
              </a:ext>
            </a:extLst>
          </p:cNvPr>
          <p:cNvSpPr>
            <a:spLocks xmlns:a="http://schemas.openxmlformats.org/drawingml/2006/main" noGrp="1"/>
          </p:cNvSpPr>
          <p:nvPr/>
        </p:nvSpPr>
        <p:spPr>
          <a:xfrm xmlns:a="http://schemas.openxmlformats.org/drawingml/2006/main">
            <a:off x="6715125" y="21717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SECURE</a:t>
            </a:r>
          </a:p>
        </p:txBody>
      </p:sp>
      <p:sp>
        <p:nvSpPr>
          <p:cNvPr id="13" name="right-body">
            <a:extLst xmlns:a="http://schemas.openxmlformats.org/drawingml/2006/main">
              <a:ext uri="{FF2B5EF4-FFF2-40B4-BE49-F238E27FC236}">
                <a16:creationId xmlns:a16="http://schemas.microsoft.com/office/drawing/2014/main" id="{1FD4AF2A-DF1B-4411-BDC4-61235E07E4A1}"/>
              </a:ext>
            </a:extLst>
          </p:cNvPr>
          <p:cNvSpPr>
            <a:spLocks xmlns:a="http://schemas.openxmlformats.org/drawingml/2006/main" noGrp="1"/>
          </p:cNvSpPr>
          <p:nvPr/>
        </p:nvSpPr>
        <p:spPr>
          <a:xfrm xmlns:a="http://schemas.openxmlformats.org/drawingml/2006/main">
            <a:off x="6715125" y="2686050"/>
            <a:ext cx="4381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Jinja autoescape q</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bleach.clean(... allowlist)</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result.textContent = value</a:t>
            </a:r>
          </a:p>
        </p:txBody>
      </p:sp>
    </p:spTree>
    <p:extLst>
      <p:ext uri="{BB962C8B-B14F-4D97-AF65-F5344CB8AC3E}">
        <p14:creationId xmlns:p14="http://schemas.microsoft.com/office/powerpoint/2010/main" val="376907629"/>
      </p:ext>
    </p:extLst>
  </p:cSld>
</p:sld>
</file>

<file path=ppt/slides/slide1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ECA7169F-A58C-4BCC-9624-5FF1BA1313B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LAB01 / KIỂM CHỨNG</a:t>
            </a:r>
          </a:p>
        </p:txBody>
      </p:sp>
      <p:sp>
        <p:nvSpPr>
          <p:cNvPr id="2" name="chrome-number">
            <a:extLst xmlns:a="http://schemas.openxmlformats.org/drawingml/2006/main">
              <a:ext uri="{FF2B5EF4-FFF2-40B4-BE49-F238E27FC236}">
                <a16:creationId xmlns:a16="http://schemas.microsoft.com/office/drawing/2014/main" id="{88F0C4BE-FC61-4E11-84A1-964EC800E7FF}"/>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16</a:t>
            </a:r>
          </a:p>
        </p:txBody>
      </p:sp>
      <p:sp>
        <p:nvSpPr>
          <p:cNvPr id="3" name="rule-70-58">
            <a:extLst xmlns:a="http://schemas.openxmlformats.org/drawingml/2006/main">
              <a:ext uri="{FF2B5EF4-FFF2-40B4-BE49-F238E27FC236}">
                <a16:creationId xmlns:a16="http://schemas.microsoft.com/office/drawing/2014/main" id="{957D0ABA-8F02-411A-9E3A-8A38BB8A6B5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053CE442-C231-4E9D-88CA-801D2877F9E2}"/>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75F4529E-C1CD-4DB6-83D5-1386ECF0A325}"/>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Source, trace và test đã có — ảnh browser còn thiếu</a:t>
            </a:r>
          </a:p>
        </p:txBody>
      </p:sp>
      <p:sp>
        <p:nvSpPr>
          <p:cNvPr id="6" name="rule-70-672">
            <a:extLst xmlns:a="http://schemas.openxmlformats.org/drawingml/2006/main">
              <a:ext uri="{FF2B5EF4-FFF2-40B4-BE49-F238E27FC236}">
                <a16:creationId xmlns:a16="http://schemas.microsoft.com/office/drawing/2014/main" id="{DE706CF8-4016-4F4A-9234-0B22322B8AB8}"/>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0285B3B-2C55-47BA-BBEF-2EF3EB869D1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3AAFB4D6-59EC-4403-AD87-7551BA0757B5}"/>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F7EF596C-2603-46F2-A476-BCB5A2F16628}"/>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13</a:t>
            </a:r>
          </a:p>
        </p:txBody>
      </p:sp>
      <p:sp>
        <p:nvSpPr>
          <p:cNvPr id="10" name="stat-label-0">
            <a:extLst xmlns:a="http://schemas.openxmlformats.org/drawingml/2006/main">
              <a:ext uri="{FF2B5EF4-FFF2-40B4-BE49-F238E27FC236}">
                <a16:creationId xmlns:a16="http://schemas.microsoft.com/office/drawing/2014/main" id="{24AD843C-B92C-4AEF-9F46-FB79DEDC4E30}"/>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đã pass trong log hiện có</a:t>
            </a:r>
          </a:p>
        </p:txBody>
      </p:sp>
      <p:sp>
        <p:nvSpPr>
          <p:cNvPr id="11" name="rule-430-240">
            <a:extLst xmlns:a="http://schemas.openxmlformats.org/drawingml/2006/main">
              <a:ext uri="{FF2B5EF4-FFF2-40B4-BE49-F238E27FC236}">
                <a16:creationId xmlns:a16="http://schemas.microsoft.com/office/drawing/2014/main" id="{016F44CD-342F-4BE6-9646-46BE8D6162B6}"/>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666F78F8-51DF-41E2-A3CA-E50208C8103D}"/>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6</a:t>
            </a:r>
          </a:p>
        </p:txBody>
      </p:sp>
      <p:sp>
        <p:nvSpPr>
          <p:cNvPr id="13" name="stat-label-1">
            <a:extLst xmlns:a="http://schemas.openxmlformats.org/drawingml/2006/main">
              <a:ext uri="{FF2B5EF4-FFF2-40B4-BE49-F238E27FC236}">
                <a16:creationId xmlns:a16="http://schemas.microsoft.com/office/drawing/2014/main" id="{CF6B24FB-C0AD-43AF-A365-E55B58E5F57C}"/>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trace vulnerable/secure cho 3 loại XSS</a:t>
            </a:r>
          </a:p>
        </p:txBody>
      </p:sp>
      <p:sp>
        <p:nvSpPr>
          <p:cNvPr id="14" name="rule-790-240">
            <a:extLst xmlns:a="http://schemas.openxmlformats.org/drawingml/2006/main">
              <a:ext uri="{FF2B5EF4-FFF2-40B4-BE49-F238E27FC236}">
                <a16:creationId xmlns:a16="http://schemas.microsoft.com/office/drawing/2014/main" id="{63B4B8BF-7271-41EC-BD6D-CB3BFF539761}"/>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0AED34E9-EDCF-4E87-837A-2DC9125C3B2E}"/>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0</a:t>
            </a:r>
          </a:p>
        </p:txBody>
      </p:sp>
      <p:sp>
        <p:nvSpPr>
          <p:cNvPr id="16" name="stat-label-2">
            <a:extLst xmlns:a="http://schemas.openxmlformats.org/drawingml/2006/main">
              <a:ext uri="{FF2B5EF4-FFF2-40B4-BE49-F238E27FC236}">
                <a16:creationId xmlns:a16="http://schemas.microsoft.com/office/drawing/2014/main" id="{E86F5771-6EC2-45B6-8AB3-349060AED000}"/>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ảnh PNG thủ công hiện có</a:t>
            </a:r>
          </a:p>
        </p:txBody>
      </p:sp>
      <p:sp>
        <p:nvSpPr>
          <p:cNvPr id="17" name="caveat">
            <a:extLst xmlns:a="http://schemas.openxmlformats.org/drawingml/2006/main">
              <a:ext uri="{FF2B5EF4-FFF2-40B4-BE49-F238E27FC236}">
                <a16:creationId xmlns:a16="http://schemas.microsoft.com/office/drawing/2014/main" id="{77055CFF-7562-49E0-A6C0-C540DE52BD1D}"/>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Khi demo, bằng chứng quyết định là Network/Elements thực tế; không biến trace mẫu thành tuyên bố browser đã chạy.</a:t>
            </a:r>
          </a:p>
        </p:txBody>
      </p:sp>
    </p:spTree>
    <p:extLst>
      <p:ext uri="{BB962C8B-B14F-4D97-AF65-F5344CB8AC3E}">
        <p14:creationId xmlns:p14="http://schemas.microsoft.com/office/powerpoint/2010/main" val="835228122"/>
      </p:ext>
    </p:extLst>
  </p:cSld>
</p:sld>
</file>

<file path=ppt/slides/slide17.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7E430921-3629-4A59-A7A2-C05CCDC8548A}"/>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02</a:t>
            </a:r>
          </a:p>
        </p:txBody>
      </p:sp>
      <p:sp>
        <p:nvSpPr>
          <p:cNvPr id="2" name="chapter-title">
            <a:extLst xmlns:a="http://schemas.openxmlformats.org/drawingml/2006/main">
              <a:ext uri="{FF2B5EF4-FFF2-40B4-BE49-F238E27FC236}">
                <a16:creationId xmlns:a16="http://schemas.microsoft.com/office/drawing/2014/main" id="{5B1C2DEC-A3AD-4561-BD5C-368969E2C8FB}"/>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buffer</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overflow</a:t>
            </a:r>
          </a:p>
        </p:txBody>
      </p:sp>
      <p:sp>
        <p:nvSpPr>
          <p:cNvPr id="3" name="chapter-subtitle">
            <a:extLst xmlns:a="http://schemas.openxmlformats.org/drawingml/2006/main">
              <a:ext uri="{FF2B5EF4-FFF2-40B4-BE49-F238E27FC236}">
                <a16:creationId xmlns:a16="http://schemas.microsoft.com/office/drawing/2014/main" id="{BC1AE0C0-2BCC-45B4-8BA9-DE2BD40B544F}"/>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Từ HTTP POST tới backend C và stack</a:t>
            </a:r>
          </a:p>
        </p:txBody>
      </p:sp>
      <p:sp>
        <p:nvSpPr>
          <p:cNvPr id="4" name="rule-76-618">
            <a:extLst xmlns:a="http://schemas.openxmlformats.org/drawingml/2006/main">
              <a:ext uri="{FF2B5EF4-FFF2-40B4-BE49-F238E27FC236}">
                <a16:creationId xmlns:a16="http://schemas.microsoft.com/office/drawing/2014/main" id="{FC8CB6AC-F2A3-4CF0-B15D-DC8F6984E2A2}"/>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113FE775-863A-4AB4-A943-FFABFA95A127}"/>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52193290"/>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chrome-section">
            <a:extLst xmlns:a="http://schemas.openxmlformats.org/drawingml/2006/main">
              <a:ext uri="{FF2B5EF4-FFF2-40B4-BE49-F238E27FC236}">
                <a16:creationId xmlns:a16="http://schemas.microsoft.com/office/drawing/2014/main" id="{06722D39-0E00-4977-8F0F-EE596EFDF47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KIẾN TRÚC</a:t>
            </a:r>
          </a:p>
        </p:txBody>
      </p:sp>
      <p:sp>
        <p:nvSpPr>
          <p:cNvPr id="2" name="chrome-number">
            <a:extLst xmlns:a="http://schemas.openxmlformats.org/drawingml/2006/main">
              <a:ext uri="{FF2B5EF4-FFF2-40B4-BE49-F238E27FC236}">
                <a16:creationId xmlns:a16="http://schemas.microsoft.com/office/drawing/2014/main" id="{78B03D05-6444-410B-85C6-012D95A0ABA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18</a:t>
            </a:r>
          </a:p>
        </p:txBody>
      </p:sp>
      <p:sp>
        <p:nvSpPr>
          <p:cNvPr id="3" name="rule-70-58">
            <a:extLst xmlns:a="http://schemas.openxmlformats.org/drawingml/2006/main">
              <a:ext uri="{FF2B5EF4-FFF2-40B4-BE49-F238E27FC236}">
                <a16:creationId xmlns:a16="http://schemas.microsoft.com/office/drawing/2014/main" id="{25C323EF-1D43-43A6-9D0D-98CF125CD1F5}"/>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F954C1D1-2B8C-4185-BB70-30086C16B1DD}"/>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LUỒNG DỮ LIỆU VÀ RANH GIỚI TIN CẬY</a:t>
            </a:r>
          </a:p>
        </p:txBody>
      </p:sp>
      <p:sp>
        <p:nvSpPr>
          <p:cNvPr id="5" name="slide-title">
            <a:extLst xmlns:a="http://schemas.openxmlformats.org/drawingml/2006/main">
              <a:ext uri="{FF2B5EF4-FFF2-40B4-BE49-F238E27FC236}">
                <a16:creationId xmlns:a16="http://schemas.microsoft.com/office/drawing/2014/main" id="{1BD9ACDB-A10F-4C20-8FB2-4C137D2A45AA}"/>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Một request web có thể chạm code native</a:t>
            </a:r>
          </a:p>
        </p:txBody>
      </p:sp>
      <p:sp>
        <p:nvSpPr>
          <p:cNvPr id="6" name="rule-70-672">
            <a:extLst xmlns:a="http://schemas.openxmlformats.org/drawingml/2006/main">
              <a:ext uri="{FF2B5EF4-FFF2-40B4-BE49-F238E27FC236}">
                <a16:creationId xmlns:a16="http://schemas.microsoft.com/office/drawing/2014/main" id="{030FEB5E-0157-4E7F-913D-BD5AE4CBE93E}"/>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ED1D3DDA-5349-4415-AD6F-728649EF613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flow-slash-0">
            <a:extLst xmlns:a="http://schemas.openxmlformats.org/drawingml/2006/main">
              <a:ext uri="{FF2B5EF4-FFF2-40B4-BE49-F238E27FC236}">
                <a16:creationId xmlns:a16="http://schemas.microsoft.com/office/drawing/2014/main" id="{1980B2CB-1264-4662-B434-EC22B65D1987}"/>
              </a:ext>
            </a:extLst>
          </p:cNvPr>
          <p:cNvSpPr>
            <a:spLocks xmlns:a="http://schemas.openxmlformats.org/drawingml/2006/main" noGrp="1"/>
          </p:cNvSpPr>
          <p:nvPr/>
        </p:nvSpPr>
        <p:spPr>
          <a:xfrm xmlns:a="http://schemas.openxmlformats.org/drawingml/2006/main">
            <a:off x="277368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9" name="rule-85-270">
            <a:extLst xmlns:a="http://schemas.openxmlformats.org/drawingml/2006/main">
              <a:ext uri="{FF2B5EF4-FFF2-40B4-BE49-F238E27FC236}">
                <a16:creationId xmlns:a16="http://schemas.microsoft.com/office/drawing/2014/main" id="{A2B38FE9-0EB1-441E-860A-71730BED6304}"/>
              </a:ext>
            </a:extLst>
          </p:cNvPr>
          <p:cNvSpPr>
            <a:spLocks xmlns:a="http://schemas.openxmlformats.org/drawingml/2006/main" noGrp="1"/>
          </p:cNvSpPr>
          <p:nvPr/>
        </p:nvSpPr>
        <p:spPr>
          <a:xfrm xmlns:a="http://schemas.openxmlformats.org/drawingml/2006/main">
            <a:off x="80962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0" name="node-title-0">
            <a:extLst xmlns:a="http://schemas.openxmlformats.org/drawingml/2006/main">
              <a:ext uri="{FF2B5EF4-FFF2-40B4-BE49-F238E27FC236}">
                <a16:creationId xmlns:a16="http://schemas.microsoft.com/office/drawing/2014/main" id="{764E8DCD-4525-48CB-B049-608798687967}"/>
              </a:ext>
            </a:extLst>
          </p:cNvPr>
          <p:cNvSpPr>
            <a:spLocks xmlns:a="http://schemas.openxmlformats.org/drawingml/2006/main" noGrp="1"/>
          </p:cNvSpPr>
          <p:nvPr/>
        </p:nvSpPr>
        <p:spPr>
          <a:xfrm xmlns:a="http://schemas.openxmlformats.org/drawingml/2006/main">
            <a:off x="80962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Browser</a:t>
            </a:r>
          </a:p>
        </p:txBody>
      </p:sp>
      <p:sp>
        <p:nvSpPr>
          <p:cNvPr id="11" name="node-note-0">
            <a:extLst xmlns:a="http://schemas.openxmlformats.org/drawingml/2006/main">
              <a:ext uri="{FF2B5EF4-FFF2-40B4-BE49-F238E27FC236}">
                <a16:creationId xmlns:a16="http://schemas.microsoft.com/office/drawing/2014/main" id="{E2B8AA18-88C0-4C43-B5FB-F97FDBA9801D}"/>
              </a:ext>
            </a:extLst>
          </p:cNvPr>
          <p:cNvSpPr>
            <a:spLocks xmlns:a="http://schemas.openxmlformats.org/drawingml/2006/main" noGrp="1"/>
          </p:cNvSpPr>
          <p:nvPr/>
        </p:nvSpPr>
        <p:spPr>
          <a:xfrm xmlns:a="http://schemas.openxmlformats.org/drawingml/2006/main">
            <a:off x="80962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POST name</a:t>
            </a:r>
          </a:p>
        </p:txBody>
      </p:sp>
      <p:sp>
        <p:nvSpPr>
          <p:cNvPr id="12" name="flow-slash-1">
            <a:extLst xmlns:a="http://schemas.openxmlformats.org/drawingml/2006/main">
              <a:ext uri="{FF2B5EF4-FFF2-40B4-BE49-F238E27FC236}">
                <a16:creationId xmlns:a16="http://schemas.microsoft.com/office/drawing/2014/main" id="{2A3AB9A8-2D35-4864-868D-B0E4559C9C3E}"/>
              </a:ext>
            </a:extLst>
          </p:cNvPr>
          <p:cNvSpPr>
            <a:spLocks xmlns:a="http://schemas.openxmlformats.org/drawingml/2006/main" noGrp="1"/>
          </p:cNvSpPr>
          <p:nvPr/>
        </p:nvSpPr>
        <p:spPr>
          <a:xfrm xmlns:a="http://schemas.openxmlformats.org/drawingml/2006/main">
            <a:off x="493776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3" name="rule-312.2-270">
            <a:extLst xmlns:a="http://schemas.openxmlformats.org/drawingml/2006/main">
              <a:ext uri="{FF2B5EF4-FFF2-40B4-BE49-F238E27FC236}">
                <a16:creationId xmlns:a16="http://schemas.microsoft.com/office/drawing/2014/main" id="{0F9F1E65-42A9-4E7B-ADB4-BB5855154E7F}"/>
              </a:ext>
            </a:extLst>
          </p:cNvPr>
          <p:cNvSpPr>
            <a:spLocks xmlns:a="http://schemas.openxmlformats.org/drawingml/2006/main" noGrp="1"/>
          </p:cNvSpPr>
          <p:nvPr/>
        </p:nvSpPr>
        <p:spPr>
          <a:xfrm xmlns:a="http://schemas.openxmlformats.org/drawingml/2006/main">
            <a:off x="297370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node-title-1">
            <a:extLst xmlns:a="http://schemas.openxmlformats.org/drawingml/2006/main">
              <a:ext uri="{FF2B5EF4-FFF2-40B4-BE49-F238E27FC236}">
                <a16:creationId xmlns:a16="http://schemas.microsoft.com/office/drawing/2014/main" id="{4D56A5C8-E9C9-49EE-BB7B-92363CC7E8F4}"/>
              </a:ext>
            </a:extLst>
          </p:cNvPr>
          <p:cNvSpPr>
            <a:spLocks xmlns:a="http://schemas.openxmlformats.org/drawingml/2006/main" noGrp="1"/>
          </p:cNvSpPr>
          <p:nvPr/>
        </p:nvSpPr>
        <p:spPr>
          <a:xfrm xmlns:a="http://schemas.openxmlformats.org/drawingml/2006/main">
            <a:off x="297370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Flask</a:t>
            </a:r>
          </a:p>
        </p:txBody>
      </p:sp>
      <p:sp>
        <p:nvSpPr>
          <p:cNvPr id="15" name="node-note-1">
            <a:extLst xmlns:a="http://schemas.openxmlformats.org/drawingml/2006/main">
              <a:ext uri="{FF2B5EF4-FFF2-40B4-BE49-F238E27FC236}">
                <a16:creationId xmlns:a16="http://schemas.microsoft.com/office/drawing/2014/main" id="{F6DBABB1-579E-41FF-A7ED-C793408A6207}"/>
              </a:ext>
            </a:extLst>
          </p:cNvPr>
          <p:cNvSpPr>
            <a:spLocks xmlns:a="http://schemas.openxmlformats.org/drawingml/2006/main" noGrp="1"/>
          </p:cNvSpPr>
          <p:nvPr/>
        </p:nvSpPr>
        <p:spPr>
          <a:xfrm xmlns:a="http://schemas.openxmlformats.org/drawingml/2006/main">
            <a:off x="297370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validation + limit</a:t>
            </a:r>
          </a:p>
        </p:txBody>
      </p:sp>
      <p:sp>
        <p:nvSpPr>
          <p:cNvPr id="16" name="flow-slash-2">
            <a:extLst xmlns:a="http://schemas.openxmlformats.org/drawingml/2006/main">
              <a:ext uri="{FF2B5EF4-FFF2-40B4-BE49-F238E27FC236}">
                <a16:creationId xmlns:a16="http://schemas.microsoft.com/office/drawing/2014/main" id="{7A81906B-5651-4DDA-BAF5-D2522D2D8CAA}"/>
              </a:ext>
            </a:extLst>
          </p:cNvPr>
          <p:cNvSpPr>
            <a:spLocks xmlns:a="http://schemas.openxmlformats.org/drawingml/2006/main" noGrp="1"/>
          </p:cNvSpPr>
          <p:nvPr/>
        </p:nvSpPr>
        <p:spPr>
          <a:xfrm xmlns:a="http://schemas.openxmlformats.org/drawingml/2006/main">
            <a:off x="710184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7" name="rule-539.4-270">
            <a:extLst xmlns:a="http://schemas.openxmlformats.org/drawingml/2006/main">
              <a:ext uri="{FF2B5EF4-FFF2-40B4-BE49-F238E27FC236}">
                <a16:creationId xmlns:a16="http://schemas.microsoft.com/office/drawing/2014/main" id="{EF5F1EF8-1888-4160-905C-FDA107A6A998}"/>
              </a:ext>
            </a:extLst>
          </p:cNvPr>
          <p:cNvSpPr>
            <a:spLocks xmlns:a="http://schemas.openxmlformats.org/drawingml/2006/main" noGrp="1"/>
          </p:cNvSpPr>
          <p:nvPr/>
        </p:nvSpPr>
        <p:spPr>
          <a:xfrm xmlns:a="http://schemas.openxmlformats.org/drawingml/2006/main">
            <a:off x="513778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8" name="node-title-2">
            <a:extLst xmlns:a="http://schemas.openxmlformats.org/drawingml/2006/main">
              <a:ext uri="{FF2B5EF4-FFF2-40B4-BE49-F238E27FC236}">
                <a16:creationId xmlns:a16="http://schemas.microsoft.com/office/drawing/2014/main" id="{F9866DC3-8844-43C3-B319-406FF4935C3E}"/>
              </a:ext>
            </a:extLst>
          </p:cNvPr>
          <p:cNvSpPr>
            <a:spLocks xmlns:a="http://schemas.openxmlformats.org/drawingml/2006/main" noGrp="1"/>
          </p:cNvSpPr>
          <p:nvPr/>
        </p:nvSpPr>
        <p:spPr>
          <a:xfrm xmlns:a="http://schemas.openxmlformats.org/drawingml/2006/main">
            <a:off x="513778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subprocess</a:t>
            </a:r>
          </a:p>
        </p:txBody>
      </p:sp>
      <p:sp>
        <p:nvSpPr>
          <p:cNvPr id="19" name="node-note-2">
            <a:extLst xmlns:a="http://schemas.openxmlformats.org/drawingml/2006/main">
              <a:ext uri="{FF2B5EF4-FFF2-40B4-BE49-F238E27FC236}">
                <a16:creationId xmlns:a16="http://schemas.microsoft.com/office/drawing/2014/main" id="{F8FEC795-243C-474E-A997-DBE4B8FD8CA3}"/>
              </a:ext>
            </a:extLst>
          </p:cNvPr>
          <p:cNvSpPr>
            <a:spLocks xmlns:a="http://schemas.openxmlformats.org/drawingml/2006/main" noGrp="1"/>
          </p:cNvSpPr>
          <p:nvPr/>
        </p:nvSpPr>
        <p:spPr>
          <a:xfrm xmlns:a="http://schemas.openxmlformats.org/drawingml/2006/main">
            <a:off x="513778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shell=False</a:t>
            </a:r>
          </a:p>
        </p:txBody>
      </p:sp>
      <p:sp>
        <p:nvSpPr>
          <p:cNvPr id="20" name="flow-slash-3">
            <a:extLst xmlns:a="http://schemas.openxmlformats.org/drawingml/2006/main">
              <a:ext uri="{FF2B5EF4-FFF2-40B4-BE49-F238E27FC236}">
                <a16:creationId xmlns:a16="http://schemas.microsoft.com/office/drawing/2014/main" id="{D1576F18-B499-4B36-B471-AF39E4603A21}"/>
              </a:ext>
            </a:extLst>
          </p:cNvPr>
          <p:cNvSpPr>
            <a:spLocks xmlns:a="http://schemas.openxmlformats.org/drawingml/2006/main" noGrp="1"/>
          </p:cNvSpPr>
          <p:nvPr/>
        </p:nvSpPr>
        <p:spPr>
          <a:xfrm xmlns:a="http://schemas.openxmlformats.org/drawingml/2006/main">
            <a:off x="926592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21" name="rule-766.5999999999999-270">
            <a:extLst xmlns:a="http://schemas.openxmlformats.org/drawingml/2006/main">
              <a:ext uri="{FF2B5EF4-FFF2-40B4-BE49-F238E27FC236}">
                <a16:creationId xmlns:a16="http://schemas.microsoft.com/office/drawing/2014/main" id="{91D50431-3D31-4CEB-A898-2198654C93A1}"/>
              </a:ext>
            </a:extLst>
          </p:cNvPr>
          <p:cNvSpPr>
            <a:spLocks xmlns:a="http://schemas.openxmlformats.org/drawingml/2006/main" noGrp="1"/>
          </p:cNvSpPr>
          <p:nvPr/>
        </p:nvSpPr>
        <p:spPr>
          <a:xfrm xmlns:a="http://schemas.openxmlformats.org/drawingml/2006/main">
            <a:off x="730186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2" name="node-title-3">
            <a:extLst xmlns:a="http://schemas.openxmlformats.org/drawingml/2006/main">
              <a:ext uri="{FF2B5EF4-FFF2-40B4-BE49-F238E27FC236}">
                <a16:creationId xmlns:a16="http://schemas.microsoft.com/office/drawing/2014/main" id="{BA379987-F890-400D-B4EC-F9928F5F22BE}"/>
              </a:ext>
            </a:extLst>
          </p:cNvPr>
          <p:cNvSpPr>
            <a:spLocks xmlns:a="http://schemas.openxmlformats.org/drawingml/2006/main" noGrp="1"/>
          </p:cNvSpPr>
          <p:nvPr/>
        </p:nvSpPr>
        <p:spPr>
          <a:xfrm xmlns:a="http://schemas.openxmlformats.org/drawingml/2006/main">
            <a:off x="730186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C binary</a:t>
            </a:r>
          </a:p>
        </p:txBody>
      </p:sp>
      <p:sp>
        <p:nvSpPr>
          <p:cNvPr id="23" name="node-note-3">
            <a:extLst xmlns:a="http://schemas.openxmlformats.org/drawingml/2006/main">
              <a:ext uri="{FF2B5EF4-FFF2-40B4-BE49-F238E27FC236}">
                <a16:creationId xmlns:a16="http://schemas.microsoft.com/office/drawing/2014/main" id="{21DE50A9-5D85-4D5C-9529-6F02BBF764BF}"/>
              </a:ext>
            </a:extLst>
          </p:cNvPr>
          <p:cNvSpPr>
            <a:spLocks xmlns:a="http://schemas.openxmlformats.org/drawingml/2006/main" noGrp="1"/>
          </p:cNvSpPr>
          <p:nvPr/>
        </p:nvSpPr>
        <p:spPr>
          <a:xfrm xmlns:a="http://schemas.openxmlformats.org/drawingml/2006/main">
            <a:off x="730186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char name[32]</a:t>
            </a:r>
          </a:p>
        </p:txBody>
      </p:sp>
      <p:sp>
        <p:nvSpPr>
          <p:cNvPr id="24" name="rule-993.8-270">
            <a:extLst xmlns:a="http://schemas.openxmlformats.org/drawingml/2006/main">
              <a:ext uri="{FF2B5EF4-FFF2-40B4-BE49-F238E27FC236}">
                <a16:creationId xmlns:a16="http://schemas.microsoft.com/office/drawing/2014/main" id="{E96FC9C9-79F7-49E9-B4E0-E6459A1D711B}"/>
              </a:ext>
            </a:extLst>
          </p:cNvPr>
          <p:cNvSpPr>
            <a:spLocks xmlns:a="http://schemas.openxmlformats.org/drawingml/2006/main" noGrp="1"/>
          </p:cNvSpPr>
          <p:nvPr/>
        </p:nvSpPr>
        <p:spPr>
          <a:xfrm xmlns:a="http://schemas.openxmlformats.org/drawingml/2006/main">
            <a:off x="9465945" y="2571750"/>
            <a:ext cx="191643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25" name="node-title-4">
            <a:extLst xmlns:a="http://schemas.openxmlformats.org/drawingml/2006/main">
              <a:ext uri="{FF2B5EF4-FFF2-40B4-BE49-F238E27FC236}">
                <a16:creationId xmlns:a16="http://schemas.microsoft.com/office/drawing/2014/main" id="{053CC063-690B-470B-A304-FC4E9C2AC2E9}"/>
              </a:ext>
            </a:extLst>
          </p:cNvPr>
          <p:cNvSpPr>
            <a:spLocks xmlns:a="http://schemas.openxmlformats.org/drawingml/2006/main" noGrp="1"/>
          </p:cNvSpPr>
          <p:nvPr/>
        </p:nvSpPr>
        <p:spPr>
          <a:xfrm xmlns:a="http://schemas.openxmlformats.org/drawingml/2006/main">
            <a:off x="946594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OS</a:t>
            </a:r>
          </a:p>
        </p:txBody>
      </p:sp>
      <p:sp>
        <p:nvSpPr>
          <p:cNvPr id="26" name="node-note-4">
            <a:extLst xmlns:a="http://schemas.openxmlformats.org/drawingml/2006/main">
              <a:ext uri="{FF2B5EF4-FFF2-40B4-BE49-F238E27FC236}">
                <a16:creationId xmlns:a16="http://schemas.microsoft.com/office/drawing/2014/main" id="{8A3D6DC4-D555-496F-932D-606EA1B24779}"/>
              </a:ext>
            </a:extLst>
          </p:cNvPr>
          <p:cNvSpPr>
            <a:spLocks xmlns:a="http://schemas.openxmlformats.org/drawingml/2006/main" noGrp="1"/>
          </p:cNvSpPr>
          <p:nvPr/>
        </p:nvSpPr>
        <p:spPr>
          <a:xfrm xmlns:a="http://schemas.openxmlformats.org/drawingml/2006/main">
            <a:off x="946594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exit / signal</a:t>
            </a:r>
          </a:p>
        </p:txBody>
      </p:sp>
      <p:sp>
        <p:nvSpPr>
          <p:cNvPr id="27" name="flow-caption">
            <a:extLst xmlns:a="http://schemas.openxmlformats.org/drawingml/2006/main">
              <a:ext uri="{FF2B5EF4-FFF2-40B4-BE49-F238E27FC236}">
                <a16:creationId xmlns:a16="http://schemas.microsoft.com/office/drawing/2014/main" id="{97C1AA68-86CD-4426-BE43-1921616DCBE5}"/>
              </a:ext>
            </a:extLst>
          </p:cNvPr>
          <p:cNvSpPr>
            <a:spLocks xmlns:a="http://schemas.openxmlformats.org/drawingml/2006/main" noGrp="1"/>
          </p:cNvSpPr>
          <p:nvPr/>
        </p:nvSpPr>
        <p:spPr>
          <a:xfrm xmlns:a="http://schemas.openxmlformats.org/drawingml/2006/main">
            <a:off x="952500" y="49530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00" b="0">
                <a:solidFill>
                  <a:srgbClr val="F0ECE5"/>
                </a:solidFill>
                <a:latin typeface="Arial Narrow"/>
                <a:ea typeface="Arial Narrow"/>
                <a:cs typeface="Arial Narrow"/>
              </a:defRPr>
            </a:pPr>
            <a:r>
              <a:rPr sz="1800" b="0">
                <a:solidFill>
                  <a:srgbClr val="F0ECE5"/>
                </a:solidFill>
                <a:latin typeface="Arial Narrow"/>
                <a:ea typeface="Arial Narrow"/>
                <a:cs typeface="Arial Narrow"/>
              </a:rPr>
              <a:t>Trust boundary không dừng ở HTTP: dữ liệu tiếp tục trở thành argument của chương trình C.</a:t>
            </a:r>
          </a:p>
        </p:txBody>
      </p:sp>
    </p:spTree>
    <p:extLst>
      <p:ext uri="{BB962C8B-B14F-4D97-AF65-F5344CB8AC3E}">
        <p14:creationId xmlns:p14="http://schemas.microsoft.com/office/powerpoint/2010/main" val="1532427474"/>
      </p:ext>
    </p:extLst>
  </p:cSld>
</p:sld>
</file>

<file path=ppt/slides/slide1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C0867FD2-C8BA-4B05-A850-B289225F63C3}"/>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INPUT</a:t>
            </a:r>
          </a:p>
        </p:txBody>
      </p:sp>
      <p:sp>
        <p:nvSpPr>
          <p:cNvPr id="2" name="chrome-number">
            <a:extLst xmlns:a="http://schemas.openxmlformats.org/drawingml/2006/main">
              <a:ext uri="{FF2B5EF4-FFF2-40B4-BE49-F238E27FC236}">
                <a16:creationId xmlns:a16="http://schemas.microsoft.com/office/drawing/2014/main" id="{7B7F7292-EC36-476B-8C85-D4DFCC9303BE}"/>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19</a:t>
            </a:r>
          </a:p>
        </p:txBody>
      </p:sp>
      <p:sp>
        <p:nvSpPr>
          <p:cNvPr id="3" name="rule-70-58">
            <a:extLst xmlns:a="http://schemas.openxmlformats.org/drawingml/2006/main">
              <a:ext uri="{FF2B5EF4-FFF2-40B4-BE49-F238E27FC236}">
                <a16:creationId xmlns:a16="http://schemas.microsoft.com/office/drawing/2014/main" id="{0BF76BD1-4012-4C4B-9F20-EC3AD778A7BD}"/>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8D0E6AD4-CB24-4375-A210-DE2B2F7B3755}"/>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733D1056-8F50-47FF-8B3F-A2B241920939}"/>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31 byte là capacity dữ liệu — 32 còn cần null byte</a:t>
            </a:r>
          </a:p>
        </p:txBody>
      </p:sp>
      <p:sp>
        <p:nvSpPr>
          <p:cNvPr id="6" name="rule-70-672">
            <a:extLst xmlns:a="http://schemas.openxmlformats.org/drawingml/2006/main">
              <a:ext uri="{FF2B5EF4-FFF2-40B4-BE49-F238E27FC236}">
                <a16:creationId xmlns:a16="http://schemas.microsoft.com/office/drawing/2014/main" id="{33992C56-C2A5-4D0B-ABA5-787DB18FE032}"/>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F78438E0-A439-4077-9D05-A35FD7639BD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0439528F-43F4-4A76-879C-7B7A86C13CB3}"/>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http://127.0.0.1:5002/vulnerable</a:t>
            </a:r>
          </a:p>
        </p:txBody>
      </p:sp>
      <p:sp>
        <p:nvSpPr>
          <p:cNvPr id="9" name="step-num-0">
            <a:extLst xmlns:a="http://schemas.openxmlformats.org/drawingml/2006/main">
              <a:ext uri="{FF2B5EF4-FFF2-40B4-BE49-F238E27FC236}">
                <a16:creationId xmlns:a16="http://schemas.microsoft.com/office/drawing/2014/main" id="{D40DD6F0-030A-4CB4-9EB5-E7EC66007185}"/>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A28E0C73-1A83-4257-96C3-1CCB2784EEB5}"/>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Gửi “Le Minh” ở mode vulnerable_asan; ghi exit 0.</a:t>
            </a:r>
          </a:p>
        </p:txBody>
      </p:sp>
      <p:sp>
        <p:nvSpPr>
          <p:cNvPr id="11" name="step-num-1">
            <a:extLst xmlns:a="http://schemas.openxmlformats.org/drawingml/2006/main">
              <a:ext uri="{FF2B5EF4-FFF2-40B4-BE49-F238E27FC236}">
                <a16:creationId xmlns:a16="http://schemas.microsoft.com/office/drawing/2014/main" id="{D5AB156E-4B42-4B39-9855-A6EF03FFF6F6}"/>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AC3EB6EA-D2FC-4B9F-BBB7-EC7ED021FCE2}"/>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Gửi 32 byte, rồi 64 byte A; quan sát memory/ASan inspector.</a:t>
            </a:r>
          </a:p>
        </p:txBody>
      </p:sp>
      <p:sp>
        <p:nvSpPr>
          <p:cNvPr id="13" name="step-num-2">
            <a:extLst xmlns:a="http://schemas.openxmlformats.org/drawingml/2006/main">
              <a:ext uri="{FF2B5EF4-FFF2-40B4-BE49-F238E27FC236}">
                <a16:creationId xmlns:a16="http://schemas.microsoft.com/office/drawing/2014/main" id="{B47F37D3-80F1-4AAD-9F71-BFEA8B2E0E36}"/>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B9FB0F62-3204-4D0E-AF92-52521C68C4AC}"/>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cùng 64 byte ở /secure/length và /secure/snprintf.</a:t>
            </a:r>
          </a:p>
        </p:txBody>
      </p:sp>
      <p:sp>
        <p:nvSpPr>
          <p:cNvPr id="15" name="expected-panel">
            <a:extLst xmlns:a="http://schemas.openxmlformats.org/drawingml/2006/main">
              <a:ext uri="{FF2B5EF4-FFF2-40B4-BE49-F238E27FC236}">
                <a16:creationId xmlns:a16="http://schemas.microsoft.com/office/drawing/2014/main" id="{443E3D35-BA03-40AA-9181-09E8D2450407}"/>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10287C73-4E11-4CB3-9F05-769330646A60}"/>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5352E404-32BF-4D46-9E0F-6F7AD3E80EAA}"/>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có thể ASan-detect/dừng; hai bản secure từ chối trước khi ghi vượt.</a:t>
            </a:r>
          </a:p>
        </p:txBody>
      </p:sp>
    </p:spTree>
    <p:extLst>
      <p:ext uri="{BB962C8B-B14F-4D97-AF65-F5344CB8AC3E}">
        <p14:creationId xmlns:p14="http://schemas.microsoft.com/office/powerpoint/2010/main" val="2123750476"/>
      </p:ext>
    </p:extLst>
  </p:cSld>
</p:sld>
</file>

<file path=ppt/slides/slide2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4FB32CFB-4794-4FEE-9338-6CFF2EADCF67}"/>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GDB</a:t>
            </a:r>
          </a:p>
        </p:txBody>
      </p:sp>
      <p:sp>
        <p:nvSpPr>
          <p:cNvPr id="2" name="chrome-number">
            <a:extLst xmlns:a="http://schemas.openxmlformats.org/drawingml/2006/main">
              <a:ext uri="{FF2B5EF4-FFF2-40B4-BE49-F238E27FC236}">
                <a16:creationId xmlns:a16="http://schemas.microsoft.com/office/drawing/2014/main" id="{5A1079CB-4D8D-4833-A2F3-9154C2D678B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20</a:t>
            </a:r>
          </a:p>
        </p:txBody>
      </p:sp>
      <p:sp>
        <p:nvSpPr>
          <p:cNvPr id="3" name="rule-70-58">
            <a:extLst xmlns:a="http://schemas.openxmlformats.org/drawingml/2006/main">
              <a:ext uri="{FF2B5EF4-FFF2-40B4-BE49-F238E27FC236}">
                <a16:creationId xmlns:a16="http://schemas.microsoft.com/office/drawing/2014/main" id="{C974DF28-E715-4B63-A946-4890647C44D8}"/>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AA87C745-FB84-4121-9D4A-A1EADA771CA6}"/>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203B18DF-DC2C-44E5-A950-1E4B8CD85D08}"/>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Quan sát stack, không điều khiển luồng thực thi</a:t>
            </a:r>
          </a:p>
        </p:txBody>
      </p:sp>
      <p:sp>
        <p:nvSpPr>
          <p:cNvPr id="6" name="rule-70-672">
            <a:extLst xmlns:a="http://schemas.openxmlformats.org/drawingml/2006/main">
              <a:ext uri="{FF2B5EF4-FFF2-40B4-BE49-F238E27FC236}">
                <a16:creationId xmlns:a16="http://schemas.microsoft.com/office/drawing/2014/main" id="{7FF97C85-B52F-451D-A797-ED3897D45A0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B8E9AC9-476D-4FE4-A008-1207CAA1330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4C9B58AD-E858-4279-B166-79D6ACA67141}"/>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gdb -q -x gdb/inspect_overflow.gdb</a:t>
            </a:r>
          </a:p>
        </p:txBody>
      </p:sp>
      <p:sp>
        <p:nvSpPr>
          <p:cNvPr id="9" name="step-num-0">
            <a:extLst xmlns:a="http://schemas.openxmlformats.org/drawingml/2006/main">
              <a:ext uri="{FF2B5EF4-FFF2-40B4-BE49-F238E27FC236}">
                <a16:creationId xmlns:a16="http://schemas.microsoft.com/office/drawing/2014/main" id="{71B3DC8B-F6E9-467F-94C7-626FD76EE3AA}"/>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DB1B47AC-0C74-4ED2-B598-BE4DBCF3D154}"/>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inspect_normal để xem sizeof(name) và vùng byte quanh buffer.</a:t>
            </a:r>
          </a:p>
        </p:txBody>
      </p:sp>
      <p:sp>
        <p:nvSpPr>
          <p:cNvPr id="11" name="step-num-1">
            <a:extLst xmlns:a="http://schemas.openxmlformats.org/drawingml/2006/main">
              <a:ext uri="{FF2B5EF4-FFF2-40B4-BE49-F238E27FC236}">
                <a16:creationId xmlns:a16="http://schemas.microsoft.com/office/drawing/2014/main" id="{1D18B6A2-EEA1-4EEB-B997-DF2018021A37}"/>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01B611E6-C38B-415E-B37C-ABB0CDA1E0C4}"/>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inspect_overflow với 64 ký tự A; ghi signal/backtrace thật.</a:t>
            </a:r>
          </a:p>
        </p:txBody>
      </p:sp>
      <p:sp>
        <p:nvSpPr>
          <p:cNvPr id="13" name="step-num-2">
            <a:extLst xmlns:a="http://schemas.openxmlformats.org/drawingml/2006/main">
              <a:ext uri="{FF2B5EF4-FFF2-40B4-BE49-F238E27FC236}">
                <a16:creationId xmlns:a16="http://schemas.microsoft.com/office/drawing/2014/main" id="{9A3CD1E6-8593-405A-A20C-A646D25497F0}"/>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45C81B01-968D-461E-8013-2247009E98D1}"/>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inspect_hardened để chứng minh input dài bị từ chối.</a:t>
            </a:r>
          </a:p>
        </p:txBody>
      </p:sp>
      <p:sp>
        <p:nvSpPr>
          <p:cNvPr id="15" name="expected-panel">
            <a:extLst xmlns:a="http://schemas.openxmlformats.org/drawingml/2006/main">
              <a:ext uri="{FF2B5EF4-FFF2-40B4-BE49-F238E27FC236}">
                <a16:creationId xmlns:a16="http://schemas.microsoft.com/office/drawing/2014/main" id="{FFCF34D5-B7E0-4610-9B5E-C79CA7F24ECF}"/>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BBA1EAC9-9AF2-4713-8866-62C7BF615CCA}"/>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EFAB2648-9769-4294-BF12-F9B5C23A88AA}"/>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GDB/ASan chỉ quan sát lỗi; bản vá code mới loại bỏ ghi vượt.</a:t>
            </a:r>
          </a:p>
        </p:txBody>
      </p:sp>
    </p:spTree>
    <p:extLst>
      <p:ext uri="{BB962C8B-B14F-4D97-AF65-F5344CB8AC3E}">
        <p14:creationId xmlns:p14="http://schemas.microsoft.com/office/powerpoint/2010/main" val="642337030"/>
      </p:ext>
    </p:extLst>
  </p:cSld>
</p:sld>
</file>

<file path=ppt/slides/slide2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C3D342E8-D454-4F94-9822-550F0C27AB67}"/>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PHÂN TÍCH</a:t>
            </a:r>
          </a:p>
        </p:txBody>
      </p:sp>
      <p:sp>
        <p:nvSpPr>
          <p:cNvPr id="2" name="chrome-number">
            <a:extLst xmlns:a="http://schemas.openxmlformats.org/drawingml/2006/main">
              <a:ext uri="{FF2B5EF4-FFF2-40B4-BE49-F238E27FC236}">
                <a16:creationId xmlns:a16="http://schemas.microsoft.com/office/drawing/2014/main" id="{B2CB7C3F-263B-479E-8F01-EBCEC4EC0005}"/>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21</a:t>
            </a:r>
          </a:p>
        </p:txBody>
      </p:sp>
      <p:sp>
        <p:nvSpPr>
          <p:cNvPr id="3" name="rule-70-58">
            <a:extLst xmlns:a="http://schemas.openxmlformats.org/drawingml/2006/main">
              <a:ext uri="{FF2B5EF4-FFF2-40B4-BE49-F238E27FC236}">
                <a16:creationId xmlns:a16="http://schemas.microsoft.com/office/drawing/2014/main" id="{FB2BE569-8E43-4691-8BC2-335DED56783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2F184C7C-7A44-47EE-80D8-FD22484E0AC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773A2F8A-469A-46A8-8444-FC1D63D1D608}"/>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phân tích 1–2</a:t>
            </a:r>
          </a:p>
        </p:txBody>
      </p:sp>
      <p:sp>
        <p:nvSpPr>
          <p:cNvPr id="6" name="rule-70-672">
            <a:extLst xmlns:a="http://schemas.openxmlformats.org/drawingml/2006/main">
              <a:ext uri="{FF2B5EF4-FFF2-40B4-BE49-F238E27FC236}">
                <a16:creationId xmlns:a16="http://schemas.microsoft.com/office/drawing/2014/main" id="{C5A1448B-D501-4C2A-A6E8-CD9EAB7E6333}"/>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09992EBF-4141-4E6D-80BC-649A6269D6A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3F6E15DE-086B-48ED-8C15-F3A5500A6AEE}"/>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CD3BABE0-BD2D-434C-8213-26CADFFE3747}"/>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Buffer nằm ở vùng nhớ nào?</a:t>
            </a:r>
          </a:p>
        </p:txBody>
      </p:sp>
      <p:sp>
        <p:nvSpPr>
          <p:cNvPr id="10" name="a-0">
            <a:extLst xmlns:a="http://schemas.openxmlformats.org/drawingml/2006/main">
              <a:ext uri="{FF2B5EF4-FFF2-40B4-BE49-F238E27FC236}">
                <a16:creationId xmlns:a16="http://schemas.microsoft.com/office/drawing/2014/main" id="{B917977A-00F0-43F8-8F94-779FCD356D24}"/>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name[32] là biến cục bộ nên nằm trong stack frame của hàm process_name trong process C.</a:t>
            </a:r>
          </a:p>
        </p:txBody>
      </p:sp>
      <p:sp>
        <p:nvSpPr>
          <p:cNvPr id="11" name="rule-150-402">
            <a:extLst xmlns:a="http://schemas.openxmlformats.org/drawingml/2006/main">
              <a:ext uri="{FF2B5EF4-FFF2-40B4-BE49-F238E27FC236}">
                <a16:creationId xmlns:a16="http://schemas.microsoft.com/office/drawing/2014/main" id="{9EF0BE8E-63D4-4D50-9F97-2EEB7E167714}"/>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DDC0C817-A02D-4BE6-8E4E-63F4194E348C}"/>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6B7C92EA-C71A-457B-87FC-C7D90ADC79FD}"/>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Input vượt kích thước buffer thì sao?</a:t>
            </a:r>
          </a:p>
        </p:txBody>
      </p:sp>
      <p:sp>
        <p:nvSpPr>
          <p:cNvPr id="14" name="a-1">
            <a:extLst xmlns:a="http://schemas.openxmlformats.org/drawingml/2006/main">
              <a:ext uri="{FF2B5EF4-FFF2-40B4-BE49-F238E27FC236}">
                <a16:creationId xmlns:a16="http://schemas.microsoft.com/office/drawing/2014/main" id="{B4359E64-B1BE-47C1-A908-AABED7159D17}"/>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strcpy tiếp tục ghi tới null terminator, làm hỏng byte lân cận; hành vi trở thành undefined: crash, sai state hoặc tệ hơn.</a:t>
            </a:r>
          </a:p>
        </p:txBody>
      </p:sp>
    </p:spTree>
    <p:extLst>
      <p:ext uri="{BB962C8B-B14F-4D97-AF65-F5344CB8AC3E}">
        <p14:creationId xmlns:p14="http://schemas.microsoft.com/office/powerpoint/2010/main" val="312140948"/>
      </p:ext>
    </p:extLst>
  </p:cSld>
</p:sld>
</file>

<file path=ppt/slides/slide2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0B10F6DE-9CD1-4B0B-889B-D397C05859C5}"/>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PHÂN TÍCH</a:t>
            </a:r>
          </a:p>
        </p:txBody>
      </p:sp>
      <p:sp>
        <p:nvSpPr>
          <p:cNvPr id="2" name="chrome-number">
            <a:extLst xmlns:a="http://schemas.openxmlformats.org/drawingml/2006/main">
              <a:ext uri="{FF2B5EF4-FFF2-40B4-BE49-F238E27FC236}">
                <a16:creationId xmlns:a16="http://schemas.microsoft.com/office/drawing/2014/main" id="{02735F43-B0B9-4665-A274-B54D02D64C5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22</a:t>
            </a:r>
          </a:p>
        </p:txBody>
      </p:sp>
      <p:sp>
        <p:nvSpPr>
          <p:cNvPr id="3" name="rule-70-58">
            <a:extLst xmlns:a="http://schemas.openxmlformats.org/drawingml/2006/main">
              <a:ext uri="{FF2B5EF4-FFF2-40B4-BE49-F238E27FC236}">
                <a16:creationId xmlns:a16="http://schemas.microsoft.com/office/drawing/2014/main" id="{F4ABA2AC-0D51-4E90-BCCF-0EEF832C74B5}"/>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E2545AAC-2976-4C15-9E2E-46F3BB35F8B2}"/>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0AAA2875-84A7-4DDB-BC3D-FC96917DB2F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phân tích 3–5</a:t>
            </a:r>
          </a:p>
        </p:txBody>
      </p:sp>
      <p:sp>
        <p:nvSpPr>
          <p:cNvPr id="6" name="rule-70-672">
            <a:extLst xmlns:a="http://schemas.openxmlformats.org/drawingml/2006/main">
              <a:ext uri="{FF2B5EF4-FFF2-40B4-BE49-F238E27FC236}">
                <a16:creationId xmlns:a16="http://schemas.microsoft.com/office/drawing/2014/main" id="{6EE67BC7-9EF6-464D-B89A-015FF39276CC}"/>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91EA00B2-3A60-4D6B-BAD6-CDDA50BBD97D}"/>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CBA0F4AF-886B-4FC9-9377-BF524F736629}"/>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9" name="q-0">
            <a:extLst xmlns:a="http://schemas.openxmlformats.org/drawingml/2006/main">
              <a:ext uri="{FF2B5EF4-FFF2-40B4-BE49-F238E27FC236}">
                <a16:creationId xmlns:a16="http://schemas.microsoft.com/office/drawing/2014/main" id="{CF47355C-B99E-4F88-A9C7-4F8808A6D926}"/>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strcpy, gets, sprintf nguy hiểm?</a:t>
            </a:r>
          </a:p>
        </p:txBody>
      </p:sp>
      <p:sp>
        <p:nvSpPr>
          <p:cNvPr id="10" name="a-0">
            <a:extLst xmlns:a="http://schemas.openxmlformats.org/drawingml/2006/main">
              <a:ext uri="{FF2B5EF4-FFF2-40B4-BE49-F238E27FC236}">
                <a16:creationId xmlns:a16="http://schemas.microsoft.com/office/drawing/2014/main" id="{27C4CBB3-9105-43D6-903F-AADA6D585C61}"/>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Các API này không tự biết capacity đích hoặc dễ ghi không giới hạn nếu caller không kiểm soát độ dài.</a:t>
            </a:r>
          </a:p>
        </p:txBody>
      </p:sp>
      <p:sp>
        <p:nvSpPr>
          <p:cNvPr id="11" name="rule-150-336">
            <a:extLst xmlns:a="http://schemas.openxmlformats.org/drawingml/2006/main">
              <a:ext uri="{FF2B5EF4-FFF2-40B4-BE49-F238E27FC236}">
                <a16:creationId xmlns:a16="http://schemas.microsoft.com/office/drawing/2014/main" id="{F60B5C1D-F067-495B-ACA2-A5D52FF4A762}"/>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7CCBAC70-5205-4464-8BDB-BB20FE2FB1A6}"/>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13" name="q-1">
            <a:extLst xmlns:a="http://schemas.openxmlformats.org/drawingml/2006/main">
              <a:ext uri="{FF2B5EF4-FFF2-40B4-BE49-F238E27FC236}">
                <a16:creationId xmlns:a16="http://schemas.microsoft.com/office/drawing/2014/main" id="{89A2475B-1ED6-49F8-89FB-E2D2922584B4}"/>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memory corruption nghiêm trọng hơn lỗi logic?</a:t>
            </a:r>
          </a:p>
        </p:txBody>
      </p:sp>
      <p:sp>
        <p:nvSpPr>
          <p:cNvPr id="14" name="a-1">
            <a:extLst xmlns:a="http://schemas.openxmlformats.org/drawingml/2006/main">
              <a:ext uri="{FF2B5EF4-FFF2-40B4-BE49-F238E27FC236}">
                <a16:creationId xmlns:a16="http://schemas.microsoft.com/office/drawing/2014/main" id="{95119CF8-89B7-4FF9-954A-36C543157A95}"/>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Nó có thể phá dữ liệu điều khiển và tạo hành vi không xác định, vượt khỏi một kết quả business sai đơn lẻ.</a:t>
            </a:r>
          </a:p>
        </p:txBody>
      </p:sp>
      <p:sp>
        <p:nvSpPr>
          <p:cNvPr id="15" name="rule-150-474">
            <a:extLst xmlns:a="http://schemas.openxmlformats.org/drawingml/2006/main">
              <a:ext uri="{FF2B5EF4-FFF2-40B4-BE49-F238E27FC236}">
                <a16:creationId xmlns:a16="http://schemas.microsoft.com/office/drawing/2014/main" id="{947FF0E8-4706-4F82-8B35-DAB8009FC415}"/>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286C896C-5C7F-481A-B270-AD9CE89060BF}"/>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7" name="q-2">
            <a:extLst xmlns:a="http://schemas.openxmlformats.org/drawingml/2006/main">
              <a:ext uri="{FF2B5EF4-FFF2-40B4-BE49-F238E27FC236}">
                <a16:creationId xmlns:a16="http://schemas.microsoft.com/office/drawing/2014/main" id="{8B0F310E-44A0-4F44-841A-C277A1351752}"/>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Canary, ASLR, DEP/NX làm gì?</a:t>
            </a:r>
          </a:p>
        </p:txBody>
      </p:sp>
      <p:sp>
        <p:nvSpPr>
          <p:cNvPr id="18" name="a-2">
            <a:extLst xmlns:a="http://schemas.openxmlformats.org/drawingml/2006/main">
              <a:ext uri="{FF2B5EF4-FFF2-40B4-BE49-F238E27FC236}">
                <a16:creationId xmlns:a16="http://schemas.microsoft.com/office/drawing/2014/main" id="{CB143A4E-C87C-47F0-A6EB-E38F2138D882}"/>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Canary phát hiện ghi tràn; ASLR/PIE ngẫu nhiên hóa địa chỉ; NX ngăn thực thi vùng dữ liệu.</a:t>
            </a:r>
          </a:p>
        </p:txBody>
      </p:sp>
    </p:spTree>
    <p:extLst>
      <p:ext uri="{BB962C8B-B14F-4D97-AF65-F5344CB8AC3E}">
        <p14:creationId xmlns:p14="http://schemas.microsoft.com/office/powerpoint/2010/main" val="829788682"/>
      </p:ext>
    </p:extLst>
  </p:cSld>
</p:sld>
</file>

<file path=ppt/slides/slide2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A0B28F52-5CC7-47B5-A166-B6ECFB1F38D3}"/>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BÁO CÁO</a:t>
            </a:r>
          </a:p>
        </p:txBody>
      </p:sp>
      <p:sp>
        <p:nvSpPr>
          <p:cNvPr id="2" name="chrome-number">
            <a:extLst xmlns:a="http://schemas.openxmlformats.org/drawingml/2006/main">
              <a:ext uri="{FF2B5EF4-FFF2-40B4-BE49-F238E27FC236}">
                <a16:creationId xmlns:a16="http://schemas.microsoft.com/office/drawing/2014/main" id="{CBC9E54F-31C7-4BCB-8B93-0BF9FA0CB51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23</a:t>
            </a:r>
          </a:p>
        </p:txBody>
      </p:sp>
      <p:sp>
        <p:nvSpPr>
          <p:cNvPr id="3" name="rule-70-58">
            <a:extLst xmlns:a="http://schemas.openxmlformats.org/drawingml/2006/main">
              <a:ext uri="{FF2B5EF4-FFF2-40B4-BE49-F238E27FC236}">
                <a16:creationId xmlns:a16="http://schemas.microsoft.com/office/drawing/2014/main" id="{F6D0C76E-B2F1-4BC8-9910-1E0EFF097A64}"/>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EEFABFC4-3390-42FA-A668-41A090AE4275}"/>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44D4A646-C181-4CD7-B6F2-676BCA634E4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báo cáo 1–2</a:t>
            </a:r>
          </a:p>
        </p:txBody>
      </p:sp>
      <p:sp>
        <p:nvSpPr>
          <p:cNvPr id="6" name="rule-70-672">
            <a:extLst xmlns:a="http://schemas.openxmlformats.org/drawingml/2006/main">
              <a:ext uri="{FF2B5EF4-FFF2-40B4-BE49-F238E27FC236}">
                <a16:creationId xmlns:a16="http://schemas.microsoft.com/office/drawing/2014/main" id="{FAD47962-9DE5-420C-AB6F-24523F4A77DB}"/>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8E93A97E-FA75-4E2C-AA8F-51909FF76A9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4F3314E9-4F87-40C4-8E8C-4FCE933D2C50}"/>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Q6</a:t>
            </a:r>
          </a:p>
        </p:txBody>
      </p:sp>
      <p:sp>
        <p:nvSpPr>
          <p:cNvPr id="9" name="q-0">
            <a:extLst xmlns:a="http://schemas.openxmlformats.org/drawingml/2006/main">
              <a:ext uri="{FF2B5EF4-FFF2-40B4-BE49-F238E27FC236}">
                <a16:creationId xmlns:a16="http://schemas.microsoft.com/office/drawing/2014/main" id="{6EAA5F58-2960-403B-8685-EF476468C38B}"/>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Buffer Overflow khác Injection?</a:t>
            </a:r>
          </a:p>
        </p:txBody>
      </p:sp>
      <p:sp>
        <p:nvSpPr>
          <p:cNvPr id="10" name="a-0">
            <a:extLst xmlns:a="http://schemas.openxmlformats.org/drawingml/2006/main">
              <a:ext uri="{FF2B5EF4-FFF2-40B4-BE49-F238E27FC236}">
                <a16:creationId xmlns:a16="http://schemas.microsoft.com/office/drawing/2014/main" id="{97D45F60-8A35-40F1-A140-B930660957C9}"/>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Overflow ghi vượt vùng nhớ; Injection làm input thay đổi cú pháp/ý nghĩa của lệnh, query hoặc template.</a:t>
            </a:r>
          </a:p>
        </p:txBody>
      </p:sp>
      <p:sp>
        <p:nvSpPr>
          <p:cNvPr id="11" name="rule-150-402">
            <a:extLst xmlns:a="http://schemas.openxmlformats.org/drawingml/2006/main">
              <a:ext uri="{FF2B5EF4-FFF2-40B4-BE49-F238E27FC236}">
                <a16:creationId xmlns:a16="http://schemas.microsoft.com/office/drawing/2014/main" id="{0A0A91F5-0C8E-473A-A3BC-E522D049BED7}"/>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0363BC13-9713-4476-ACA8-073098412DE9}"/>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Q7</a:t>
            </a:r>
          </a:p>
        </p:txBody>
      </p:sp>
      <p:sp>
        <p:nvSpPr>
          <p:cNvPr id="13" name="q-1">
            <a:extLst xmlns:a="http://schemas.openxmlformats.org/drawingml/2006/main">
              <a:ext uri="{FF2B5EF4-FFF2-40B4-BE49-F238E27FC236}">
                <a16:creationId xmlns:a16="http://schemas.microsoft.com/office/drawing/2014/main" id="{D4DDC93E-6C54-483A-8860-B81DA72D40A5}"/>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backend native có thể bị kích hoạt qua HTTP?</a:t>
            </a:r>
          </a:p>
        </p:txBody>
      </p:sp>
      <p:sp>
        <p:nvSpPr>
          <p:cNvPr id="14" name="a-1">
            <a:extLst xmlns:a="http://schemas.openxmlformats.org/drawingml/2006/main">
              <a:ext uri="{FF2B5EF4-FFF2-40B4-BE49-F238E27FC236}">
                <a16:creationId xmlns:a16="http://schemas.microsoft.com/office/drawing/2014/main" id="{F654B6D6-A93D-43FA-A39F-C25DA4992983}"/>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Vì Flask chuyển dữ liệu request thành argument cho binary C; trust boundary web nối trực tiếp tới code native.</a:t>
            </a:r>
          </a:p>
        </p:txBody>
      </p:sp>
    </p:spTree>
    <p:extLst>
      <p:ext uri="{BB962C8B-B14F-4D97-AF65-F5344CB8AC3E}">
        <p14:creationId xmlns:p14="http://schemas.microsoft.com/office/powerpoint/2010/main" val="313062498"/>
      </p:ext>
    </p:extLst>
  </p:cSld>
</p:sld>
</file>

<file path=ppt/slides/slide2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3516EF3F-E5F8-4DB4-9189-8AFF29DEC44C}"/>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BÁO CÁO</a:t>
            </a:r>
          </a:p>
        </p:txBody>
      </p:sp>
      <p:sp>
        <p:nvSpPr>
          <p:cNvPr id="2" name="chrome-number">
            <a:extLst xmlns:a="http://schemas.openxmlformats.org/drawingml/2006/main">
              <a:ext uri="{FF2B5EF4-FFF2-40B4-BE49-F238E27FC236}">
                <a16:creationId xmlns:a16="http://schemas.microsoft.com/office/drawing/2014/main" id="{42E43080-48D7-497E-B90F-167F111C2762}"/>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24</a:t>
            </a:r>
          </a:p>
        </p:txBody>
      </p:sp>
      <p:sp>
        <p:nvSpPr>
          <p:cNvPr id="3" name="rule-70-58">
            <a:extLst xmlns:a="http://schemas.openxmlformats.org/drawingml/2006/main">
              <a:ext uri="{FF2B5EF4-FFF2-40B4-BE49-F238E27FC236}">
                <a16:creationId xmlns:a16="http://schemas.microsoft.com/office/drawing/2014/main" id="{3CBAFC3A-DFC9-461C-B47B-24AC360D3424}"/>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40F3E40C-BF47-432A-881A-A111B0543E91}"/>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5E42E111-31E1-4CDF-9C2C-3881114FD4BC}"/>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báo cáo 3–5</a:t>
            </a:r>
          </a:p>
        </p:txBody>
      </p:sp>
      <p:sp>
        <p:nvSpPr>
          <p:cNvPr id="6" name="rule-70-672">
            <a:extLst xmlns:a="http://schemas.openxmlformats.org/drawingml/2006/main">
              <a:ext uri="{FF2B5EF4-FFF2-40B4-BE49-F238E27FC236}">
                <a16:creationId xmlns:a16="http://schemas.microsoft.com/office/drawing/2014/main" id="{EA75BF24-CCAC-419C-B223-B583DF925102}"/>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B7D7B376-AF45-45B6-885B-AB3C2A701E5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8A0968BD-662F-4477-84CE-4C0740A95646}"/>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Q8</a:t>
            </a:r>
          </a:p>
        </p:txBody>
      </p:sp>
      <p:sp>
        <p:nvSpPr>
          <p:cNvPr id="9" name="q-0">
            <a:extLst xmlns:a="http://schemas.openxmlformats.org/drawingml/2006/main">
              <a:ext uri="{FF2B5EF4-FFF2-40B4-BE49-F238E27FC236}">
                <a16:creationId xmlns:a16="http://schemas.microsoft.com/office/drawing/2014/main" id="{398DA656-CE2F-46D6-80AA-802A4BCCF5B1}"/>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firewall không đủ?</a:t>
            </a:r>
          </a:p>
        </p:txBody>
      </p:sp>
      <p:sp>
        <p:nvSpPr>
          <p:cNvPr id="10" name="a-0">
            <a:extLst xmlns:a="http://schemas.openxmlformats.org/drawingml/2006/main">
              <a:ext uri="{FF2B5EF4-FFF2-40B4-BE49-F238E27FC236}">
                <a16:creationId xmlns:a16="http://schemas.microsoft.com/office/drawing/2014/main" id="{CC2F2C5C-E6CF-4D1C-963A-CE14165DDB15}"/>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Request hợp lệ ở mạng/HTTP vẫn có thể dài hơn capacity nội bộ của hàm C.</a:t>
            </a:r>
          </a:p>
        </p:txBody>
      </p:sp>
      <p:sp>
        <p:nvSpPr>
          <p:cNvPr id="11" name="rule-150-336">
            <a:extLst xmlns:a="http://schemas.openxmlformats.org/drawingml/2006/main">
              <a:ext uri="{FF2B5EF4-FFF2-40B4-BE49-F238E27FC236}">
                <a16:creationId xmlns:a16="http://schemas.microsoft.com/office/drawing/2014/main" id="{5D6C1C09-29A5-479B-904D-7924892E4AB1}"/>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4E4C19CB-1006-419E-BBD0-34AE66CD2A8F}"/>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Q9</a:t>
            </a:r>
          </a:p>
        </p:txBody>
      </p:sp>
      <p:sp>
        <p:nvSpPr>
          <p:cNvPr id="13" name="q-1">
            <a:extLst xmlns:a="http://schemas.openxmlformats.org/drawingml/2006/main">
              <a:ext uri="{FF2B5EF4-FFF2-40B4-BE49-F238E27FC236}">
                <a16:creationId xmlns:a16="http://schemas.microsoft.com/office/drawing/2014/main" id="{DB5CC039-BD2A-4F8C-B6D5-8B117882DEB6}"/>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Bản vá hiệu quả vì sao?</a:t>
            </a:r>
          </a:p>
        </p:txBody>
      </p:sp>
      <p:sp>
        <p:nvSpPr>
          <p:cNvPr id="14" name="a-1">
            <a:extLst xmlns:a="http://schemas.openxmlformats.org/drawingml/2006/main">
              <a:ext uri="{FF2B5EF4-FFF2-40B4-BE49-F238E27FC236}">
                <a16:creationId xmlns:a16="http://schemas.microsoft.com/office/drawing/2014/main" id="{E29AE72B-8282-42EE-9822-060983D1B033}"/>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Length check từ chối &gt;31 byte; snprintf kiểm return value và từ chối khi sẽ truncate.</a:t>
            </a:r>
          </a:p>
        </p:txBody>
      </p:sp>
      <p:sp>
        <p:nvSpPr>
          <p:cNvPr id="15" name="rule-150-474">
            <a:extLst xmlns:a="http://schemas.openxmlformats.org/drawingml/2006/main">
              <a:ext uri="{FF2B5EF4-FFF2-40B4-BE49-F238E27FC236}">
                <a16:creationId xmlns:a16="http://schemas.microsoft.com/office/drawing/2014/main" id="{F6C1AFF4-D37B-4603-9BD8-601B3DEC35A4}"/>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93394C32-B192-4908-B3E5-7BB013416BF8}"/>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Q10</a:t>
            </a:r>
          </a:p>
        </p:txBody>
      </p:sp>
      <p:sp>
        <p:nvSpPr>
          <p:cNvPr id="17" name="q-2">
            <a:extLst xmlns:a="http://schemas.openxmlformats.org/drawingml/2006/main">
              <a:ext uri="{FF2B5EF4-FFF2-40B4-BE49-F238E27FC236}">
                <a16:creationId xmlns:a16="http://schemas.microsoft.com/office/drawing/2014/main" id="{511B8E78-55E9-4568-9922-824F44A319A3}"/>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Ba cơ chế hardening?</a:t>
            </a:r>
          </a:p>
        </p:txBody>
      </p:sp>
      <p:sp>
        <p:nvSpPr>
          <p:cNvPr id="18" name="a-2">
            <a:extLst xmlns:a="http://schemas.openxmlformats.org/drawingml/2006/main">
              <a:ext uri="{FF2B5EF4-FFF2-40B4-BE49-F238E27FC236}">
                <a16:creationId xmlns:a16="http://schemas.microsoft.com/office/drawing/2014/main" id="{D109F720-0F5B-4130-AEF8-9495E365EABE}"/>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Stack protector, PIE/ASLR, NX/DEP; ngoài ra RELRO và FORTIFY.</a:t>
            </a:r>
          </a:p>
        </p:txBody>
      </p:sp>
    </p:spTree>
    <p:extLst>
      <p:ext uri="{BB962C8B-B14F-4D97-AF65-F5344CB8AC3E}">
        <p14:creationId xmlns:p14="http://schemas.microsoft.com/office/powerpoint/2010/main" val="667606791"/>
      </p:ext>
    </p:extLst>
  </p:cSld>
</p:sld>
</file>

<file path=ppt/slides/slide2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15D465BA-5C70-4386-AF3D-844FFAA86214}"/>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BẢN VÁ</a:t>
            </a:r>
          </a:p>
        </p:txBody>
      </p:sp>
      <p:sp>
        <p:nvSpPr>
          <p:cNvPr id="2" name="chrome-number">
            <a:extLst xmlns:a="http://schemas.openxmlformats.org/drawingml/2006/main">
              <a:ext uri="{FF2B5EF4-FFF2-40B4-BE49-F238E27FC236}">
                <a16:creationId xmlns:a16="http://schemas.microsoft.com/office/drawing/2014/main" id="{BF897212-C4F3-4703-B751-9483B654CF92}"/>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25</a:t>
            </a:r>
          </a:p>
        </p:txBody>
      </p:sp>
      <p:sp>
        <p:nvSpPr>
          <p:cNvPr id="3" name="rule-70-58">
            <a:extLst xmlns:a="http://schemas.openxmlformats.org/drawingml/2006/main">
              <a:ext uri="{FF2B5EF4-FFF2-40B4-BE49-F238E27FC236}">
                <a16:creationId xmlns:a16="http://schemas.microsoft.com/office/drawing/2014/main" id="{806336AD-9D2A-4DD7-9D92-A745432FCE5C}"/>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9706496A-04AD-4319-B023-DBD414A94C2A}"/>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VULNERABLE / SECURE</a:t>
            </a:r>
          </a:p>
        </p:txBody>
      </p:sp>
      <p:sp>
        <p:nvSpPr>
          <p:cNvPr id="5" name="slide-title">
            <a:extLst xmlns:a="http://schemas.openxmlformats.org/drawingml/2006/main">
              <a:ext uri="{FF2B5EF4-FFF2-40B4-BE49-F238E27FC236}">
                <a16:creationId xmlns:a16="http://schemas.microsoft.com/office/drawing/2014/main" id="{51E02E7D-FA61-4068-8293-0F1F8D28162A}"/>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Invariant: không bao giờ ghi quá 31 byte dữ liệu</a:t>
            </a:r>
          </a:p>
        </p:txBody>
      </p:sp>
      <p:sp>
        <p:nvSpPr>
          <p:cNvPr id="6" name="rule-70-672">
            <a:extLst xmlns:a="http://schemas.openxmlformats.org/drawingml/2006/main">
              <a:ext uri="{FF2B5EF4-FFF2-40B4-BE49-F238E27FC236}">
                <a16:creationId xmlns:a16="http://schemas.microsoft.com/office/drawing/2014/main" id="{48784DAC-58C5-4FD4-A774-7DE5D7A1FBB0}"/>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6B8B0763-3CC5-44BB-9D3B-81C79E1B12F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640-220">
            <a:extLst xmlns:a="http://schemas.openxmlformats.org/drawingml/2006/main">
              <a:ext uri="{FF2B5EF4-FFF2-40B4-BE49-F238E27FC236}">
                <a16:creationId xmlns:a16="http://schemas.microsoft.com/office/drawing/2014/main" id="{3AA4B444-5B62-4935-BBED-5D29A02ACED6}"/>
              </a:ext>
            </a:extLst>
          </p:cNvPr>
          <p:cNvSpPr>
            <a:spLocks xmlns:a="http://schemas.openxmlformats.org/drawingml/2006/main" noGrp="1"/>
          </p:cNvSpPr>
          <p:nvPr/>
        </p:nvSpPr>
        <p:spPr>
          <a:xfrm xmlns:a="http://schemas.openxmlformats.org/drawingml/2006/main">
            <a:off x="6096000" y="2095500"/>
            <a:ext cx="9525" cy="376237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left-title">
            <a:extLst xmlns:a="http://schemas.openxmlformats.org/drawingml/2006/main">
              <a:ext uri="{FF2B5EF4-FFF2-40B4-BE49-F238E27FC236}">
                <a16:creationId xmlns:a16="http://schemas.microsoft.com/office/drawing/2014/main" id="{844949E6-4D37-4962-ABF4-4F509072E2AF}"/>
              </a:ext>
            </a:extLst>
          </p:cNvPr>
          <p:cNvSpPr>
            <a:spLocks xmlns:a="http://schemas.openxmlformats.org/drawingml/2006/main" noGrp="1"/>
          </p:cNvSpPr>
          <p:nvPr/>
        </p:nvSpPr>
        <p:spPr>
          <a:xfrm xmlns:a="http://schemas.openxmlformats.org/drawingml/2006/main">
            <a:off x="666750" y="20764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888880"/>
                </a:solidFill>
                <a:latin typeface="Consolas"/>
                <a:ea typeface="Consolas"/>
                <a:cs typeface="Consolas"/>
              </a:defRPr>
            </a:pPr>
            <a:r>
              <a:rPr sz="1125" b="1">
                <a:solidFill>
                  <a:srgbClr val="888880"/>
                </a:solidFill>
                <a:latin typeface="Consolas"/>
                <a:ea typeface="Consolas"/>
                <a:cs typeface="Consolas"/>
              </a:rPr>
              <a:t>VULNERABLE</a:t>
            </a:r>
          </a:p>
        </p:txBody>
      </p:sp>
      <p:sp>
        <p:nvSpPr>
          <p:cNvPr id="10" name="left-body">
            <a:extLst xmlns:a="http://schemas.openxmlformats.org/drawingml/2006/main">
              <a:ext uri="{FF2B5EF4-FFF2-40B4-BE49-F238E27FC236}">
                <a16:creationId xmlns:a16="http://schemas.microsoft.com/office/drawing/2014/main" id="{1484C35B-E286-4BD5-882E-15246487D8A0}"/>
              </a:ext>
            </a:extLst>
          </p:cNvPr>
          <p:cNvSpPr>
            <a:spLocks xmlns:a="http://schemas.openxmlformats.org/drawingml/2006/main" noGrp="1"/>
          </p:cNvSpPr>
          <p:nvPr/>
        </p:nvSpPr>
        <p:spPr>
          <a:xfrm xmlns:a="http://schemas.openxmlformats.org/drawingml/2006/main">
            <a:off x="666750" y="25908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char name[32];</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strcpy(name, input);</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 no capacity</a:t>
            </a:r>
          </a:p>
        </p:txBody>
      </p:sp>
      <p:sp>
        <p:nvSpPr>
          <p:cNvPr id="11" name="right-panel">
            <a:extLst xmlns:a="http://schemas.openxmlformats.org/drawingml/2006/main">
              <a:ext uri="{FF2B5EF4-FFF2-40B4-BE49-F238E27FC236}">
                <a16:creationId xmlns:a16="http://schemas.microsoft.com/office/drawing/2014/main" id="{23E2D396-D8E5-4A3F-9CB7-33CF51D34EE9}"/>
              </a:ext>
            </a:extLst>
          </p:cNvPr>
          <p:cNvSpPr>
            <a:spLocks xmlns:a="http://schemas.openxmlformats.org/drawingml/2006/main" noGrp="1"/>
          </p:cNvSpPr>
          <p:nvPr/>
        </p:nvSpPr>
        <p:spPr>
          <a:xfrm xmlns:a="http://schemas.openxmlformats.org/drawingml/2006/main">
            <a:off x="6429375" y="1952625"/>
            <a:ext cx="5095875" cy="3905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2" name="right-title">
            <a:extLst xmlns:a="http://schemas.openxmlformats.org/drawingml/2006/main">
              <a:ext uri="{FF2B5EF4-FFF2-40B4-BE49-F238E27FC236}">
                <a16:creationId xmlns:a16="http://schemas.microsoft.com/office/drawing/2014/main" id="{255FFA21-64B2-4146-86A1-D84B7ADA442E}"/>
              </a:ext>
            </a:extLst>
          </p:cNvPr>
          <p:cNvSpPr>
            <a:spLocks xmlns:a="http://schemas.openxmlformats.org/drawingml/2006/main" noGrp="1"/>
          </p:cNvSpPr>
          <p:nvPr/>
        </p:nvSpPr>
        <p:spPr>
          <a:xfrm xmlns:a="http://schemas.openxmlformats.org/drawingml/2006/main">
            <a:off x="6715125" y="21717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SECURE</a:t>
            </a:r>
          </a:p>
        </p:txBody>
      </p:sp>
      <p:sp>
        <p:nvSpPr>
          <p:cNvPr id="13" name="right-body">
            <a:extLst xmlns:a="http://schemas.openxmlformats.org/drawingml/2006/main">
              <a:ext uri="{FF2B5EF4-FFF2-40B4-BE49-F238E27FC236}">
                <a16:creationId xmlns:a16="http://schemas.microsoft.com/office/drawing/2014/main" id="{76E7D519-F661-4AB7-B725-73DC4DBC8005}"/>
              </a:ext>
            </a:extLst>
          </p:cNvPr>
          <p:cNvSpPr>
            <a:spLocks xmlns:a="http://schemas.openxmlformats.org/drawingml/2006/main" noGrp="1"/>
          </p:cNvSpPr>
          <p:nvPr/>
        </p:nvSpPr>
        <p:spPr>
          <a:xfrm xmlns:a="http://schemas.openxmlformats.org/drawingml/2006/main">
            <a:off x="6715125" y="2686050"/>
            <a:ext cx="4381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strnlen(..., 33)</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reject length &gt; 31</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snprintf + check return</a:t>
            </a:r>
          </a:p>
        </p:txBody>
      </p:sp>
    </p:spTree>
    <p:extLst>
      <p:ext uri="{BB962C8B-B14F-4D97-AF65-F5344CB8AC3E}">
        <p14:creationId xmlns:p14="http://schemas.microsoft.com/office/powerpoint/2010/main" val="590251308"/>
      </p:ext>
    </p:extLst>
  </p:cSld>
</p:sld>
</file>

<file path=ppt/slides/slide2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9CE92847-A64A-4C88-947F-2544E40A603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LAB02 / HARDENING</a:t>
            </a:r>
          </a:p>
        </p:txBody>
      </p:sp>
      <p:sp>
        <p:nvSpPr>
          <p:cNvPr id="2" name="chrome-number">
            <a:extLst xmlns:a="http://schemas.openxmlformats.org/drawingml/2006/main">
              <a:ext uri="{FF2B5EF4-FFF2-40B4-BE49-F238E27FC236}">
                <a16:creationId xmlns:a16="http://schemas.microsoft.com/office/drawing/2014/main" id="{486B1338-016A-45D3-A612-83450CB32420}"/>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26</a:t>
            </a:r>
          </a:p>
        </p:txBody>
      </p:sp>
      <p:sp>
        <p:nvSpPr>
          <p:cNvPr id="3" name="rule-70-58">
            <a:extLst xmlns:a="http://schemas.openxmlformats.org/drawingml/2006/main">
              <a:ext uri="{FF2B5EF4-FFF2-40B4-BE49-F238E27FC236}">
                <a16:creationId xmlns:a16="http://schemas.microsoft.com/office/drawing/2014/main" id="{0C863A3A-A844-4C7F-B306-98B5F43E489A}"/>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13EBBD6F-813D-4B27-BA45-F4B94A9FB664}"/>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2B46DCB0-C9C0-4B79-B50D-4AB530D4BBE9}"/>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Source fix trước; compiler và OS giảm hậu quả</a:t>
            </a:r>
          </a:p>
        </p:txBody>
      </p:sp>
      <p:sp>
        <p:nvSpPr>
          <p:cNvPr id="6" name="rule-70-672">
            <a:extLst xmlns:a="http://schemas.openxmlformats.org/drawingml/2006/main">
              <a:ext uri="{FF2B5EF4-FFF2-40B4-BE49-F238E27FC236}">
                <a16:creationId xmlns:a16="http://schemas.microsoft.com/office/drawing/2014/main" id="{D601BB7E-B322-462E-A409-335C5959C438}"/>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5371E3E2-D9EA-4287-B3DF-81B61C9E3C6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73441F3A-7E0E-44F5-811C-A7C444F11361}"/>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E0520E86-B298-45A9-960F-31DBFAEBDE71}"/>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14</a:t>
            </a:r>
          </a:p>
        </p:txBody>
      </p:sp>
      <p:sp>
        <p:nvSpPr>
          <p:cNvPr id="10" name="stat-label-0">
            <a:extLst xmlns:a="http://schemas.openxmlformats.org/drawingml/2006/main">
              <a:ext uri="{FF2B5EF4-FFF2-40B4-BE49-F238E27FC236}">
                <a16:creationId xmlns:a16="http://schemas.microsoft.com/office/drawing/2014/main" id="{6F82E0D6-AAF6-40DD-BA90-B93235044F03}"/>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pass trong log hiện có</a:t>
            </a:r>
          </a:p>
        </p:txBody>
      </p:sp>
      <p:sp>
        <p:nvSpPr>
          <p:cNvPr id="11" name="rule-430-240">
            <a:extLst xmlns:a="http://schemas.openxmlformats.org/drawingml/2006/main">
              <a:ext uri="{FF2B5EF4-FFF2-40B4-BE49-F238E27FC236}">
                <a16:creationId xmlns:a16="http://schemas.microsoft.com/office/drawing/2014/main" id="{EFF3A288-E6E9-4A16-9E63-B2B0D8DC6F30}"/>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F7D7110E-D094-458C-8CB8-FF26A126AA01}"/>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5</a:t>
            </a:r>
          </a:p>
        </p:txBody>
      </p:sp>
      <p:sp>
        <p:nvSpPr>
          <p:cNvPr id="13" name="stat-label-1">
            <a:extLst xmlns:a="http://schemas.openxmlformats.org/drawingml/2006/main">
              <a:ext uri="{FF2B5EF4-FFF2-40B4-BE49-F238E27FC236}">
                <a16:creationId xmlns:a16="http://schemas.microsoft.com/office/drawing/2014/main" id="{403559A1-FA57-43F4-9E81-6158F97A3020}"/>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binary profile trong Makefile</a:t>
            </a:r>
          </a:p>
        </p:txBody>
      </p:sp>
      <p:sp>
        <p:nvSpPr>
          <p:cNvPr id="14" name="rule-790-240">
            <a:extLst xmlns:a="http://schemas.openxmlformats.org/drawingml/2006/main">
              <a:ext uri="{FF2B5EF4-FFF2-40B4-BE49-F238E27FC236}">
                <a16:creationId xmlns:a16="http://schemas.microsoft.com/office/drawing/2014/main" id="{BF0D31EB-B403-44A8-9E78-A29C317E7DCF}"/>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4C79F294-D640-439E-9DC3-B0019042B921}"/>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0</a:t>
            </a:r>
          </a:p>
        </p:txBody>
      </p:sp>
      <p:sp>
        <p:nvSpPr>
          <p:cNvPr id="16" name="stat-label-2">
            <a:extLst xmlns:a="http://schemas.openxmlformats.org/drawingml/2006/main">
              <a:ext uri="{FF2B5EF4-FFF2-40B4-BE49-F238E27FC236}">
                <a16:creationId xmlns:a16="http://schemas.microsoft.com/office/drawing/2014/main" id="{6CC478A2-B8DD-43FA-B543-7B2A9968373C}"/>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GDB/ASan runtime log trong report</a:t>
            </a:r>
          </a:p>
        </p:txBody>
      </p:sp>
      <p:sp>
        <p:nvSpPr>
          <p:cNvPr id="17" name="caveat">
            <a:extLst xmlns:a="http://schemas.openxmlformats.org/drawingml/2006/main">
              <a:ext uri="{FF2B5EF4-FFF2-40B4-BE49-F238E27FC236}">
                <a16:creationId xmlns:a16="http://schemas.microsoft.com/office/drawing/2014/main" id="{E2574605-FF7C-4FC0-AF6B-A1BCA5A083FD}"/>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Makefile bật stack-protector-strong, PIE, RELRO, NOW, NX và FORTIFY; nhưng báo cáo hiện chưa có session GDB/ASan thật.</a:t>
            </a:r>
          </a:p>
        </p:txBody>
      </p:sp>
    </p:spTree>
    <p:extLst>
      <p:ext uri="{BB962C8B-B14F-4D97-AF65-F5344CB8AC3E}">
        <p14:creationId xmlns:p14="http://schemas.microsoft.com/office/powerpoint/2010/main" val="161776410"/>
      </p:ext>
    </p:extLst>
  </p:cSld>
</p:sld>
</file>

<file path=ppt/slides/slide27.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A35AC1EB-358B-42B0-916A-CB366A68D615}"/>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03</a:t>
            </a:r>
          </a:p>
        </p:txBody>
      </p:sp>
      <p:sp>
        <p:nvSpPr>
          <p:cNvPr id="2" name="chapter-title">
            <a:extLst xmlns:a="http://schemas.openxmlformats.org/drawingml/2006/main">
              <a:ext uri="{FF2B5EF4-FFF2-40B4-BE49-F238E27FC236}">
                <a16:creationId xmlns:a16="http://schemas.microsoft.com/office/drawing/2014/main" id="{22C7E029-9981-4D2A-9062-F7E1525CEA2F}"/>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parameter</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tampering</a:t>
            </a:r>
          </a:p>
        </p:txBody>
      </p:sp>
      <p:sp>
        <p:nvSpPr>
          <p:cNvPr id="3" name="chapter-subtitle">
            <a:extLst xmlns:a="http://schemas.openxmlformats.org/drawingml/2006/main">
              <a:ext uri="{FF2B5EF4-FFF2-40B4-BE49-F238E27FC236}">
                <a16:creationId xmlns:a16="http://schemas.microsoft.com/office/drawing/2014/main" id="{A8105FEF-12D9-40F4-8B44-CBD0918C0DB7}"/>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Sửa giá / IDOR / role tampering</a:t>
            </a:r>
          </a:p>
        </p:txBody>
      </p:sp>
      <p:sp>
        <p:nvSpPr>
          <p:cNvPr id="4" name="rule-76-618">
            <a:extLst xmlns:a="http://schemas.openxmlformats.org/drawingml/2006/main">
              <a:ext uri="{FF2B5EF4-FFF2-40B4-BE49-F238E27FC236}">
                <a16:creationId xmlns:a16="http://schemas.microsoft.com/office/drawing/2014/main" id="{50FCE5AA-8221-4CA7-9D9F-65BCE5DDE366}"/>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0BE69400-3E82-405D-829F-7B40808977AD}"/>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1368879349"/>
      </p:ext>
    </p:extLst>
  </p:cSld>
</p:sld>
</file>

<file path=ppt/slides/slide2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0" name="chrome-section">
            <a:extLst xmlns:a="http://schemas.openxmlformats.org/drawingml/2006/main">
              <a:ext uri="{FF2B5EF4-FFF2-40B4-BE49-F238E27FC236}">
                <a16:creationId xmlns:a16="http://schemas.microsoft.com/office/drawing/2014/main" id="{3498EA80-F355-43D0-8EFA-89AA6D2EC02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MÔ HÌNH</a:t>
            </a:r>
          </a:p>
        </p:txBody>
      </p:sp>
      <p:sp>
        <p:nvSpPr>
          <p:cNvPr id="2" name="chrome-number">
            <a:extLst xmlns:a="http://schemas.openxmlformats.org/drawingml/2006/main">
              <a:ext uri="{FF2B5EF4-FFF2-40B4-BE49-F238E27FC236}">
                <a16:creationId xmlns:a16="http://schemas.microsoft.com/office/drawing/2014/main" id="{4BC5810E-F0E9-4680-8FD4-90CA64A7AFAD}"/>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28</a:t>
            </a:r>
          </a:p>
        </p:txBody>
      </p:sp>
      <p:sp>
        <p:nvSpPr>
          <p:cNvPr id="3" name="rule-70-58">
            <a:extLst xmlns:a="http://schemas.openxmlformats.org/drawingml/2006/main">
              <a:ext uri="{FF2B5EF4-FFF2-40B4-BE49-F238E27FC236}">
                <a16:creationId xmlns:a16="http://schemas.microsoft.com/office/drawing/2014/main" id="{24A2FA7C-A5BA-430E-9944-B186EF77D2C3}"/>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A360E156-079E-4ADB-BCD9-257A4BE75AA3}"/>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LUỒNG DỮ LIỆU VÀ RANH GIỚI TIN CẬY</a:t>
            </a:r>
          </a:p>
        </p:txBody>
      </p:sp>
      <p:sp>
        <p:nvSpPr>
          <p:cNvPr id="5" name="slide-title">
            <a:extLst xmlns:a="http://schemas.openxmlformats.org/drawingml/2006/main">
              <a:ext uri="{FF2B5EF4-FFF2-40B4-BE49-F238E27FC236}">
                <a16:creationId xmlns:a16="http://schemas.microsoft.com/office/drawing/2014/main" id="{271197AC-F865-4716-B0AF-7559220A3878}"/>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tham số, ba loại quyết định sai</a:t>
            </a:r>
          </a:p>
        </p:txBody>
      </p:sp>
      <p:sp>
        <p:nvSpPr>
          <p:cNvPr id="6" name="rule-70-672">
            <a:extLst xmlns:a="http://schemas.openxmlformats.org/drawingml/2006/main">
              <a:ext uri="{FF2B5EF4-FFF2-40B4-BE49-F238E27FC236}">
                <a16:creationId xmlns:a16="http://schemas.microsoft.com/office/drawing/2014/main" id="{2259D802-7EC6-4403-AF27-8782AC7EAB2D}"/>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9711F548-1306-4E11-9E1C-B7C119723A6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flow-slash-0">
            <a:extLst xmlns:a="http://schemas.openxmlformats.org/drawingml/2006/main">
              <a:ext uri="{FF2B5EF4-FFF2-40B4-BE49-F238E27FC236}">
                <a16:creationId xmlns:a16="http://schemas.microsoft.com/office/drawing/2014/main" id="{23F4AD3C-8219-44AE-9FCD-04876E735455}"/>
              </a:ext>
            </a:extLst>
          </p:cNvPr>
          <p:cNvSpPr>
            <a:spLocks xmlns:a="http://schemas.openxmlformats.org/drawingml/2006/main" noGrp="1"/>
          </p:cNvSpPr>
          <p:nvPr/>
        </p:nvSpPr>
        <p:spPr>
          <a:xfrm xmlns:a="http://schemas.openxmlformats.org/drawingml/2006/main">
            <a:off x="421640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9" name="rule-85-270">
            <a:extLst xmlns:a="http://schemas.openxmlformats.org/drawingml/2006/main">
              <a:ext uri="{FF2B5EF4-FFF2-40B4-BE49-F238E27FC236}">
                <a16:creationId xmlns:a16="http://schemas.microsoft.com/office/drawing/2014/main" id="{3866B381-0C69-4988-8557-E2C3641E8432}"/>
              </a:ext>
            </a:extLst>
          </p:cNvPr>
          <p:cNvSpPr>
            <a:spLocks xmlns:a="http://schemas.openxmlformats.org/drawingml/2006/main" noGrp="1"/>
          </p:cNvSpPr>
          <p:nvPr/>
        </p:nvSpPr>
        <p:spPr>
          <a:xfrm xmlns:a="http://schemas.openxmlformats.org/drawingml/2006/main">
            <a:off x="809625" y="2571750"/>
            <a:ext cx="335915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0" name="node-title-0">
            <a:extLst xmlns:a="http://schemas.openxmlformats.org/drawingml/2006/main">
              <a:ext uri="{FF2B5EF4-FFF2-40B4-BE49-F238E27FC236}">
                <a16:creationId xmlns:a16="http://schemas.microsoft.com/office/drawing/2014/main" id="{8CEE835F-0AFD-46EB-AB29-4FACDFD55D69}"/>
              </a:ext>
            </a:extLst>
          </p:cNvPr>
          <p:cNvSpPr>
            <a:spLocks xmlns:a="http://schemas.openxmlformats.org/drawingml/2006/main" noGrp="1"/>
          </p:cNvSpPr>
          <p:nvPr/>
        </p:nvSpPr>
        <p:spPr>
          <a:xfrm xmlns:a="http://schemas.openxmlformats.org/drawingml/2006/main">
            <a:off x="809625" y="2819400"/>
            <a:ext cx="335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price</a:t>
            </a:r>
          </a:p>
        </p:txBody>
      </p:sp>
      <p:sp>
        <p:nvSpPr>
          <p:cNvPr id="11" name="node-note-0">
            <a:extLst xmlns:a="http://schemas.openxmlformats.org/drawingml/2006/main">
              <a:ext uri="{FF2B5EF4-FFF2-40B4-BE49-F238E27FC236}">
                <a16:creationId xmlns:a16="http://schemas.microsoft.com/office/drawing/2014/main" id="{CD487E44-9CA1-4569-92E8-0C316BA0927E}"/>
              </a:ext>
            </a:extLst>
          </p:cNvPr>
          <p:cNvSpPr>
            <a:spLocks xmlns:a="http://schemas.openxmlformats.org/drawingml/2006/main" noGrp="1"/>
          </p:cNvSpPr>
          <p:nvPr/>
        </p:nvSpPr>
        <p:spPr>
          <a:xfrm xmlns:a="http://schemas.openxmlformats.org/drawingml/2006/main">
            <a:off x="809625" y="3638550"/>
            <a:ext cx="3359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nguồn giá</a:t>
            </a:r>
          </a:p>
        </p:txBody>
      </p:sp>
      <p:sp>
        <p:nvSpPr>
          <p:cNvPr id="12" name="flow-slash-1">
            <a:extLst xmlns:a="http://schemas.openxmlformats.org/drawingml/2006/main">
              <a:ext uri="{FF2B5EF4-FFF2-40B4-BE49-F238E27FC236}">
                <a16:creationId xmlns:a16="http://schemas.microsoft.com/office/drawing/2014/main" id="{42891AE1-5580-4D80-82CD-552358DEA287}"/>
              </a:ext>
            </a:extLst>
          </p:cNvPr>
          <p:cNvSpPr>
            <a:spLocks xmlns:a="http://schemas.openxmlformats.org/drawingml/2006/main" noGrp="1"/>
          </p:cNvSpPr>
          <p:nvPr/>
        </p:nvSpPr>
        <p:spPr>
          <a:xfrm xmlns:a="http://schemas.openxmlformats.org/drawingml/2006/main">
            <a:off x="782320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3" name="rule-463.6666666666667-270">
            <a:extLst xmlns:a="http://schemas.openxmlformats.org/drawingml/2006/main">
              <a:ext uri="{FF2B5EF4-FFF2-40B4-BE49-F238E27FC236}">
                <a16:creationId xmlns:a16="http://schemas.microsoft.com/office/drawing/2014/main" id="{94CC39F9-D7D8-4DB8-A447-474A01A056A5}"/>
              </a:ext>
            </a:extLst>
          </p:cNvPr>
          <p:cNvSpPr>
            <a:spLocks xmlns:a="http://schemas.openxmlformats.org/drawingml/2006/main" noGrp="1"/>
          </p:cNvSpPr>
          <p:nvPr/>
        </p:nvSpPr>
        <p:spPr>
          <a:xfrm xmlns:a="http://schemas.openxmlformats.org/drawingml/2006/main">
            <a:off x="4416425" y="2571750"/>
            <a:ext cx="335915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node-title-1">
            <a:extLst xmlns:a="http://schemas.openxmlformats.org/drawingml/2006/main">
              <a:ext uri="{FF2B5EF4-FFF2-40B4-BE49-F238E27FC236}">
                <a16:creationId xmlns:a16="http://schemas.microsoft.com/office/drawing/2014/main" id="{96A159FC-B007-4AD8-9219-EA30D7D5AF8F}"/>
              </a:ext>
            </a:extLst>
          </p:cNvPr>
          <p:cNvSpPr>
            <a:spLocks xmlns:a="http://schemas.openxmlformats.org/drawingml/2006/main" noGrp="1"/>
          </p:cNvSpPr>
          <p:nvPr/>
        </p:nvSpPr>
        <p:spPr>
          <a:xfrm xmlns:a="http://schemas.openxmlformats.org/drawingml/2006/main">
            <a:off x="4416425" y="2819400"/>
            <a:ext cx="335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invoice id</a:t>
            </a:r>
          </a:p>
        </p:txBody>
      </p:sp>
      <p:sp>
        <p:nvSpPr>
          <p:cNvPr id="15" name="node-note-1">
            <a:extLst xmlns:a="http://schemas.openxmlformats.org/drawingml/2006/main">
              <a:ext uri="{FF2B5EF4-FFF2-40B4-BE49-F238E27FC236}">
                <a16:creationId xmlns:a16="http://schemas.microsoft.com/office/drawing/2014/main" id="{99FE2837-47B1-43ED-A9F5-97C713DA5233}"/>
              </a:ext>
            </a:extLst>
          </p:cNvPr>
          <p:cNvSpPr>
            <a:spLocks xmlns:a="http://schemas.openxmlformats.org/drawingml/2006/main" noGrp="1"/>
          </p:cNvSpPr>
          <p:nvPr/>
        </p:nvSpPr>
        <p:spPr>
          <a:xfrm xmlns:a="http://schemas.openxmlformats.org/drawingml/2006/main">
            <a:off x="4416425" y="3638550"/>
            <a:ext cx="3359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quyền trên object</a:t>
            </a:r>
          </a:p>
        </p:txBody>
      </p:sp>
      <p:sp>
        <p:nvSpPr>
          <p:cNvPr id="16" name="rule-842.3333333333334-270">
            <a:extLst xmlns:a="http://schemas.openxmlformats.org/drawingml/2006/main">
              <a:ext uri="{FF2B5EF4-FFF2-40B4-BE49-F238E27FC236}">
                <a16:creationId xmlns:a16="http://schemas.microsoft.com/office/drawing/2014/main" id="{6A6CBF88-4DD5-4DF5-AC25-E1E48551FBFF}"/>
              </a:ext>
            </a:extLst>
          </p:cNvPr>
          <p:cNvSpPr>
            <a:spLocks xmlns:a="http://schemas.openxmlformats.org/drawingml/2006/main" noGrp="1"/>
          </p:cNvSpPr>
          <p:nvPr/>
        </p:nvSpPr>
        <p:spPr>
          <a:xfrm xmlns:a="http://schemas.openxmlformats.org/drawingml/2006/main">
            <a:off x="8023225" y="2571750"/>
            <a:ext cx="335915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7" name="node-title-2">
            <a:extLst xmlns:a="http://schemas.openxmlformats.org/drawingml/2006/main">
              <a:ext uri="{FF2B5EF4-FFF2-40B4-BE49-F238E27FC236}">
                <a16:creationId xmlns:a16="http://schemas.microsoft.com/office/drawing/2014/main" id="{F656FAD1-44EB-4FD8-8EA5-95D50F1D3227}"/>
              </a:ext>
            </a:extLst>
          </p:cNvPr>
          <p:cNvSpPr>
            <a:spLocks xmlns:a="http://schemas.openxmlformats.org/drawingml/2006/main" noGrp="1"/>
          </p:cNvSpPr>
          <p:nvPr/>
        </p:nvSpPr>
        <p:spPr>
          <a:xfrm xmlns:a="http://schemas.openxmlformats.org/drawingml/2006/main">
            <a:off x="8023225" y="2819400"/>
            <a:ext cx="335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role</a:t>
            </a:r>
          </a:p>
        </p:txBody>
      </p:sp>
      <p:sp>
        <p:nvSpPr>
          <p:cNvPr id="18" name="node-note-2">
            <a:extLst xmlns:a="http://schemas.openxmlformats.org/drawingml/2006/main">
              <a:ext uri="{FF2B5EF4-FFF2-40B4-BE49-F238E27FC236}">
                <a16:creationId xmlns:a16="http://schemas.microsoft.com/office/drawing/2014/main" id="{DF4A8B10-EA4B-40CC-BF7D-15B4794AC1CE}"/>
              </a:ext>
            </a:extLst>
          </p:cNvPr>
          <p:cNvSpPr>
            <a:spLocks xmlns:a="http://schemas.openxmlformats.org/drawingml/2006/main" noGrp="1"/>
          </p:cNvSpPr>
          <p:nvPr/>
        </p:nvSpPr>
        <p:spPr>
          <a:xfrm xmlns:a="http://schemas.openxmlformats.org/drawingml/2006/main">
            <a:off x="8023225" y="3638550"/>
            <a:ext cx="3359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field nhạy cảm</a:t>
            </a:r>
          </a:p>
        </p:txBody>
      </p:sp>
      <p:sp>
        <p:nvSpPr>
          <p:cNvPr id="19" name="flow-caption">
            <a:extLst xmlns:a="http://schemas.openxmlformats.org/drawingml/2006/main">
              <a:ext uri="{FF2B5EF4-FFF2-40B4-BE49-F238E27FC236}">
                <a16:creationId xmlns:a16="http://schemas.microsoft.com/office/drawing/2014/main" id="{D45C9C3A-65F5-4223-A101-BC4909A2D94E}"/>
              </a:ext>
            </a:extLst>
          </p:cNvPr>
          <p:cNvSpPr>
            <a:spLocks xmlns:a="http://schemas.openxmlformats.org/drawingml/2006/main" noGrp="1"/>
          </p:cNvSpPr>
          <p:nvPr/>
        </p:nvSpPr>
        <p:spPr>
          <a:xfrm xmlns:a="http://schemas.openxmlformats.org/drawingml/2006/main">
            <a:off x="952500" y="49530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00" b="0">
                <a:solidFill>
                  <a:srgbClr val="F0ECE5"/>
                </a:solidFill>
                <a:latin typeface="Arial Narrow"/>
                <a:ea typeface="Arial Narrow"/>
                <a:cs typeface="Arial Narrow"/>
              </a:defRPr>
            </a:pPr>
            <a:r>
              <a:rPr sz="1800" b="0">
                <a:solidFill>
                  <a:srgbClr val="F0ECE5"/>
                </a:solidFill>
                <a:latin typeface="Arial Narrow"/>
                <a:ea typeface="Arial Narrow"/>
                <a:cs typeface="Arial Narrow"/>
              </a:rPr>
              <a:t>Validation chỉ hỏi “giá trị hợp lệ?”; authorization hỏi “ai được phép quyết định giá trị này?”.</a:t>
            </a:r>
          </a:p>
        </p:txBody>
      </p:sp>
    </p:spTree>
    <p:extLst>
      <p:ext uri="{BB962C8B-B14F-4D97-AF65-F5344CB8AC3E}">
        <p14:creationId xmlns:p14="http://schemas.microsoft.com/office/powerpoint/2010/main" val="1613377903"/>
      </p:ext>
    </p:extLst>
  </p:cSld>
</p:sld>
</file>

<file path=ppt/slides/slide2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FF91C155-A5A8-45CD-A5C0-99175A607B4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PRICE</a:t>
            </a:r>
          </a:p>
        </p:txBody>
      </p:sp>
      <p:sp>
        <p:nvSpPr>
          <p:cNvPr id="2" name="chrome-number">
            <a:extLst xmlns:a="http://schemas.openxmlformats.org/drawingml/2006/main">
              <a:ext uri="{FF2B5EF4-FFF2-40B4-BE49-F238E27FC236}">
                <a16:creationId xmlns:a16="http://schemas.microsoft.com/office/drawing/2014/main" id="{3D9A7AF6-C8D3-40CC-90A3-3DC21BA5A16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29</a:t>
            </a:r>
          </a:p>
        </p:txBody>
      </p:sp>
      <p:sp>
        <p:nvSpPr>
          <p:cNvPr id="3" name="rule-70-58">
            <a:extLst xmlns:a="http://schemas.openxmlformats.org/drawingml/2006/main">
              <a:ext uri="{FF2B5EF4-FFF2-40B4-BE49-F238E27FC236}">
                <a16:creationId xmlns:a16="http://schemas.microsoft.com/office/drawing/2014/main" id="{44B742D5-2F3C-4AD1-9879-30BAAA39EDD6}"/>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C33256F1-6AE4-4BCB-AED5-BAE6D78A16C7}"/>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70279084-E8FB-4932-8FCB-040B36F9A93F}"/>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Cùng product_id, khác nguồn giá</a:t>
            </a:r>
          </a:p>
        </p:txBody>
      </p:sp>
      <p:sp>
        <p:nvSpPr>
          <p:cNvPr id="6" name="rule-70-672">
            <a:extLst xmlns:a="http://schemas.openxmlformats.org/drawingml/2006/main">
              <a:ext uri="{FF2B5EF4-FFF2-40B4-BE49-F238E27FC236}">
                <a16:creationId xmlns:a16="http://schemas.microsoft.com/office/drawing/2014/main" id="{6E33ADC9-2F7D-4B60-A5F5-CD5C0868FE82}"/>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61FCE1FC-F005-408D-9936-BF794DF80E02}"/>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AAAF6A0F-0A90-4BE0-9788-3E69090B7447}"/>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http://127.0.0.1:5003/vulnerable/checkout</a:t>
            </a:r>
          </a:p>
        </p:txBody>
      </p:sp>
      <p:sp>
        <p:nvSpPr>
          <p:cNvPr id="9" name="step-num-0">
            <a:extLst xmlns:a="http://schemas.openxmlformats.org/drawingml/2006/main">
              <a:ext uri="{FF2B5EF4-FFF2-40B4-BE49-F238E27FC236}">
                <a16:creationId xmlns:a16="http://schemas.microsoft.com/office/drawing/2014/main" id="{316F6EA3-60C0-44B0-989E-6EEFED5F7654}"/>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73816385-1EFF-4476-A606-09CD730CC398}"/>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user_a / UserA123!, thêm product 5 số lượng 1.</a:t>
            </a:r>
          </a:p>
        </p:txBody>
      </p:sp>
      <p:sp>
        <p:nvSpPr>
          <p:cNvPr id="11" name="step-num-1">
            <a:extLst xmlns:a="http://schemas.openxmlformats.org/drawingml/2006/main">
              <a:ext uri="{FF2B5EF4-FFF2-40B4-BE49-F238E27FC236}">
                <a16:creationId xmlns:a16="http://schemas.microsoft.com/office/drawing/2014/main" id="{F84A0EC0-6D77-4D50-9A91-EB297C17DC09}"/>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940E28F7-A00F-40C8-B932-4BAB735D7B30}"/>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Sửa hidden price 100000 → 1 và submit vulnerable.</a:t>
            </a:r>
          </a:p>
        </p:txBody>
      </p:sp>
      <p:sp>
        <p:nvSpPr>
          <p:cNvPr id="13" name="step-num-2">
            <a:extLst xmlns:a="http://schemas.openxmlformats.org/drawingml/2006/main">
              <a:ext uri="{FF2B5EF4-FFF2-40B4-BE49-F238E27FC236}">
                <a16:creationId xmlns:a16="http://schemas.microsoft.com/office/drawing/2014/main" id="{D9D73F4B-636C-43E9-AFE7-A13420FA179C}"/>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30DDB4D4-4FDD-4A54-BDCC-2EE0CC861F87}"/>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Reset; gửi cùng dữ liệu tới /secure/checkout.</a:t>
            </a:r>
          </a:p>
        </p:txBody>
      </p:sp>
      <p:sp>
        <p:nvSpPr>
          <p:cNvPr id="15" name="expected-panel">
            <a:extLst xmlns:a="http://schemas.openxmlformats.org/drawingml/2006/main">
              <a:ext uri="{FF2B5EF4-FFF2-40B4-BE49-F238E27FC236}">
                <a16:creationId xmlns:a16="http://schemas.microsoft.com/office/drawing/2014/main" id="{E674B8ED-0C41-4CAA-AF6C-43A36169A98C}"/>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8657C7A4-8750-47FF-A1E2-A318C1BDFA9A}"/>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51F7F868-3C71-4F5E-9DB2-4CB4AFFEA507}"/>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tạo total=1; secure bỏ qua giá client và dùng 100000 từ database.</a:t>
            </a:r>
          </a:p>
        </p:txBody>
      </p:sp>
    </p:spTree>
    <p:extLst>
      <p:ext uri="{BB962C8B-B14F-4D97-AF65-F5344CB8AC3E}">
        <p14:creationId xmlns:p14="http://schemas.microsoft.com/office/powerpoint/2010/main" val="405742162"/>
      </p:ext>
    </p:extLst>
  </p:cSld>
</p:sld>
</file>

<file path=ppt/slides/slide3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5446B7BF-C643-46BB-B16B-CBA3C033E8B1}"/>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IDOR</a:t>
            </a:r>
          </a:p>
        </p:txBody>
      </p:sp>
      <p:sp>
        <p:nvSpPr>
          <p:cNvPr id="2" name="chrome-number">
            <a:extLst xmlns:a="http://schemas.openxmlformats.org/drawingml/2006/main">
              <a:ext uri="{FF2B5EF4-FFF2-40B4-BE49-F238E27FC236}">
                <a16:creationId xmlns:a16="http://schemas.microsoft.com/office/drawing/2014/main" id="{B2E5C012-6362-48A8-A583-E8BBFB541A2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30</a:t>
            </a:r>
          </a:p>
        </p:txBody>
      </p:sp>
      <p:sp>
        <p:nvSpPr>
          <p:cNvPr id="3" name="rule-70-58">
            <a:extLst xmlns:a="http://schemas.openxmlformats.org/drawingml/2006/main">
              <a:ext uri="{FF2B5EF4-FFF2-40B4-BE49-F238E27FC236}">
                <a16:creationId xmlns:a16="http://schemas.microsoft.com/office/drawing/2014/main" id="{AB2C98C5-FFD2-451D-B96A-9EF4A17C066C}"/>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52701823-A86A-4382-8BD1-8DAF00ABC574}"/>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1EB2079E-7EAC-4EA2-8833-9C803B5C8CEB}"/>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Authentication không đồng nghĩa ownership</a:t>
            </a:r>
          </a:p>
        </p:txBody>
      </p:sp>
      <p:sp>
        <p:nvSpPr>
          <p:cNvPr id="6" name="rule-70-672">
            <a:extLst xmlns:a="http://schemas.openxmlformats.org/drawingml/2006/main">
              <a:ext uri="{FF2B5EF4-FFF2-40B4-BE49-F238E27FC236}">
                <a16:creationId xmlns:a16="http://schemas.microsoft.com/office/drawing/2014/main" id="{7B746BB1-3DBB-49DD-A838-DE58581A038F}"/>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1A32C5B3-9638-4A98-A53B-D99F50CF82A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E66FEB78-256D-4C0C-A34E-6CDAF133B427}"/>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http://127.0.0.1:5003/vulnerable/invoice?id=1002</a:t>
            </a:r>
          </a:p>
        </p:txBody>
      </p:sp>
      <p:sp>
        <p:nvSpPr>
          <p:cNvPr id="9" name="step-num-0">
            <a:extLst xmlns:a="http://schemas.openxmlformats.org/drawingml/2006/main">
              <a:ext uri="{FF2B5EF4-FFF2-40B4-BE49-F238E27FC236}">
                <a16:creationId xmlns:a16="http://schemas.microsoft.com/office/drawing/2014/main" id="{F9AC6B08-C933-432A-80D7-58C89607C480}"/>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3A3FE0E8-19A5-4FC7-8776-8E871FCC852F}"/>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Với user_a, mở invoice 1001 của chính mình.</a:t>
            </a:r>
          </a:p>
        </p:txBody>
      </p:sp>
      <p:sp>
        <p:nvSpPr>
          <p:cNvPr id="11" name="step-num-1">
            <a:extLst xmlns:a="http://schemas.openxmlformats.org/drawingml/2006/main">
              <a:ext uri="{FF2B5EF4-FFF2-40B4-BE49-F238E27FC236}">
                <a16:creationId xmlns:a16="http://schemas.microsoft.com/office/drawing/2014/main" id="{EF7E2241-B973-4B23-9630-A0C71AF7EE33}"/>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0E735F66-2F93-4209-A2C2-43E0B66C6B51}"/>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Đổi id=1002; quan sát invoice của user_b ở vulnerable.</a:t>
            </a:r>
          </a:p>
        </p:txBody>
      </p:sp>
      <p:sp>
        <p:nvSpPr>
          <p:cNvPr id="13" name="step-num-2">
            <a:extLst xmlns:a="http://schemas.openxmlformats.org/drawingml/2006/main">
              <a:ext uri="{FF2B5EF4-FFF2-40B4-BE49-F238E27FC236}">
                <a16:creationId xmlns:a16="http://schemas.microsoft.com/office/drawing/2014/main" id="{86F4250D-28CA-472B-80A8-9E67DEC42696}"/>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F183E2B6-A0DD-42D3-8F0F-BF345162DF7F}"/>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Mở /secure/invoice?id=1002; đối chiếu HTTP 403.</a:t>
            </a:r>
          </a:p>
        </p:txBody>
      </p:sp>
      <p:sp>
        <p:nvSpPr>
          <p:cNvPr id="15" name="expected-panel">
            <a:extLst xmlns:a="http://schemas.openxmlformats.org/drawingml/2006/main">
              <a:ext uri="{FF2B5EF4-FFF2-40B4-BE49-F238E27FC236}">
                <a16:creationId xmlns:a16="http://schemas.microsoft.com/office/drawing/2014/main" id="{44A3E910-4E83-4C45-BE22-66E95E56F4FC}"/>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FF340114-EFDB-48B5-B296-EB1ACDA513CC}"/>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608DF124-9063-46A7-84A8-39FD00705A3E}"/>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Secure kiểm object owner hoặc admin trước khi render dữ liệu.</a:t>
            </a:r>
          </a:p>
        </p:txBody>
      </p:sp>
    </p:spTree>
    <p:extLst>
      <p:ext uri="{BB962C8B-B14F-4D97-AF65-F5344CB8AC3E}">
        <p14:creationId xmlns:p14="http://schemas.microsoft.com/office/powerpoint/2010/main" val="2128115468"/>
      </p:ext>
    </p:extLst>
  </p:cSld>
</p:sld>
</file>

<file path=ppt/slides/slide3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80E58827-A3F5-43FE-B9F7-E6C73F81A909}"/>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ROLE</a:t>
            </a:r>
          </a:p>
        </p:txBody>
      </p:sp>
      <p:sp>
        <p:nvSpPr>
          <p:cNvPr id="2" name="chrome-number">
            <a:extLst xmlns:a="http://schemas.openxmlformats.org/drawingml/2006/main">
              <a:ext uri="{FF2B5EF4-FFF2-40B4-BE49-F238E27FC236}">
                <a16:creationId xmlns:a16="http://schemas.microsoft.com/office/drawing/2014/main" id="{7422FA22-431B-49C7-8345-7D82D1F7FEC4}"/>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31</a:t>
            </a:r>
          </a:p>
        </p:txBody>
      </p:sp>
      <p:sp>
        <p:nvSpPr>
          <p:cNvPr id="3" name="rule-70-58">
            <a:extLst xmlns:a="http://schemas.openxmlformats.org/drawingml/2006/main">
              <a:ext uri="{FF2B5EF4-FFF2-40B4-BE49-F238E27FC236}">
                <a16:creationId xmlns:a16="http://schemas.microsoft.com/office/drawing/2014/main" id="{AD7AD47E-0F2C-4A86-BCDB-16E1EF53ED47}"/>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15337167-748A-456B-9636-8C35437F627F}"/>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0B192425-2253-4021-BE59-16559DCEA69B}"/>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328"/>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Mass assignment biến self-service thành privilege escalation</a:t>
            </a:r>
          </a:p>
        </p:txBody>
      </p:sp>
      <p:sp>
        <p:nvSpPr>
          <p:cNvPr id="6" name="rule-70-672">
            <a:extLst xmlns:a="http://schemas.openxmlformats.org/drawingml/2006/main">
              <a:ext uri="{FF2B5EF4-FFF2-40B4-BE49-F238E27FC236}">
                <a16:creationId xmlns:a16="http://schemas.microsoft.com/office/drawing/2014/main" id="{4FA46774-715D-4E0B-9105-5A1D8B5BA6EE}"/>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D403225F-8B84-4064-B7F4-DF32DFF4AFEE}"/>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7989463C-7189-4854-A440-42B7848AFB75}"/>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http://127.0.0.1:5003/vulnerable/profile</a:t>
            </a:r>
          </a:p>
        </p:txBody>
      </p:sp>
      <p:sp>
        <p:nvSpPr>
          <p:cNvPr id="9" name="step-num-0">
            <a:extLst xmlns:a="http://schemas.openxmlformats.org/drawingml/2006/main">
              <a:ext uri="{FF2B5EF4-FFF2-40B4-BE49-F238E27FC236}">
                <a16:creationId xmlns:a16="http://schemas.microsoft.com/office/drawing/2014/main" id="{CCD6199E-7CAB-4E69-8927-FD40403B6A86}"/>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FBA7054C-DA21-4EC1-A01C-212633BAC43D}"/>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Reset; login user_a; đổi hidden role=user → admin.</a:t>
            </a:r>
          </a:p>
        </p:txBody>
      </p:sp>
      <p:sp>
        <p:nvSpPr>
          <p:cNvPr id="11" name="step-num-1">
            <a:extLst xmlns:a="http://schemas.openxmlformats.org/drawingml/2006/main">
              <a:ext uri="{FF2B5EF4-FFF2-40B4-BE49-F238E27FC236}">
                <a16:creationId xmlns:a16="http://schemas.microsoft.com/office/drawing/2014/main" id="{AB50985B-4507-4150-B62D-A357CDFAA123}"/>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0E2C5181-D9EB-4D71-AB38-320C0161C8F3}"/>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Submit vulnerable và xem session/database role đổi.</a:t>
            </a:r>
          </a:p>
        </p:txBody>
      </p:sp>
      <p:sp>
        <p:nvSpPr>
          <p:cNvPr id="13" name="step-num-2">
            <a:extLst xmlns:a="http://schemas.openxmlformats.org/drawingml/2006/main">
              <a:ext uri="{FF2B5EF4-FFF2-40B4-BE49-F238E27FC236}">
                <a16:creationId xmlns:a16="http://schemas.microsoft.com/office/drawing/2014/main" id="{139D0F24-ECE0-41A1-A521-F0295CFAA0E5}"/>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18199181-17B3-4410-AD77-A1429BD3B490}"/>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Reset; thêm role=admin vào secure profile update.</a:t>
            </a:r>
          </a:p>
        </p:txBody>
      </p:sp>
      <p:sp>
        <p:nvSpPr>
          <p:cNvPr id="15" name="expected-panel">
            <a:extLst xmlns:a="http://schemas.openxmlformats.org/drawingml/2006/main">
              <a:ext uri="{FF2B5EF4-FFF2-40B4-BE49-F238E27FC236}">
                <a16:creationId xmlns:a16="http://schemas.microsoft.com/office/drawing/2014/main" id="{AE15CBEE-13C2-4159-BCC8-521B5C60A5A6}"/>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173DA94F-E079-4AE5-9A9C-D7D0F1C44CE8}"/>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6C6A6E47-B6D2-49B1-B7DC-647ADC333924}"/>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Secure lấy user_id từ session, allowlist email và giữ role=user.</a:t>
            </a:r>
          </a:p>
        </p:txBody>
      </p:sp>
    </p:spTree>
    <p:extLst>
      <p:ext uri="{BB962C8B-B14F-4D97-AF65-F5344CB8AC3E}">
        <p14:creationId xmlns:p14="http://schemas.microsoft.com/office/powerpoint/2010/main" val="1154786627"/>
      </p:ext>
    </p:extLst>
  </p:cSld>
</p:sld>
</file>

<file path=ppt/slides/slide3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F72C2B17-598F-4CF9-9A0B-BDC7783132B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BÁO CÁO</a:t>
            </a:r>
          </a:p>
        </p:txBody>
      </p:sp>
      <p:sp>
        <p:nvSpPr>
          <p:cNvPr id="2" name="chrome-number">
            <a:extLst xmlns:a="http://schemas.openxmlformats.org/drawingml/2006/main">
              <a:ext uri="{FF2B5EF4-FFF2-40B4-BE49-F238E27FC236}">
                <a16:creationId xmlns:a16="http://schemas.microsoft.com/office/drawing/2014/main" id="{20494598-8EA9-46B7-B3FC-110C18F9D50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32</a:t>
            </a:r>
          </a:p>
        </p:txBody>
      </p:sp>
      <p:sp>
        <p:nvSpPr>
          <p:cNvPr id="3" name="rule-70-58">
            <a:extLst xmlns:a="http://schemas.openxmlformats.org/drawingml/2006/main">
              <a:ext uri="{FF2B5EF4-FFF2-40B4-BE49-F238E27FC236}">
                <a16:creationId xmlns:a16="http://schemas.microsoft.com/office/drawing/2014/main" id="{205FFC4E-B9F3-4EA0-BB2C-80CCDE505ED5}"/>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23DF6C82-C00C-4038-9D70-AE9866E48D42}"/>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79624B5D-642C-4B34-80F8-14592899C88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1–2</a:t>
            </a:r>
          </a:p>
        </p:txBody>
      </p:sp>
      <p:sp>
        <p:nvSpPr>
          <p:cNvPr id="6" name="rule-70-672">
            <a:extLst xmlns:a="http://schemas.openxmlformats.org/drawingml/2006/main">
              <a:ext uri="{FF2B5EF4-FFF2-40B4-BE49-F238E27FC236}">
                <a16:creationId xmlns:a16="http://schemas.microsoft.com/office/drawing/2014/main" id="{2B072BE4-0AD7-47E1-98E2-C4B2D518170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E8877CF-DEA4-408E-B878-7CBF6B3C752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C01D2AE3-9CA7-4D71-9598-50AAF635A0A5}"/>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F98170DC-49C7-432D-9DCA-21CC6EA13023}"/>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Parameter Tampering khác SQL Injection?</a:t>
            </a:r>
          </a:p>
        </p:txBody>
      </p:sp>
      <p:sp>
        <p:nvSpPr>
          <p:cNvPr id="10" name="a-0">
            <a:extLst xmlns:a="http://schemas.openxmlformats.org/drawingml/2006/main">
              <a:ext uri="{FF2B5EF4-FFF2-40B4-BE49-F238E27FC236}">
                <a16:creationId xmlns:a16="http://schemas.microsoft.com/office/drawing/2014/main" id="{D740B9E1-5EB8-43F0-8CA0-53A8B1BCCC86}"/>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Tampering dùng giá trị hợp lệ để làm sai policy; SQLi làm input thay đổi cấu trúc SQL.</a:t>
            </a:r>
          </a:p>
        </p:txBody>
      </p:sp>
      <p:sp>
        <p:nvSpPr>
          <p:cNvPr id="11" name="rule-150-402">
            <a:extLst xmlns:a="http://schemas.openxmlformats.org/drawingml/2006/main">
              <a:ext uri="{FF2B5EF4-FFF2-40B4-BE49-F238E27FC236}">
                <a16:creationId xmlns:a16="http://schemas.microsoft.com/office/drawing/2014/main" id="{CB7AADE6-D792-419B-8D40-F2D4ACCE1B19}"/>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CB12C422-BA53-4E54-A5EA-D04D78104962}"/>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EA6D70AB-C09D-4690-B27D-A9B412D8DAFF}"/>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hidden field không phải bảo mật?</a:t>
            </a:r>
          </a:p>
        </p:txBody>
      </p:sp>
      <p:sp>
        <p:nvSpPr>
          <p:cNvPr id="14" name="a-1">
            <a:extLst xmlns:a="http://schemas.openxmlformats.org/drawingml/2006/main">
              <a:ext uri="{FF2B5EF4-FFF2-40B4-BE49-F238E27FC236}">
                <a16:creationId xmlns:a16="http://schemas.microsoft.com/office/drawing/2014/main" id="{AF31A6CA-6ACB-4985-9B29-73FD23C7C62F}"/>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Hidden chỉ ẩn trong UI; browser DevTools hoặc request editor vẫn sửa được trước khi gửi.</a:t>
            </a:r>
          </a:p>
        </p:txBody>
      </p:sp>
    </p:spTree>
    <p:extLst>
      <p:ext uri="{BB962C8B-B14F-4D97-AF65-F5344CB8AC3E}">
        <p14:creationId xmlns:p14="http://schemas.microsoft.com/office/powerpoint/2010/main" val="1050670856"/>
      </p:ext>
    </p:extLst>
  </p:cSld>
</p:sld>
</file>

<file path=ppt/slides/slide3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56D1A3F0-5306-4C84-BB6B-206964E5B54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BÁO CÁO</a:t>
            </a:r>
          </a:p>
        </p:txBody>
      </p:sp>
      <p:sp>
        <p:nvSpPr>
          <p:cNvPr id="2" name="chrome-number">
            <a:extLst xmlns:a="http://schemas.openxmlformats.org/drawingml/2006/main">
              <a:ext uri="{FF2B5EF4-FFF2-40B4-BE49-F238E27FC236}">
                <a16:creationId xmlns:a16="http://schemas.microsoft.com/office/drawing/2014/main" id="{FED08EEE-0DF9-4FBD-834E-FBAA0C2B7FED}"/>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33</a:t>
            </a:r>
          </a:p>
        </p:txBody>
      </p:sp>
      <p:sp>
        <p:nvSpPr>
          <p:cNvPr id="3" name="rule-70-58">
            <a:extLst xmlns:a="http://schemas.openxmlformats.org/drawingml/2006/main">
              <a:ext uri="{FF2B5EF4-FFF2-40B4-BE49-F238E27FC236}">
                <a16:creationId xmlns:a16="http://schemas.microsoft.com/office/drawing/2014/main" id="{FE9FC4EE-9090-4A9C-9F1E-6F21BFDEBD3C}"/>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85948F0-E5D4-49DB-84D5-529882B4882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03775A77-F131-4B24-9660-7550BCE7328F}"/>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3–5</a:t>
            </a:r>
          </a:p>
        </p:txBody>
      </p:sp>
      <p:sp>
        <p:nvSpPr>
          <p:cNvPr id="6" name="rule-70-672">
            <a:extLst xmlns:a="http://schemas.openxmlformats.org/drawingml/2006/main">
              <a:ext uri="{FF2B5EF4-FFF2-40B4-BE49-F238E27FC236}">
                <a16:creationId xmlns:a16="http://schemas.microsoft.com/office/drawing/2014/main" id="{14047F35-1C90-4AE3-882B-1DEDFCE11CB2}"/>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5E68D92E-A00F-434D-B261-131C6D85C985}"/>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2F8984D3-554F-4F9D-89AF-5E94A01C21E1}"/>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9" name="q-0">
            <a:extLst xmlns:a="http://schemas.openxmlformats.org/drawingml/2006/main">
              <a:ext uri="{FF2B5EF4-FFF2-40B4-BE49-F238E27FC236}">
                <a16:creationId xmlns:a16="http://schemas.microsoft.com/office/drawing/2014/main" id="{2AEA8430-6AF8-4DEE-9F36-2673DAA45779}"/>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IDOR thuộc nhóm nào trong OWASP Top 10?</a:t>
            </a:r>
          </a:p>
        </p:txBody>
      </p:sp>
      <p:sp>
        <p:nvSpPr>
          <p:cNvPr id="10" name="a-0">
            <a:extLst xmlns:a="http://schemas.openxmlformats.org/drawingml/2006/main">
              <a:ext uri="{FF2B5EF4-FFF2-40B4-BE49-F238E27FC236}">
                <a16:creationId xmlns:a16="http://schemas.microsoft.com/office/drawing/2014/main" id="{0DB82F59-3181-416A-A4B6-046B9115DF49}"/>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A01:2025 Broken Access Control; cụ thể là thiếu object-level authorization.</a:t>
            </a:r>
          </a:p>
        </p:txBody>
      </p:sp>
      <p:sp>
        <p:nvSpPr>
          <p:cNvPr id="11" name="rule-150-336">
            <a:extLst xmlns:a="http://schemas.openxmlformats.org/drawingml/2006/main">
              <a:ext uri="{FF2B5EF4-FFF2-40B4-BE49-F238E27FC236}">
                <a16:creationId xmlns:a16="http://schemas.microsoft.com/office/drawing/2014/main" id="{2B90AA2D-297C-4C8F-A065-6B0A0BA863FE}"/>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73DAC8C1-85D8-4918-843A-938E8882D37D}"/>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13" name="q-1">
            <a:extLst xmlns:a="http://schemas.openxmlformats.org/drawingml/2006/main">
              <a:ext uri="{FF2B5EF4-FFF2-40B4-BE49-F238E27FC236}">
                <a16:creationId xmlns:a16="http://schemas.microsoft.com/office/drawing/2014/main" id="{BF12BC51-F5BA-4601-9AA5-CFBD416398DA}"/>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Server kiểm gì trước khi trả invoice?</a:t>
            </a:r>
          </a:p>
        </p:txBody>
      </p:sp>
      <p:sp>
        <p:nvSpPr>
          <p:cNvPr id="14" name="a-1">
            <a:extLst xmlns:a="http://schemas.openxmlformats.org/drawingml/2006/main">
              <a:ext uri="{FF2B5EF4-FFF2-40B4-BE49-F238E27FC236}">
                <a16:creationId xmlns:a16="http://schemas.microsoft.com/office/drawing/2014/main" id="{9CA42C37-B8CC-4EAE-8DCB-82826CB2C32C}"/>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Session hợp lệ → object tồn tại → current user là owner hoặc admin → chỉ sau đó mới render.</a:t>
            </a:r>
          </a:p>
        </p:txBody>
      </p:sp>
      <p:sp>
        <p:nvSpPr>
          <p:cNvPr id="15" name="rule-150-474">
            <a:extLst xmlns:a="http://schemas.openxmlformats.org/drawingml/2006/main">
              <a:ext uri="{FF2B5EF4-FFF2-40B4-BE49-F238E27FC236}">
                <a16:creationId xmlns:a16="http://schemas.microsoft.com/office/drawing/2014/main" id="{91DAFDFF-790A-4C61-8CD3-314B462E343C}"/>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3C1E7E3C-5CFB-420C-9C99-122A6113960C}"/>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7" name="q-2">
            <a:extLst xmlns:a="http://schemas.openxmlformats.org/drawingml/2006/main">
              <a:ext uri="{FF2B5EF4-FFF2-40B4-BE49-F238E27FC236}">
                <a16:creationId xmlns:a16="http://schemas.microsoft.com/office/drawing/2014/main" id="{3E4B44B1-B246-4C2E-ACC4-E112723263D7}"/>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không truyền giá authoritative từ client?</a:t>
            </a:r>
          </a:p>
        </p:txBody>
      </p:sp>
      <p:sp>
        <p:nvSpPr>
          <p:cNvPr id="18" name="a-2">
            <a:extLst xmlns:a="http://schemas.openxmlformats.org/drawingml/2006/main">
              <a:ext uri="{FF2B5EF4-FFF2-40B4-BE49-F238E27FC236}">
                <a16:creationId xmlns:a16="http://schemas.microsoft.com/office/drawing/2014/main" id="{E9DCC322-F40A-4D75-8932-4458FAC6D982}"/>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Client kiểm soát request; server phải đọc giá hiện tại từ database khi tính tổng.</a:t>
            </a:r>
          </a:p>
        </p:txBody>
      </p:sp>
    </p:spTree>
    <p:extLst>
      <p:ext uri="{BB962C8B-B14F-4D97-AF65-F5344CB8AC3E}">
        <p14:creationId xmlns:p14="http://schemas.microsoft.com/office/powerpoint/2010/main" val="1140609906"/>
      </p:ext>
    </p:extLst>
  </p:cSld>
</p:sld>
</file>

<file path=ppt/slides/slide3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7A27DC54-A051-45F2-A322-121E8EE3B844}"/>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LAB03 / KIỂM CHỨNG</a:t>
            </a:r>
          </a:p>
        </p:txBody>
      </p:sp>
      <p:sp>
        <p:nvSpPr>
          <p:cNvPr id="2" name="chrome-number">
            <a:extLst xmlns:a="http://schemas.openxmlformats.org/drawingml/2006/main">
              <a:ext uri="{FF2B5EF4-FFF2-40B4-BE49-F238E27FC236}">
                <a16:creationId xmlns:a16="http://schemas.microsoft.com/office/drawing/2014/main" id="{5605B764-6F93-4C16-A7AB-AD13AB2FC6C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34</a:t>
            </a:r>
          </a:p>
        </p:txBody>
      </p:sp>
      <p:sp>
        <p:nvSpPr>
          <p:cNvPr id="3" name="rule-70-58">
            <a:extLst xmlns:a="http://schemas.openxmlformats.org/drawingml/2006/main">
              <a:ext uri="{FF2B5EF4-FFF2-40B4-BE49-F238E27FC236}">
                <a16:creationId xmlns:a16="http://schemas.microsoft.com/office/drawing/2014/main" id="{7A2B6D3B-0EF2-4361-87D9-53C3CFAA9961}"/>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CE7CFC10-7FC1-4F2A-BD3B-A7CD5E2A979D}"/>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CF38CBB0-3BE4-4CC1-BF4D-B64C6043B30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Cả ba flow đều có cặp vulnerable / secure</a:t>
            </a:r>
          </a:p>
        </p:txBody>
      </p:sp>
      <p:sp>
        <p:nvSpPr>
          <p:cNvPr id="6" name="rule-70-672">
            <a:extLst xmlns:a="http://schemas.openxmlformats.org/drawingml/2006/main">
              <a:ext uri="{FF2B5EF4-FFF2-40B4-BE49-F238E27FC236}">
                <a16:creationId xmlns:a16="http://schemas.microsoft.com/office/drawing/2014/main" id="{4BF9E08E-4BF2-46F1-8949-BB7FB2A6C53B}"/>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C4AE1C6A-4FD3-4A99-8D75-E6DBC2B9B5E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B18DC08D-5F49-4218-846C-6BE2B35D3F82}"/>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9A77D34A-7FAF-4A05-B93C-6CD1F4A6D002}"/>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105</a:t>
            </a:r>
          </a:p>
        </p:txBody>
      </p:sp>
      <p:sp>
        <p:nvSpPr>
          <p:cNvPr id="10" name="stat-label-0">
            <a:extLst xmlns:a="http://schemas.openxmlformats.org/drawingml/2006/main">
              <a:ext uri="{FF2B5EF4-FFF2-40B4-BE49-F238E27FC236}">
                <a16:creationId xmlns:a16="http://schemas.microsoft.com/office/drawing/2014/main" id="{AC171F05-A9A2-415A-92FF-8323E8555A22}"/>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pass</a:t>
            </a:r>
          </a:p>
        </p:txBody>
      </p:sp>
      <p:sp>
        <p:nvSpPr>
          <p:cNvPr id="11" name="rule-430-240">
            <a:extLst xmlns:a="http://schemas.openxmlformats.org/drawingml/2006/main">
              <a:ext uri="{FF2B5EF4-FFF2-40B4-BE49-F238E27FC236}">
                <a16:creationId xmlns:a16="http://schemas.microsoft.com/office/drawing/2014/main" id="{89F5A0CC-8030-45FF-901B-3776564595D1}"/>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18F4D05B-4A44-421C-93BA-C74ED23DDA1A}"/>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9</a:t>
            </a:r>
          </a:p>
        </p:txBody>
      </p:sp>
      <p:sp>
        <p:nvSpPr>
          <p:cNvPr id="13" name="stat-label-1">
            <a:extLst xmlns:a="http://schemas.openxmlformats.org/drawingml/2006/main">
              <a:ext uri="{FF2B5EF4-FFF2-40B4-BE49-F238E27FC236}">
                <a16:creationId xmlns:a16="http://schemas.microsoft.com/office/drawing/2014/main" id="{F8E5E4DB-4CF8-4CEE-ABC8-7BB3A851D040}"/>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demo flow đã export</a:t>
            </a:r>
          </a:p>
        </p:txBody>
      </p:sp>
      <p:sp>
        <p:nvSpPr>
          <p:cNvPr id="14" name="rule-790-240">
            <a:extLst xmlns:a="http://schemas.openxmlformats.org/drawingml/2006/main">
              <a:ext uri="{FF2B5EF4-FFF2-40B4-BE49-F238E27FC236}">
                <a16:creationId xmlns:a16="http://schemas.microsoft.com/office/drawing/2014/main" id="{F0E69B46-B3AD-4D54-86B1-9CA9C6778C6C}"/>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0A398DC9-93D1-4020-A30A-8FBF9394FE02}"/>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403</a:t>
            </a:r>
          </a:p>
        </p:txBody>
      </p:sp>
      <p:sp>
        <p:nvSpPr>
          <p:cNvPr id="16" name="stat-label-2">
            <a:extLst xmlns:a="http://schemas.openxmlformats.org/drawingml/2006/main">
              <a:ext uri="{FF2B5EF4-FFF2-40B4-BE49-F238E27FC236}">
                <a16:creationId xmlns:a16="http://schemas.microsoft.com/office/drawing/2014/main" id="{4B30142D-7F18-4E89-BC35-760C77DC0DD1}"/>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secure IDOR response</a:t>
            </a:r>
          </a:p>
        </p:txBody>
      </p:sp>
      <p:sp>
        <p:nvSpPr>
          <p:cNvPr id="17" name="caveat">
            <a:extLst xmlns:a="http://schemas.openxmlformats.org/drawingml/2006/main">
              <a:ext uri="{FF2B5EF4-FFF2-40B4-BE49-F238E27FC236}">
                <a16:creationId xmlns:a16="http://schemas.microsoft.com/office/drawing/2014/main" id="{F4038959-3563-4492-AB23-384CAB02A4D2}"/>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Evidence ghi: price tampered được chấp nhận ở vulnerable; IDOR secure bị từ chối; role secure bị loại khỏi allowlist.</a:t>
            </a:r>
          </a:p>
        </p:txBody>
      </p:sp>
    </p:spTree>
    <p:extLst>
      <p:ext uri="{BB962C8B-B14F-4D97-AF65-F5344CB8AC3E}">
        <p14:creationId xmlns:p14="http://schemas.microsoft.com/office/powerpoint/2010/main" val="1768776231"/>
      </p:ext>
    </p:extLst>
  </p:cSld>
</p:sld>
</file>

<file path=ppt/slides/slide35.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F36FEB3D-954A-4B9D-B0D2-CE4007AF52B6}"/>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04</a:t>
            </a:r>
          </a:p>
        </p:txBody>
      </p:sp>
      <p:sp>
        <p:nvSpPr>
          <p:cNvPr id="2" name="chapter-title">
            <a:extLst xmlns:a="http://schemas.openxmlformats.org/drawingml/2006/main">
              <a:ext uri="{FF2B5EF4-FFF2-40B4-BE49-F238E27FC236}">
                <a16:creationId xmlns:a16="http://schemas.microsoft.com/office/drawing/2014/main" id="{DF2C1030-EC74-4F48-8352-FF3C682A1E0D}"/>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cross-site request</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forgery</a:t>
            </a:r>
          </a:p>
        </p:txBody>
      </p:sp>
      <p:sp>
        <p:nvSpPr>
          <p:cNvPr id="3" name="chapter-subtitle">
            <a:extLst xmlns:a="http://schemas.openxmlformats.org/drawingml/2006/main">
              <a:ext uri="{FF2B5EF4-FFF2-40B4-BE49-F238E27FC236}">
                <a16:creationId xmlns:a16="http://schemas.microsoft.com/office/drawing/2014/main" id="{6097B256-50FC-4382-8F0A-E34FD119F768}"/>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Cookie chứng minh danh tính — không chứng minh ý định</a:t>
            </a:r>
          </a:p>
        </p:txBody>
      </p:sp>
      <p:sp>
        <p:nvSpPr>
          <p:cNvPr id="4" name="rule-76-618">
            <a:extLst xmlns:a="http://schemas.openxmlformats.org/drawingml/2006/main">
              <a:ext uri="{FF2B5EF4-FFF2-40B4-BE49-F238E27FC236}">
                <a16:creationId xmlns:a16="http://schemas.microsoft.com/office/drawing/2014/main" id="{A728CD05-DECB-4EBB-970A-0E46AA216523}"/>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FCC209F6-76C8-435A-8231-3F5920564A68}"/>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1210781380"/>
      </p:ext>
    </p:extLst>
  </p:cSld>
</p:sld>
</file>

<file path=ppt/slides/slide3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4" name="chrome-section">
            <a:extLst xmlns:a="http://schemas.openxmlformats.org/drawingml/2006/main">
              <a:ext uri="{FF2B5EF4-FFF2-40B4-BE49-F238E27FC236}">
                <a16:creationId xmlns:a16="http://schemas.microsoft.com/office/drawing/2014/main" id="{164532BB-F283-482F-9533-486DD3C1240E}"/>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CƠ CHẾ</a:t>
            </a:r>
          </a:p>
        </p:txBody>
      </p:sp>
      <p:sp>
        <p:nvSpPr>
          <p:cNvPr id="2" name="chrome-number">
            <a:extLst xmlns:a="http://schemas.openxmlformats.org/drawingml/2006/main">
              <a:ext uri="{FF2B5EF4-FFF2-40B4-BE49-F238E27FC236}">
                <a16:creationId xmlns:a16="http://schemas.microsoft.com/office/drawing/2014/main" id="{48F6FEE1-63A2-4766-9BED-EEAF2E62D6A4}"/>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36</a:t>
            </a:r>
          </a:p>
        </p:txBody>
      </p:sp>
      <p:sp>
        <p:nvSpPr>
          <p:cNvPr id="3" name="rule-70-58">
            <a:extLst xmlns:a="http://schemas.openxmlformats.org/drawingml/2006/main">
              <a:ext uri="{FF2B5EF4-FFF2-40B4-BE49-F238E27FC236}">
                <a16:creationId xmlns:a16="http://schemas.microsoft.com/office/drawing/2014/main" id="{7748EE3B-F0DB-4BD9-BAAE-E14957BA2C4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255C1F3-6B06-4ED5-882A-333D5FCE341E}"/>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LUỒNG DỮ LIỆU VÀ RANH GIỚI TIN CẬY</a:t>
            </a:r>
          </a:p>
        </p:txBody>
      </p:sp>
      <p:sp>
        <p:nvSpPr>
          <p:cNvPr id="5" name="slide-title">
            <a:extLst xmlns:a="http://schemas.openxmlformats.org/drawingml/2006/main">
              <a:ext uri="{FF2B5EF4-FFF2-40B4-BE49-F238E27FC236}">
                <a16:creationId xmlns:a16="http://schemas.microsoft.com/office/drawing/2014/main" id="{8DB50338-8B12-4AEA-A8F7-EC3BAEC13B9E}"/>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Browser tự gắn credential theo target request</a:t>
            </a:r>
          </a:p>
        </p:txBody>
      </p:sp>
      <p:sp>
        <p:nvSpPr>
          <p:cNvPr id="6" name="rule-70-672">
            <a:extLst xmlns:a="http://schemas.openxmlformats.org/drawingml/2006/main">
              <a:ext uri="{FF2B5EF4-FFF2-40B4-BE49-F238E27FC236}">
                <a16:creationId xmlns:a16="http://schemas.microsoft.com/office/drawing/2014/main" id="{98BFD6D0-7511-499A-812D-1FF6C9DA6AB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8A01CE63-EA44-41A9-B778-1B69BCC6370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flow-slash-0">
            <a:extLst xmlns:a="http://schemas.openxmlformats.org/drawingml/2006/main">
              <a:ext uri="{FF2B5EF4-FFF2-40B4-BE49-F238E27FC236}">
                <a16:creationId xmlns:a16="http://schemas.microsoft.com/office/drawing/2014/main" id="{7279DD88-7D9E-4EE9-87B6-8AE7B3AB199F}"/>
              </a:ext>
            </a:extLst>
          </p:cNvPr>
          <p:cNvSpPr>
            <a:spLocks xmlns:a="http://schemas.openxmlformats.org/drawingml/2006/main" noGrp="1"/>
          </p:cNvSpPr>
          <p:nvPr/>
        </p:nvSpPr>
        <p:spPr>
          <a:xfrm xmlns:a="http://schemas.openxmlformats.org/drawingml/2006/main">
            <a:off x="331470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9" name="rule-85-270">
            <a:extLst xmlns:a="http://schemas.openxmlformats.org/drawingml/2006/main">
              <a:ext uri="{FF2B5EF4-FFF2-40B4-BE49-F238E27FC236}">
                <a16:creationId xmlns:a16="http://schemas.microsoft.com/office/drawing/2014/main" id="{1B2EB4E7-8A86-4F14-A65E-D06E642AAD24}"/>
              </a:ext>
            </a:extLst>
          </p:cNvPr>
          <p:cNvSpPr>
            <a:spLocks xmlns:a="http://schemas.openxmlformats.org/drawingml/2006/main" noGrp="1"/>
          </p:cNvSpPr>
          <p:nvPr/>
        </p:nvSpPr>
        <p:spPr>
          <a:xfrm xmlns:a="http://schemas.openxmlformats.org/drawingml/2006/main">
            <a:off x="809625" y="2571750"/>
            <a:ext cx="245745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0" name="node-title-0">
            <a:extLst xmlns:a="http://schemas.openxmlformats.org/drawingml/2006/main">
              <a:ext uri="{FF2B5EF4-FFF2-40B4-BE49-F238E27FC236}">
                <a16:creationId xmlns:a16="http://schemas.microsoft.com/office/drawing/2014/main" id="{2929FAB6-D0A8-4105-8EAF-B8E8DC83836B}"/>
              </a:ext>
            </a:extLst>
          </p:cNvPr>
          <p:cNvSpPr>
            <a:spLocks xmlns:a="http://schemas.openxmlformats.org/drawingml/2006/main" noGrp="1"/>
          </p:cNvSpPr>
          <p:nvPr/>
        </p:nvSpPr>
        <p:spPr>
          <a:xfrm xmlns:a="http://schemas.openxmlformats.org/drawingml/2006/main">
            <a:off x="809625" y="2819400"/>
            <a:ext cx="245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Victim login</a:t>
            </a:r>
          </a:p>
        </p:txBody>
      </p:sp>
      <p:sp>
        <p:nvSpPr>
          <p:cNvPr id="11" name="node-note-0">
            <a:extLst xmlns:a="http://schemas.openxmlformats.org/drawingml/2006/main">
              <a:ext uri="{FF2B5EF4-FFF2-40B4-BE49-F238E27FC236}">
                <a16:creationId xmlns:a16="http://schemas.microsoft.com/office/drawing/2014/main" id="{BF415E48-1197-4C77-8E89-BD734F032FF7}"/>
              </a:ext>
            </a:extLst>
          </p:cNvPr>
          <p:cNvSpPr>
            <a:spLocks xmlns:a="http://schemas.openxmlformats.org/drawingml/2006/main" noGrp="1"/>
          </p:cNvSpPr>
          <p:nvPr/>
        </p:nvSpPr>
        <p:spPr>
          <a:xfrm xmlns:a="http://schemas.openxmlformats.org/drawingml/2006/main">
            <a:off x="809625" y="3638550"/>
            <a:ext cx="2457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session cookie</a:t>
            </a:r>
          </a:p>
        </p:txBody>
      </p:sp>
      <p:sp>
        <p:nvSpPr>
          <p:cNvPr id="12" name="flow-slash-1">
            <a:extLst xmlns:a="http://schemas.openxmlformats.org/drawingml/2006/main">
              <a:ext uri="{FF2B5EF4-FFF2-40B4-BE49-F238E27FC236}">
                <a16:creationId xmlns:a16="http://schemas.microsoft.com/office/drawing/2014/main" id="{5B972A65-0AC1-4B83-B4B9-57652987DB78}"/>
              </a:ext>
            </a:extLst>
          </p:cNvPr>
          <p:cNvSpPr>
            <a:spLocks xmlns:a="http://schemas.openxmlformats.org/drawingml/2006/main" noGrp="1"/>
          </p:cNvSpPr>
          <p:nvPr/>
        </p:nvSpPr>
        <p:spPr>
          <a:xfrm xmlns:a="http://schemas.openxmlformats.org/drawingml/2006/main">
            <a:off x="601980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3" name="rule-369-270">
            <a:extLst xmlns:a="http://schemas.openxmlformats.org/drawingml/2006/main">
              <a:ext uri="{FF2B5EF4-FFF2-40B4-BE49-F238E27FC236}">
                <a16:creationId xmlns:a16="http://schemas.microsoft.com/office/drawing/2014/main" id="{AF8E4577-4ED0-4257-AF5D-2B1BC157722E}"/>
              </a:ext>
            </a:extLst>
          </p:cNvPr>
          <p:cNvSpPr>
            <a:spLocks xmlns:a="http://schemas.openxmlformats.org/drawingml/2006/main" noGrp="1"/>
          </p:cNvSpPr>
          <p:nvPr/>
        </p:nvSpPr>
        <p:spPr>
          <a:xfrm xmlns:a="http://schemas.openxmlformats.org/drawingml/2006/main">
            <a:off x="3514725" y="2571750"/>
            <a:ext cx="245745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node-title-1">
            <a:extLst xmlns:a="http://schemas.openxmlformats.org/drawingml/2006/main">
              <a:ext uri="{FF2B5EF4-FFF2-40B4-BE49-F238E27FC236}">
                <a16:creationId xmlns:a16="http://schemas.microsoft.com/office/drawing/2014/main" id="{0940458B-50E8-4CEC-AE62-F66D78640292}"/>
              </a:ext>
            </a:extLst>
          </p:cNvPr>
          <p:cNvSpPr>
            <a:spLocks xmlns:a="http://schemas.openxmlformats.org/drawingml/2006/main" noGrp="1"/>
          </p:cNvSpPr>
          <p:nvPr/>
        </p:nvSpPr>
        <p:spPr>
          <a:xfrm xmlns:a="http://schemas.openxmlformats.org/drawingml/2006/main">
            <a:off x="3514725" y="2819400"/>
            <a:ext cx="245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Demo Page</a:t>
            </a:r>
          </a:p>
        </p:txBody>
      </p:sp>
      <p:sp>
        <p:nvSpPr>
          <p:cNvPr id="15" name="node-note-1">
            <a:extLst xmlns:a="http://schemas.openxmlformats.org/drawingml/2006/main">
              <a:ext uri="{FF2B5EF4-FFF2-40B4-BE49-F238E27FC236}">
                <a16:creationId xmlns:a16="http://schemas.microsoft.com/office/drawing/2014/main" id="{429F0A93-3820-4401-BBDF-99FDA008AF30}"/>
              </a:ext>
            </a:extLst>
          </p:cNvPr>
          <p:cNvSpPr>
            <a:spLocks xmlns:a="http://schemas.openxmlformats.org/drawingml/2006/main" noGrp="1"/>
          </p:cNvSpPr>
          <p:nvPr/>
        </p:nvSpPr>
        <p:spPr>
          <a:xfrm xmlns:a="http://schemas.openxmlformats.org/drawingml/2006/main">
            <a:off x="3514725" y="3638550"/>
            <a:ext cx="2457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form cross-origin</a:t>
            </a:r>
          </a:p>
        </p:txBody>
      </p:sp>
      <p:sp>
        <p:nvSpPr>
          <p:cNvPr id="16" name="flow-slash-2">
            <a:extLst xmlns:a="http://schemas.openxmlformats.org/drawingml/2006/main">
              <a:ext uri="{FF2B5EF4-FFF2-40B4-BE49-F238E27FC236}">
                <a16:creationId xmlns:a16="http://schemas.microsoft.com/office/drawing/2014/main" id="{556862B0-D8CD-40C5-AE59-33572C28ED6A}"/>
              </a:ext>
            </a:extLst>
          </p:cNvPr>
          <p:cNvSpPr>
            <a:spLocks xmlns:a="http://schemas.openxmlformats.org/drawingml/2006/main" noGrp="1"/>
          </p:cNvSpPr>
          <p:nvPr/>
        </p:nvSpPr>
        <p:spPr>
          <a:xfrm xmlns:a="http://schemas.openxmlformats.org/drawingml/2006/main">
            <a:off x="872490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7" name="rule-653-270">
            <a:extLst xmlns:a="http://schemas.openxmlformats.org/drawingml/2006/main">
              <a:ext uri="{FF2B5EF4-FFF2-40B4-BE49-F238E27FC236}">
                <a16:creationId xmlns:a16="http://schemas.microsoft.com/office/drawing/2014/main" id="{EA78A062-7124-4E4D-8E03-4B94DB014C9E}"/>
              </a:ext>
            </a:extLst>
          </p:cNvPr>
          <p:cNvSpPr>
            <a:spLocks xmlns:a="http://schemas.openxmlformats.org/drawingml/2006/main" noGrp="1"/>
          </p:cNvSpPr>
          <p:nvPr/>
        </p:nvSpPr>
        <p:spPr>
          <a:xfrm xmlns:a="http://schemas.openxmlformats.org/drawingml/2006/main">
            <a:off x="6219825" y="2571750"/>
            <a:ext cx="245745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8" name="node-title-2">
            <a:extLst xmlns:a="http://schemas.openxmlformats.org/drawingml/2006/main">
              <a:ext uri="{FF2B5EF4-FFF2-40B4-BE49-F238E27FC236}">
                <a16:creationId xmlns:a16="http://schemas.microsoft.com/office/drawing/2014/main" id="{6D4CC68F-3792-4099-AA29-273252B2F3D9}"/>
              </a:ext>
            </a:extLst>
          </p:cNvPr>
          <p:cNvSpPr>
            <a:spLocks xmlns:a="http://schemas.openxmlformats.org/drawingml/2006/main" noGrp="1"/>
          </p:cNvSpPr>
          <p:nvPr/>
        </p:nvSpPr>
        <p:spPr>
          <a:xfrm xmlns:a="http://schemas.openxmlformats.org/drawingml/2006/main">
            <a:off x="6219825" y="2819400"/>
            <a:ext cx="245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Browser</a:t>
            </a:r>
          </a:p>
        </p:txBody>
      </p:sp>
      <p:sp>
        <p:nvSpPr>
          <p:cNvPr id="19" name="node-note-2">
            <a:extLst xmlns:a="http://schemas.openxmlformats.org/drawingml/2006/main">
              <a:ext uri="{FF2B5EF4-FFF2-40B4-BE49-F238E27FC236}">
                <a16:creationId xmlns:a16="http://schemas.microsoft.com/office/drawing/2014/main" id="{D7DAC6B7-B3C2-448F-AB14-86331D30A5F5}"/>
              </a:ext>
            </a:extLst>
          </p:cNvPr>
          <p:cNvSpPr>
            <a:spLocks xmlns:a="http://schemas.openxmlformats.org/drawingml/2006/main" noGrp="1"/>
          </p:cNvSpPr>
          <p:nvPr/>
        </p:nvSpPr>
        <p:spPr>
          <a:xfrm xmlns:a="http://schemas.openxmlformats.org/drawingml/2006/main">
            <a:off x="6219825" y="3638550"/>
            <a:ext cx="2457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cookie policy</a:t>
            </a:r>
          </a:p>
        </p:txBody>
      </p:sp>
      <p:sp>
        <p:nvSpPr>
          <p:cNvPr id="20" name="rule-937-270">
            <a:extLst xmlns:a="http://schemas.openxmlformats.org/drawingml/2006/main">
              <a:ext uri="{FF2B5EF4-FFF2-40B4-BE49-F238E27FC236}">
                <a16:creationId xmlns:a16="http://schemas.microsoft.com/office/drawing/2014/main" id="{972A8D5A-329A-426B-8D26-5378C2B49C60}"/>
              </a:ext>
            </a:extLst>
          </p:cNvPr>
          <p:cNvSpPr>
            <a:spLocks xmlns:a="http://schemas.openxmlformats.org/drawingml/2006/main" noGrp="1"/>
          </p:cNvSpPr>
          <p:nvPr/>
        </p:nvSpPr>
        <p:spPr>
          <a:xfrm xmlns:a="http://schemas.openxmlformats.org/drawingml/2006/main">
            <a:off x="8924925" y="2571750"/>
            <a:ext cx="245745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21" name="node-title-3">
            <a:extLst xmlns:a="http://schemas.openxmlformats.org/drawingml/2006/main">
              <a:ext uri="{FF2B5EF4-FFF2-40B4-BE49-F238E27FC236}">
                <a16:creationId xmlns:a16="http://schemas.microsoft.com/office/drawing/2014/main" id="{569D9C54-6175-4DC7-AC24-D84B8B739762}"/>
              </a:ext>
            </a:extLst>
          </p:cNvPr>
          <p:cNvSpPr>
            <a:spLocks xmlns:a="http://schemas.openxmlformats.org/drawingml/2006/main" noGrp="1"/>
          </p:cNvSpPr>
          <p:nvPr/>
        </p:nvSpPr>
        <p:spPr>
          <a:xfrm xmlns:a="http://schemas.openxmlformats.org/drawingml/2006/main">
            <a:off x="8924925" y="2819400"/>
            <a:ext cx="245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Victim route</a:t>
            </a:r>
          </a:p>
        </p:txBody>
      </p:sp>
      <p:sp>
        <p:nvSpPr>
          <p:cNvPr id="22" name="node-note-3">
            <a:extLst xmlns:a="http://schemas.openxmlformats.org/drawingml/2006/main">
              <a:ext uri="{FF2B5EF4-FFF2-40B4-BE49-F238E27FC236}">
                <a16:creationId xmlns:a16="http://schemas.microsoft.com/office/drawing/2014/main" id="{574CF583-A09F-45C1-872D-9369B54B0564}"/>
              </a:ext>
            </a:extLst>
          </p:cNvPr>
          <p:cNvSpPr>
            <a:spLocks xmlns:a="http://schemas.openxmlformats.org/drawingml/2006/main" noGrp="1"/>
          </p:cNvSpPr>
          <p:nvPr/>
        </p:nvSpPr>
        <p:spPr>
          <a:xfrm xmlns:a="http://schemas.openxmlformats.org/drawingml/2006/main">
            <a:off x="8924925" y="3638550"/>
            <a:ext cx="2457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state mutation</a:t>
            </a:r>
          </a:p>
        </p:txBody>
      </p:sp>
      <p:sp>
        <p:nvSpPr>
          <p:cNvPr id="23" name="flow-caption">
            <a:extLst xmlns:a="http://schemas.openxmlformats.org/drawingml/2006/main">
              <a:ext uri="{FF2B5EF4-FFF2-40B4-BE49-F238E27FC236}">
                <a16:creationId xmlns:a16="http://schemas.microsoft.com/office/drawing/2014/main" id="{A284728E-95A9-4263-ABE2-E3BC53772813}"/>
              </a:ext>
            </a:extLst>
          </p:cNvPr>
          <p:cNvSpPr>
            <a:spLocks xmlns:a="http://schemas.openxmlformats.org/drawingml/2006/main" noGrp="1"/>
          </p:cNvSpPr>
          <p:nvPr/>
        </p:nvSpPr>
        <p:spPr>
          <a:xfrm xmlns:a="http://schemas.openxmlformats.org/drawingml/2006/main">
            <a:off x="952500" y="49530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00" b="0">
                <a:solidFill>
                  <a:srgbClr val="F0ECE5"/>
                </a:solidFill>
                <a:latin typeface="Arial Narrow"/>
                <a:ea typeface="Arial Narrow"/>
                <a:cs typeface="Arial Narrow"/>
              </a:defRPr>
            </a:pPr>
            <a:r>
              <a:rPr sz="1800" b="0">
                <a:solidFill>
                  <a:srgbClr val="F0ECE5"/>
                </a:solidFill>
                <a:latin typeface="Arial Narrow"/>
                <a:ea typeface="Arial Narrow"/>
                <a:cs typeface="Arial Narrow"/>
              </a:rPr>
              <a:t>CSRF thành công khi server coi “có cookie” là bằng chứng đủ cho một hành động thay đổi trạng thái.</a:t>
            </a:r>
          </a:p>
        </p:txBody>
      </p:sp>
    </p:spTree>
    <p:extLst>
      <p:ext uri="{BB962C8B-B14F-4D97-AF65-F5344CB8AC3E}">
        <p14:creationId xmlns:p14="http://schemas.microsoft.com/office/powerpoint/2010/main" val="2000828587"/>
      </p:ext>
    </p:extLst>
  </p:cSld>
</p:sld>
</file>

<file path=ppt/slides/slide3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BFC92B54-8147-49DC-A0B4-D933C534324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VULNERABLE</a:t>
            </a:r>
          </a:p>
        </p:txBody>
      </p:sp>
      <p:sp>
        <p:nvSpPr>
          <p:cNvPr id="2" name="chrome-number">
            <a:extLst xmlns:a="http://schemas.openxmlformats.org/drawingml/2006/main">
              <a:ext uri="{FF2B5EF4-FFF2-40B4-BE49-F238E27FC236}">
                <a16:creationId xmlns:a16="http://schemas.microsoft.com/office/drawing/2014/main" id="{1B73C4DF-00B8-46FD-BE96-D12E1FD2DB5D}"/>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37</a:t>
            </a:r>
          </a:p>
        </p:txBody>
      </p:sp>
      <p:sp>
        <p:nvSpPr>
          <p:cNvPr id="3" name="rule-70-58">
            <a:extLst xmlns:a="http://schemas.openxmlformats.org/drawingml/2006/main">
              <a:ext uri="{FF2B5EF4-FFF2-40B4-BE49-F238E27FC236}">
                <a16:creationId xmlns:a16="http://schemas.microsoft.com/office/drawing/2014/main" id="{D34A6E01-C78C-432A-9342-F160EE6E80BD}"/>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4843D6CA-722E-4523-AD35-479343C68A7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7AC585F9-B6B8-4671-9636-CCC349B92AD7}"/>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Form từ origin khác vẫn có thể tạo request</a:t>
            </a:r>
          </a:p>
        </p:txBody>
      </p:sp>
      <p:sp>
        <p:nvSpPr>
          <p:cNvPr id="6" name="rule-70-672">
            <a:extLst xmlns:a="http://schemas.openxmlformats.org/drawingml/2006/main">
              <a:ext uri="{FF2B5EF4-FFF2-40B4-BE49-F238E27FC236}">
                <a16:creationId xmlns:a16="http://schemas.microsoft.com/office/drawing/2014/main" id="{5E3E6749-967D-4A5D-BAB7-36012D696FD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3EB934AB-B816-4ADC-A4C4-76F27B4AF3C5}"/>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8484C25F-70D2-4E92-9D3C-B9E88444E3ED}"/>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Victim: 127.0.0.1:5004 / Demo Page: 127.0.0.1:9004</a:t>
            </a:r>
          </a:p>
        </p:txBody>
      </p:sp>
      <p:sp>
        <p:nvSpPr>
          <p:cNvPr id="9" name="step-num-0">
            <a:extLst xmlns:a="http://schemas.openxmlformats.org/drawingml/2006/main">
              <a:ext uri="{FF2B5EF4-FFF2-40B4-BE49-F238E27FC236}">
                <a16:creationId xmlns:a16="http://schemas.microsoft.com/office/drawing/2014/main" id="{AC132469-7090-4437-B15D-BFF8F84DB52C}"/>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7482C194-C0B0-4A43-A7AA-856227C73F70}"/>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victim / Victim123!; ghi email ban đầu.</a:t>
            </a:r>
          </a:p>
        </p:txBody>
      </p:sp>
      <p:sp>
        <p:nvSpPr>
          <p:cNvPr id="11" name="step-num-1">
            <a:extLst xmlns:a="http://schemas.openxmlformats.org/drawingml/2006/main">
              <a:ext uri="{FF2B5EF4-FFF2-40B4-BE49-F238E27FC236}">
                <a16:creationId xmlns:a16="http://schemas.microsoft.com/office/drawing/2014/main" id="{A1A5B7A6-7207-46E0-85D9-D792DE63A33D}"/>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A31A015E-101F-4D70-A265-3D254B0FD7BF}"/>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Mở /attack/vulnerable-email; bấm gửi và xác nhận.</a:t>
            </a:r>
          </a:p>
        </p:txBody>
      </p:sp>
      <p:sp>
        <p:nvSpPr>
          <p:cNvPr id="13" name="step-num-2">
            <a:extLst xmlns:a="http://schemas.openxmlformats.org/drawingml/2006/main">
              <a:ext uri="{FF2B5EF4-FFF2-40B4-BE49-F238E27FC236}">
                <a16:creationId xmlns:a16="http://schemas.microsoft.com/office/drawing/2014/main" id="{1445ED5F-6C43-44E6-BA4C-07F1B58F4378}"/>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BFACD9D1-B506-4082-9FC2-D3D00D71AB42}"/>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Chọn request: Origin/Referer :9004, cookie được che, email đã đổi.</a:t>
            </a:r>
          </a:p>
        </p:txBody>
      </p:sp>
      <p:sp>
        <p:nvSpPr>
          <p:cNvPr id="15" name="expected-panel">
            <a:extLst xmlns:a="http://schemas.openxmlformats.org/drawingml/2006/main">
              <a:ext uri="{FF2B5EF4-FFF2-40B4-BE49-F238E27FC236}">
                <a16:creationId xmlns:a16="http://schemas.microsoft.com/office/drawing/2014/main" id="{6D0661D8-DA49-45DC-9CDD-E738A3F89F17}"/>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2DC0BDC6-B62E-434E-8802-57D14C61EF16}"/>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7425C95A-D8BC-46EF-BFFA-6578E4ADB3ED}"/>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Route vulnerable thiếu token/Origin check nên state đổi khi credential được gửi.</a:t>
            </a:r>
          </a:p>
        </p:txBody>
      </p:sp>
    </p:spTree>
    <p:extLst>
      <p:ext uri="{BB962C8B-B14F-4D97-AF65-F5344CB8AC3E}">
        <p14:creationId xmlns:p14="http://schemas.microsoft.com/office/powerpoint/2010/main" val="1290670310"/>
      </p:ext>
    </p:extLst>
  </p:cSld>
</p:sld>
</file>

<file path=ppt/slides/slide3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CB5884EC-B07F-482D-978B-B00F36567211}"/>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SECURE</a:t>
            </a:r>
          </a:p>
        </p:txBody>
      </p:sp>
      <p:sp>
        <p:nvSpPr>
          <p:cNvPr id="2" name="chrome-number">
            <a:extLst xmlns:a="http://schemas.openxmlformats.org/drawingml/2006/main">
              <a:ext uri="{FF2B5EF4-FFF2-40B4-BE49-F238E27FC236}">
                <a16:creationId xmlns:a16="http://schemas.microsoft.com/office/drawing/2014/main" id="{B2477793-95BD-47C1-95FF-083A11A7BF2E}"/>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38</a:t>
            </a:r>
          </a:p>
        </p:txBody>
      </p:sp>
      <p:sp>
        <p:nvSpPr>
          <p:cNvPr id="3" name="rule-70-58">
            <a:extLst xmlns:a="http://schemas.openxmlformats.org/drawingml/2006/main">
              <a:ext uri="{FF2B5EF4-FFF2-40B4-BE49-F238E27FC236}">
                <a16:creationId xmlns:a16="http://schemas.microsoft.com/office/drawing/2014/main" id="{5897B7D8-4578-4CE1-8A30-77EC8214C56A}"/>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C19B1048-BE80-44F5-A22E-11DEC0390989}"/>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C771B179-C154-4354-B9CA-EE719D91BE7C}"/>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Deny trước mutation</a:t>
            </a:r>
          </a:p>
        </p:txBody>
      </p:sp>
      <p:sp>
        <p:nvSpPr>
          <p:cNvPr id="6" name="rule-70-672">
            <a:extLst xmlns:a="http://schemas.openxmlformats.org/drawingml/2006/main">
              <a:ext uri="{FF2B5EF4-FFF2-40B4-BE49-F238E27FC236}">
                <a16:creationId xmlns:a16="http://schemas.microsoft.com/office/drawing/2014/main" id="{45B0BCD3-72F2-404C-9F8A-194E24BDAEB1}"/>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F6F3B92-4801-4D51-87A7-B9F1D8C5FFD7}"/>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429402BE-FBCB-4764-B925-0A29DC5E08D5}"/>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http://127.0.0.1:5004/secure/change-email</a:t>
            </a:r>
          </a:p>
        </p:txBody>
      </p:sp>
      <p:sp>
        <p:nvSpPr>
          <p:cNvPr id="9" name="step-num-0">
            <a:extLst xmlns:a="http://schemas.openxmlformats.org/drawingml/2006/main">
              <a:ext uri="{FF2B5EF4-FFF2-40B4-BE49-F238E27FC236}">
                <a16:creationId xmlns:a16="http://schemas.microsoft.com/office/drawing/2014/main" id="{73A07A59-3879-422B-8001-85935C2AE556}"/>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D7739696-A5DA-4F6F-8DDD-8E97364C88B6}"/>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Mở secure form: che nhưng chỉ ra hidden csrf_token.</a:t>
            </a:r>
          </a:p>
        </p:txBody>
      </p:sp>
      <p:sp>
        <p:nvSpPr>
          <p:cNvPr id="11" name="step-num-1">
            <a:extLst xmlns:a="http://schemas.openxmlformats.org/drawingml/2006/main">
              <a:ext uri="{FF2B5EF4-FFF2-40B4-BE49-F238E27FC236}">
                <a16:creationId xmlns:a16="http://schemas.microsoft.com/office/drawing/2014/main" id="{EA3D2131-FDA5-40FF-9949-EA0213E652BD}"/>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1FA75652-3238-4189-8AA5-EE41BCB24CD0}"/>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Từ Demo Page gửi thiếu token hoặc bad token; ghi HTTP 403.</a:t>
            </a:r>
          </a:p>
        </p:txBody>
      </p:sp>
      <p:sp>
        <p:nvSpPr>
          <p:cNvPr id="13" name="step-num-2">
            <a:extLst xmlns:a="http://schemas.openxmlformats.org/drawingml/2006/main">
              <a:ext uri="{FF2B5EF4-FFF2-40B4-BE49-F238E27FC236}">
                <a16:creationId xmlns:a16="http://schemas.microsoft.com/office/drawing/2014/main" id="{7C1732F2-AF0B-47F1-928D-98E0CDD2BF5B}"/>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A9AF8AFD-4BCE-444A-9664-312A3E097752}"/>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Submit từ Victim UI với token + Origin hợp lệ; email đổi và token rotate.</a:t>
            </a:r>
          </a:p>
        </p:txBody>
      </p:sp>
      <p:sp>
        <p:nvSpPr>
          <p:cNvPr id="15" name="expected-panel">
            <a:extLst xmlns:a="http://schemas.openxmlformats.org/drawingml/2006/main">
              <a:ext uri="{FF2B5EF4-FFF2-40B4-BE49-F238E27FC236}">
                <a16:creationId xmlns:a16="http://schemas.microsoft.com/office/drawing/2014/main" id="{8CC30ACD-BDE1-475B-AA50-93A6F840DD9E}"/>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36A3343C-9E25-4C41-BC6C-7561BDD8515B}"/>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D082D7E5-9112-44E1-99E5-03F73705BE27}"/>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Server kiểm session → Origin/Referer → token → input; chỉ sau đó UPDATE.</a:t>
            </a:r>
          </a:p>
        </p:txBody>
      </p:sp>
    </p:spTree>
    <p:extLst>
      <p:ext uri="{BB962C8B-B14F-4D97-AF65-F5344CB8AC3E}">
        <p14:creationId xmlns:p14="http://schemas.microsoft.com/office/powerpoint/2010/main" val="1569294795"/>
      </p:ext>
    </p:extLst>
  </p:cSld>
</p:sld>
</file>

<file path=ppt/slides/slide3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63A7C774-5E66-4F97-B506-40DA8BC0EB1E}"/>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PHÂN TÍCH</a:t>
            </a:r>
          </a:p>
        </p:txBody>
      </p:sp>
      <p:sp>
        <p:nvSpPr>
          <p:cNvPr id="2" name="chrome-number">
            <a:extLst xmlns:a="http://schemas.openxmlformats.org/drawingml/2006/main">
              <a:ext uri="{FF2B5EF4-FFF2-40B4-BE49-F238E27FC236}">
                <a16:creationId xmlns:a16="http://schemas.microsoft.com/office/drawing/2014/main" id="{6021BAB8-547B-4C96-8670-BBE903DCBA45}"/>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39</a:t>
            </a:r>
          </a:p>
        </p:txBody>
      </p:sp>
      <p:sp>
        <p:nvSpPr>
          <p:cNvPr id="3" name="rule-70-58">
            <a:extLst xmlns:a="http://schemas.openxmlformats.org/drawingml/2006/main">
              <a:ext uri="{FF2B5EF4-FFF2-40B4-BE49-F238E27FC236}">
                <a16:creationId xmlns:a16="http://schemas.microsoft.com/office/drawing/2014/main" id="{D3B277D1-B088-4119-83E3-6239BBDD3FC5}"/>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2ABD92B5-DE80-4AF6-A28F-A090C0420422}"/>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C17DE531-B778-4230-BF32-B23D3DB668C8}"/>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1–2</a:t>
            </a:r>
          </a:p>
        </p:txBody>
      </p:sp>
      <p:sp>
        <p:nvSpPr>
          <p:cNvPr id="6" name="rule-70-672">
            <a:extLst xmlns:a="http://schemas.openxmlformats.org/drawingml/2006/main">
              <a:ext uri="{FF2B5EF4-FFF2-40B4-BE49-F238E27FC236}">
                <a16:creationId xmlns:a16="http://schemas.microsoft.com/office/drawing/2014/main" id="{30D19D7C-4CC5-425B-8DA2-24A89ECB7D70}"/>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12DF740-1B13-4727-B833-BE034AA1DFDD}"/>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077E3CE9-053B-4C7C-92D0-B801B11BEC87}"/>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48416667-660D-4759-B0F0-253D1C85AC37}"/>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browser tự động gửi cookie?</a:t>
            </a:r>
          </a:p>
        </p:txBody>
      </p:sp>
      <p:sp>
        <p:nvSpPr>
          <p:cNvPr id="10" name="a-0">
            <a:extLst xmlns:a="http://schemas.openxmlformats.org/drawingml/2006/main">
              <a:ext uri="{FF2B5EF4-FFF2-40B4-BE49-F238E27FC236}">
                <a16:creationId xmlns:a16="http://schemas.microsoft.com/office/drawing/2014/main" id="{91F15DEA-898F-49D5-9A27-4748FC2EA4A0}"/>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Cookie được chọn theo domain/path/SameSite/Secure và target request, không theo ý định của người dùng.</a:t>
            </a:r>
          </a:p>
        </p:txBody>
      </p:sp>
      <p:sp>
        <p:nvSpPr>
          <p:cNvPr id="11" name="rule-150-402">
            <a:extLst xmlns:a="http://schemas.openxmlformats.org/drawingml/2006/main">
              <a:ext uri="{FF2B5EF4-FFF2-40B4-BE49-F238E27FC236}">
                <a16:creationId xmlns:a16="http://schemas.microsoft.com/office/drawing/2014/main" id="{F2061D34-BA11-43BB-B828-5DCE88DD7000}"/>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16E35235-95B0-4701-90D6-12460CC85EE8}"/>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E84099BC-6D0F-49F7-8984-CACF1BC6E3DC}"/>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Attacker không biết mật khẩu vẫn CSRF vì sao?</a:t>
            </a:r>
          </a:p>
        </p:txBody>
      </p:sp>
      <p:sp>
        <p:nvSpPr>
          <p:cNvPr id="14" name="a-1">
            <a:extLst xmlns:a="http://schemas.openxmlformats.org/drawingml/2006/main">
              <a:ext uri="{FF2B5EF4-FFF2-40B4-BE49-F238E27FC236}">
                <a16:creationId xmlns:a16="http://schemas.microsoft.com/office/drawing/2014/main" id="{A3AEE908-0551-4A41-93D0-45CBB0ED1278}"/>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Victim đã đăng nhập; browser tự mang session credential trong request giả mạo nếu policy cho phép.</a:t>
            </a:r>
          </a:p>
        </p:txBody>
      </p:sp>
    </p:spTree>
    <p:extLst>
      <p:ext uri="{BB962C8B-B14F-4D97-AF65-F5344CB8AC3E}">
        <p14:creationId xmlns:p14="http://schemas.microsoft.com/office/powerpoint/2010/main" val="84674088"/>
      </p:ext>
    </p:extLst>
  </p:cSld>
</p:sld>
</file>

<file path=ppt/slides/slide4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0DFC5809-0D21-4024-AD43-1B572651283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PHÂN TÍCH</a:t>
            </a:r>
          </a:p>
        </p:txBody>
      </p:sp>
      <p:sp>
        <p:nvSpPr>
          <p:cNvPr id="2" name="chrome-number">
            <a:extLst xmlns:a="http://schemas.openxmlformats.org/drawingml/2006/main">
              <a:ext uri="{FF2B5EF4-FFF2-40B4-BE49-F238E27FC236}">
                <a16:creationId xmlns:a16="http://schemas.microsoft.com/office/drawing/2014/main" id="{0A785196-490A-42CF-8556-B2FD6752B697}"/>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40</a:t>
            </a:r>
          </a:p>
        </p:txBody>
      </p:sp>
      <p:sp>
        <p:nvSpPr>
          <p:cNvPr id="3" name="rule-70-58">
            <a:extLst xmlns:a="http://schemas.openxmlformats.org/drawingml/2006/main">
              <a:ext uri="{FF2B5EF4-FFF2-40B4-BE49-F238E27FC236}">
                <a16:creationId xmlns:a16="http://schemas.microsoft.com/office/drawing/2014/main" id="{5FBE45E4-1CD4-470C-B600-043C74BBF3C7}"/>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367ED322-3D73-4FF0-AC68-58A492B4664A}"/>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D8029B5F-C1BE-4D46-9F92-7D2B413464A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3–5</a:t>
            </a:r>
          </a:p>
        </p:txBody>
      </p:sp>
      <p:sp>
        <p:nvSpPr>
          <p:cNvPr id="6" name="rule-70-672">
            <a:extLst xmlns:a="http://schemas.openxmlformats.org/drawingml/2006/main">
              <a:ext uri="{FF2B5EF4-FFF2-40B4-BE49-F238E27FC236}">
                <a16:creationId xmlns:a16="http://schemas.microsoft.com/office/drawing/2014/main" id="{6CF7D75E-666B-4BDF-96B2-E169FE2C612E}"/>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9F7B0C1B-1778-4BB6-9439-953D812FDB83}"/>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EC0BA354-32E0-4D7C-859C-EC0919828705}"/>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9" name="q-0">
            <a:extLst xmlns:a="http://schemas.openxmlformats.org/drawingml/2006/main">
              <a:ext uri="{FF2B5EF4-FFF2-40B4-BE49-F238E27FC236}">
                <a16:creationId xmlns:a16="http://schemas.microsoft.com/office/drawing/2014/main" id="{673B34E8-E6A2-4BD5-947B-277834330AFE}"/>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CSRF có đọc được response của victim không?</a:t>
            </a:r>
          </a:p>
        </p:txBody>
      </p:sp>
      <p:sp>
        <p:nvSpPr>
          <p:cNvPr id="10" name="a-0">
            <a:extLst xmlns:a="http://schemas.openxmlformats.org/drawingml/2006/main">
              <a:ext uri="{FF2B5EF4-FFF2-40B4-BE49-F238E27FC236}">
                <a16:creationId xmlns:a16="http://schemas.microsoft.com/office/drawing/2014/main" id="{947E789B-0167-4CFC-8AA0-C83A9F7EF867}"/>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Thường không do SOP, nhưng attacker không cần đọc response để gây state change.</a:t>
            </a:r>
          </a:p>
        </p:txBody>
      </p:sp>
      <p:sp>
        <p:nvSpPr>
          <p:cNvPr id="11" name="rule-150-336">
            <a:extLst xmlns:a="http://schemas.openxmlformats.org/drawingml/2006/main">
              <a:ext uri="{FF2B5EF4-FFF2-40B4-BE49-F238E27FC236}">
                <a16:creationId xmlns:a16="http://schemas.microsoft.com/office/drawing/2014/main" id="{DBF7EBFC-E7C0-4646-A20E-150E91DD3AA8}"/>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F2F11682-564E-4F9E-8B67-D91B5E303233}"/>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13" name="q-1">
            <a:extLst xmlns:a="http://schemas.openxmlformats.org/drawingml/2006/main">
              <a:ext uri="{FF2B5EF4-FFF2-40B4-BE49-F238E27FC236}">
                <a16:creationId xmlns:a16="http://schemas.microsoft.com/office/drawing/2014/main" id="{3B9CE73E-9C49-49DA-9AE8-34C24B6D445E}"/>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CSRF khác XSS?</a:t>
            </a:r>
          </a:p>
        </p:txBody>
      </p:sp>
      <p:sp>
        <p:nvSpPr>
          <p:cNvPr id="14" name="a-1">
            <a:extLst xmlns:a="http://schemas.openxmlformats.org/drawingml/2006/main">
              <a:ext uri="{FF2B5EF4-FFF2-40B4-BE49-F238E27FC236}">
                <a16:creationId xmlns:a16="http://schemas.microsoft.com/office/drawing/2014/main" id="{46FC48DA-9889-4A78-9B77-64DC61AF779D}"/>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CSRF ép gửi request có credential; XSS chạy script trong origin của ứng dụng.</a:t>
            </a:r>
          </a:p>
        </p:txBody>
      </p:sp>
      <p:sp>
        <p:nvSpPr>
          <p:cNvPr id="15" name="rule-150-474">
            <a:extLst xmlns:a="http://schemas.openxmlformats.org/drawingml/2006/main">
              <a:ext uri="{FF2B5EF4-FFF2-40B4-BE49-F238E27FC236}">
                <a16:creationId xmlns:a16="http://schemas.microsoft.com/office/drawing/2014/main" id="{3FF826DB-1396-4B27-83E9-3364F6809922}"/>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8975E54E-C0FD-4BA3-9FBE-06A3F736F9C9}"/>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7" name="q-2">
            <a:extLst xmlns:a="http://schemas.openxmlformats.org/drawingml/2006/main">
              <a:ext uri="{FF2B5EF4-FFF2-40B4-BE49-F238E27FC236}">
                <a16:creationId xmlns:a16="http://schemas.microsoft.com/office/drawing/2014/main" id="{E8083C5F-66F0-4D8C-914A-507998177554}"/>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state change không dùng GET?</a:t>
            </a:r>
          </a:p>
        </p:txBody>
      </p:sp>
      <p:sp>
        <p:nvSpPr>
          <p:cNvPr id="18" name="a-2">
            <a:extLst xmlns:a="http://schemas.openxmlformats.org/drawingml/2006/main">
              <a:ext uri="{FF2B5EF4-FFF2-40B4-BE49-F238E27FC236}">
                <a16:creationId xmlns:a16="http://schemas.microsoft.com/office/drawing/2014/main" id="{66A66A1D-9A40-43B9-A52C-8E919EF99339}"/>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GET dễ bị kích hoạt bởi link, image, prefetch và được định nghĩa là safe/idempotent.</a:t>
            </a:r>
          </a:p>
        </p:txBody>
      </p:sp>
    </p:spTree>
    <p:extLst>
      <p:ext uri="{BB962C8B-B14F-4D97-AF65-F5344CB8AC3E}">
        <p14:creationId xmlns:p14="http://schemas.microsoft.com/office/powerpoint/2010/main" val="2062876995"/>
      </p:ext>
    </p:extLst>
  </p:cSld>
</p:sld>
</file>

<file path=ppt/slides/slide4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34DB9523-BEBC-4BEF-894C-BB0B8567C314}"/>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PHÒNG CHỐNG</a:t>
            </a:r>
          </a:p>
        </p:txBody>
      </p:sp>
      <p:sp>
        <p:nvSpPr>
          <p:cNvPr id="2" name="chrome-number">
            <a:extLst xmlns:a="http://schemas.openxmlformats.org/drawingml/2006/main">
              <a:ext uri="{FF2B5EF4-FFF2-40B4-BE49-F238E27FC236}">
                <a16:creationId xmlns:a16="http://schemas.microsoft.com/office/drawing/2014/main" id="{5348E76A-165A-40D4-ADE7-8F2329CDC1D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41</a:t>
            </a:r>
          </a:p>
        </p:txBody>
      </p:sp>
      <p:sp>
        <p:nvSpPr>
          <p:cNvPr id="3" name="rule-70-58">
            <a:extLst xmlns:a="http://schemas.openxmlformats.org/drawingml/2006/main">
              <a:ext uri="{FF2B5EF4-FFF2-40B4-BE49-F238E27FC236}">
                <a16:creationId xmlns:a16="http://schemas.microsoft.com/office/drawing/2014/main" id="{FBD5FCCA-5A6B-45F2-A7BC-45A1FA5F8B18}"/>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8508E7DE-AD17-4583-B6E6-48FA2A90D9E2}"/>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FF8A2A51-F632-4838-8E4C-14069466166F}"/>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lớp cùng bảo vệ ý định</a:t>
            </a:r>
          </a:p>
        </p:txBody>
      </p:sp>
      <p:sp>
        <p:nvSpPr>
          <p:cNvPr id="6" name="rule-70-672">
            <a:extLst xmlns:a="http://schemas.openxmlformats.org/drawingml/2006/main">
              <a:ext uri="{FF2B5EF4-FFF2-40B4-BE49-F238E27FC236}">
                <a16:creationId xmlns:a16="http://schemas.microsoft.com/office/drawing/2014/main" id="{547819AF-33FD-4CAB-B4D9-6A9EADF30428}"/>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359BC7E6-9C0C-4B89-AABB-AD82F055A335}"/>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AA7BE714-D86E-4BD6-86A6-DBE034880CB8}"/>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2C1FE1A6-0E5A-4A39-BF7B-E4FD041DABCF}"/>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Synchronizer token ngẫu nhiên theo session, kiểm bằng compare_digest ở server.</a:t>
            </a:r>
          </a:p>
        </p:txBody>
      </p:sp>
      <p:sp>
        <p:nvSpPr>
          <p:cNvPr id="10" name="bullet-marker-1">
            <a:extLst xmlns:a="http://schemas.openxmlformats.org/drawingml/2006/main">
              <a:ext uri="{FF2B5EF4-FFF2-40B4-BE49-F238E27FC236}">
                <a16:creationId xmlns:a16="http://schemas.microsoft.com/office/drawing/2014/main" id="{3B7BF156-494D-40DB-B8F3-2F1C045DA8A5}"/>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9C8E955D-D948-452B-9068-42DC7F57C5DA}"/>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Origin/Referer exact allowlist và POST-only cho thao tác thay đổi state.</a:t>
            </a:r>
          </a:p>
        </p:txBody>
      </p:sp>
      <p:sp>
        <p:nvSpPr>
          <p:cNvPr id="12" name="bullet-marker-2">
            <a:extLst xmlns:a="http://schemas.openxmlformats.org/drawingml/2006/main">
              <a:ext uri="{FF2B5EF4-FFF2-40B4-BE49-F238E27FC236}">
                <a16:creationId xmlns:a16="http://schemas.microsoft.com/office/drawing/2014/main" id="{AFFF5980-6FD5-4BAB-B32F-C924F78D098D}"/>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1573F7E6-D864-40AF-BBCD-D77699ABF2EA}"/>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SameSite + re-authentication là defense in depth; CAPTCHA không phải lớp chính.</a:t>
            </a:r>
          </a:p>
        </p:txBody>
      </p:sp>
    </p:spTree>
    <p:extLst>
      <p:ext uri="{BB962C8B-B14F-4D97-AF65-F5344CB8AC3E}">
        <p14:creationId xmlns:p14="http://schemas.microsoft.com/office/powerpoint/2010/main" val="1278905958"/>
      </p:ext>
    </p:extLst>
  </p:cSld>
</p:sld>
</file>

<file path=ppt/slides/slide4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95DC511A-13AE-445A-96DA-D01258ED261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LAB04 / KIỂM CHỨNG</a:t>
            </a:r>
          </a:p>
        </p:txBody>
      </p:sp>
      <p:sp>
        <p:nvSpPr>
          <p:cNvPr id="2" name="chrome-number">
            <a:extLst xmlns:a="http://schemas.openxmlformats.org/drawingml/2006/main">
              <a:ext uri="{FF2B5EF4-FFF2-40B4-BE49-F238E27FC236}">
                <a16:creationId xmlns:a16="http://schemas.microsoft.com/office/drawing/2014/main" id="{054DF41C-E9B2-41A2-AECD-4D96E3F28709}"/>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42</a:t>
            </a:r>
          </a:p>
        </p:txBody>
      </p:sp>
      <p:sp>
        <p:nvSpPr>
          <p:cNvPr id="3" name="rule-70-58">
            <a:extLst xmlns:a="http://schemas.openxmlformats.org/drawingml/2006/main">
              <a:ext uri="{FF2B5EF4-FFF2-40B4-BE49-F238E27FC236}">
                <a16:creationId xmlns:a16="http://schemas.microsoft.com/office/drawing/2014/main" id="{40628DA9-DA34-4137-9451-F9C4B7710C6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0FBDBFB7-5492-4F97-B20A-8E4E872A35E7}"/>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6B803071-0404-4C48-ACA3-C4B0BDE58C4E}"/>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856"/>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Bằng chứng server-side đầy đủ; hành vi browser cần demo thật</a:t>
            </a:r>
          </a:p>
        </p:txBody>
      </p:sp>
      <p:sp>
        <p:nvSpPr>
          <p:cNvPr id="6" name="rule-70-672">
            <a:extLst xmlns:a="http://schemas.openxmlformats.org/drawingml/2006/main">
              <a:ext uri="{FF2B5EF4-FFF2-40B4-BE49-F238E27FC236}">
                <a16:creationId xmlns:a16="http://schemas.microsoft.com/office/drawing/2014/main" id="{21DF5BA9-B02B-494D-8861-BF62E5CC4A4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05DBAA41-68D8-45B2-977E-2A251D78DCD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292BBDF9-AD27-42F7-86D6-58211412AC26}"/>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E94CD70B-5235-4F27-AE07-D04EE907A35B}"/>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87</a:t>
            </a:r>
          </a:p>
        </p:txBody>
      </p:sp>
      <p:sp>
        <p:nvSpPr>
          <p:cNvPr id="10" name="stat-label-0">
            <a:extLst xmlns:a="http://schemas.openxmlformats.org/drawingml/2006/main">
              <a:ext uri="{FF2B5EF4-FFF2-40B4-BE49-F238E27FC236}">
                <a16:creationId xmlns:a16="http://schemas.microsoft.com/office/drawing/2014/main" id="{F9B6E2A6-F46F-4325-A2B5-DDB6ACA712B4}"/>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pass</a:t>
            </a:r>
          </a:p>
        </p:txBody>
      </p:sp>
      <p:sp>
        <p:nvSpPr>
          <p:cNvPr id="11" name="rule-430-240">
            <a:extLst xmlns:a="http://schemas.openxmlformats.org/drawingml/2006/main">
              <a:ext uri="{FF2B5EF4-FFF2-40B4-BE49-F238E27FC236}">
                <a16:creationId xmlns:a16="http://schemas.microsoft.com/office/drawing/2014/main" id="{57DAD7BF-16B6-41AF-BE91-14FC56C1AA7D}"/>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26DD190F-799E-4A49-81FA-A1556B95F88D}"/>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96%</a:t>
            </a:r>
          </a:p>
        </p:txBody>
      </p:sp>
      <p:sp>
        <p:nvSpPr>
          <p:cNvPr id="13" name="stat-label-1">
            <a:extLst xmlns:a="http://schemas.openxmlformats.org/drawingml/2006/main">
              <a:ext uri="{FF2B5EF4-FFF2-40B4-BE49-F238E27FC236}">
                <a16:creationId xmlns:a16="http://schemas.microsoft.com/office/drawing/2014/main" id="{CC59E498-470C-4E63-824A-7503D0000974}"/>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coverage module lõi</a:t>
            </a:r>
          </a:p>
        </p:txBody>
      </p:sp>
      <p:sp>
        <p:nvSpPr>
          <p:cNvPr id="14" name="rule-790-240">
            <a:extLst xmlns:a="http://schemas.openxmlformats.org/drawingml/2006/main">
              <a:ext uri="{FF2B5EF4-FFF2-40B4-BE49-F238E27FC236}">
                <a16:creationId xmlns:a16="http://schemas.microsoft.com/office/drawing/2014/main" id="{DC3B6692-70D0-42B5-BF08-875E8A33379D}"/>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ACD39747-35B6-44FB-912E-7F59FA9CA11E}"/>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12/12</a:t>
            </a:r>
          </a:p>
        </p:txBody>
      </p:sp>
      <p:sp>
        <p:nvSpPr>
          <p:cNvPr id="16" name="stat-label-2">
            <a:extLst xmlns:a="http://schemas.openxmlformats.org/drawingml/2006/main">
              <a:ext uri="{FF2B5EF4-FFF2-40B4-BE49-F238E27FC236}">
                <a16:creationId xmlns:a16="http://schemas.microsoft.com/office/drawing/2014/main" id="{CF3C3168-ED5A-4FAF-9417-DB7307D74848}"/>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runtime smoke checks</a:t>
            </a:r>
          </a:p>
        </p:txBody>
      </p:sp>
      <p:sp>
        <p:nvSpPr>
          <p:cNvPr id="17" name="caveat">
            <a:extLst xmlns:a="http://schemas.openxmlformats.org/drawingml/2006/main">
              <a:ext uri="{FF2B5EF4-FFF2-40B4-BE49-F238E27FC236}">
                <a16:creationId xmlns:a16="http://schemas.microsoft.com/office/drawing/2014/main" id="{ED2F5F95-8B06-49A1-8C93-628AEF7D3493}"/>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Giới hạn đã ghi rõ: smoke/test-client không chứng minh SameSite hoặc SOP của browser; Demo Page hiện yêu cầu click + confirm.</a:t>
            </a:r>
          </a:p>
        </p:txBody>
      </p:sp>
    </p:spTree>
    <p:extLst>
      <p:ext uri="{BB962C8B-B14F-4D97-AF65-F5344CB8AC3E}">
        <p14:creationId xmlns:p14="http://schemas.microsoft.com/office/powerpoint/2010/main" val="168641657"/>
      </p:ext>
    </p:extLst>
  </p:cSld>
</p:sld>
</file>

<file path=ppt/slides/slide43.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F8E91BEC-0B23-41FB-BC08-6D085E5D486B}"/>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05</a:t>
            </a:r>
          </a:p>
        </p:txBody>
      </p:sp>
      <p:sp>
        <p:nvSpPr>
          <p:cNvPr id="2" name="chapter-title">
            <a:extLst xmlns:a="http://schemas.openxmlformats.org/drawingml/2006/main">
              <a:ext uri="{FF2B5EF4-FFF2-40B4-BE49-F238E27FC236}">
                <a16:creationId xmlns:a16="http://schemas.microsoft.com/office/drawing/2014/main" id="{1150D340-B811-4541-AB85-74EEF1385827}"/>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sql</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injection</a:t>
            </a:r>
          </a:p>
        </p:txBody>
      </p:sp>
      <p:sp>
        <p:nvSpPr>
          <p:cNvPr id="3" name="chapter-subtitle">
            <a:extLst xmlns:a="http://schemas.openxmlformats.org/drawingml/2006/main">
              <a:ext uri="{FF2B5EF4-FFF2-40B4-BE49-F238E27FC236}">
                <a16:creationId xmlns:a16="http://schemas.microsoft.com/office/drawing/2014/main" id="{4EB47DB0-28F8-4245-B1CF-91DBDEAE0A56}"/>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Khi dữ liệu bị trộn vào cấu trúc truy vấn</a:t>
            </a:r>
          </a:p>
        </p:txBody>
      </p:sp>
      <p:sp>
        <p:nvSpPr>
          <p:cNvPr id="4" name="rule-76-618">
            <a:extLst xmlns:a="http://schemas.openxmlformats.org/drawingml/2006/main">
              <a:ext uri="{FF2B5EF4-FFF2-40B4-BE49-F238E27FC236}">
                <a16:creationId xmlns:a16="http://schemas.microsoft.com/office/drawing/2014/main" id="{BE6029A2-2B11-4604-873D-F7CFF5864B6E}"/>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E91F4B94-61EE-4FEA-91FE-DF69F1233958}"/>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258819730"/>
      </p:ext>
    </p:extLst>
  </p:cSld>
</p:sld>
</file>

<file path=ppt/slides/slide4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46AAB79B-EF6E-40B7-86B5-26A95864560D}"/>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ROOT CAUSE</a:t>
            </a:r>
          </a:p>
        </p:txBody>
      </p:sp>
      <p:sp>
        <p:nvSpPr>
          <p:cNvPr id="2" name="chrome-number">
            <a:extLst xmlns:a="http://schemas.openxmlformats.org/drawingml/2006/main">
              <a:ext uri="{FF2B5EF4-FFF2-40B4-BE49-F238E27FC236}">
                <a16:creationId xmlns:a16="http://schemas.microsoft.com/office/drawing/2014/main" id="{1743F07B-74C1-46A1-9526-2728838F05A5}"/>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44</a:t>
            </a:r>
          </a:p>
        </p:txBody>
      </p:sp>
      <p:sp>
        <p:nvSpPr>
          <p:cNvPr id="3" name="rule-70-58">
            <a:extLst xmlns:a="http://schemas.openxmlformats.org/drawingml/2006/main">
              <a:ext uri="{FF2B5EF4-FFF2-40B4-BE49-F238E27FC236}">
                <a16:creationId xmlns:a16="http://schemas.microsoft.com/office/drawing/2014/main" id="{BC3CD262-0A3A-4E19-A430-B86F65E65A94}"/>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89ED0F02-DC34-48B6-AB8E-C014BD4082D1}"/>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VULNERABLE / SECURE</a:t>
            </a:r>
          </a:p>
        </p:txBody>
      </p:sp>
      <p:sp>
        <p:nvSpPr>
          <p:cNvPr id="5" name="slide-title">
            <a:extLst xmlns:a="http://schemas.openxmlformats.org/drawingml/2006/main">
              <a:ext uri="{FF2B5EF4-FFF2-40B4-BE49-F238E27FC236}">
                <a16:creationId xmlns:a16="http://schemas.microsoft.com/office/drawing/2014/main" id="{19E7D73C-B687-4994-ACE1-1A5DA1ABDC4A}"/>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SQL parser phải thấy code và data tách rời</a:t>
            </a:r>
          </a:p>
        </p:txBody>
      </p:sp>
      <p:sp>
        <p:nvSpPr>
          <p:cNvPr id="6" name="rule-70-672">
            <a:extLst xmlns:a="http://schemas.openxmlformats.org/drawingml/2006/main">
              <a:ext uri="{FF2B5EF4-FFF2-40B4-BE49-F238E27FC236}">
                <a16:creationId xmlns:a16="http://schemas.microsoft.com/office/drawing/2014/main" id="{2F6D28FD-A9BB-4AF8-8ACD-EE9A60AD6852}"/>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97AECBAE-FC95-4143-BD7F-175739955CE5}"/>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640-220">
            <a:extLst xmlns:a="http://schemas.openxmlformats.org/drawingml/2006/main">
              <a:ext uri="{FF2B5EF4-FFF2-40B4-BE49-F238E27FC236}">
                <a16:creationId xmlns:a16="http://schemas.microsoft.com/office/drawing/2014/main" id="{B2593023-D683-4B89-AE74-B9EBF46DBE3D}"/>
              </a:ext>
            </a:extLst>
          </p:cNvPr>
          <p:cNvSpPr>
            <a:spLocks xmlns:a="http://schemas.openxmlformats.org/drawingml/2006/main" noGrp="1"/>
          </p:cNvSpPr>
          <p:nvPr/>
        </p:nvSpPr>
        <p:spPr>
          <a:xfrm xmlns:a="http://schemas.openxmlformats.org/drawingml/2006/main">
            <a:off x="6096000" y="2095500"/>
            <a:ext cx="9525" cy="376237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left-title">
            <a:extLst xmlns:a="http://schemas.openxmlformats.org/drawingml/2006/main">
              <a:ext uri="{FF2B5EF4-FFF2-40B4-BE49-F238E27FC236}">
                <a16:creationId xmlns:a16="http://schemas.microsoft.com/office/drawing/2014/main" id="{18D25085-ECDD-421F-97CE-EE064FE164B1}"/>
              </a:ext>
            </a:extLst>
          </p:cNvPr>
          <p:cNvSpPr>
            <a:spLocks xmlns:a="http://schemas.openxmlformats.org/drawingml/2006/main" noGrp="1"/>
          </p:cNvSpPr>
          <p:nvPr/>
        </p:nvSpPr>
        <p:spPr>
          <a:xfrm xmlns:a="http://schemas.openxmlformats.org/drawingml/2006/main">
            <a:off x="666750" y="20764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888880"/>
                </a:solidFill>
                <a:latin typeface="Consolas"/>
                <a:ea typeface="Consolas"/>
                <a:cs typeface="Consolas"/>
              </a:defRPr>
            </a:pPr>
            <a:r>
              <a:rPr sz="1125" b="1">
                <a:solidFill>
                  <a:srgbClr val="888880"/>
                </a:solidFill>
                <a:latin typeface="Consolas"/>
                <a:ea typeface="Consolas"/>
                <a:cs typeface="Consolas"/>
              </a:rPr>
              <a:t>NỐI CHUỖI</a:t>
            </a:r>
          </a:p>
        </p:txBody>
      </p:sp>
      <p:sp>
        <p:nvSpPr>
          <p:cNvPr id="10" name="left-body">
            <a:extLst xmlns:a="http://schemas.openxmlformats.org/drawingml/2006/main">
              <a:ext uri="{FF2B5EF4-FFF2-40B4-BE49-F238E27FC236}">
                <a16:creationId xmlns:a16="http://schemas.microsoft.com/office/drawing/2014/main" id="{02125EB7-5150-413F-BC5E-5D0A3448BB58}"/>
              </a:ext>
            </a:extLst>
          </p:cNvPr>
          <p:cNvSpPr>
            <a:spLocks xmlns:a="http://schemas.openxmlformats.org/drawingml/2006/main" noGrp="1"/>
          </p:cNvSpPr>
          <p:nvPr/>
        </p:nvSpPr>
        <p:spPr>
          <a:xfrm xmlns:a="http://schemas.openxmlformats.org/drawingml/2006/main">
            <a:off x="666750" y="25908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sql = "... ' + input + "'"</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parser thấy một chuỗi SQL mới</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input có thể đổi logic WHERE</a:t>
            </a:r>
          </a:p>
        </p:txBody>
      </p:sp>
      <p:sp>
        <p:nvSpPr>
          <p:cNvPr id="11" name="right-panel">
            <a:extLst xmlns:a="http://schemas.openxmlformats.org/drawingml/2006/main">
              <a:ext uri="{FF2B5EF4-FFF2-40B4-BE49-F238E27FC236}">
                <a16:creationId xmlns:a16="http://schemas.microsoft.com/office/drawing/2014/main" id="{A0769419-5FC3-4A4A-860B-60D6B9D58B13}"/>
              </a:ext>
            </a:extLst>
          </p:cNvPr>
          <p:cNvSpPr>
            <a:spLocks xmlns:a="http://schemas.openxmlformats.org/drawingml/2006/main" noGrp="1"/>
          </p:cNvSpPr>
          <p:nvPr/>
        </p:nvSpPr>
        <p:spPr>
          <a:xfrm xmlns:a="http://schemas.openxmlformats.org/drawingml/2006/main">
            <a:off x="6429375" y="1952625"/>
            <a:ext cx="5095875" cy="3905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2" name="right-title">
            <a:extLst xmlns:a="http://schemas.openxmlformats.org/drawingml/2006/main">
              <a:ext uri="{FF2B5EF4-FFF2-40B4-BE49-F238E27FC236}">
                <a16:creationId xmlns:a16="http://schemas.microsoft.com/office/drawing/2014/main" id="{E7ABEE7E-D292-4B12-B6DD-341FADB4F913}"/>
              </a:ext>
            </a:extLst>
          </p:cNvPr>
          <p:cNvSpPr>
            <a:spLocks xmlns:a="http://schemas.openxmlformats.org/drawingml/2006/main" noGrp="1"/>
          </p:cNvSpPr>
          <p:nvPr/>
        </p:nvSpPr>
        <p:spPr>
          <a:xfrm xmlns:a="http://schemas.openxmlformats.org/drawingml/2006/main">
            <a:off x="6715125" y="21717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PARAMETER BINDING</a:t>
            </a:r>
          </a:p>
        </p:txBody>
      </p:sp>
      <p:sp>
        <p:nvSpPr>
          <p:cNvPr id="13" name="right-body">
            <a:extLst xmlns:a="http://schemas.openxmlformats.org/drawingml/2006/main">
              <a:ext uri="{FF2B5EF4-FFF2-40B4-BE49-F238E27FC236}">
                <a16:creationId xmlns:a16="http://schemas.microsoft.com/office/drawing/2014/main" id="{ABBFC9D7-C3C0-405C-AD7A-AA182EDADE50}"/>
              </a:ext>
            </a:extLst>
          </p:cNvPr>
          <p:cNvSpPr>
            <a:spLocks xmlns:a="http://schemas.openxmlformats.org/drawingml/2006/main" noGrp="1"/>
          </p:cNvSpPr>
          <p:nvPr/>
        </p:nvSpPr>
        <p:spPr>
          <a:xfrm xmlns:a="http://schemas.openxmlformats.org/drawingml/2006/main">
            <a:off x="6715125" y="2686050"/>
            <a:ext cx="4381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sql = "... WHERE x = ?"</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execute(sql, (input,))</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structure giữ nguyên; input là data</a:t>
            </a:r>
          </a:p>
        </p:txBody>
      </p:sp>
    </p:spTree>
    <p:extLst>
      <p:ext uri="{BB962C8B-B14F-4D97-AF65-F5344CB8AC3E}">
        <p14:creationId xmlns:p14="http://schemas.microsoft.com/office/powerpoint/2010/main" val="12411147"/>
      </p:ext>
    </p:extLst>
  </p:cSld>
</p:sld>
</file>

<file path=ppt/slides/slide4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EFC2870F-2249-4266-ADAD-754FF3B70DA6}"/>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LOGIN</a:t>
            </a:r>
          </a:p>
        </p:txBody>
      </p:sp>
      <p:sp>
        <p:nvSpPr>
          <p:cNvPr id="2" name="chrome-number">
            <a:extLst xmlns:a="http://schemas.openxmlformats.org/drawingml/2006/main">
              <a:ext uri="{FF2B5EF4-FFF2-40B4-BE49-F238E27FC236}">
                <a16:creationId xmlns:a16="http://schemas.microsoft.com/office/drawing/2014/main" id="{4A67B847-FC75-47C4-BBB9-1B67E94AB7AF}"/>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45</a:t>
            </a:r>
          </a:p>
        </p:txBody>
      </p:sp>
      <p:sp>
        <p:nvSpPr>
          <p:cNvPr id="3" name="rule-70-58">
            <a:extLst xmlns:a="http://schemas.openxmlformats.org/drawingml/2006/main">
              <a:ext uri="{FF2B5EF4-FFF2-40B4-BE49-F238E27FC236}">
                <a16:creationId xmlns:a16="http://schemas.microsoft.com/office/drawing/2014/main" id="{B7711243-EF41-4777-9DAF-1494AD807A32}"/>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13BEF8C9-8C93-493E-A93F-CCDB7D6F7E59}"/>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032D8E21-2554-4536-8AE3-ED154032823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Cùng input, khác cách query được xây dựng</a:t>
            </a:r>
          </a:p>
        </p:txBody>
      </p:sp>
      <p:sp>
        <p:nvSpPr>
          <p:cNvPr id="6" name="rule-70-672">
            <a:extLst xmlns:a="http://schemas.openxmlformats.org/drawingml/2006/main">
              <a:ext uri="{FF2B5EF4-FFF2-40B4-BE49-F238E27FC236}">
                <a16:creationId xmlns:a16="http://schemas.microsoft.com/office/drawing/2014/main" id="{FD19754C-E83E-4C66-9871-4E9807E67E34}"/>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DE64E7E5-6373-4298-A478-B860AAA2C85E}"/>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ADC1D189-A650-4282-8631-E59BAAB3B51E}"/>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http://127.0.0.1:5005/vulnerable/login</a:t>
            </a:r>
          </a:p>
        </p:txBody>
      </p:sp>
      <p:sp>
        <p:nvSpPr>
          <p:cNvPr id="9" name="step-num-0">
            <a:extLst xmlns:a="http://schemas.openxmlformats.org/drawingml/2006/main">
              <a:ext uri="{FF2B5EF4-FFF2-40B4-BE49-F238E27FC236}">
                <a16:creationId xmlns:a16="http://schemas.microsoft.com/office/drawing/2014/main" id="{A6D3D1EB-8819-4F49-A426-30A72E827A6C}"/>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6C4FB4EB-BF51-47BD-A405-D14DE645A110}"/>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bình thường admin_lab / AdminLab123!.</a:t>
            </a:r>
          </a:p>
        </p:txBody>
      </p:sp>
      <p:sp>
        <p:nvSpPr>
          <p:cNvPr id="11" name="step-num-1">
            <a:extLst xmlns:a="http://schemas.openxmlformats.org/drawingml/2006/main">
              <a:ext uri="{FF2B5EF4-FFF2-40B4-BE49-F238E27FC236}">
                <a16:creationId xmlns:a16="http://schemas.microsoft.com/office/drawing/2014/main" id="{E260B610-9631-44BA-8B4B-4ADF95CC9804}"/>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543E75D7-1DA9-4921-A21D-FFB7E512A15E}"/>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scenario dấu nháy đơn; xem Error Inspector đã rút gọn.</a:t>
            </a:r>
          </a:p>
        </p:txBody>
      </p:sp>
      <p:sp>
        <p:nvSpPr>
          <p:cNvPr id="13" name="step-num-2">
            <a:extLst xmlns:a="http://schemas.openxmlformats.org/drawingml/2006/main">
              <a:ext uri="{FF2B5EF4-FFF2-40B4-BE49-F238E27FC236}">
                <a16:creationId xmlns:a16="http://schemas.microsoft.com/office/drawing/2014/main" id="{1AB2B69E-C199-4F24-90CE-0DBE16859953}"/>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AE8A9586-8102-4029-BF63-03ACA04FF28B}"/>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fixed auth-logic demo; retest cùng input ở /secure/login.</a:t>
            </a:r>
          </a:p>
        </p:txBody>
      </p:sp>
      <p:sp>
        <p:nvSpPr>
          <p:cNvPr id="15" name="expected-panel">
            <a:extLst xmlns:a="http://schemas.openxmlformats.org/drawingml/2006/main">
              <a:ext uri="{FF2B5EF4-FFF2-40B4-BE49-F238E27FC236}">
                <a16:creationId xmlns:a16="http://schemas.microsoft.com/office/drawing/2014/main" id="{806A1CFC-F810-4197-AE35-26849E302715}"/>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3EDD3DFD-04D4-4B2A-9573-DBE4B43375B3}"/>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A7EC4AF2-62EB-45A3-A3B1-F419E9E6C687}"/>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đổi logic và tạo session; secure coi chuỗi là username literal và từ chối.</a:t>
            </a:r>
          </a:p>
        </p:txBody>
      </p:sp>
    </p:spTree>
    <p:extLst>
      <p:ext uri="{BB962C8B-B14F-4D97-AF65-F5344CB8AC3E}">
        <p14:creationId xmlns:p14="http://schemas.microsoft.com/office/powerpoint/2010/main" val="1654972122"/>
      </p:ext>
    </p:extLst>
  </p:cSld>
</p:sld>
</file>

<file path=ppt/slides/slide4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7EF0FB6F-BE3B-4B31-B493-E4598AD5733D}"/>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SEARCH</a:t>
            </a:r>
          </a:p>
        </p:txBody>
      </p:sp>
      <p:sp>
        <p:nvSpPr>
          <p:cNvPr id="2" name="chrome-number">
            <a:extLst xmlns:a="http://schemas.openxmlformats.org/drawingml/2006/main">
              <a:ext uri="{FF2B5EF4-FFF2-40B4-BE49-F238E27FC236}">
                <a16:creationId xmlns:a16="http://schemas.microsoft.com/office/drawing/2014/main" id="{B871F9B4-5EC2-44A8-9E47-4BF64AD172D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46</a:t>
            </a:r>
          </a:p>
        </p:txBody>
      </p:sp>
      <p:sp>
        <p:nvSpPr>
          <p:cNvPr id="3" name="rule-70-58">
            <a:extLst xmlns:a="http://schemas.openxmlformats.org/drawingml/2006/main">
              <a:ext uri="{FF2B5EF4-FFF2-40B4-BE49-F238E27FC236}">
                <a16:creationId xmlns:a16="http://schemas.microsoft.com/office/drawing/2014/main" id="{54A27344-EE02-438E-B18A-4047A346A802}"/>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D15AC5AE-E370-4E48-9D8F-4991FB6215D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4B24368D-2B44-43F9-A265-6D4AEB702654}"/>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Result set mở rộng là bằng chứng query đã đổi logic</a:t>
            </a:r>
          </a:p>
        </p:txBody>
      </p:sp>
      <p:sp>
        <p:nvSpPr>
          <p:cNvPr id="6" name="rule-70-672">
            <a:extLst xmlns:a="http://schemas.openxmlformats.org/drawingml/2006/main">
              <a:ext uri="{FF2B5EF4-FFF2-40B4-BE49-F238E27FC236}">
                <a16:creationId xmlns:a16="http://schemas.microsoft.com/office/drawing/2014/main" id="{FB96B109-0AA5-43CC-BB5D-6CAE83C0CDE8}"/>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831B937E-3CE6-41EC-8973-8F4C610E7492}"/>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B8188717-6CE1-4C96-A598-654F9B47506E}"/>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http://127.0.0.1:5005/vulnerable/search?keyword=USB</a:t>
            </a:r>
          </a:p>
        </p:txBody>
      </p:sp>
      <p:sp>
        <p:nvSpPr>
          <p:cNvPr id="9" name="step-num-0">
            <a:extLst xmlns:a="http://schemas.openxmlformats.org/drawingml/2006/main">
              <a:ext uri="{FF2B5EF4-FFF2-40B4-BE49-F238E27FC236}">
                <a16:creationId xmlns:a16="http://schemas.microsoft.com/office/drawing/2014/main" id="{0D57C343-A665-4922-B8E5-E711F6ECBB73}"/>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C7017CD3-46F9-4212-B324-EC641C07A92D}"/>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Baseline keyword USB: ghi số dòng mong đợi.</a:t>
            </a:r>
          </a:p>
        </p:txBody>
      </p:sp>
      <p:sp>
        <p:nvSpPr>
          <p:cNvPr id="11" name="step-num-1">
            <a:extLst xmlns:a="http://schemas.openxmlformats.org/drawingml/2006/main">
              <a:ext uri="{FF2B5EF4-FFF2-40B4-BE49-F238E27FC236}">
                <a16:creationId xmlns:a16="http://schemas.microsoft.com/office/drawing/2014/main" id="{430EACF9-0E66-49B7-8127-C8ADBB4FE3F6}"/>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ED87F37A-9822-4353-80E9-48DB335C7D2A}"/>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Chạy Expanded local search cố định: vulnerable trả toàn bộ 8 sản phẩm.</a:t>
            </a:r>
          </a:p>
        </p:txBody>
      </p:sp>
      <p:sp>
        <p:nvSpPr>
          <p:cNvPr id="13" name="step-num-2">
            <a:extLst xmlns:a="http://schemas.openxmlformats.org/drawingml/2006/main">
              <a:ext uri="{FF2B5EF4-FFF2-40B4-BE49-F238E27FC236}">
                <a16:creationId xmlns:a16="http://schemas.microsoft.com/office/drawing/2014/main" id="{0FCD0A9C-61D3-42DB-B89A-323079D24AA3}"/>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E938B1AA-1785-4B62-BB40-9BF5EEDD0BC1}"/>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Gửi cùng keyword ở secure: LIKE ? giữ structure, trả 0 dòng.</a:t>
            </a:r>
          </a:p>
        </p:txBody>
      </p:sp>
      <p:sp>
        <p:nvSpPr>
          <p:cNvPr id="15" name="expected-panel">
            <a:extLst xmlns:a="http://schemas.openxmlformats.org/drawingml/2006/main">
              <a:ext uri="{FF2B5EF4-FFF2-40B4-BE49-F238E27FC236}">
                <a16:creationId xmlns:a16="http://schemas.microsoft.com/office/drawing/2014/main" id="{C3FB53F6-7065-4427-9877-82AA2D22CE09}"/>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ED3F3E16-9F8C-4EA1-A011-70C83E84BB58}"/>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D92D9C7B-5855-44BB-A664-777DD3791402}"/>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Vulnerable: 8 rows; secure: prepared=true, 0 rows với cùng chuỗi tampered.</a:t>
            </a:r>
          </a:p>
        </p:txBody>
      </p:sp>
    </p:spTree>
    <p:extLst>
      <p:ext uri="{BB962C8B-B14F-4D97-AF65-F5344CB8AC3E}">
        <p14:creationId xmlns:p14="http://schemas.microsoft.com/office/powerpoint/2010/main" val="918608809"/>
      </p:ext>
    </p:extLst>
  </p:cSld>
</p:sld>
</file>

<file path=ppt/slides/slide4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FC99E4B8-0D36-4AB0-A26C-6ABD2EC11950}"/>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PHÂN TÍCH</a:t>
            </a:r>
          </a:p>
        </p:txBody>
      </p:sp>
      <p:sp>
        <p:nvSpPr>
          <p:cNvPr id="2" name="chrome-number">
            <a:extLst xmlns:a="http://schemas.openxmlformats.org/drawingml/2006/main">
              <a:ext uri="{FF2B5EF4-FFF2-40B4-BE49-F238E27FC236}">
                <a16:creationId xmlns:a16="http://schemas.microsoft.com/office/drawing/2014/main" id="{5845FE98-C906-4F11-9B73-EC0B92C6BA62}"/>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47</a:t>
            </a:r>
          </a:p>
        </p:txBody>
      </p:sp>
      <p:sp>
        <p:nvSpPr>
          <p:cNvPr id="3" name="rule-70-58">
            <a:extLst xmlns:a="http://schemas.openxmlformats.org/drawingml/2006/main">
              <a:ext uri="{FF2B5EF4-FFF2-40B4-BE49-F238E27FC236}">
                <a16:creationId xmlns:a16="http://schemas.microsoft.com/office/drawing/2014/main" id="{D690E94B-99C6-4B4B-A2EF-149DC54D9B77}"/>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A68E1266-38D0-4853-A4D6-10DF7FC06404}"/>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ADECC760-DEAB-45E6-A9FB-90CE43A15885}"/>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1–2</a:t>
            </a:r>
          </a:p>
        </p:txBody>
      </p:sp>
      <p:sp>
        <p:nvSpPr>
          <p:cNvPr id="6" name="rule-70-672">
            <a:extLst xmlns:a="http://schemas.openxmlformats.org/drawingml/2006/main">
              <a:ext uri="{FF2B5EF4-FFF2-40B4-BE49-F238E27FC236}">
                <a16:creationId xmlns:a16="http://schemas.microsoft.com/office/drawing/2014/main" id="{4414F16A-0102-41E0-8373-D47F61A3AF6A}"/>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E2B178A3-A212-48A2-A29A-C76DF9B90DA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E4780C9F-1DD9-4F98-A0F8-B597A742C075}"/>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1759CC39-27A9-4BF6-BB4F-C2894D819940}"/>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SQL Injection xảy ra ở tầng nào?</a:t>
            </a:r>
          </a:p>
        </p:txBody>
      </p:sp>
      <p:sp>
        <p:nvSpPr>
          <p:cNvPr id="10" name="a-0">
            <a:extLst xmlns:a="http://schemas.openxmlformats.org/drawingml/2006/main">
              <a:ext uri="{FF2B5EF4-FFF2-40B4-BE49-F238E27FC236}">
                <a16:creationId xmlns:a16="http://schemas.microsoft.com/office/drawing/2014/main" id="{EED42C30-4CA7-4783-9AEC-51F991244E84}"/>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Ở tầng xây dựng truy vấn/data-access trước khi SQL parser thực thi; input bị trộn vào structure.</a:t>
            </a:r>
          </a:p>
        </p:txBody>
      </p:sp>
      <p:sp>
        <p:nvSpPr>
          <p:cNvPr id="11" name="rule-150-402">
            <a:extLst xmlns:a="http://schemas.openxmlformats.org/drawingml/2006/main">
              <a:ext uri="{FF2B5EF4-FFF2-40B4-BE49-F238E27FC236}">
                <a16:creationId xmlns:a16="http://schemas.microsoft.com/office/drawing/2014/main" id="{C02F2D57-9C5F-46C4-9EFA-2B3FB7DAFB58}"/>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6670713A-89B5-49BC-8F70-93E838C76504}"/>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0604B7D7-CCD3-44D9-AD8F-EBC0FC0006F1}"/>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escaping thủ công dễ sai?</a:t>
            </a:r>
          </a:p>
        </p:txBody>
      </p:sp>
      <p:sp>
        <p:nvSpPr>
          <p:cNvPr id="14" name="a-1">
            <a:extLst xmlns:a="http://schemas.openxmlformats.org/drawingml/2006/main">
              <a:ext uri="{FF2B5EF4-FFF2-40B4-BE49-F238E27FC236}">
                <a16:creationId xmlns:a16="http://schemas.microsoft.com/office/drawing/2014/main" id="{E0F123DC-4592-4803-BD7B-AC0FD739AC0D}"/>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Quy tắc phụ thuộc DB, encoding và vị trí; chỉ một nhánh bỏ sót là đủ tái tạo lỗi.</a:t>
            </a:r>
          </a:p>
        </p:txBody>
      </p:sp>
    </p:spTree>
    <p:extLst>
      <p:ext uri="{BB962C8B-B14F-4D97-AF65-F5344CB8AC3E}">
        <p14:creationId xmlns:p14="http://schemas.microsoft.com/office/powerpoint/2010/main" val="884141249"/>
      </p:ext>
    </p:extLst>
  </p:cSld>
</p:sld>
</file>

<file path=ppt/slides/slide4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78AC0585-E2CF-481F-BDBE-167E4CCBED0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PHÂN TÍCH</a:t>
            </a:r>
          </a:p>
        </p:txBody>
      </p:sp>
      <p:sp>
        <p:nvSpPr>
          <p:cNvPr id="2" name="chrome-number">
            <a:extLst xmlns:a="http://schemas.openxmlformats.org/drawingml/2006/main">
              <a:ext uri="{FF2B5EF4-FFF2-40B4-BE49-F238E27FC236}">
                <a16:creationId xmlns:a16="http://schemas.microsoft.com/office/drawing/2014/main" id="{D1557847-8D08-459E-A230-CAC3D30D43B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48</a:t>
            </a:r>
          </a:p>
        </p:txBody>
      </p:sp>
      <p:sp>
        <p:nvSpPr>
          <p:cNvPr id="3" name="rule-70-58">
            <a:extLst xmlns:a="http://schemas.openxmlformats.org/drawingml/2006/main">
              <a:ext uri="{FF2B5EF4-FFF2-40B4-BE49-F238E27FC236}">
                <a16:creationId xmlns:a16="http://schemas.microsoft.com/office/drawing/2014/main" id="{6FE76A68-32B0-4226-A209-806774E6E2AC}"/>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E757759D-80BA-4AF6-B515-D7D07A5AF037}"/>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BEFB36E0-2076-4C91-A40B-0DBC556E7965}"/>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3–5</a:t>
            </a:r>
          </a:p>
        </p:txBody>
      </p:sp>
      <p:sp>
        <p:nvSpPr>
          <p:cNvPr id="6" name="rule-70-672">
            <a:extLst xmlns:a="http://schemas.openxmlformats.org/drawingml/2006/main">
              <a:ext uri="{FF2B5EF4-FFF2-40B4-BE49-F238E27FC236}">
                <a16:creationId xmlns:a16="http://schemas.microsoft.com/office/drawing/2014/main" id="{DC0EF434-6445-46C8-8C6D-4966B9BDA3E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954FBEA-503C-4A2F-9FC9-933AA9527F1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EE652D94-CEC9-4DFD-BC43-EDEBC993CC9C}"/>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9" name="q-0">
            <a:extLst xmlns:a="http://schemas.openxmlformats.org/drawingml/2006/main">
              <a:ext uri="{FF2B5EF4-FFF2-40B4-BE49-F238E27FC236}">
                <a16:creationId xmlns:a16="http://schemas.microsoft.com/office/drawing/2014/main" id="{BCDED6E7-24FF-45A4-BA1A-0A56C9B948B7}"/>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Prepared statement khác concat?</a:t>
            </a:r>
          </a:p>
        </p:txBody>
      </p:sp>
      <p:sp>
        <p:nvSpPr>
          <p:cNvPr id="10" name="a-0">
            <a:extLst xmlns:a="http://schemas.openxmlformats.org/drawingml/2006/main">
              <a:ext uri="{FF2B5EF4-FFF2-40B4-BE49-F238E27FC236}">
                <a16:creationId xmlns:a16="http://schemas.microsoft.com/office/drawing/2014/main" id="{BC5C216F-4AEC-469B-A667-488FC0595F10}"/>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Prepared giữ structure cố định và bind input như data; concat tạo một chuỗi SQL mới trước parser.</a:t>
            </a:r>
          </a:p>
        </p:txBody>
      </p:sp>
      <p:sp>
        <p:nvSpPr>
          <p:cNvPr id="11" name="rule-150-336">
            <a:extLst xmlns:a="http://schemas.openxmlformats.org/drawingml/2006/main">
              <a:ext uri="{FF2B5EF4-FFF2-40B4-BE49-F238E27FC236}">
                <a16:creationId xmlns:a16="http://schemas.microsoft.com/office/drawing/2014/main" id="{7361D631-0667-447B-BB83-2FB7244E9709}"/>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F468130C-FA71-4F8C-BEC5-C7E7EB400C9D}"/>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13" name="q-1">
            <a:extLst xmlns:a="http://schemas.openxmlformats.org/drawingml/2006/main">
              <a:ext uri="{FF2B5EF4-FFF2-40B4-BE49-F238E27FC236}">
                <a16:creationId xmlns:a16="http://schemas.microsoft.com/office/drawing/2014/main" id="{D646A94D-3A1B-47E1-8EEA-408F9080BC6B}"/>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ORM luôn chống SQLi?</a:t>
            </a:r>
          </a:p>
        </p:txBody>
      </p:sp>
      <p:sp>
        <p:nvSpPr>
          <p:cNvPr id="14" name="a-1">
            <a:extLst xmlns:a="http://schemas.openxmlformats.org/drawingml/2006/main">
              <a:ext uri="{FF2B5EF4-FFF2-40B4-BE49-F238E27FC236}">
                <a16:creationId xmlns:a16="http://schemas.microsoft.com/office/drawing/2014/main" id="{19BA6C43-A2C0-4FD4-8F09-5C9E34845A36}"/>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Không. Raw SQL, interpolation hoặc escape sai trong ORM vẫn có thể tạo injection.</a:t>
            </a:r>
          </a:p>
        </p:txBody>
      </p:sp>
      <p:sp>
        <p:nvSpPr>
          <p:cNvPr id="15" name="rule-150-474">
            <a:extLst xmlns:a="http://schemas.openxmlformats.org/drawingml/2006/main">
              <a:ext uri="{FF2B5EF4-FFF2-40B4-BE49-F238E27FC236}">
                <a16:creationId xmlns:a16="http://schemas.microsoft.com/office/drawing/2014/main" id="{E4AA4AE8-DE23-41A4-92E8-8E3DFC0B9710}"/>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432476F3-D486-49B7-A897-8B87FC29BE38}"/>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7" name="q-2">
            <a:extLst xmlns:a="http://schemas.openxmlformats.org/drawingml/2006/main">
              <a:ext uri="{FF2B5EF4-FFF2-40B4-BE49-F238E27FC236}">
                <a16:creationId xmlns:a16="http://schemas.microsoft.com/office/drawing/2014/main" id="{CD14C955-4089-4321-B6E5-90ADAC56C4D0}"/>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không hiện lỗi SQL chi tiết?</a:t>
            </a:r>
          </a:p>
        </p:txBody>
      </p:sp>
      <p:sp>
        <p:nvSpPr>
          <p:cNvPr id="18" name="a-2">
            <a:extLst xmlns:a="http://schemas.openxmlformats.org/drawingml/2006/main">
              <a:ext uri="{FF2B5EF4-FFF2-40B4-BE49-F238E27FC236}">
                <a16:creationId xmlns:a16="http://schemas.microsoft.com/office/drawing/2014/main" id="{0730DC6D-EAC9-4F61-970B-6E6751E0A803}"/>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Query/schema/traceback giúp attacker điều chỉnh input; UI chỉ nên trả thông báo chung và error ID.</a:t>
            </a:r>
          </a:p>
        </p:txBody>
      </p:sp>
    </p:spTree>
    <p:extLst>
      <p:ext uri="{BB962C8B-B14F-4D97-AF65-F5344CB8AC3E}">
        <p14:creationId xmlns:p14="http://schemas.microsoft.com/office/powerpoint/2010/main" val="361032239"/>
      </p:ext>
    </p:extLst>
  </p:cSld>
</p:sld>
</file>

<file path=ppt/slides/slide4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C63F4275-EEE0-4B91-BC4C-1D1524BAE69D}"/>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BẢN VÁ</a:t>
            </a:r>
          </a:p>
        </p:txBody>
      </p:sp>
      <p:sp>
        <p:nvSpPr>
          <p:cNvPr id="2" name="chrome-number">
            <a:extLst xmlns:a="http://schemas.openxmlformats.org/drawingml/2006/main">
              <a:ext uri="{FF2B5EF4-FFF2-40B4-BE49-F238E27FC236}">
                <a16:creationId xmlns:a16="http://schemas.microsoft.com/office/drawing/2014/main" id="{7C6201EF-6897-42BC-A435-EA0D0604ABF4}"/>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49</a:t>
            </a:r>
          </a:p>
        </p:txBody>
      </p:sp>
      <p:sp>
        <p:nvSpPr>
          <p:cNvPr id="3" name="rule-70-58">
            <a:extLst xmlns:a="http://schemas.openxmlformats.org/drawingml/2006/main">
              <a:ext uri="{FF2B5EF4-FFF2-40B4-BE49-F238E27FC236}">
                <a16:creationId xmlns:a16="http://schemas.microsoft.com/office/drawing/2014/main" id="{E6875C0E-5B10-4994-BB7F-7A0A9AE4C4C6}"/>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78B80119-3BFB-410E-B929-B683DA8C789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VULNERABLE / SECURE</a:t>
            </a:r>
          </a:p>
        </p:txBody>
      </p:sp>
      <p:sp>
        <p:nvSpPr>
          <p:cNvPr id="5" name="slide-title">
            <a:extLst xmlns:a="http://schemas.openxmlformats.org/drawingml/2006/main">
              <a:ext uri="{FF2B5EF4-FFF2-40B4-BE49-F238E27FC236}">
                <a16:creationId xmlns:a16="http://schemas.microsoft.com/office/drawing/2014/main" id="{5CD3C920-D0D8-49A4-9B5D-66108A012B99}"/>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532"/>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Tách query structure, parameter và password verification</a:t>
            </a:r>
          </a:p>
        </p:txBody>
      </p:sp>
      <p:sp>
        <p:nvSpPr>
          <p:cNvPr id="6" name="rule-70-672">
            <a:extLst xmlns:a="http://schemas.openxmlformats.org/drawingml/2006/main">
              <a:ext uri="{FF2B5EF4-FFF2-40B4-BE49-F238E27FC236}">
                <a16:creationId xmlns:a16="http://schemas.microsoft.com/office/drawing/2014/main" id="{1691F68E-DD0D-4652-B88A-B0E24DB1CC2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0CF2DC06-3AB0-4A4E-8270-173041B39650}"/>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640-220">
            <a:extLst xmlns:a="http://schemas.openxmlformats.org/drawingml/2006/main">
              <a:ext uri="{FF2B5EF4-FFF2-40B4-BE49-F238E27FC236}">
                <a16:creationId xmlns:a16="http://schemas.microsoft.com/office/drawing/2014/main" id="{A440FCC6-DD4C-46AB-ABB2-65CD61C2D0F6}"/>
              </a:ext>
            </a:extLst>
          </p:cNvPr>
          <p:cNvSpPr>
            <a:spLocks xmlns:a="http://schemas.openxmlformats.org/drawingml/2006/main" noGrp="1"/>
          </p:cNvSpPr>
          <p:nvPr/>
        </p:nvSpPr>
        <p:spPr>
          <a:xfrm xmlns:a="http://schemas.openxmlformats.org/drawingml/2006/main">
            <a:off x="6096000" y="2095500"/>
            <a:ext cx="9525" cy="376237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left-title">
            <a:extLst xmlns:a="http://schemas.openxmlformats.org/drawingml/2006/main">
              <a:ext uri="{FF2B5EF4-FFF2-40B4-BE49-F238E27FC236}">
                <a16:creationId xmlns:a16="http://schemas.microsoft.com/office/drawing/2014/main" id="{E7655C4F-DC1B-4C33-BB8D-FA58F9B8B6B1}"/>
              </a:ext>
            </a:extLst>
          </p:cNvPr>
          <p:cNvSpPr>
            <a:spLocks xmlns:a="http://schemas.openxmlformats.org/drawingml/2006/main" noGrp="1"/>
          </p:cNvSpPr>
          <p:nvPr/>
        </p:nvSpPr>
        <p:spPr>
          <a:xfrm xmlns:a="http://schemas.openxmlformats.org/drawingml/2006/main">
            <a:off x="666750" y="20764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888880"/>
                </a:solidFill>
                <a:latin typeface="Consolas"/>
                <a:ea typeface="Consolas"/>
                <a:cs typeface="Consolas"/>
              </a:defRPr>
            </a:pPr>
            <a:r>
              <a:rPr sz="1125" b="1">
                <a:solidFill>
                  <a:srgbClr val="888880"/>
                </a:solidFill>
                <a:latin typeface="Consolas"/>
                <a:ea typeface="Consolas"/>
                <a:cs typeface="Consolas"/>
              </a:rPr>
              <a:t>VULNERABLE</a:t>
            </a:r>
          </a:p>
        </p:txBody>
      </p:sp>
      <p:sp>
        <p:nvSpPr>
          <p:cNvPr id="10" name="left-body">
            <a:extLst xmlns:a="http://schemas.openxmlformats.org/drawingml/2006/main">
              <a:ext uri="{FF2B5EF4-FFF2-40B4-BE49-F238E27FC236}">
                <a16:creationId xmlns:a16="http://schemas.microsoft.com/office/drawing/2014/main" id="{5E3C43A2-91E9-437B-825B-9314E7604B0F}"/>
              </a:ext>
            </a:extLst>
          </p:cNvPr>
          <p:cNvSpPr>
            <a:spLocks xmlns:a="http://schemas.openxmlformats.org/drawingml/2006/main" noGrp="1"/>
          </p:cNvSpPr>
          <p:nvPr/>
        </p:nvSpPr>
        <p:spPr>
          <a:xfrm xmlns:a="http://schemas.openxmlformats.org/drawingml/2006/main">
            <a:off x="666750" y="259080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username + digest → SQL</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keyword → LIKE string</a:t>
            </a:r>
          </a:p>
          <a:p xmlns:a="http://schemas.openxmlformats.org/drawingml/2006/main">
            <a:pPr algn="l">
              <a:lnSpc>
                <a:spcPct val="122000"/>
              </a:lnSpc>
              <a:buNone/>
              <a:defRPr sz="1800" b="0">
                <a:solidFill>
                  <a:srgbClr val="F0ECE5"/>
                </a:solidFill>
                <a:latin typeface="Consolas"/>
                <a:ea typeface="Consolas"/>
                <a:cs typeface="Consolas"/>
              </a:defRPr>
            </a:pPr>
            <a:r>
              <a:rPr sz="1800" b="0">
                <a:solidFill>
                  <a:srgbClr val="F0ECE5"/>
                </a:solidFill>
                <a:latin typeface="Consolas"/>
                <a:ea typeface="Consolas"/>
                <a:cs typeface="Consolas"/>
              </a:rPr>
              <a:t>detailed DB behavior</a:t>
            </a:r>
          </a:p>
        </p:txBody>
      </p:sp>
      <p:sp>
        <p:nvSpPr>
          <p:cNvPr id="11" name="right-panel">
            <a:extLst xmlns:a="http://schemas.openxmlformats.org/drawingml/2006/main">
              <a:ext uri="{FF2B5EF4-FFF2-40B4-BE49-F238E27FC236}">
                <a16:creationId xmlns:a16="http://schemas.microsoft.com/office/drawing/2014/main" id="{EE347AF4-1E97-448A-A326-C96E3E740D7D}"/>
              </a:ext>
            </a:extLst>
          </p:cNvPr>
          <p:cNvSpPr>
            <a:spLocks xmlns:a="http://schemas.openxmlformats.org/drawingml/2006/main" noGrp="1"/>
          </p:cNvSpPr>
          <p:nvPr/>
        </p:nvSpPr>
        <p:spPr>
          <a:xfrm xmlns:a="http://schemas.openxmlformats.org/drawingml/2006/main">
            <a:off x="6429375" y="1952625"/>
            <a:ext cx="5095875" cy="3905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2" name="right-title">
            <a:extLst xmlns:a="http://schemas.openxmlformats.org/drawingml/2006/main">
              <a:ext uri="{FF2B5EF4-FFF2-40B4-BE49-F238E27FC236}">
                <a16:creationId xmlns:a16="http://schemas.microsoft.com/office/drawing/2014/main" id="{6C6E44BF-FC2A-4892-91B3-FE59029DB446}"/>
              </a:ext>
            </a:extLst>
          </p:cNvPr>
          <p:cNvSpPr>
            <a:spLocks xmlns:a="http://schemas.openxmlformats.org/drawingml/2006/main" noGrp="1"/>
          </p:cNvSpPr>
          <p:nvPr/>
        </p:nvSpPr>
        <p:spPr>
          <a:xfrm xmlns:a="http://schemas.openxmlformats.org/drawingml/2006/main">
            <a:off x="6715125" y="21717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SECURE</a:t>
            </a:r>
          </a:p>
        </p:txBody>
      </p:sp>
      <p:sp>
        <p:nvSpPr>
          <p:cNvPr id="13" name="right-body">
            <a:extLst xmlns:a="http://schemas.openxmlformats.org/drawingml/2006/main">
              <a:ext uri="{FF2B5EF4-FFF2-40B4-BE49-F238E27FC236}">
                <a16:creationId xmlns:a16="http://schemas.microsoft.com/office/drawing/2014/main" id="{B9B12A9F-30FE-41E4-B790-39C2C43D1DB4}"/>
              </a:ext>
            </a:extLst>
          </p:cNvPr>
          <p:cNvSpPr>
            <a:spLocks xmlns:a="http://schemas.openxmlformats.org/drawingml/2006/main" noGrp="1"/>
          </p:cNvSpPr>
          <p:nvPr/>
        </p:nvSpPr>
        <p:spPr>
          <a:xfrm xmlns:a="http://schemas.openxmlformats.org/drawingml/2006/main">
            <a:off x="6715125" y="2686050"/>
            <a:ext cx="4381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WHERE username = ?</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LIKE ?  LIMIT 50</a:t>
            </a:r>
          </a:p>
          <a:p xmlns:a="http://schemas.openxmlformats.org/drawingml/2006/main">
            <a:pPr algn="l">
              <a:lnSpc>
                <a:spcPct val="122000"/>
              </a:lnSpc>
              <a:buNone/>
              <a:defRPr sz="1800" b="0">
                <a:solidFill>
                  <a:srgbClr val="111111"/>
                </a:solidFill>
                <a:latin typeface="Consolas"/>
                <a:ea typeface="Consolas"/>
                <a:cs typeface="Consolas"/>
              </a:defRPr>
            </a:pPr>
            <a:r>
              <a:rPr sz="1800" b="0">
                <a:solidFill>
                  <a:srgbClr val="111111"/>
                </a:solidFill>
                <a:latin typeface="Consolas"/>
                <a:ea typeface="Consolas"/>
                <a:cs typeface="Consolas"/>
              </a:rPr>
              <a:t>PBKDF2 + generic error</a:t>
            </a:r>
          </a:p>
        </p:txBody>
      </p:sp>
    </p:spTree>
    <p:extLst>
      <p:ext uri="{BB962C8B-B14F-4D97-AF65-F5344CB8AC3E}">
        <p14:creationId xmlns:p14="http://schemas.microsoft.com/office/powerpoint/2010/main" val="1104169153"/>
      </p:ext>
    </p:extLst>
  </p:cSld>
</p:sld>
</file>

<file path=ppt/slides/slide5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729BD479-F6C5-4F01-8C2C-D580C252686D}"/>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LAB05 / KIỂM CHỨNG</a:t>
            </a:r>
          </a:p>
        </p:txBody>
      </p:sp>
      <p:sp>
        <p:nvSpPr>
          <p:cNvPr id="2" name="chrome-number">
            <a:extLst xmlns:a="http://schemas.openxmlformats.org/drawingml/2006/main">
              <a:ext uri="{FF2B5EF4-FFF2-40B4-BE49-F238E27FC236}">
                <a16:creationId xmlns:a16="http://schemas.microsoft.com/office/drawing/2014/main" id="{A30B5BCD-78D9-47C0-B4DB-5847DB76CEE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50</a:t>
            </a:r>
          </a:p>
        </p:txBody>
      </p:sp>
      <p:sp>
        <p:nvSpPr>
          <p:cNvPr id="3" name="rule-70-58">
            <a:extLst xmlns:a="http://schemas.openxmlformats.org/drawingml/2006/main">
              <a:ext uri="{FF2B5EF4-FFF2-40B4-BE49-F238E27FC236}">
                <a16:creationId xmlns:a16="http://schemas.microsoft.com/office/drawing/2014/main" id="{0A6FFC11-BDE0-4386-9D52-483FA10D993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E837A8C4-E63A-4BE0-A9B6-71F8FA658D9E}"/>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6ECCE043-F278-4CED-BE3C-5B6D0983989A}"/>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Cùng input được retest qua secure route</a:t>
            </a:r>
          </a:p>
        </p:txBody>
      </p:sp>
      <p:sp>
        <p:nvSpPr>
          <p:cNvPr id="6" name="rule-70-672">
            <a:extLst xmlns:a="http://schemas.openxmlformats.org/drawingml/2006/main">
              <a:ext uri="{FF2B5EF4-FFF2-40B4-BE49-F238E27FC236}">
                <a16:creationId xmlns:a16="http://schemas.microsoft.com/office/drawing/2014/main" id="{C746C00C-3D9B-4215-B58A-435A6A512E8C}"/>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648CBFD2-CC0D-48F7-8904-191B2DDE0051}"/>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5CF5C7C7-0BE5-40A1-BF61-7FFF5C40426F}"/>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A17F6C08-CCC8-478E-83B0-AC0E3753898E}"/>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230</a:t>
            </a:r>
          </a:p>
        </p:txBody>
      </p:sp>
      <p:sp>
        <p:nvSpPr>
          <p:cNvPr id="10" name="stat-label-0">
            <a:extLst xmlns:a="http://schemas.openxmlformats.org/drawingml/2006/main">
              <a:ext uri="{FF2B5EF4-FFF2-40B4-BE49-F238E27FC236}">
                <a16:creationId xmlns:a16="http://schemas.microsoft.com/office/drawing/2014/main" id="{8CE0CE9C-DC9C-4C7D-8834-3352F1AF2E7E}"/>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pass</a:t>
            </a:r>
          </a:p>
        </p:txBody>
      </p:sp>
      <p:sp>
        <p:nvSpPr>
          <p:cNvPr id="11" name="rule-430-240">
            <a:extLst xmlns:a="http://schemas.openxmlformats.org/drawingml/2006/main">
              <a:ext uri="{FF2B5EF4-FFF2-40B4-BE49-F238E27FC236}">
                <a16:creationId xmlns:a16="http://schemas.microsoft.com/office/drawing/2014/main" id="{2779B61F-BC3C-4571-8A5B-F0073F41A7B8}"/>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BB623F02-4D20-49DA-8A64-72939BF71A19}"/>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99%</a:t>
            </a:r>
          </a:p>
        </p:txBody>
      </p:sp>
      <p:sp>
        <p:nvSpPr>
          <p:cNvPr id="13" name="stat-label-1">
            <a:extLst xmlns:a="http://schemas.openxmlformats.org/drawingml/2006/main">
              <a:ext uri="{FF2B5EF4-FFF2-40B4-BE49-F238E27FC236}">
                <a16:creationId xmlns:a16="http://schemas.microsoft.com/office/drawing/2014/main" id="{B78EFBC1-C5A6-48BF-86C4-A10BB21063FB}"/>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coverage module lõi</a:t>
            </a:r>
          </a:p>
        </p:txBody>
      </p:sp>
      <p:sp>
        <p:nvSpPr>
          <p:cNvPr id="14" name="rule-790-240">
            <a:extLst xmlns:a="http://schemas.openxmlformats.org/drawingml/2006/main">
              <a:ext uri="{FF2B5EF4-FFF2-40B4-BE49-F238E27FC236}">
                <a16:creationId xmlns:a16="http://schemas.microsoft.com/office/drawing/2014/main" id="{BFC18CB0-B744-424F-848A-EE50C7917C8F}"/>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250A0F04-65B6-4CB5-9048-7BE7E07A8C75}"/>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12/12</a:t>
            </a:r>
          </a:p>
        </p:txBody>
      </p:sp>
      <p:sp>
        <p:nvSpPr>
          <p:cNvPr id="16" name="stat-label-2">
            <a:extLst xmlns:a="http://schemas.openxmlformats.org/drawingml/2006/main">
              <a:ext uri="{FF2B5EF4-FFF2-40B4-BE49-F238E27FC236}">
                <a16:creationId xmlns:a16="http://schemas.microsoft.com/office/drawing/2014/main" id="{C545C358-5BC5-4241-A8E2-B945F50E8835}"/>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runtime smoke checks</a:t>
            </a:r>
          </a:p>
        </p:txBody>
      </p:sp>
      <p:sp>
        <p:nvSpPr>
          <p:cNvPr id="17" name="caveat">
            <a:extLst xmlns:a="http://schemas.openxmlformats.org/drawingml/2006/main">
              <a:ext uri="{FF2B5EF4-FFF2-40B4-BE49-F238E27FC236}">
                <a16:creationId xmlns:a16="http://schemas.microsoft.com/office/drawing/2014/main" id="{4AA367D1-B4A0-4F85-AEAA-5E20B6A19599}"/>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Smoke ghi vulnerable search 8 rows; secure giữ prepared=true và 0 rows. Các flow chỉ tác động SQLite local, SELECT-only.</a:t>
            </a:r>
          </a:p>
        </p:txBody>
      </p:sp>
    </p:spTree>
    <p:extLst>
      <p:ext uri="{BB962C8B-B14F-4D97-AF65-F5344CB8AC3E}">
        <p14:creationId xmlns:p14="http://schemas.microsoft.com/office/powerpoint/2010/main" val="1367250441"/>
      </p:ext>
    </p:extLst>
  </p:cSld>
</p:sld>
</file>

<file path=ppt/slides/slide51.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6" name="chapter-number">
            <a:extLst xmlns:a="http://schemas.openxmlformats.org/drawingml/2006/main">
              <a:ext uri="{FF2B5EF4-FFF2-40B4-BE49-F238E27FC236}">
                <a16:creationId xmlns:a16="http://schemas.microsoft.com/office/drawing/2014/main" id="{73FF7ED8-7C43-4B6D-9AD8-C086D6584B83}"/>
              </a:ext>
            </a:extLst>
          </p:cNvPr>
          <p:cNvSpPr>
            <a:spLocks xmlns:a="http://schemas.openxmlformats.org/drawingml/2006/main" noGrp="1"/>
          </p:cNvSpPr>
          <p:nvPr/>
        </p:nvSpPr>
        <p:spPr>
          <a:xfrm xmlns:a="http://schemas.openxmlformats.org/drawingml/2006/main">
            <a:off x="666750" y="4762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73311C"/>
                </a:solidFill>
                <a:latin typeface="Consolas"/>
                <a:ea typeface="Consolas"/>
                <a:cs typeface="Consolas"/>
              </a:defRPr>
            </a:pPr>
            <a:r>
              <a:rPr sz="1500" b="1">
                <a:solidFill>
                  <a:srgbClr val="73311C"/>
                </a:solidFill>
                <a:latin typeface="Consolas"/>
                <a:ea typeface="Consolas"/>
                <a:cs typeface="Consolas"/>
              </a:rPr>
              <a:t>06</a:t>
            </a:r>
          </a:p>
        </p:txBody>
      </p:sp>
      <p:sp>
        <p:nvSpPr>
          <p:cNvPr id="2" name="chapter-title">
            <a:extLst xmlns:a="http://schemas.openxmlformats.org/drawingml/2006/main">
              <a:ext uri="{FF2B5EF4-FFF2-40B4-BE49-F238E27FC236}">
                <a16:creationId xmlns:a16="http://schemas.microsoft.com/office/drawing/2014/main" id="{47C76348-FD9C-43C5-A9BB-0DD5CD921993}"/>
              </a:ext>
            </a:extLst>
          </p:cNvPr>
          <p:cNvSpPr>
            <a:spLocks xmlns:a="http://schemas.openxmlformats.org/drawingml/2006/main" noGrp="1"/>
          </p:cNvSpPr>
          <p:nvPr/>
        </p:nvSpPr>
        <p:spPr>
          <a:xfrm xmlns:a="http://schemas.openxmlformats.org/drawingml/2006/main">
            <a:off x="647700" y="1619250"/>
            <a:ext cx="10896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cookie</a:t>
            </a:r>
          </a:p>
          <a:p xmlns:a="http://schemas.openxmlformats.org/drawingml/2006/main">
            <a:pPr algn="l">
              <a:lnSpc>
                <a:spcPct val="84000"/>
              </a:lnSpc>
              <a:buNone/>
              <a:defRPr sz="7200" b="1">
                <a:solidFill>
                  <a:srgbClr val="111111"/>
                </a:solidFill>
                <a:latin typeface="Arial Narrow"/>
                <a:ea typeface="Arial Narrow"/>
                <a:cs typeface="Arial Narrow"/>
              </a:defRPr>
            </a:pPr>
            <a:r>
              <a:rPr sz="7200" b="1">
                <a:solidFill>
                  <a:srgbClr val="111111"/>
                </a:solidFill>
                <a:latin typeface="Arial Narrow"/>
                <a:ea typeface="Arial Narrow"/>
                <a:cs typeface="Arial Narrow"/>
              </a:rPr>
              <a:t>poisoning</a:t>
            </a:r>
          </a:p>
        </p:txBody>
      </p:sp>
      <p:sp>
        <p:nvSpPr>
          <p:cNvPr id="3" name="chapter-subtitle">
            <a:extLst xmlns:a="http://schemas.openxmlformats.org/drawingml/2006/main">
              <a:ext uri="{FF2B5EF4-FFF2-40B4-BE49-F238E27FC236}">
                <a16:creationId xmlns:a16="http://schemas.microsoft.com/office/drawing/2014/main" id="{9AF002DE-5080-484A-A585-E6922A49BBBC}"/>
              </a:ext>
            </a:extLst>
          </p:cNvPr>
          <p:cNvSpPr>
            <a:spLocks xmlns:a="http://schemas.openxmlformats.org/drawingml/2006/main" noGrp="1"/>
          </p:cNvSpPr>
          <p:nvPr/>
        </p:nvSpPr>
        <p:spPr>
          <a:xfrm xmlns:a="http://schemas.openxmlformats.org/drawingml/2006/main">
            <a:off x="723900" y="43434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100" b="0">
                <a:solidFill>
                  <a:srgbClr val="111111"/>
                </a:solidFill>
                <a:latin typeface="Arial Narrow"/>
                <a:ea typeface="Arial Narrow"/>
                <a:cs typeface="Arial Narrow"/>
              </a:defRPr>
            </a:pPr>
            <a:r>
              <a:rPr sz="2100" b="0">
                <a:solidFill>
                  <a:srgbClr val="111111"/>
                </a:solidFill>
                <a:latin typeface="Arial Narrow"/>
                <a:ea typeface="Arial Narrow"/>
                <a:cs typeface="Arial Narrow"/>
              </a:rPr>
              <a:t>Plain / Base64 / Signed / Encrypted / Server-side Session</a:t>
            </a:r>
          </a:p>
        </p:txBody>
      </p:sp>
      <p:sp>
        <p:nvSpPr>
          <p:cNvPr id="4" name="rule-76-618">
            <a:extLst xmlns:a="http://schemas.openxmlformats.org/drawingml/2006/main">
              <a:ext uri="{FF2B5EF4-FFF2-40B4-BE49-F238E27FC236}">
                <a16:creationId xmlns:a16="http://schemas.microsoft.com/office/drawing/2014/main" id="{9BCA3B49-0A64-416F-81C3-463079E7A07E}"/>
              </a:ext>
            </a:extLst>
          </p:cNvPr>
          <p:cNvSpPr>
            <a:spLocks xmlns:a="http://schemas.openxmlformats.org/drawingml/2006/main" noGrp="1"/>
          </p:cNvSpPr>
          <p:nvPr/>
        </p:nvSpPr>
        <p:spPr>
          <a:xfrm xmlns:a="http://schemas.openxmlformats.org/drawingml/2006/main">
            <a:off x="723900" y="5886450"/>
            <a:ext cx="10744200" cy="9525"/>
          </a:xfrm>
          <a:prstGeom xmlns:a="http://schemas.openxmlformats.org/drawingml/2006/main" prst="rect">
            <a:avLst/>
          </a:prstGeom>
          <a:solidFill xmlns:a="http://schemas.openxmlformats.org/drawingml/2006/main">
            <a:srgbClr val="B94720"/>
          </a:solidFill>
          <a:ln xmlns:a="http://schemas.openxmlformats.org/drawingml/2006/main" w="0">
            <a:noFill/>
            <a:prstDash val="solid"/>
          </a:ln>
        </p:spPr>
      </p:sp>
      <p:sp>
        <p:nvSpPr>
          <p:cNvPr id="5" name="chapter-footer">
            <a:extLst xmlns:a="http://schemas.openxmlformats.org/drawingml/2006/main">
              <a:ext uri="{FF2B5EF4-FFF2-40B4-BE49-F238E27FC236}">
                <a16:creationId xmlns:a16="http://schemas.microsoft.com/office/drawing/2014/main" id="{4F668090-5BF3-4361-B3FD-8D60E9D22DD6}"/>
              </a:ext>
            </a:extLst>
          </p:cNvPr>
          <p:cNvSpPr>
            <a:spLocks xmlns:a="http://schemas.openxmlformats.org/drawingml/2006/main" noGrp="1"/>
          </p:cNvSpPr>
          <p:nvPr/>
        </p:nvSpPr>
        <p:spPr>
          <a:xfrm xmlns:a="http://schemas.openxmlformats.org/drawingml/2006/main">
            <a:off x="723900" y="6076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NHẬN DIỆN / DEMO / GIẢI THÍCH / VÁ / KIỂM CHỨNG</a:t>
            </a:r>
          </a:p>
        </p:txBody>
      </p:sp>
    </p:spTree>
    <p:extLst>
      <p:ext uri="{BB962C8B-B14F-4D97-AF65-F5344CB8AC3E}">
        <p14:creationId xmlns:p14="http://schemas.microsoft.com/office/powerpoint/2010/main" val="369124877"/>
      </p:ext>
    </p:extLst>
  </p:cSld>
</p:sld>
</file>

<file path=ppt/slides/slide5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8" name="chrome-section">
            <a:extLst xmlns:a="http://schemas.openxmlformats.org/drawingml/2006/main">
              <a:ext uri="{FF2B5EF4-FFF2-40B4-BE49-F238E27FC236}">
                <a16:creationId xmlns:a16="http://schemas.microsoft.com/office/drawing/2014/main" id="{959E5FDB-40E7-4530-B99C-21274F73801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NĂM MÔ HÌNH</a:t>
            </a:r>
          </a:p>
        </p:txBody>
      </p:sp>
      <p:sp>
        <p:nvSpPr>
          <p:cNvPr id="2" name="chrome-number">
            <a:extLst xmlns:a="http://schemas.openxmlformats.org/drawingml/2006/main">
              <a:ext uri="{FF2B5EF4-FFF2-40B4-BE49-F238E27FC236}">
                <a16:creationId xmlns:a16="http://schemas.microsoft.com/office/drawing/2014/main" id="{C7E5EC19-7C24-4FCD-BEBB-FD37DF34353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52</a:t>
            </a:r>
          </a:p>
        </p:txBody>
      </p:sp>
      <p:sp>
        <p:nvSpPr>
          <p:cNvPr id="3" name="rule-70-58">
            <a:extLst xmlns:a="http://schemas.openxmlformats.org/drawingml/2006/main">
              <a:ext uri="{FF2B5EF4-FFF2-40B4-BE49-F238E27FC236}">
                <a16:creationId xmlns:a16="http://schemas.microsoft.com/office/drawing/2014/main" id="{0DFE9C03-EF78-4AC7-9899-F0718187D25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85D87718-3191-40CB-A16B-FBA7BE5C23F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MA TRẬN ĐỐI CHIẾU</a:t>
            </a:r>
          </a:p>
        </p:txBody>
      </p:sp>
      <p:sp>
        <p:nvSpPr>
          <p:cNvPr id="5" name="slide-title">
            <a:extLst xmlns:a="http://schemas.openxmlformats.org/drawingml/2006/main">
              <a:ext uri="{FF2B5EF4-FFF2-40B4-BE49-F238E27FC236}">
                <a16:creationId xmlns:a16="http://schemas.microsoft.com/office/drawing/2014/main" id="{2CC29F0D-1881-42C0-BA1C-7D0D4CDF66E6}"/>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03"/>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Encoding, signing, encryption và authorization không phải một</a:t>
            </a:r>
          </a:p>
        </p:txBody>
      </p:sp>
      <p:sp>
        <p:nvSpPr>
          <p:cNvPr id="6" name="rule-70-672">
            <a:extLst xmlns:a="http://schemas.openxmlformats.org/drawingml/2006/main">
              <a:ext uri="{FF2B5EF4-FFF2-40B4-BE49-F238E27FC236}">
                <a16:creationId xmlns:a16="http://schemas.microsoft.com/office/drawing/2014/main" id="{3DF3AAAA-F567-426C-8B99-0D45301736D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C2722995-9F66-4DAA-BD34-565F8BC03B8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72">
            <a:extLst xmlns:a="http://schemas.openxmlformats.org/drawingml/2006/main">
              <a:ext uri="{FF2B5EF4-FFF2-40B4-BE49-F238E27FC236}">
                <a16:creationId xmlns:a16="http://schemas.microsoft.com/office/drawing/2014/main" id="{4777DC8F-6266-44DC-AE05-A63799C409D1}"/>
              </a:ext>
            </a:extLst>
          </p:cNvPr>
          <p:cNvSpPr>
            <a:spLocks xmlns:a="http://schemas.openxmlformats.org/drawingml/2006/main" noGrp="1"/>
          </p:cNvSpPr>
          <p:nvPr/>
        </p:nvSpPr>
        <p:spPr>
          <a:xfrm xmlns:a="http://schemas.openxmlformats.org/drawingml/2006/main">
            <a:off x="666750" y="2590800"/>
            <a:ext cx="1085850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9" name="cell-0-0">
            <a:extLst xmlns:a="http://schemas.openxmlformats.org/drawingml/2006/main">
              <a:ext uri="{FF2B5EF4-FFF2-40B4-BE49-F238E27FC236}">
                <a16:creationId xmlns:a16="http://schemas.microsoft.com/office/drawing/2014/main" id="{415AD544-1EE0-45ED-B7AC-625C0BE818FE}"/>
              </a:ext>
            </a:extLst>
          </p:cNvPr>
          <p:cNvSpPr>
            <a:spLocks xmlns:a="http://schemas.openxmlformats.org/drawingml/2006/main" noGrp="1"/>
          </p:cNvSpPr>
          <p:nvPr/>
        </p:nvSpPr>
        <p:spPr>
          <a:xfrm xmlns:a="http://schemas.openxmlformats.org/drawingml/2006/main">
            <a:off x="666750" y="20955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MODE</a:t>
            </a:r>
          </a:p>
        </p:txBody>
      </p:sp>
      <p:sp>
        <p:nvSpPr>
          <p:cNvPr id="10" name="cell-0-1">
            <a:extLst xmlns:a="http://schemas.openxmlformats.org/drawingml/2006/main">
              <a:ext uri="{FF2B5EF4-FFF2-40B4-BE49-F238E27FC236}">
                <a16:creationId xmlns:a16="http://schemas.microsoft.com/office/drawing/2014/main" id="{34460767-621D-4C6B-8CA0-DBAD97C315F5}"/>
              </a:ext>
            </a:extLst>
          </p:cNvPr>
          <p:cNvSpPr>
            <a:spLocks xmlns:a="http://schemas.openxmlformats.org/drawingml/2006/main" noGrp="1"/>
          </p:cNvSpPr>
          <p:nvPr/>
        </p:nvSpPr>
        <p:spPr>
          <a:xfrm xmlns:a="http://schemas.openxmlformats.org/drawingml/2006/main">
            <a:off x="2667000" y="20955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CLIENT THẤY</a:t>
            </a:r>
          </a:p>
        </p:txBody>
      </p:sp>
      <p:sp>
        <p:nvSpPr>
          <p:cNvPr id="11" name="cell-0-2">
            <a:extLst xmlns:a="http://schemas.openxmlformats.org/drawingml/2006/main">
              <a:ext uri="{FF2B5EF4-FFF2-40B4-BE49-F238E27FC236}">
                <a16:creationId xmlns:a16="http://schemas.microsoft.com/office/drawing/2014/main" id="{3FE583C2-373E-4634-BFBA-0EDC07598799}"/>
              </a:ext>
            </a:extLst>
          </p:cNvPr>
          <p:cNvSpPr>
            <a:spLocks xmlns:a="http://schemas.openxmlformats.org/drawingml/2006/main" noGrp="1"/>
          </p:cNvSpPr>
          <p:nvPr/>
        </p:nvSpPr>
        <p:spPr>
          <a:xfrm xmlns:a="http://schemas.openxmlformats.org/drawingml/2006/main">
            <a:off x="5238750" y="20955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INTEGRITY</a:t>
            </a:r>
          </a:p>
        </p:txBody>
      </p:sp>
      <p:sp>
        <p:nvSpPr>
          <p:cNvPr id="12" name="cell-0-3">
            <a:extLst xmlns:a="http://schemas.openxmlformats.org/drawingml/2006/main">
              <a:ext uri="{FF2B5EF4-FFF2-40B4-BE49-F238E27FC236}">
                <a16:creationId xmlns:a16="http://schemas.microsoft.com/office/drawing/2014/main" id="{A2BB4837-72FE-4BBD-86AB-AE4F9096E19F}"/>
              </a:ext>
            </a:extLst>
          </p:cNvPr>
          <p:cNvSpPr>
            <a:spLocks xmlns:a="http://schemas.openxmlformats.org/drawingml/2006/main" noGrp="1"/>
          </p:cNvSpPr>
          <p:nvPr/>
        </p:nvSpPr>
        <p:spPr>
          <a:xfrm xmlns:a="http://schemas.openxmlformats.org/drawingml/2006/main">
            <a:off x="8096250" y="20955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QUYỀN AUTHORITATIVE</a:t>
            </a:r>
          </a:p>
        </p:txBody>
      </p:sp>
      <p:sp>
        <p:nvSpPr>
          <p:cNvPr id="13" name="rule-70-330">
            <a:extLst xmlns:a="http://schemas.openxmlformats.org/drawingml/2006/main">
              <a:ext uri="{FF2B5EF4-FFF2-40B4-BE49-F238E27FC236}">
                <a16:creationId xmlns:a16="http://schemas.microsoft.com/office/drawing/2014/main" id="{4AD13F96-1BAF-4BEF-AE3F-1F476B02CEED}"/>
              </a:ext>
            </a:extLst>
          </p:cNvPr>
          <p:cNvSpPr>
            <a:spLocks xmlns:a="http://schemas.openxmlformats.org/drawingml/2006/main" noGrp="1"/>
          </p:cNvSpPr>
          <p:nvPr/>
        </p:nvSpPr>
        <p:spPr>
          <a:xfrm xmlns:a="http://schemas.openxmlformats.org/drawingml/2006/main">
            <a:off x="666750" y="31432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cell-1-0">
            <a:extLst xmlns:a="http://schemas.openxmlformats.org/drawingml/2006/main">
              <a:ext uri="{FF2B5EF4-FFF2-40B4-BE49-F238E27FC236}">
                <a16:creationId xmlns:a16="http://schemas.microsoft.com/office/drawing/2014/main" id="{229B00BC-FE55-4AD2-BE1E-B2522319E5DE}"/>
              </a:ext>
            </a:extLst>
          </p:cNvPr>
          <p:cNvSpPr>
            <a:spLocks xmlns:a="http://schemas.openxmlformats.org/drawingml/2006/main" noGrp="1"/>
          </p:cNvSpPr>
          <p:nvPr/>
        </p:nvSpPr>
        <p:spPr>
          <a:xfrm xmlns:a="http://schemas.openxmlformats.org/drawingml/2006/main">
            <a:off x="666750" y="26479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Plain</a:t>
            </a:r>
          </a:p>
        </p:txBody>
      </p:sp>
      <p:sp>
        <p:nvSpPr>
          <p:cNvPr id="15" name="cell-1-1">
            <a:extLst xmlns:a="http://schemas.openxmlformats.org/drawingml/2006/main">
              <a:ext uri="{FF2B5EF4-FFF2-40B4-BE49-F238E27FC236}">
                <a16:creationId xmlns:a16="http://schemas.microsoft.com/office/drawing/2014/main" id="{EE51635E-22EB-424D-916F-2109D9BC525A}"/>
              </a:ext>
            </a:extLst>
          </p:cNvPr>
          <p:cNvSpPr>
            <a:spLocks xmlns:a="http://schemas.openxmlformats.org/drawingml/2006/main" noGrp="1"/>
          </p:cNvSpPr>
          <p:nvPr/>
        </p:nvSpPr>
        <p:spPr>
          <a:xfrm xmlns:a="http://schemas.openxmlformats.org/drawingml/2006/main">
            <a:off x="2667000" y="26479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role=user</a:t>
            </a:r>
          </a:p>
        </p:txBody>
      </p:sp>
      <p:sp>
        <p:nvSpPr>
          <p:cNvPr id="16" name="cell-1-2">
            <a:extLst xmlns:a="http://schemas.openxmlformats.org/drawingml/2006/main">
              <a:ext uri="{FF2B5EF4-FFF2-40B4-BE49-F238E27FC236}">
                <a16:creationId xmlns:a16="http://schemas.microsoft.com/office/drawing/2014/main" id="{2CCC473C-009E-4DDC-AD2E-4218789CF196}"/>
              </a:ext>
            </a:extLst>
          </p:cNvPr>
          <p:cNvSpPr>
            <a:spLocks xmlns:a="http://schemas.openxmlformats.org/drawingml/2006/main" noGrp="1"/>
          </p:cNvSpPr>
          <p:nvPr/>
        </p:nvSpPr>
        <p:spPr>
          <a:xfrm xmlns:a="http://schemas.openxmlformats.org/drawingml/2006/main">
            <a:off x="5238750" y="2647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không</a:t>
            </a:r>
          </a:p>
        </p:txBody>
      </p:sp>
      <p:sp>
        <p:nvSpPr>
          <p:cNvPr id="17" name="cell-1-3">
            <a:extLst xmlns:a="http://schemas.openxmlformats.org/drawingml/2006/main">
              <a:ext uri="{FF2B5EF4-FFF2-40B4-BE49-F238E27FC236}">
                <a16:creationId xmlns:a16="http://schemas.microsoft.com/office/drawing/2014/main" id="{503366C5-3B59-438C-8A9E-E769A6F0E0C3}"/>
              </a:ext>
            </a:extLst>
          </p:cNvPr>
          <p:cNvSpPr>
            <a:spLocks xmlns:a="http://schemas.openxmlformats.org/drawingml/2006/main" noGrp="1"/>
          </p:cNvSpPr>
          <p:nvPr/>
        </p:nvSpPr>
        <p:spPr>
          <a:xfrm xmlns:a="http://schemas.openxmlformats.org/drawingml/2006/main">
            <a:off x="8096250" y="26479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cookie — sai</a:t>
            </a:r>
          </a:p>
        </p:txBody>
      </p:sp>
      <p:sp>
        <p:nvSpPr>
          <p:cNvPr id="18" name="rule-70-388">
            <a:extLst xmlns:a="http://schemas.openxmlformats.org/drawingml/2006/main">
              <a:ext uri="{FF2B5EF4-FFF2-40B4-BE49-F238E27FC236}">
                <a16:creationId xmlns:a16="http://schemas.microsoft.com/office/drawing/2014/main" id="{BD780537-7BFA-4573-BD71-0A9A2D9C4982}"/>
              </a:ext>
            </a:extLst>
          </p:cNvPr>
          <p:cNvSpPr>
            <a:spLocks xmlns:a="http://schemas.openxmlformats.org/drawingml/2006/main" noGrp="1"/>
          </p:cNvSpPr>
          <p:nvPr/>
        </p:nvSpPr>
        <p:spPr>
          <a:xfrm xmlns:a="http://schemas.openxmlformats.org/drawingml/2006/main">
            <a:off x="666750" y="36957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9" name="cell-2-0">
            <a:extLst xmlns:a="http://schemas.openxmlformats.org/drawingml/2006/main">
              <a:ext uri="{FF2B5EF4-FFF2-40B4-BE49-F238E27FC236}">
                <a16:creationId xmlns:a16="http://schemas.microsoft.com/office/drawing/2014/main" id="{014B0CD5-D205-4DC1-A7DF-432017444479}"/>
              </a:ext>
            </a:extLst>
          </p:cNvPr>
          <p:cNvSpPr>
            <a:spLocks xmlns:a="http://schemas.openxmlformats.org/drawingml/2006/main" noGrp="1"/>
          </p:cNvSpPr>
          <p:nvPr/>
        </p:nvSpPr>
        <p:spPr>
          <a:xfrm xmlns:a="http://schemas.openxmlformats.org/drawingml/2006/main">
            <a:off x="666750" y="32004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Base64</a:t>
            </a:r>
          </a:p>
        </p:txBody>
      </p:sp>
      <p:sp>
        <p:nvSpPr>
          <p:cNvPr id="20" name="cell-2-1">
            <a:extLst xmlns:a="http://schemas.openxmlformats.org/drawingml/2006/main">
              <a:ext uri="{FF2B5EF4-FFF2-40B4-BE49-F238E27FC236}">
                <a16:creationId xmlns:a16="http://schemas.microsoft.com/office/drawing/2014/main" id="{A6F60603-A4B7-430C-8B45-5502AF35DAFB}"/>
              </a:ext>
            </a:extLst>
          </p:cNvPr>
          <p:cNvSpPr>
            <a:spLocks xmlns:a="http://schemas.openxmlformats.org/drawingml/2006/main" noGrp="1"/>
          </p:cNvSpPr>
          <p:nvPr/>
        </p:nvSpPr>
        <p:spPr>
          <a:xfrm xmlns:a="http://schemas.openxmlformats.org/drawingml/2006/main">
            <a:off x="2667000" y="3200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JSON đọc được</a:t>
            </a:r>
          </a:p>
        </p:txBody>
      </p:sp>
      <p:sp>
        <p:nvSpPr>
          <p:cNvPr id="21" name="cell-2-2">
            <a:extLst xmlns:a="http://schemas.openxmlformats.org/drawingml/2006/main">
              <a:ext uri="{FF2B5EF4-FFF2-40B4-BE49-F238E27FC236}">
                <a16:creationId xmlns:a16="http://schemas.microsoft.com/office/drawing/2014/main" id="{A912780A-AD8A-4503-92A2-6AFB4DC9ABE2}"/>
              </a:ext>
            </a:extLst>
          </p:cNvPr>
          <p:cNvSpPr>
            <a:spLocks xmlns:a="http://schemas.openxmlformats.org/drawingml/2006/main" noGrp="1"/>
          </p:cNvSpPr>
          <p:nvPr/>
        </p:nvSpPr>
        <p:spPr>
          <a:xfrm xmlns:a="http://schemas.openxmlformats.org/drawingml/2006/main">
            <a:off x="5238750" y="32004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không</a:t>
            </a:r>
          </a:p>
        </p:txBody>
      </p:sp>
      <p:sp>
        <p:nvSpPr>
          <p:cNvPr id="22" name="cell-2-3">
            <a:extLst xmlns:a="http://schemas.openxmlformats.org/drawingml/2006/main">
              <a:ext uri="{FF2B5EF4-FFF2-40B4-BE49-F238E27FC236}">
                <a16:creationId xmlns:a16="http://schemas.microsoft.com/office/drawing/2014/main" id="{077C720B-821F-4F41-A715-8DE75D999AB9}"/>
              </a:ext>
            </a:extLst>
          </p:cNvPr>
          <p:cNvSpPr>
            <a:spLocks xmlns:a="http://schemas.openxmlformats.org/drawingml/2006/main" noGrp="1"/>
          </p:cNvSpPr>
          <p:nvPr/>
        </p:nvSpPr>
        <p:spPr>
          <a:xfrm xmlns:a="http://schemas.openxmlformats.org/drawingml/2006/main">
            <a:off x="8096250" y="32004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decoded role — sai</a:t>
            </a:r>
          </a:p>
        </p:txBody>
      </p:sp>
      <p:sp>
        <p:nvSpPr>
          <p:cNvPr id="23" name="rule-70-446">
            <a:extLst xmlns:a="http://schemas.openxmlformats.org/drawingml/2006/main">
              <a:ext uri="{FF2B5EF4-FFF2-40B4-BE49-F238E27FC236}">
                <a16:creationId xmlns:a16="http://schemas.microsoft.com/office/drawing/2014/main" id="{B200736C-F87C-42AE-8792-2ED0DF837C4A}"/>
              </a:ext>
            </a:extLst>
          </p:cNvPr>
          <p:cNvSpPr>
            <a:spLocks xmlns:a="http://schemas.openxmlformats.org/drawingml/2006/main" noGrp="1"/>
          </p:cNvSpPr>
          <p:nvPr/>
        </p:nvSpPr>
        <p:spPr>
          <a:xfrm xmlns:a="http://schemas.openxmlformats.org/drawingml/2006/main">
            <a:off x="666750" y="42481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4" name="cell-3-0">
            <a:extLst xmlns:a="http://schemas.openxmlformats.org/drawingml/2006/main">
              <a:ext uri="{FF2B5EF4-FFF2-40B4-BE49-F238E27FC236}">
                <a16:creationId xmlns:a16="http://schemas.microsoft.com/office/drawing/2014/main" id="{AB7C6D5F-CE32-4358-B098-B70F823EBAF2}"/>
              </a:ext>
            </a:extLst>
          </p:cNvPr>
          <p:cNvSpPr>
            <a:spLocks xmlns:a="http://schemas.openxmlformats.org/drawingml/2006/main" noGrp="1"/>
          </p:cNvSpPr>
          <p:nvPr/>
        </p:nvSpPr>
        <p:spPr>
          <a:xfrm xmlns:a="http://schemas.openxmlformats.org/drawingml/2006/main">
            <a:off x="666750" y="37528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Signed</a:t>
            </a:r>
          </a:p>
        </p:txBody>
      </p:sp>
      <p:sp>
        <p:nvSpPr>
          <p:cNvPr id="25" name="cell-3-1">
            <a:extLst xmlns:a="http://schemas.openxmlformats.org/drawingml/2006/main">
              <a:ext uri="{FF2B5EF4-FFF2-40B4-BE49-F238E27FC236}">
                <a16:creationId xmlns:a16="http://schemas.microsoft.com/office/drawing/2014/main" id="{CA705F34-F757-4AFB-989D-CB6C0C1F7BA6}"/>
              </a:ext>
            </a:extLst>
          </p:cNvPr>
          <p:cNvSpPr>
            <a:spLocks xmlns:a="http://schemas.openxmlformats.org/drawingml/2006/main" noGrp="1"/>
          </p:cNvSpPr>
          <p:nvPr/>
        </p:nvSpPr>
        <p:spPr>
          <a:xfrm xmlns:a="http://schemas.openxmlformats.org/drawingml/2006/main">
            <a:off x="2667000" y="37528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payload đọc được</a:t>
            </a:r>
          </a:p>
        </p:txBody>
      </p:sp>
      <p:sp>
        <p:nvSpPr>
          <p:cNvPr id="26" name="cell-3-2">
            <a:extLst xmlns:a="http://schemas.openxmlformats.org/drawingml/2006/main">
              <a:ext uri="{FF2B5EF4-FFF2-40B4-BE49-F238E27FC236}">
                <a16:creationId xmlns:a16="http://schemas.microsoft.com/office/drawing/2014/main" id="{1B343C45-C075-4E5B-8F2A-01102740E066}"/>
              </a:ext>
            </a:extLst>
          </p:cNvPr>
          <p:cNvSpPr>
            <a:spLocks xmlns:a="http://schemas.openxmlformats.org/drawingml/2006/main" noGrp="1"/>
          </p:cNvSpPr>
          <p:nvPr/>
        </p:nvSpPr>
        <p:spPr>
          <a:xfrm xmlns:a="http://schemas.openxmlformats.org/drawingml/2006/main">
            <a:off x="52387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có</a:t>
            </a:r>
          </a:p>
        </p:txBody>
      </p:sp>
      <p:sp>
        <p:nvSpPr>
          <p:cNvPr id="27" name="cell-3-3">
            <a:extLst xmlns:a="http://schemas.openxmlformats.org/drawingml/2006/main">
              <a:ext uri="{FF2B5EF4-FFF2-40B4-BE49-F238E27FC236}">
                <a16:creationId xmlns:a16="http://schemas.microsoft.com/office/drawing/2014/main" id="{AA204AE7-A402-476B-983B-DECDAF9FABF9}"/>
              </a:ext>
            </a:extLst>
          </p:cNvPr>
          <p:cNvSpPr>
            <a:spLocks xmlns:a="http://schemas.openxmlformats.org/drawingml/2006/main" noGrp="1"/>
          </p:cNvSpPr>
          <p:nvPr/>
        </p:nvSpPr>
        <p:spPr>
          <a:xfrm xmlns:a="http://schemas.openxmlformats.org/drawingml/2006/main">
            <a:off x="8096250" y="37528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vẫn cần policy</a:t>
            </a:r>
          </a:p>
        </p:txBody>
      </p:sp>
      <p:sp>
        <p:nvSpPr>
          <p:cNvPr id="28" name="rule-70-504">
            <a:extLst xmlns:a="http://schemas.openxmlformats.org/drawingml/2006/main">
              <a:ext uri="{FF2B5EF4-FFF2-40B4-BE49-F238E27FC236}">
                <a16:creationId xmlns:a16="http://schemas.microsoft.com/office/drawing/2014/main" id="{267C446E-CFE9-4A68-B2CE-A5E6775B1BB9}"/>
              </a:ext>
            </a:extLst>
          </p:cNvPr>
          <p:cNvSpPr>
            <a:spLocks xmlns:a="http://schemas.openxmlformats.org/drawingml/2006/main" noGrp="1"/>
          </p:cNvSpPr>
          <p:nvPr/>
        </p:nvSpPr>
        <p:spPr>
          <a:xfrm xmlns:a="http://schemas.openxmlformats.org/drawingml/2006/main">
            <a:off x="666750" y="48006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9" name="cell-4-0">
            <a:extLst xmlns:a="http://schemas.openxmlformats.org/drawingml/2006/main">
              <a:ext uri="{FF2B5EF4-FFF2-40B4-BE49-F238E27FC236}">
                <a16:creationId xmlns:a16="http://schemas.microsoft.com/office/drawing/2014/main" id="{F777489E-BC79-446F-8A41-B36828E96592}"/>
              </a:ext>
            </a:extLst>
          </p:cNvPr>
          <p:cNvSpPr>
            <a:spLocks xmlns:a="http://schemas.openxmlformats.org/drawingml/2006/main" noGrp="1"/>
          </p:cNvSpPr>
          <p:nvPr/>
        </p:nvSpPr>
        <p:spPr>
          <a:xfrm xmlns:a="http://schemas.openxmlformats.org/drawingml/2006/main">
            <a:off x="66675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Encrypted</a:t>
            </a:r>
          </a:p>
        </p:txBody>
      </p:sp>
      <p:sp>
        <p:nvSpPr>
          <p:cNvPr id="30" name="cell-4-1">
            <a:extLst xmlns:a="http://schemas.openxmlformats.org/drawingml/2006/main">
              <a:ext uri="{FF2B5EF4-FFF2-40B4-BE49-F238E27FC236}">
                <a16:creationId xmlns:a16="http://schemas.microsoft.com/office/drawing/2014/main" id="{F723EBA0-9BE7-474E-816A-F91C708A81AC}"/>
              </a:ext>
            </a:extLst>
          </p:cNvPr>
          <p:cNvSpPr>
            <a:spLocks xmlns:a="http://schemas.openxmlformats.org/drawingml/2006/main" noGrp="1"/>
          </p:cNvSpPr>
          <p:nvPr/>
        </p:nvSpPr>
        <p:spPr>
          <a:xfrm xmlns:a="http://schemas.openxmlformats.org/drawingml/2006/main">
            <a:off x="2667000" y="4305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ciphertext</a:t>
            </a:r>
          </a:p>
        </p:txBody>
      </p:sp>
      <p:sp>
        <p:nvSpPr>
          <p:cNvPr id="31" name="cell-4-2">
            <a:extLst xmlns:a="http://schemas.openxmlformats.org/drawingml/2006/main">
              <a:ext uri="{FF2B5EF4-FFF2-40B4-BE49-F238E27FC236}">
                <a16:creationId xmlns:a16="http://schemas.microsoft.com/office/drawing/2014/main" id="{D3C488B8-AB42-417B-8A65-94E64439A973}"/>
              </a:ext>
            </a:extLst>
          </p:cNvPr>
          <p:cNvSpPr>
            <a:spLocks xmlns:a="http://schemas.openxmlformats.org/drawingml/2006/main" noGrp="1"/>
          </p:cNvSpPr>
          <p:nvPr/>
        </p:nvSpPr>
        <p:spPr>
          <a:xfrm xmlns:a="http://schemas.openxmlformats.org/drawingml/2006/main">
            <a:off x="5238750" y="43053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Fernet AEAD</a:t>
            </a:r>
          </a:p>
        </p:txBody>
      </p:sp>
      <p:sp>
        <p:nvSpPr>
          <p:cNvPr id="32" name="cell-4-3">
            <a:extLst xmlns:a="http://schemas.openxmlformats.org/drawingml/2006/main">
              <a:ext uri="{FF2B5EF4-FFF2-40B4-BE49-F238E27FC236}">
                <a16:creationId xmlns:a16="http://schemas.microsoft.com/office/drawing/2014/main" id="{8C8EEE58-349A-4843-82A0-F6F584C87FD5}"/>
              </a:ext>
            </a:extLst>
          </p:cNvPr>
          <p:cNvSpPr>
            <a:spLocks xmlns:a="http://schemas.openxmlformats.org/drawingml/2006/main" noGrp="1"/>
          </p:cNvSpPr>
          <p:nvPr/>
        </p:nvSpPr>
        <p:spPr>
          <a:xfrm xmlns:a="http://schemas.openxmlformats.org/drawingml/2006/main">
            <a:off x="8096250" y="43053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không dùng role</a:t>
            </a:r>
          </a:p>
        </p:txBody>
      </p:sp>
      <p:sp>
        <p:nvSpPr>
          <p:cNvPr id="33" name="rule-70-562">
            <a:extLst xmlns:a="http://schemas.openxmlformats.org/drawingml/2006/main">
              <a:ext uri="{FF2B5EF4-FFF2-40B4-BE49-F238E27FC236}">
                <a16:creationId xmlns:a16="http://schemas.microsoft.com/office/drawing/2014/main" id="{0722F822-E495-4885-950C-E824BE94EA07}"/>
              </a:ext>
            </a:extLst>
          </p:cNvPr>
          <p:cNvSpPr>
            <a:spLocks xmlns:a="http://schemas.openxmlformats.org/drawingml/2006/main" noGrp="1"/>
          </p:cNvSpPr>
          <p:nvPr/>
        </p:nvSpPr>
        <p:spPr>
          <a:xfrm xmlns:a="http://schemas.openxmlformats.org/drawingml/2006/main">
            <a:off x="666750" y="53530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4" name="cell-5-0">
            <a:extLst xmlns:a="http://schemas.openxmlformats.org/drawingml/2006/main">
              <a:ext uri="{FF2B5EF4-FFF2-40B4-BE49-F238E27FC236}">
                <a16:creationId xmlns:a16="http://schemas.microsoft.com/office/drawing/2014/main" id="{D132F13B-AA55-4059-A795-25890958979F}"/>
              </a:ext>
            </a:extLst>
          </p:cNvPr>
          <p:cNvSpPr>
            <a:spLocks xmlns:a="http://schemas.openxmlformats.org/drawingml/2006/main" noGrp="1"/>
          </p:cNvSpPr>
          <p:nvPr/>
        </p:nvSpPr>
        <p:spPr>
          <a:xfrm xmlns:a="http://schemas.openxmlformats.org/drawingml/2006/main">
            <a:off x="666750" y="48577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Server session</a:t>
            </a:r>
          </a:p>
        </p:txBody>
      </p:sp>
      <p:sp>
        <p:nvSpPr>
          <p:cNvPr id="35" name="cell-5-1">
            <a:extLst xmlns:a="http://schemas.openxmlformats.org/drawingml/2006/main">
              <a:ext uri="{FF2B5EF4-FFF2-40B4-BE49-F238E27FC236}">
                <a16:creationId xmlns:a16="http://schemas.microsoft.com/office/drawing/2014/main" id="{26A1A5E7-2F37-4400-929F-B97870AC6350}"/>
              </a:ext>
            </a:extLst>
          </p:cNvPr>
          <p:cNvSpPr>
            <a:spLocks xmlns:a="http://schemas.openxmlformats.org/drawingml/2006/main" noGrp="1"/>
          </p:cNvSpPr>
          <p:nvPr/>
        </p:nvSpPr>
        <p:spPr>
          <a:xfrm xmlns:a="http://schemas.openxmlformats.org/drawingml/2006/main">
            <a:off x="2667000" y="48577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opaque ID</a:t>
            </a:r>
          </a:p>
        </p:txBody>
      </p:sp>
      <p:sp>
        <p:nvSpPr>
          <p:cNvPr id="36" name="cell-5-2">
            <a:extLst xmlns:a="http://schemas.openxmlformats.org/drawingml/2006/main">
              <a:ext uri="{FF2B5EF4-FFF2-40B4-BE49-F238E27FC236}">
                <a16:creationId xmlns:a16="http://schemas.microsoft.com/office/drawing/2014/main" id="{FE4A467B-0289-4533-AA1E-F8E32907C4B8}"/>
              </a:ext>
            </a:extLst>
          </p:cNvPr>
          <p:cNvSpPr>
            <a:spLocks xmlns:a="http://schemas.openxmlformats.org/drawingml/2006/main" noGrp="1"/>
          </p:cNvSpPr>
          <p:nvPr/>
        </p:nvSpPr>
        <p:spPr>
          <a:xfrm xmlns:a="http://schemas.openxmlformats.org/drawingml/2006/main">
            <a:off x="5238750" y="4857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server state</a:t>
            </a:r>
          </a:p>
        </p:txBody>
      </p:sp>
      <p:sp>
        <p:nvSpPr>
          <p:cNvPr id="37" name="cell-5-3">
            <a:extLst xmlns:a="http://schemas.openxmlformats.org/drawingml/2006/main">
              <a:ext uri="{FF2B5EF4-FFF2-40B4-BE49-F238E27FC236}">
                <a16:creationId xmlns:a16="http://schemas.microsoft.com/office/drawing/2014/main" id="{46B55FE0-BE67-4ACE-B270-308D75F88779}"/>
              </a:ext>
            </a:extLst>
          </p:cNvPr>
          <p:cNvSpPr>
            <a:spLocks xmlns:a="http://schemas.openxmlformats.org/drawingml/2006/main" noGrp="1"/>
          </p:cNvSpPr>
          <p:nvPr/>
        </p:nvSpPr>
        <p:spPr>
          <a:xfrm xmlns:a="http://schemas.openxmlformats.org/drawingml/2006/main">
            <a:off x="8096250" y="48577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database role</a:t>
            </a:r>
          </a:p>
        </p:txBody>
      </p:sp>
    </p:spTree>
    <p:extLst>
      <p:ext uri="{BB962C8B-B14F-4D97-AF65-F5344CB8AC3E}">
        <p14:creationId xmlns:p14="http://schemas.microsoft.com/office/powerpoint/2010/main" val="1754406495"/>
      </p:ext>
    </p:extLst>
  </p:cSld>
</p:sld>
</file>

<file path=ppt/slides/slide5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99469E53-B18B-4701-BCA8-BF05749CEE38}"/>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PLAIN</a:t>
            </a:r>
          </a:p>
        </p:txBody>
      </p:sp>
      <p:sp>
        <p:nvSpPr>
          <p:cNvPr id="2" name="chrome-number">
            <a:extLst xmlns:a="http://schemas.openxmlformats.org/drawingml/2006/main">
              <a:ext uri="{FF2B5EF4-FFF2-40B4-BE49-F238E27FC236}">
                <a16:creationId xmlns:a16="http://schemas.microsoft.com/office/drawing/2014/main" id="{115E9819-031F-489F-A2B6-484DFCE9A397}"/>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53</a:t>
            </a:r>
          </a:p>
        </p:txBody>
      </p:sp>
      <p:sp>
        <p:nvSpPr>
          <p:cNvPr id="3" name="rule-70-58">
            <a:extLst xmlns:a="http://schemas.openxmlformats.org/drawingml/2006/main">
              <a:ext uri="{FF2B5EF4-FFF2-40B4-BE49-F238E27FC236}">
                <a16:creationId xmlns:a16="http://schemas.microsoft.com/office/drawing/2014/main" id="{42CF783C-B09E-42E1-AE9A-C131F2F7CC1A}"/>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012E6B42-729D-471B-B531-A4540BA98C78}"/>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DBB2ECB2-B057-42F1-9849-BC30F32C0A04}"/>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11"/>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HttpOnly không ngăn người dùng sửa cookie bằng DevTools</a:t>
            </a:r>
          </a:p>
        </p:txBody>
      </p:sp>
      <p:sp>
        <p:nvSpPr>
          <p:cNvPr id="6" name="rule-70-672">
            <a:extLst xmlns:a="http://schemas.openxmlformats.org/drawingml/2006/main">
              <a:ext uri="{FF2B5EF4-FFF2-40B4-BE49-F238E27FC236}">
                <a16:creationId xmlns:a16="http://schemas.microsoft.com/office/drawing/2014/main" id="{C82E1B3B-8E41-42B8-B95F-1EF1056D3BB9}"/>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D684296E-C09A-409C-86DF-33EE5C659C0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E8551CD1-A18C-4F2B-BAF6-DD2B8F6E79F5}"/>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http://127.0.0.1:5006/vulnerable/plain/admin</a:t>
            </a:r>
          </a:p>
        </p:txBody>
      </p:sp>
      <p:sp>
        <p:nvSpPr>
          <p:cNvPr id="9" name="step-num-0">
            <a:extLst xmlns:a="http://schemas.openxmlformats.org/drawingml/2006/main">
              <a:ext uri="{FF2B5EF4-FFF2-40B4-BE49-F238E27FC236}">
                <a16:creationId xmlns:a16="http://schemas.microsoft.com/office/drawing/2014/main" id="{F7597F5B-6B28-46E0-86F9-3FD27503503F}"/>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EC2EC1F4-B94D-4779-892F-FB6C999F0FF1}"/>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student ở Plain mode; role=user bị 403.</a:t>
            </a:r>
          </a:p>
        </p:txBody>
      </p:sp>
      <p:sp>
        <p:nvSpPr>
          <p:cNvPr id="11" name="step-num-1">
            <a:extLst xmlns:a="http://schemas.openxmlformats.org/drawingml/2006/main">
              <a:ext uri="{FF2B5EF4-FFF2-40B4-BE49-F238E27FC236}">
                <a16:creationId xmlns:a16="http://schemas.microsoft.com/office/drawing/2014/main" id="{58C34397-B3EA-4843-B385-CBAE1C758A13}"/>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C60D2F41-95D3-4118-9E09-C725371D263E}"/>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Application → Cookies: sửa lab06_role user → admin.</a:t>
            </a:r>
          </a:p>
        </p:txBody>
      </p:sp>
      <p:sp>
        <p:nvSpPr>
          <p:cNvPr id="13" name="step-num-2">
            <a:extLst xmlns:a="http://schemas.openxmlformats.org/drawingml/2006/main">
              <a:ext uri="{FF2B5EF4-FFF2-40B4-BE49-F238E27FC236}">
                <a16:creationId xmlns:a16="http://schemas.microsoft.com/office/drawing/2014/main" id="{B5374C18-614E-41CF-87AD-1E14DF233331}"/>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FC731AA7-6A5B-4928-A457-0FB100564FD2}"/>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Reload /vulnerable/plain/admin; mở Authorization Inspector.</a:t>
            </a:r>
          </a:p>
        </p:txBody>
      </p:sp>
      <p:sp>
        <p:nvSpPr>
          <p:cNvPr id="15" name="expected-panel">
            <a:extLst xmlns:a="http://schemas.openxmlformats.org/drawingml/2006/main">
              <a:ext uri="{FF2B5EF4-FFF2-40B4-BE49-F238E27FC236}">
                <a16:creationId xmlns:a16="http://schemas.microsoft.com/office/drawing/2014/main" id="{246BDCB0-ADC6-4AD1-887D-E317109A616C}"/>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5D2CB3CE-DEE7-482D-BCA0-4EEF52AC8AF9}"/>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F21CB7ED-9BB6-4821-A62C-0FA5185A00F6}"/>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Route cho phép vì server dùng trực tiếp role client — Broken Access Control.</a:t>
            </a:r>
          </a:p>
        </p:txBody>
      </p:sp>
    </p:spTree>
    <p:extLst>
      <p:ext uri="{BB962C8B-B14F-4D97-AF65-F5344CB8AC3E}">
        <p14:creationId xmlns:p14="http://schemas.microsoft.com/office/powerpoint/2010/main" val="406165965"/>
      </p:ext>
    </p:extLst>
  </p:cSld>
</p:sld>
</file>

<file path=ppt/slides/slide5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85D47D86-33EB-4A74-ADE3-D4FFBC797E6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BASE64</a:t>
            </a:r>
          </a:p>
        </p:txBody>
      </p:sp>
      <p:sp>
        <p:nvSpPr>
          <p:cNvPr id="2" name="chrome-number">
            <a:extLst xmlns:a="http://schemas.openxmlformats.org/drawingml/2006/main">
              <a:ext uri="{FF2B5EF4-FFF2-40B4-BE49-F238E27FC236}">
                <a16:creationId xmlns:a16="http://schemas.microsoft.com/office/drawing/2014/main" id="{671BA7E5-33A4-406A-9C2A-47A61868C63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54</a:t>
            </a:r>
          </a:p>
        </p:txBody>
      </p:sp>
      <p:sp>
        <p:nvSpPr>
          <p:cNvPr id="3" name="rule-70-58">
            <a:extLst xmlns:a="http://schemas.openxmlformats.org/drawingml/2006/main">
              <a:ext uri="{FF2B5EF4-FFF2-40B4-BE49-F238E27FC236}">
                <a16:creationId xmlns:a16="http://schemas.microsoft.com/office/drawing/2014/main" id="{4E5B0940-13BE-449D-8F90-A7252D457D24}"/>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65CD05DA-E41B-45AC-B0A5-CE2774D0856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77EF4D0B-B945-4E3A-971D-7BC4FCCD1FCF}"/>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Base64 thay hình thức, không tạo secret hay chữ ký</a:t>
            </a:r>
          </a:p>
        </p:txBody>
      </p:sp>
      <p:sp>
        <p:nvSpPr>
          <p:cNvPr id="6" name="rule-70-672">
            <a:extLst xmlns:a="http://schemas.openxmlformats.org/drawingml/2006/main">
              <a:ext uri="{FF2B5EF4-FFF2-40B4-BE49-F238E27FC236}">
                <a16:creationId xmlns:a16="http://schemas.microsoft.com/office/drawing/2014/main" id="{4FF7F681-6D50-4463-8CE3-D92B42F68FCA}"/>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FEDEC6AE-0F3E-43BB-99ED-06165924D09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889D6309-CCCC-4EBC-800A-531B52E9A0D7}"/>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http://127.0.0.1:5006/vulnerable/base64/profile</a:t>
            </a:r>
          </a:p>
        </p:txBody>
      </p:sp>
      <p:sp>
        <p:nvSpPr>
          <p:cNvPr id="9" name="step-num-0">
            <a:extLst xmlns:a="http://schemas.openxmlformats.org/drawingml/2006/main">
              <a:ext uri="{FF2B5EF4-FFF2-40B4-BE49-F238E27FC236}">
                <a16:creationId xmlns:a16="http://schemas.microsoft.com/office/drawing/2014/main" id="{1589F207-40D5-4E94-BEC7-84B6599FF385}"/>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7303D7D9-1D6F-4632-BB61-A9ECD4DEFDA4}"/>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student ở Base64 mode; mở Base64 Inspector local.</a:t>
            </a:r>
          </a:p>
        </p:txBody>
      </p:sp>
      <p:sp>
        <p:nvSpPr>
          <p:cNvPr id="11" name="step-num-1">
            <a:extLst xmlns:a="http://schemas.openxmlformats.org/drawingml/2006/main">
              <a:ext uri="{FF2B5EF4-FFF2-40B4-BE49-F238E27FC236}">
                <a16:creationId xmlns:a16="http://schemas.microsoft.com/office/drawing/2014/main" id="{24D58710-22D4-4C63-9F7E-8F320CC97608}"/>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59E39CE8-372E-4584-A206-A30FB6BF913F}"/>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Decode: JSON role=user; dùng giá trị admin read-only trong UI.</a:t>
            </a:r>
          </a:p>
        </p:txBody>
      </p:sp>
      <p:sp>
        <p:nvSpPr>
          <p:cNvPr id="13" name="step-num-2">
            <a:extLst xmlns:a="http://schemas.openxmlformats.org/drawingml/2006/main">
              <a:ext uri="{FF2B5EF4-FFF2-40B4-BE49-F238E27FC236}">
                <a16:creationId xmlns:a16="http://schemas.microsoft.com/office/drawing/2014/main" id="{62607E85-14CA-484A-A376-5A5C644FE663}"/>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86A45F41-DD19-4E02-BE1A-93C0B0294B5A}"/>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Sửa cookie, reload /vulnerable/base64/admin.</a:t>
            </a:r>
          </a:p>
        </p:txBody>
      </p:sp>
      <p:sp>
        <p:nvSpPr>
          <p:cNvPr id="15" name="expected-panel">
            <a:extLst xmlns:a="http://schemas.openxmlformats.org/drawingml/2006/main">
              <a:ext uri="{FF2B5EF4-FFF2-40B4-BE49-F238E27FC236}">
                <a16:creationId xmlns:a16="http://schemas.microsoft.com/office/drawing/2014/main" id="{3C61C6CD-A092-45A2-A417-AB2A66E5D22F}"/>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8B8F091D-9FDA-40A4-A5AA-DC7F05BD36F4}"/>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FA4DB8A9-08F2-402D-A95A-DAA24654B164}"/>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Server decode role=admin và cho phép vì không có integrity.</a:t>
            </a:r>
          </a:p>
        </p:txBody>
      </p:sp>
    </p:spTree>
    <p:extLst>
      <p:ext uri="{BB962C8B-B14F-4D97-AF65-F5344CB8AC3E}">
        <p14:creationId xmlns:p14="http://schemas.microsoft.com/office/powerpoint/2010/main" val="1883229696"/>
      </p:ext>
    </p:extLst>
  </p:cSld>
</p:sld>
</file>

<file path=ppt/slides/slide5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93CEF91A-2F45-40DA-B3EE-C0B6D4439220}"/>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SIGNED + ENCRYPTED</a:t>
            </a:r>
          </a:p>
        </p:txBody>
      </p:sp>
      <p:sp>
        <p:nvSpPr>
          <p:cNvPr id="2" name="chrome-number">
            <a:extLst xmlns:a="http://schemas.openxmlformats.org/drawingml/2006/main">
              <a:ext uri="{FF2B5EF4-FFF2-40B4-BE49-F238E27FC236}">
                <a16:creationId xmlns:a16="http://schemas.microsoft.com/office/drawing/2014/main" id="{E02AFCCB-DA82-4521-9B0C-0F9B20A7F746}"/>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55</a:t>
            </a:r>
          </a:p>
        </p:txBody>
      </p:sp>
      <p:sp>
        <p:nvSpPr>
          <p:cNvPr id="3" name="rule-70-58">
            <a:extLst xmlns:a="http://schemas.openxmlformats.org/drawingml/2006/main">
              <a:ext uri="{FF2B5EF4-FFF2-40B4-BE49-F238E27FC236}">
                <a16:creationId xmlns:a16="http://schemas.microsoft.com/office/drawing/2014/main" id="{9BCBF7BA-0C09-4861-8F0D-8F0B6F82773E}"/>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AC60D47B-2BE8-48AE-9517-7222574D4D88}"/>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6A7020DC-1900-464D-8D07-219A02AE6FF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Integrity được kiểm trước khi dùng payload</a:t>
            </a:r>
          </a:p>
        </p:txBody>
      </p:sp>
      <p:sp>
        <p:nvSpPr>
          <p:cNvPr id="6" name="rule-70-672">
            <a:extLst xmlns:a="http://schemas.openxmlformats.org/drawingml/2006/main">
              <a:ext uri="{FF2B5EF4-FFF2-40B4-BE49-F238E27FC236}">
                <a16:creationId xmlns:a16="http://schemas.microsoft.com/office/drawing/2014/main" id="{AAD375AA-B382-451E-8ADB-A916C8F8608B}"/>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10ECEF3-AF0E-446C-BE39-3521E9082783}"/>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AB933D26-7073-4860-BE45-D858AAE9C793}"/>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Signed: /secure/signed/profile • Encrypted: /secure/encrypted-demo</a:t>
            </a:r>
          </a:p>
        </p:txBody>
      </p:sp>
      <p:sp>
        <p:nvSpPr>
          <p:cNvPr id="9" name="step-num-0">
            <a:extLst xmlns:a="http://schemas.openxmlformats.org/drawingml/2006/main">
              <a:ext uri="{FF2B5EF4-FFF2-40B4-BE49-F238E27FC236}">
                <a16:creationId xmlns:a16="http://schemas.microsoft.com/office/drawing/2014/main" id="{5936D264-C551-41D6-B83B-C947108FB2C8}"/>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E1D2D405-DE17-48E3-866F-CD5800A99D01}"/>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Signed: mở profile hợp lệ, rồi sửa đúng một ký tự cookie.</a:t>
            </a:r>
          </a:p>
        </p:txBody>
      </p:sp>
      <p:sp>
        <p:nvSpPr>
          <p:cNvPr id="11" name="step-num-1">
            <a:extLst xmlns:a="http://schemas.openxmlformats.org/drawingml/2006/main">
              <a:ext uri="{FF2B5EF4-FFF2-40B4-BE49-F238E27FC236}">
                <a16:creationId xmlns:a16="http://schemas.microsoft.com/office/drawing/2014/main" id="{B8BC1CA2-83A1-4E94-B8CE-E19BDEAB7597}"/>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C3BBD91C-A362-4E19-80E0-42797116CAA4}"/>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Reload: signature invalid bị reject trước authorization.</a:t>
            </a:r>
          </a:p>
        </p:txBody>
      </p:sp>
      <p:sp>
        <p:nvSpPr>
          <p:cNvPr id="13" name="step-num-2">
            <a:extLst xmlns:a="http://schemas.openxmlformats.org/drawingml/2006/main">
              <a:ext uri="{FF2B5EF4-FFF2-40B4-BE49-F238E27FC236}">
                <a16:creationId xmlns:a16="http://schemas.microsoft.com/office/drawing/2014/main" id="{66BE95C7-E4FF-454A-B545-183632885A81}"/>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20348275-1270-4631-BA0F-03EFD7F3D33C}"/>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Encrypted: xem Fernet decrypt hợp lệ và tamper detection read-only.</a:t>
            </a:r>
          </a:p>
        </p:txBody>
      </p:sp>
      <p:sp>
        <p:nvSpPr>
          <p:cNvPr id="15" name="expected-panel">
            <a:extLst xmlns:a="http://schemas.openxmlformats.org/drawingml/2006/main">
              <a:ext uri="{FF2B5EF4-FFF2-40B4-BE49-F238E27FC236}">
                <a16:creationId xmlns:a16="http://schemas.microsoft.com/office/drawing/2014/main" id="{87A5CDED-7B62-4ABF-882F-38714572A0E3}"/>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49B28C2B-2E56-4D0C-8D8D-8A1E44D3A777}"/>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7E88AF19-3663-469D-92CE-573A776CC5EA}"/>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3"/>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Signed phát hiện sửa đổi; Fernet cung cấp confidentiality + integrity; cả hai không thay policy.</a:t>
            </a:r>
          </a:p>
        </p:txBody>
      </p:sp>
    </p:spTree>
    <p:extLst>
      <p:ext uri="{BB962C8B-B14F-4D97-AF65-F5344CB8AC3E}">
        <p14:creationId xmlns:p14="http://schemas.microsoft.com/office/powerpoint/2010/main" val="1338843214"/>
      </p:ext>
    </p:extLst>
  </p:cSld>
</p:sld>
</file>

<file path=ppt/slides/slide5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EA7E82FD-9EBC-416D-8550-849EACBAC11F}"/>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SERVER SESSION</a:t>
            </a:r>
          </a:p>
        </p:txBody>
      </p:sp>
      <p:sp>
        <p:nvSpPr>
          <p:cNvPr id="2" name="chrome-number">
            <a:extLst xmlns:a="http://schemas.openxmlformats.org/drawingml/2006/main">
              <a:ext uri="{FF2B5EF4-FFF2-40B4-BE49-F238E27FC236}">
                <a16:creationId xmlns:a16="http://schemas.microsoft.com/office/drawing/2014/main" id="{8B5B4766-62D5-42B7-A49B-7220597B8BB5}"/>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56</a:t>
            </a:r>
          </a:p>
        </p:txBody>
      </p:sp>
      <p:sp>
        <p:nvSpPr>
          <p:cNvPr id="3" name="rule-70-58">
            <a:extLst xmlns:a="http://schemas.openxmlformats.org/drawingml/2006/main">
              <a:ext uri="{FF2B5EF4-FFF2-40B4-BE49-F238E27FC236}">
                <a16:creationId xmlns:a16="http://schemas.microsoft.com/office/drawing/2014/main" id="{1C243003-25E2-468D-99BE-282BDAC4141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F4460797-57E9-4FD0-81B0-313FC641D741}"/>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DEMO TRỰC TIẾP</a:t>
            </a:r>
          </a:p>
        </p:txBody>
      </p:sp>
      <p:sp>
        <p:nvSpPr>
          <p:cNvPr id="5" name="slide-title">
            <a:extLst xmlns:a="http://schemas.openxmlformats.org/drawingml/2006/main">
              <a:ext uri="{FF2B5EF4-FFF2-40B4-BE49-F238E27FC236}">
                <a16:creationId xmlns:a16="http://schemas.microsoft.com/office/drawing/2014/main" id="{2A59A115-DFAC-43A8-81A5-7FDBA9F08720}"/>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Cookie chỉ là khóa tra cứu — role nằm ở database</a:t>
            </a:r>
          </a:p>
        </p:txBody>
      </p:sp>
      <p:sp>
        <p:nvSpPr>
          <p:cNvPr id="6" name="rule-70-672">
            <a:extLst xmlns:a="http://schemas.openxmlformats.org/drawingml/2006/main">
              <a:ext uri="{FF2B5EF4-FFF2-40B4-BE49-F238E27FC236}">
                <a16:creationId xmlns:a16="http://schemas.microsoft.com/office/drawing/2014/main" id="{BAA60F5C-5CE7-4D2E-9EA7-A4F561CC320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C3456C58-C2F6-458C-89B8-0C90525894D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oute">
            <a:extLst xmlns:a="http://schemas.openxmlformats.org/drawingml/2006/main">
              <a:ext uri="{FF2B5EF4-FFF2-40B4-BE49-F238E27FC236}">
                <a16:creationId xmlns:a16="http://schemas.microsoft.com/office/drawing/2014/main" id="{8860038B-A72D-462F-8CA0-DF9E5F81D725}"/>
              </a:ext>
            </a:extLst>
          </p:cNvPr>
          <p:cNvSpPr>
            <a:spLocks xmlns:a="http://schemas.openxmlformats.org/drawingml/2006/main" noGrp="1"/>
          </p:cNvSpPr>
          <p:nvPr/>
        </p:nvSpPr>
        <p:spPr>
          <a:xfrm xmlns:a="http://schemas.openxmlformats.org/drawingml/2006/main">
            <a:off x="666750" y="195262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http://127.0.0.1:5006/secure/session/admin</a:t>
            </a:r>
          </a:p>
        </p:txBody>
      </p:sp>
      <p:sp>
        <p:nvSpPr>
          <p:cNvPr id="9" name="step-num-0">
            <a:extLst xmlns:a="http://schemas.openxmlformats.org/drawingml/2006/main">
              <a:ext uri="{FF2B5EF4-FFF2-40B4-BE49-F238E27FC236}">
                <a16:creationId xmlns:a16="http://schemas.microsoft.com/office/drawing/2014/main" id="{936F92E7-1687-4875-A758-D5A69250E639}"/>
              </a:ext>
            </a:extLst>
          </p:cNvPr>
          <p:cNvSpPr>
            <a:spLocks xmlns:a="http://schemas.openxmlformats.org/drawingml/2006/main" noGrp="1"/>
          </p:cNvSpPr>
          <p:nvPr/>
        </p:nvSpPr>
        <p:spPr>
          <a:xfrm xmlns:a="http://schemas.openxmlformats.org/drawingml/2006/main">
            <a:off x="723900" y="2647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01</a:t>
            </a:r>
          </a:p>
        </p:txBody>
      </p:sp>
      <p:sp>
        <p:nvSpPr>
          <p:cNvPr id="10" name="step-0">
            <a:extLst xmlns:a="http://schemas.openxmlformats.org/drawingml/2006/main">
              <a:ext uri="{FF2B5EF4-FFF2-40B4-BE49-F238E27FC236}">
                <a16:creationId xmlns:a16="http://schemas.microsoft.com/office/drawing/2014/main" id="{F844DAFC-6523-40D2-B6F5-C98D452E1DAA}"/>
              </a:ext>
            </a:extLst>
          </p:cNvPr>
          <p:cNvSpPr>
            <a:spLocks xmlns:a="http://schemas.openxmlformats.org/drawingml/2006/main" noGrp="1"/>
          </p:cNvSpPr>
          <p:nvPr/>
        </p:nvSpPr>
        <p:spPr>
          <a:xfrm xmlns:a="http://schemas.openxmlformats.org/drawingml/2006/main">
            <a:off x="1428750" y="26289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Login student: opaque lab06_session, không role/user_id; admin route 403.</a:t>
            </a:r>
          </a:p>
        </p:txBody>
      </p:sp>
      <p:sp>
        <p:nvSpPr>
          <p:cNvPr id="11" name="step-num-1">
            <a:extLst xmlns:a="http://schemas.openxmlformats.org/drawingml/2006/main">
              <a:ext uri="{FF2B5EF4-FFF2-40B4-BE49-F238E27FC236}">
                <a16:creationId xmlns:a16="http://schemas.microsoft.com/office/drawing/2014/main" id="{20B8A1C8-B121-4828-A83F-C3534ABFB12E}"/>
              </a:ext>
            </a:extLst>
          </p:cNvPr>
          <p:cNvSpPr>
            <a:spLocks xmlns:a="http://schemas.openxmlformats.org/drawingml/2006/main" noGrp="1"/>
          </p:cNvSpPr>
          <p:nvPr/>
        </p:nvSpPr>
        <p:spPr>
          <a:xfrm xmlns:a="http://schemas.openxmlformats.org/drawingml/2006/main">
            <a:off x="723900" y="34861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02</a:t>
            </a:r>
          </a:p>
        </p:txBody>
      </p:sp>
      <p:sp>
        <p:nvSpPr>
          <p:cNvPr id="12" name="step-1">
            <a:extLst xmlns:a="http://schemas.openxmlformats.org/drawingml/2006/main">
              <a:ext uri="{FF2B5EF4-FFF2-40B4-BE49-F238E27FC236}">
                <a16:creationId xmlns:a16="http://schemas.microsoft.com/office/drawing/2014/main" id="{80FB93EF-EB88-457F-AF15-21109F31379D}"/>
              </a:ext>
            </a:extLst>
          </p:cNvPr>
          <p:cNvSpPr>
            <a:spLocks xmlns:a="http://schemas.openxmlformats.org/drawingml/2006/main" noGrp="1"/>
          </p:cNvSpPr>
          <p:nvPr/>
        </p:nvSpPr>
        <p:spPr>
          <a:xfrm xmlns:a="http://schemas.openxmlformats.org/drawingml/2006/main">
            <a:off x="1428750" y="34671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Logout/login admin_lab: server đọc database role và cho phép.</a:t>
            </a:r>
          </a:p>
        </p:txBody>
      </p:sp>
      <p:sp>
        <p:nvSpPr>
          <p:cNvPr id="13" name="step-num-2">
            <a:extLst xmlns:a="http://schemas.openxmlformats.org/drawingml/2006/main">
              <a:ext uri="{FF2B5EF4-FFF2-40B4-BE49-F238E27FC236}">
                <a16:creationId xmlns:a16="http://schemas.microsoft.com/office/drawing/2014/main" id="{AEE6FB68-0D4F-4557-88E1-20C237355D87}"/>
              </a:ext>
            </a:extLst>
          </p:cNvPr>
          <p:cNvSpPr>
            <a:spLocks xmlns:a="http://schemas.openxmlformats.org/drawingml/2006/main" noGrp="1"/>
          </p:cNvSpPr>
          <p:nvPr/>
        </p:nvSpPr>
        <p:spPr>
          <a:xfrm xmlns:a="http://schemas.openxmlformats.org/drawingml/2006/main">
            <a:off x="72390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505048"/>
                </a:solidFill>
                <a:latin typeface="Consolas"/>
                <a:ea typeface="Consolas"/>
                <a:cs typeface="Consolas"/>
              </a:defRPr>
            </a:pPr>
            <a:r>
              <a:rPr sz="1500" b="1">
                <a:solidFill>
                  <a:srgbClr val="505048"/>
                </a:solidFill>
                <a:latin typeface="Consolas"/>
                <a:ea typeface="Consolas"/>
                <a:cs typeface="Consolas"/>
              </a:rPr>
              <a:t>03</a:t>
            </a:r>
          </a:p>
        </p:txBody>
      </p:sp>
      <p:sp>
        <p:nvSpPr>
          <p:cNvPr id="14" name="step-2">
            <a:extLst xmlns:a="http://schemas.openxmlformats.org/drawingml/2006/main">
              <a:ext uri="{FF2B5EF4-FFF2-40B4-BE49-F238E27FC236}">
                <a16:creationId xmlns:a16="http://schemas.microsoft.com/office/drawing/2014/main" id="{E2907EAF-DADD-4D25-9D44-9D3C0FC8012E}"/>
              </a:ext>
            </a:extLst>
          </p:cNvPr>
          <p:cNvSpPr>
            <a:spLocks xmlns:a="http://schemas.openxmlformats.org/drawingml/2006/main" noGrp="1"/>
          </p:cNvSpPr>
          <p:nvPr/>
        </p:nvSpPr>
        <p:spPr>
          <a:xfrm xmlns:a="http://schemas.openxmlformats.org/drawingml/2006/main">
            <a:off x="1428750" y="4305300"/>
            <a:ext cx="647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950" b="0">
                <a:solidFill>
                  <a:srgbClr val="F0ECE5"/>
                </a:solidFill>
                <a:latin typeface="Arial Narrow"/>
                <a:ea typeface="Arial Narrow"/>
                <a:cs typeface="Arial Narrow"/>
              </a:defRPr>
            </a:pPr>
            <a:r>
              <a:rPr sz="1950" b="0">
                <a:solidFill>
                  <a:srgbClr val="F0ECE5"/>
                </a:solidFill>
                <a:latin typeface="Arial Narrow"/>
                <a:ea typeface="Arial Narrow"/>
                <a:cs typeface="Arial Narrow"/>
              </a:rPr>
              <a:t>Chỉ ra rotation, logout revocation và old-session rejection.</a:t>
            </a:r>
          </a:p>
        </p:txBody>
      </p:sp>
      <p:sp>
        <p:nvSpPr>
          <p:cNvPr id="15" name="expected-panel">
            <a:extLst xmlns:a="http://schemas.openxmlformats.org/drawingml/2006/main">
              <a:ext uri="{FF2B5EF4-FFF2-40B4-BE49-F238E27FC236}">
                <a16:creationId xmlns:a16="http://schemas.microsoft.com/office/drawing/2014/main" id="{A07166E3-8768-4024-8F46-5890CC7A5276}"/>
              </a:ext>
            </a:extLst>
          </p:cNvPr>
          <p:cNvSpPr>
            <a:spLocks xmlns:a="http://schemas.openxmlformats.org/drawingml/2006/main" noGrp="1"/>
          </p:cNvSpPr>
          <p:nvPr/>
        </p:nvSpPr>
        <p:spPr>
          <a:xfrm xmlns:a="http://schemas.openxmlformats.org/drawingml/2006/main">
            <a:off x="8334375" y="2667000"/>
            <a:ext cx="3190875" cy="23812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16" name="expected-label">
            <a:extLst xmlns:a="http://schemas.openxmlformats.org/drawingml/2006/main">
              <a:ext uri="{FF2B5EF4-FFF2-40B4-BE49-F238E27FC236}">
                <a16:creationId xmlns:a16="http://schemas.microsoft.com/office/drawing/2014/main" id="{231AE2CD-E75B-4F99-9D0D-D10E0F2706B5}"/>
              </a:ext>
            </a:extLst>
          </p:cNvPr>
          <p:cNvSpPr>
            <a:spLocks xmlns:a="http://schemas.openxmlformats.org/drawingml/2006/main" noGrp="1"/>
          </p:cNvSpPr>
          <p:nvPr/>
        </p:nvSpPr>
        <p:spPr>
          <a:xfrm xmlns:a="http://schemas.openxmlformats.org/drawingml/2006/main">
            <a:off x="8572500" y="2876550"/>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11111"/>
                </a:solidFill>
                <a:latin typeface="Consolas"/>
                <a:ea typeface="Consolas"/>
                <a:cs typeface="Consolas"/>
              </a:defRPr>
            </a:pPr>
            <a:r>
              <a:rPr sz="975" b="1">
                <a:solidFill>
                  <a:srgbClr val="111111"/>
                </a:solidFill>
                <a:latin typeface="Consolas"/>
                <a:ea typeface="Consolas"/>
                <a:cs typeface="Consolas"/>
              </a:rPr>
              <a:t>KẾT QUẢ CẦN CHỈ RA</a:t>
            </a:r>
          </a:p>
        </p:txBody>
      </p:sp>
      <p:sp>
        <p:nvSpPr>
          <p:cNvPr id="17" name="expected">
            <a:extLst xmlns:a="http://schemas.openxmlformats.org/drawingml/2006/main">
              <a:ext uri="{FF2B5EF4-FFF2-40B4-BE49-F238E27FC236}">
                <a16:creationId xmlns:a16="http://schemas.microsoft.com/office/drawing/2014/main" id="{F8E1D340-E5BD-4957-9405-B1CDA044A48D}"/>
              </a:ext>
            </a:extLst>
          </p:cNvPr>
          <p:cNvSpPr>
            <a:spLocks xmlns:a="http://schemas.openxmlformats.org/drawingml/2006/main" noGrp="1"/>
          </p:cNvSpPr>
          <p:nvPr/>
        </p:nvSpPr>
        <p:spPr>
          <a:xfrm xmlns:a="http://schemas.openxmlformats.org/drawingml/2006/main">
            <a:off x="8572500" y="3276600"/>
            <a:ext cx="261937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025" b="1">
                <a:solidFill>
                  <a:srgbClr val="111111"/>
                </a:solidFill>
                <a:latin typeface="Arial Narrow"/>
                <a:ea typeface="Arial Narrow"/>
                <a:cs typeface="Arial Narrow"/>
              </a:defRPr>
            </a:pPr>
            <a:r>
              <a:rPr sz="2025" b="1">
                <a:solidFill>
                  <a:srgbClr val="111111"/>
                </a:solidFill>
                <a:latin typeface="Arial Narrow"/>
                <a:ea typeface="Arial Narrow"/>
                <a:cs typeface="Arial Narrow"/>
              </a:rPr>
              <a:t>Quyền được quyết định từ session active + current database role trên mỗi request.</a:t>
            </a:r>
          </a:p>
        </p:txBody>
      </p:sp>
    </p:spTree>
    <p:extLst>
      <p:ext uri="{BB962C8B-B14F-4D97-AF65-F5344CB8AC3E}">
        <p14:creationId xmlns:p14="http://schemas.microsoft.com/office/powerpoint/2010/main" val="1106439931"/>
      </p:ext>
    </p:extLst>
  </p:cSld>
</p:sld>
</file>

<file path=ppt/slides/slide5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chrome-section">
            <a:extLst xmlns:a="http://schemas.openxmlformats.org/drawingml/2006/main">
              <a:ext uri="{FF2B5EF4-FFF2-40B4-BE49-F238E27FC236}">
                <a16:creationId xmlns:a16="http://schemas.microsoft.com/office/drawing/2014/main" id="{9D2A9627-9AA5-406A-B1D8-4969C818475F}"/>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PHÂN TÍCH</a:t>
            </a:r>
          </a:p>
        </p:txBody>
      </p:sp>
      <p:sp>
        <p:nvSpPr>
          <p:cNvPr id="2" name="chrome-number">
            <a:extLst xmlns:a="http://schemas.openxmlformats.org/drawingml/2006/main">
              <a:ext uri="{FF2B5EF4-FFF2-40B4-BE49-F238E27FC236}">
                <a16:creationId xmlns:a16="http://schemas.microsoft.com/office/drawing/2014/main" id="{2AE50A70-B100-48BA-B903-FDD337AFBED7}"/>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57</a:t>
            </a:r>
          </a:p>
        </p:txBody>
      </p:sp>
      <p:sp>
        <p:nvSpPr>
          <p:cNvPr id="3" name="rule-70-58">
            <a:extLst xmlns:a="http://schemas.openxmlformats.org/drawingml/2006/main">
              <a:ext uri="{FF2B5EF4-FFF2-40B4-BE49-F238E27FC236}">
                <a16:creationId xmlns:a16="http://schemas.microsoft.com/office/drawing/2014/main" id="{644261C8-2FDC-42C0-AED5-5AB5220A1A6C}"/>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016A8498-B7CA-46B5-B793-A7FDD87489DF}"/>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3D9DA2AA-FE85-487B-9AC6-CF376330A2D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1–2</a:t>
            </a:r>
          </a:p>
        </p:txBody>
      </p:sp>
      <p:sp>
        <p:nvSpPr>
          <p:cNvPr id="6" name="rule-70-672">
            <a:extLst xmlns:a="http://schemas.openxmlformats.org/drawingml/2006/main">
              <a:ext uri="{FF2B5EF4-FFF2-40B4-BE49-F238E27FC236}">
                <a16:creationId xmlns:a16="http://schemas.microsoft.com/office/drawing/2014/main" id="{5F6CFD48-EE38-485F-81C9-84718057A616}"/>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803A34C3-8C36-4B15-A044-26BF02E8DC98}"/>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D9339F2B-E402-49DB-94CF-7BBD82CBD8A9}"/>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Q1</a:t>
            </a:r>
          </a:p>
        </p:txBody>
      </p:sp>
      <p:sp>
        <p:nvSpPr>
          <p:cNvPr id="9" name="q-0">
            <a:extLst xmlns:a="http://schemas.openxmlformats.org/drawingml/2006/main">
              <a:ext uri="{FF2B5EF4-FFF2-40B4-BE49-F238E27FC236}">
                <a16:creationId xmlns:a16="http://schemas.microsoft.com/office/drawing/2014/main" id="{B2771CAE-9071-4D4B-BD81-B2E686C0F4E4}"/>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cookie là dữ liệu không đáng tin?</a:t>
            </a:r>
          </a:p>
        </p:txBody>
      </p:sp>
      <p:sp>
        <p:nvSpPr>
          <p:cNvPr id="10" name="a-0">
            <a:extLst xmlns:a="http://schemas.openxmlformats.org/drawingml/2006/main">
              <a:ext uri="{FF2B5EF4-FFF2-40B4-BE49-F238E27FC236}">
                <a16:creationId xmlns:a16="http://schemas.microsoft.com/office/drawing/2014/main" id="{A71FDF7B-A2FD-4CD1-9BEB-2DE2A56F649C}"/>
              </a:ext>
            </a:extLst>
          </p:cNvPr>
          <p:cNvSpPr>
            <a:spLocks xmlns:a="http://schemas.openxmlformats.org/drawingml/2006/main" noGrp="1"/>
          </p:cNvSpPr>
          <p:nvPr/>
        </p:nvSpPr>
        <p:spPr>
          <a:xfrm xmlns:a="http://schemas.openxmlformats.org/drawingml/2006/main">
            <a:off x="1428750" y="25717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Client lưu, gửi lại và có thể sửa mọi byte trước request; server không được coi payload là authoritative.</a:t>
            </a:r>
          </a:p>
        </p:txBody>
      </p:sp>
      <p:sp>
        <p:nvSpPr>
          <p:cNvPr id="11" name="rule-150-402">
            <a:extLst xmlns:a="http://schemas.openxmlformats.org/drawingml/2006/main">
              <a:ext uri="{FF2B5EF4-FFF2-40B4-BE49-F238E27FC236}">
                <a16:creationId xmlns:a16="http://schemas.microsoft.com/office/drawing/2014/main" id="{C52E60A1-98AD-45EF-841A-E3714D74A292}"/>
              </a:ext>
            </a:extLst>
          </p:cNvPr>
          <p:cNvSpPr>
            <a:spLocks xmlns:a="http://schemas.openxmlformats.org/drawingml/2006/main" noGrp="1"/>
          </p:cNvSpPr>
          <p:nvPr/>
        </p:nvSpPr>
        <p:spPr>
          <a:xfrm xmlns:a="http://schemas.openxmlformats.org/drawingml/2006/main">
            <a:off x="1428750" y="38290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F7B5A911-A22E-4B39-BEF1-081F56385A41}"/>
              </a:ext>
            </a:extLst>
          </p:cNvPr>
          <p:cNvSpPr>
            <a:spLocks xmlns:a="http://schemas.openxmlformats.org/drawingml/2006/main" noGrp="1"/>
          </p:cNvSpPr>
          <p:nvPr/>
        </p:nvSpPr>
        <p:spPr>
          <a:xfrm xmlns:a="http://schemas.openxmlformats.org/drawingml/2006/main">
            <a:off x="666750" y="39624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Q2</a:t>
            </a:r>
          </a:p>
        </p:txBody>
      </p:sp>
      <p:sp>
        <p:nvSpPr>
          <p:cNvPr id="13" name="q-1">
            <a:extLst xmlns:a="http://schemas.openxmlformats.org/drawingml/2006/main">
              <a:ext uri="{FF2B5EF4-FFF2-40B4-BE49-F238E27FC236}">
                <a16:creationId xmlns:a16="http://schemas.microsoft.com/office/drawing/2014/main" id="{3E8EE8B3-F94F-49C4-8295-50179C936F4F}"/>
              </a:ext>
            </a:extLst>
          </p:cNvPr>
          <p:cNvSpPr>
            <a:spLocks xmlns:a="http://schemas.openxmlformats.org/drawingml/2006/main" noGrp="1"/>
          </p:cNvSpPr>
          <p:nvPr/>
        </p:nvSpPr>
        <p:spPr>
          <a:xfrm xmlns:a="http://schemas.openxmlformats.org/drawingml/2006/main">
            <a:off x="1428750" y="39243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Cookie Poisoning khác Session Hijacking?</a:t>
            </a:r>
          </a:p>
        </p:txBody>
      </p:sp>
      <p:sp>
        <p:nvSpPr>
          <p:cNvPr id="14" name="a-1">
            <a:extLst xmlns:a="http://schemas.openxmlformats.org/drawingml/2006/main">
              <a:ext uri="{FF2B5EF4-FFF2-40B4-BE49-F238E27FC236}">
                <a16:creationId xmlns:a16="http://schemas.microsoft.com/office/drawing/2014/main" id="{F20B63AC-2536-4936-BC54-DAC10B371831}"/>
              </a:ext>
            </a:extLst>
          </p:cNvPr>
          <p:cNvSpPr>
            <a:spLocks xmlns:a="http://schemas.openxmlformats.org/drawingml/2006/main" noGrp="1"/>
          </p:cNvSpPr>
          <p:nvPr/>
        </p:nvSpPr>
        <p:spPr>
          <a:xfrm xmlns:a="http://schemas.openxmlformats.org/drawingml/2006/main">
            <a:off x="1428750" y="4514850"/>
            <a:ext cx="9620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Poisoning sửa nội dung state; hijacking đánh cắp/dùng token phiên hợp lệ của người khác.</a:t>
            </a:r>
          </a:p>
        </p:txBody>
      </p:sp>
    </p:spTree>
    <p:extLst>
      <p:ext uri="{BB962C8B-B14F-4D97-AF65-F5344CB8AC3E}">
        <p14:creationId xmlns:p14="http://schemas.microsoft.com/office/powerpoint/2010/main" val="1548887972"/>
      </p:ext>
    </p:extLst>
  </p:cSld>
</p:sld>
</file>

<file path=ppt/slides/slide5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chrome-section">
            <a:extLst xmlns:a="http://schemas.openxmlformats.org/drawingml/2006/main">
              <a:ext uri="{FF2B5EF4-FFF2-40B4-BE49-F238E27FC236}">
                <a16:creationId xmlns:a16="http://schemas.microsoft.com/office/drawing/2014/main" id="{2D6662E4-37A0-4605-AA53-6472D094834C}"/>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PHÂN TÍCH</a:t>
            </a:r>
          </a:p>
        </p:txBody>
      </p:sp>
      <p:sp>
        <p:nvSpPr>
          <p:cNvPr id="2" name="chrome-number">
            <a:extLst xmlns:a="http://schemas.openxmlformats.org/drawingml/2006/main">
              <a:ext uri="{FF2B5EF4-FFF2-40B4-BE49-F238E27FC236}">
                <a16:creationId xmlns:a16="http://schemas.microsoft.com/office/drawing/2014/main" id="{75385B3F-A829-474C-BBCE-47DF1F35EF8F}"/>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58</a:t>
            </a:r>
          </a:p>
        </p:txBody>
      </p:sp>
      <p:sp>
        <p:nvSpPr>
          <p:cNvPr id="3" name="rule-70-58">
            <a:extLst xmlns:a="http://schemas.openxmlformats.org/drawingml/2006/main">
              <a:ext uri="{FF2B5EF4-FFF2-40B4-BE49-F238E27FC236}">
                <a16:creationId xmlns:a16="http://schemas.microsoft.com/office/drawing/2014/main" id="{F294CDA1-BF7E-4955-AAA6-C945D458A19B}"/>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16849378-16E5-48DD-9BD0-E987779BD70F}"/>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TRẢ LỜI THEO THỨ TỰ ĐỀ</a:t>
            </a:r>
          </a:p>
        </p:txBody>
      </p:sp>
      <p:sp>
        <p:nvSpPr>
          <p:cNvPr id="5" name="slide-title">
            <a:extLst xmlns:a="http://schemas.openxmlformats.org/drawingml/2006/main">
              <a:ext uri="{FF2B5EF4-FFF2-40B4-BE49-F238E27FC236}">
                <a16:creationId xmlns:a16="http://schemas.microsoft.com/office/drawing/2014/main" id="{95005AE2-B0A5-487A-A059-C5D161A3D07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Câu hỏi 3–5</a:t>
            </a:r>
          </a:p>
        </p:txBody>
      </p:sp>
      <p:sp>
        <p:nvSpPr>
          <p:cNvPr id="6" name="rule-70-672">
            <a:extLst xmlns:a="http://schemas.openxmlformats.org/drawingml/2006/main">
              <a:ext uri="{FF2B5EF4-FFF2-40B4-BE49-F238E27FC236}">
                <a16:creationId xmlns:a16="http://schemas.microsoft.com/office/drawing/2014/main" id="{E3BE636D-926E-4640-B33A-E3459403161B}"/>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CAA6F813-C0E2-4942-BA29-841725B6CD75}"/>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q-num-0">
            <a:extLst xmlns:a="http://schemas.openxmlformats.org/drawingml/2006/main">
              <a:ext uri="{FF2B5EF4-FFF2-40B4-BE49-F238E27FC236}">
                <a16:creationId xmlns:a16="http://schemas.microsoft.com/office/drawing/2014/main" id="{DF59BA68-AAAA-4781-A84E-DD2C5D564A60}"/>
              </a:ext>
            </a:extLst>
          </p:cNvPr>
          <p:cNvSpPr>
            <a:spLocks xmlns:a="http://schemas.openxmlformats.org/drawingml/2006/main" noGrp="1"/>
          </p:cNvSpPr>
          <p:nvPr/>
        </p:nvSpPr>
        <p:spPr>
          <a:xfrm xmlns:a="http://schemas.openxmlformats.org/drawingml/2006/main">
            <a:off x="666750" y="20193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Q3</a:t>
            </a:r>
          </a:p>
        </p:txBody>
      </p:sp>
      <p:sp>
        <p:nvSpPr>
          <p:cNvPr id="9" name="q-0">
            <a:extLst xmlns:a="http://schemas.openxmlformats.org/drawingml/2006/main">
              <a:ext uri="{FF2B5EF4-FFF2-40B4-BE49-F238E27FC236}">
                <a16:creationId xmlns:a16="http://schemas.microsoft.com/office/drawing/2014/main" id="{8B8A4DBA-E860-4DA8-89D8-20C84E843B89}"/>
              </a:ext>
            </a:extLst>
          </p:cNvPr>
          <p:cNvSpPr>
            <a:spLocks xmlns:a="http://schemas.openxmlformats.org/drawingml/2006/main" noGrp="1"/>
          </p:cNvSpPr>
          <p:nvPr/>
        </p:nvSpPr>
        <p:spPr>
          <a:xfrm xmlns:a="http://schemas.openxmlformats.org/drawingml/2006/main">
            <a:off x="1428750" y="19812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Base64 có phải mã hóa?</a:t>
            </a:r>
          </a:p>
        </p:txBody>
      </p:sp>
      <p:sp>
        <p:nvSpPr>
          <p:cNvPr id="10" name="a-0">
            <a:extLst xmlns:a="http://schemas.openxmlformats.org/drawingml/2006/main">
              <a:ext uri="{FF2B5EF4-FFF2-40B4-BE49-F238E27FC236}">
                <a16:creationId xmlns:a16="http://schemas.microsoft.com/office/drawing/2014/main" id="{BFE68FB6-1209-45D7-AFEC-98F6469CF92D}"/>
              </a:ext>
            </a:extLst>
          </p:cNvPr>
          <p:cNvSpPr>
            <a:spLocks xmlns:a="http://schemas.openxmlformats.org/drawingml/2006/main" noGrp="1"/>
          </p:cNvSpPr>
          <p:nvPr/>
        </p:nvSpPr>
        <p:spPr>
          <a:xfrm xmlns:a="http://schemas.openxmlformats.org/drawingml/2006/main">
            <a:off x="1428750" y="25717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Không. Đó là encoding; decode/encode không cần secret.</a:t>
            </a:r>
          </a:p>
        </p:txBody>
      </p:sp>
      <p:sp>
        <p:nvSpPr>
          <p:cNvPr id="11" name="rule-150-336">
            <a:extLst xmlns:a="http://schemas.openxmlformats.org/drawingml/2006/main">
              <a:ext uri="{FF2B5EF4-FFF2-40B4-BE49-F238E27FC236}">
                <a16:creationId xmlns:a16="http://schemas.microsoft.com/office/drawing/2014/main" id="{F9C679C6-AEB3-4D8A-B780-16054F82DD19}"/>
              </a:ext>
            </a:extLst>
          </p:cNvPr>
          <p:cNvSpPr>
            <a:spLocks xmlns:a="http://schemas.openxmlformats.org/drawingml/2006/main" noGrp="1"/>
          </p:cNvSpPr>
          <p:nvPr/>
        </p:nvSpPr>
        <p:spPr>
          <a:xfrm xmlns:a="http://schemas.openxmlformats.org/drawingml/2006/main">
            <a:off x="1428750" y="320040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q-num-1">
            <a:extLst xmlns:a="http://schemas.openxmlformats.org/drawingml/2006/main">
              <a:ext uri="{FF2B5EF4-FFF2-40B4-BE49-F238E27FC236}">
                <a16:creationId xmlns:a16="http://schemas.microsoft.com/office/drawing/2014/main" id="{AD59216A-7B96-4FCA-BA37-F7EDD7C23F0E}"/>
              </a:ext>
            </a:extLst>
          </p:cNvPr>
          <p:cNvSpPr>
            <a:spLocks xmlns:a="http://schemas.openxmlformats.org/drawingml/2006/main" noGrp="1"/>
          </p:cNvSpPr>
          <p:nvPr/>
        </p:nvSpPr>
        <p:spPr>
          <a:xfrm xmlns:a="http://schemas.openxmlformats.org/drawingml/2006/main">
            <a:off x="666750" y="333375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Q4</a:t>
            </a:r>
          </a:p>
        </p:txBody>
      </p:sp>
      <p:sp>
        <p:nvSpPr>
          <p:cNvPr id="13" name="q-1">
            <a:extLst xmlns:a="http://schemas.openxmlformats.org/drawingml/2006/main">
              <a:ext uri="{FF2B5EF4-FFF2-40B4-BE49-F238E27FC236}">
                <a16:creationId xmlns:a16="http://schemas.microsoft.com/office/drawing/2014/main" id="{DA19FB01-3393-4B14-A11D-79388A43C02D}"/>
              </a:ext>
            </a:extLst>
          </p:cNvPr>
          <p:cNvSpPr>
            <a:spLocks xmlns:a="http://schemas.openxmlformats.org/drawingml/2006/main" noGrp="1"/>
          </p:cNvSpPr>
          <p:nvPr/>
        </p:nvSpPr>
        <p:spPr>
          <a:xfrm xmlns:a="http://schemas.openxmlformats.org/drawingml/2006/main">
            <a:off x="1428750" y="32956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Signed cookie giải quyết gì?</a:t>
            </a:r>
          </a:p>
        </p:txBody>
      </p:sp>
      <p:sp>
        <p:nvSpPr>
          <p:cNvPr id="14" name="a-1">
            <a:extLst xmlns:a="http://schemas.openxmlformats.org/drawingml/2006/main">
              <a:ext uri="{FF2B5EF4-FFF2-40B4-BE49-F238E27FC236}">
                <a16:creationId xmlns:a16="http://schemas.microsoft.com/office/drawing/2014/main" id="{42ADB8BC-CA8B-4CD8-A590-ED5B0F556E5F}"/>
              </a:ext>
            </a:extLst>
          </p:cNvPr>
          <p:cNvSpPr>
            <a:spLocks xmlns:a="http://schemas.openxmlformats.org/drawingml/2006/main" noGrp="1"/>
          </p:cNvSpPr>
          <p:nvPr/>
        </p:nvSpPr>
        <p:spPr>
          <a:xfrm xmlns:a="http://schemas.openxmlformats.org/drawingml/2006/main">
            <a:off x="1428750" y="38862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Integrity/authenticity của payload; không che nội dung, không tự tạo revocation và không thay authorization.</a:t>
            </a:r>
          </a:p>
        </p:txBody>
      </p:sp>
      <p:sp>
        <p:nvSpPr>
          <p:cNvPr id="15" name="rule-150-474">
            <a:extLst xmlns:a="http://schemas.openxmlformats.org/drawingml/2006/main">
              <a:ext uri="{FF2B5EF4-FFF2-40B4-BE49-F238E27FC236}">
                <a16:creationId xmlns:a16="http://schemas.microsoft.com/office/drawing/2014/main" id="{3FB1A3FE-4510-41B5-AC20-B15CCAFD627C}"/>
              </a:ext>
            </a:extLst>
          </p:cNvPr>
          <p:cNvSpPr>
            <a:spLocks xmlns:a="http://schemas.openxmlformats.org/drawingml/2006/main" noGrp="1"/>
          </p:cNvSpPr>
          <p:nvPr/>
        </p:nvSpPr>
        <p:spPr>
          <a:xfrm xmlns:a="http://schemas.openxmlformats.org/drawingml/2006/main">
            <a:off x="1428750" y="4514850"/>
            <a:ext cx="95250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6" name="q-num-2">
            <a:extLst xmlns:a="http://schemas.openxmlformats.org/drawingml/2006/main">
              <a:ext uri="{FF2B5EF4-FFF2-40B4-BE49-F238E27FC236}">
                <a16:creationId xmlns:a16="http://schemas.microsoft.com/office/drawing/2014/main" id="{59731018-3D92-4B47-BCAB-1D6E0DDA42B6}"/>
              </a:ext>
            </a:extLst>
          </p:cNvPr>
          <p:cNvSpPr>
            <a:spLocks xmlns:a="http://schemas.openxmlformats.org/drawingml/2006/main" noGrp="1"/>
          </p:cNvSpPr>
          <p:nvPr/>
        </p:nvSpPr>
        <p:spPr>
          <a:xfrm xmlns:a="http://schemas.openxmlformats.org/drawingml/2006/main">
            <a:off x="666750" y="4648200"/>
            <a:ext cx="59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E85D26"/>
                </a:solidFill>
                <a:latin typeface="Consolas"/>
                <a:ea typeface="Consolas"/>
                <a:cs typeface="Consolas"/>
              </a:defRPr>
            </a:pPr>
            <a:r>
              <a:rPr sz="1650" b="1">
                <a:solidFill>
                  <a:srgbClr val="E85D26"/>
                </a:solidFill>
                <a:latin typeface="Consolas"/>
                <a:ea typeface="Consolas"/>
                <a:cs typeface="Consolas"/>
              </a:rPr>
              <a:t>Q5</a:t>
            </a:r>
          </a:p>
        </p:txBody>
      </p:sp>
      <p:sp>
        <p:nvSpPr>
          <p:cNvPr id="17" name="q-2">
            <a:extLst xmlns:a="http://schemas.openxmlformats.org/drawingml/2006/main">
              <a:ext uri="{FF2B5EF4-FFF2-40B4-BE49-F238E27FC236}">
                <a16:creationId xmlns:a16="http://schemas.microsoft.com/office/drawing/2014/main" id="{96644415-169A-4C62-94D2-1685D3F40110}"/>
              </a:ext>
            </a:extLst>
          </p:cNvPr>
          <p:cNvSpPr>
            <a:spLocks xmlns:a="http://schemas.openxmlformats.org/drawingml/2006/main" noGrp="1"/>
          </p:cNvSpPr>
          <p:nvPr/>
        </p:nvSpPr>
        <p:spPr>
          <a:xfrm xmlns:a="http://schemas.openxmlformats.org/drawingml/2006/main">
            <a:off x="1428750" y="46101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100" b="1">
                <a:solidFill>
                  <a:srgbClr val="F0ECE5"/>
                </a:solidFill>
                <a:latin typeface="Arial Narrow"/>
                <a:ea typeface="Arial Narrow"/>
                <a:cs typeface="Arial Narrow"/>
              </a:defRPr>
            </a:pPr>
            <a:r>
              <a:rPr sz="2100" b="1">
                <a:solidFill>
                  <a:srgbClr val="F0ECE5"/>
                </a:solidFill>
                <a:latin typeface="Arial Narrow"/>
                <a:ea typeface="Arial Narrow"/>
                <a:cs typeface="Arial Narrow"/>
              </a:rPr>
              <a:t>Vì sao server-side authorization bắt buộc?</a:t>
            </a:r>
          </a:p>
        </p:txBody>
      </p:sp>
      <p:sp>
        <p:nvSpPr>
          <p:cNvPr id="18" name="a-2">
            <a:extLst xmlns:a="http://schemas.openxmlformats.org/drawingml/2006/main">
              <a:ext uri="{FF2B5EF4-FFF2-40B4-BE49-F238E27FC236}">
                <a16:creationId xmlns:a16="http://schemas.microsoft.com/office/drawing/2014/main" id="{508DF6E9-9AB3-4CD1-82B6-294EEB2FF106}"/>
              </a:ext>
            </a:extLst>
          </p:cNvPr>
          <p:cNvSpPr>
            <a:spLocks xmlns:a="http://schemas.openxmlformats.org/drawingml/2006/main" noGrp="1"/>
          </p:cNvSpPr>
          <p:nvPr/>
        </p:nvSpPr>
        <p:spPr>
          <a:xfrm xmlns:a="http://schemas.openxmlformats.org/drawingml/2006/main">
            <a:off x="1428750" y="52006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a:solidFill>
                  <a:srgbClr val="888880"/>
                </a:solidFill>
                <a:latin typeface="Arial Narrow"/>
                <a:ea typeface="Arial Narrow"/>
                <a:cs typeface="Arial Narrow"/>
              </a:defRPr>
            </a:pPr>
            <a:r>
              <a:rPr sz="1650" b="0">
                <a:solidFill>
                  <a:srgbClr val="888880"/>
                </a:solidFill>
                <a:latin typeface="Arial Narrow"/>
                <a:ea typeface="Arial Narrow"/>
                <a:cs typeface="Arial Narrow"/>
              </a:rPr>
              <a:t>Quyền phải dựa vào policy và state authoritative hiện tại — ví dụ role mới nhất trong database.</a:t>
            </a:r>
          </a:p>
        </p:txBody>
      </p:sp>
    </p:spTree>
    <p:extLst>
      <p:ext uri="{BB962C8B-B14F-4D97-AF65-F5344CB8AC3E}">
        <p14:creationId xmlns:p14="http://schemas.microsoft.com/office/powerpoint/2010/main" val="2111034815"/>
      </p:ext>
    </p:extLst>
  </p:cSld>
</p:sld>
</file>

<file path=ppt/slides/slide5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chrome-section">
            <a:extLst xmlns:a="http://schemas.openxmlformats.org/drawingml/2006/main">
              <a:ext uri="{FF2B5EF4-FFF2-40B4-BE49-F238E27FC236}">
                <a16:creationId xmlns:a16="http://schemas.microsoft.com/office/drawing/2014/main" id="{541C67DD-D6EC-4005-8716-AC4FE222CD73}"/>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BẢN VÁ</a:t>
            </a:r>
          </a:p>
        </p:txBody>
      </p:sp>
      <p:sp>
        <p:nvSpPr>
          <p:cNvPr id="2" name="chrome-number">
            <a:extLst xmlns:a="http://schemas.openxmlformats.org/drawingml/2006/main">
              <a:ext uri="{FF2B5EF4-FFF2-40B4-BE49-F238E27FC236}">
                <a16:creationId xmlns:a16="http://schemas.microsoft.com/office/drawing/2014/main" id="{3AA01BFE-BED9-4CEB-B9D5-49B00031F3A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59</a:t>
            </a:r>
          </a:p>
        </p:txBody>
      </p:sp>
      <p:sp>
        <p:nvSpPr>
          <p:cNvPr id="3" name="rule-70-58">
            <a:extLst xmlns:a="http://schemas.openxmlformats.org/drawingml/2006/main">
              <a:ext uri="{FF2B5EF4-FFF2-40B4-BE49-F238E27FC236}">
                <a16:creationId xmlns:a16="http://schemas.microsoft.com/office/drawing/2014/main" id="{8F3E2706-B2F7-4D45-81B8-DAA85F98990F}"/>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69F4F7A2-BA04-4E06-B120-47A495FB9FF3}"/>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LUỒNG DỮ LIỆU VÀ RANH GIỚI TIN CẬY</a:t>
            </a:r>
          </a:p>
        </p:txBody>
      </p:sp>
      <p:sp>
        <p:nvSpPr>
          <p:cNvPr id="5" name="slide-title">
            <a:extLst xmlns:a="http://schemas.openxmlformats.org/drawingml/2006/main">
              <a:ext uri="{FF2B5EF4-FFF2-40B4-BE49-F238E27FC236}">
                <a16:creationId xmlns:a16="http://schemas.microsoft.com/office/drawing/2014/main" id="{4EC12CA1-B65B-45D4-9B5F-54958C84AEBD}"/>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Một session an toàn có cả vòng đời</a:t>
            </a:r>
          </a:p>
        </p:txBody>
      </p:sp>
      <p:sp>
        <p:nvSpPr>
          <p:cNvPr id="6" name="rule-70-672">
            <a:extLst xmlns:a="http://schemas.openxmlformats.org/drawingml/2006/main">
              <a:ext uri="{FF2B5EF4-FFF2-40B4-BE49-F238E27FC236}">
                <a16:creationId xmlns:a16="http://schemas.microsoft.com/office/drawing/2014/main" id="{B3CAF923-985C-4746-9B05-826F2C462D61}"/>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69E3C9C3-C589-43DA-8326-8E395BCDC3AC}"/>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flow-slash-0">
            <a:extLst xmlns:a="http://schemas.openxmlformats.org/drawingml/2006/main">
              <a:ext uri="{FF2B5EF4-FFF2-40B4-BE49-F238E27FC236}">
                <a16:creationId xmlns:a16="http://schemas.microsoft.com/office/drawing/2014/main" id="{AE5BFBE7-3C74-4E52-B6DD-948CBDE387E4}"/>
              </a:ext>
            </a:extLst>
          </p:cNvPr>
          <p:cNvSpPr>
            <a:spLocks xmlns:a="http://schemas.openxmlformats.org/drawingml/2006/main" noGrp="1"/>
          </p:cNvSpPr>
          <p:nvPr/>
        </p:nvSpPr>
        <p:spPr>
          <a:xfrm xmlns:a="http://schemas.openxmlformats.org/drawingml/2006/main">
            <a:off x="277368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9" name="rule-85-270">
            <a:extLst xmlns:a="http://schemas.openxmlformats.org/drawingml/2006/main">
              <a:ext uri="{FF2B5EF4-FFF2-40B4-BE49-F238E27FC236}">
                <a16:creationId xmlns:a16="http://schemas.microsoft.com/office/drawing/2014/main" id="{FEF37CB9-4C1D-4518-8DF4-32D6DAC9958F}"/>
              </a:ext>
            </a:extLst>
          </p:cNvPr>
          <p:cNvSpPr>
            <a:spLocks xmlns:a="http://schemas.openxmlformats.org/drawingml/2006/main" noGrp="1"/>
          </p:cNvSpPr>
          <p:nvPr/>
        </p:nvSpPr>
        <p:spPr>
          <a:xfrm xmlns:a="http://schemas.openxmlformats.org/drawingml/2006/main">
            <a:off x="80962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0" name="node-title-0">
            <a:extLst xmlns:a="http://schemas.openxmlformats.org/drawingml/2006/main">
              <a:ext uri="{FF2B5EF4-FFF2-40B4-BE49-F238E27FC236}">
                <a16:creationId xmlns:a16="http://schemas.microsoft.com/office/drawing/2014/main" id="{A91339CC-F0DB-4B7A-8FC9-3F5F4E982EF1}"/>
              </a:ext>
            </a:extLst>
          </p:cNvPr>
          <p:cNvSpPr>
            <a:spLocks xmlns:a="http://schemas.openxmlformats.org/drawingml/2006/main" noGrp="1"/>
          </p:cNvSpPr>
          <p:nvPr/>
        </p:nvSpPr>
        <p:spPr>
          <a:xfrm xmlns:a="http://schemas.openxmlformats.org/drawingml/2006/main">
            <a:off x="80962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Create</a:t>
            </a:r>
          </a:p>
        </p:txBody>
      </p:sp>
      <p:sp>
        <p:nvSpPr>
          <p:cNvPr id="11" name="node-note-0">
            <a:extLst xmlns:a="http://schemas.openxmlformats.org/drawingml/2006/main">
              <a:ext uri="{FF2B5EF4-FFF2-40B4-BE49-F238E27FC236}">
                <a16:creationId xmlns:a16="http://schemas.microsoft.com/office/drawing/2014/main" id="{53688490-C4BF-4ED2-8EF4-50F6F968C7E7}"/>
              </a:ext>
            </a:extLst>
          </p:cNvPr>
          <p:cNvSpPr>
            <a:spLocks xmlns:a="http://schemas.openxmlformats.org/drawingml/2006/main" noGrp="1"/>
          </p:cNvSpPr>
          <p:nvPr/>
        </p:nvSpPr>
        <p:spPr>
          <a:xfrm xmlns:a="http://schemas.openxmlformats.org/drawingml/2006/main">
            <a:off x="80962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random 32-byte token</a:t>
            </a:r>
          </a:p>
        </p:txBody>
      </p:sp>
      <p:sp>
        <p:nvSpPr>
          <p:cNvPr id="12" name="flow-slash-1">
            <a:extLst xmlns:a="http://schemas.openxmlformats.org/drawingml/2006/main">
              <a:ext uri="{FF2B5EF4-FFF2-40B4-BE49-F238E27FC236}">
                <a16:creationId xmlns:a16="http://schemas.microsoft.com/office/drawing/2014/main" id="{9B94807E-6A4D-4B86-BDB2-27179C4376D5}"/>
              </a:ext>
            </a:extLst>
          </p:cNvPr>
          <p:cNvSpPr>
            <a:spLocks xmlns:a="http://schemas.openxmlformats.org/drawingml/2006/main" noGrp="1"/>
          </p:cNvSpPr>
          <p:nvPr/>
        </p:nvSpPr>
        <p:spPr>
          <a:xfrm xmlns:a="http://schemas.openxmlformats.org/drawingml/2006/main">
            <a:off x="493776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3" name="rule-312.2-270">
            <a:extLst xmlns:a="http://schemas.openxmlformats.org/drawingml/2006/main">
              <a:ext uri="{FF2B5EF4-FFF2-40B4-BE49-F238E27FC236}">
                <a16:creationId xmlns:a16="http://schemas.microsoft.com/office/drawing/2014/main" id="{7A4F36A5-4189-4737-AD1B-C5C57B043E8F}"/>
              </a:ext>
            </a:extLst>
          </p:cNvPr>
          <p:cNvSpPr>
            <a:spLocks xmlns:a="http://schemas.openxmlformats.org/drawingml/2006/main" noGrp="1"/>
          </p:cNvSpPr>
          <p:nvPr/>
        </p:nvSpPr>
        <p:spPr>
          <a:xfrm xmlns:a="http://schemas.openxmlformats.org/drawingml/2006/main">
            <a:off x="297370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node-title-1">
            <a:extLst xmlns:a="http://schemas.openxmlformats.org/drawingml/2006/main">
              <a:ext uri="{FF2B5EF4-FFF2-40B4-BE49-F238E27FC236}">
                <a16:creationId xmlns:a16="http://schemas.microsoft.com/office/drawing/2014/main" id="{66B0464C-D8D1-4598-AB3E-52097595D706}"/>
              </a:ext>
            </a:extLst>
          </p:cNvPr>
          <p:cNvSpPr>
            <a:spLocks xmlns:a="http://schemas.openxmlformats.org/drawingml/2006/main" noGrp="1"/>
          </p:cNvSpPr>
          <p:nvPr/>
        </p:nvSpPr>
        <p:spPr>
          <a:xfrm xmlns:a="http://schemas.openxmlformats.org/drawingml/2006/main">
            <a:off x="297370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Hash</a:t>
            </a:r>
          </a:p>
        </p:txBody>
      </p:sp>
      <p:sp>
        <p:nvSpPr>
          <p:cNvPr id="15" name="node-note-1">
            <a:extLst xmlns:a="http://schemas.openxmlformats.org/drawingml/2006/main">
              <a:ext uri="{FF2B5EF4-FFF2-40B4-BE49-F238E27FC236}">
                <a16:creationId xmlns:a16="http://schemas.microsoft.com/office/drawing/2014/main" id="{133BDD3E-EE2B-4444-8419-E968AE7370EC}"/>
              </a:ext>
            </a:extLst>
          </p:cNvPr>
          <p:cNvSpPr>
            <a:spLocks xmlns:a="http://schemas.openxmlformats.org/drawingml/2006/main" noGrp="1"/>
          </p:cNvSpPr>
          <p:nvPr/>
        </p:nvSpPr>
        <p:spPr>
          <a:xfrm xmlns:a="http://schemas.openxmlformats.org/drawingml/2006/main">
            <a:off x="297370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DB stores SHA-256</a:t>
            </a:r>
          </a:p>
        </p:txBody>
      </p:sp>
      <p:sp>
        <p:nvSpPr>
          <p:cNvPr id="16" name="flow-slash-2">
            <a:extLst xmlns:a="http://schemas.openxmlformats.org/drawingml/2006/main">
              <a:ext uri="{FF2B5EF4-FFF2-40B4-BE49-F238E27FC236}">
                <a16:creationId xmlns:a16="http://schemas.microsoft.com/office/drawing/2014/main" id="{DF1013F5-36F9-437B-B432-FD18C6B6A430}"/>
              </a:ext>
            </a:extLst>
          </p:cNvPr>
          <p:cNvSpPr>
            <a:spLocks xmlns:a="http://schemas.openxmlformats.org/drawingml/2006/main" noGrp="1"/>
          </p:cNvSpPr>
          <p:nvPr/>
        </p:nvSpPr>
        <p:spPr>
          <a:xfrm xmlns:a="http://schemas.openxmlformats.org/drawingml/2006/main">
            <a:off x="710184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17" name="rule-539.4-270">
            <a:extLst xmlns:a="http://schemas.openxmlformats.org/drawingml/2006/main">
              <a:ext uri="{FF2B5EF4-FFF2-40B4-BE49-F238E27FC236}">
                <a16:creationId xmlns:a16="http://schemas.microsoft.com/office/drawing/2014/main" id="{BF9003C0-F3F5-470E-878C-B7D45C84BBD2}"/>
              </a:ext>
            </a:extLst>
          </p:cNvPr>
          <p:cNvSpPr>
            <a:spLocks xmlns:a="http://schemas.openxmlformats.org/drawingml/2006/main" noGrp="1"/>
          </p:cNvSpPr>
          <p:nvPr/>
        </p:nvSpPr>
        <p:spPr>
          <a:xfrm xmlns:a="http://schemas.openxmlformats.org/drawingml/2006/main">
            <a:off x="513778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8" name="node-title-2">
            <a:extLst xmlns:a="http://schemas.openxmlformats.org/drawingml/2006/main">
              <a:ext uri="{FF2B5EF4-FFF2-40B4-BE49-F238E27FC236}">
                <a16:creationId xmlns:a16="http://schemas.microsoft.com/office/drawing/2014/main" id="{0F9271F9-CDE0-4D64-A743-9ADCCD9F8D43}"/>
              </a:ext>
            </a:extLst>
          </p:cNvPr>
          <p:cNvSpPr>
            <a:spLocks xmlns:a="http://schemas.openxmlformats.org/drawingml/2006/main" noGrp="1"/>
          </p:cNvSpPr>
          <p:nvPr/>
        </p:nvSpPr>
        <p:spPr>
          <a:xfrm xmlns:a="http://schemas.openxmlformats.org/drawingml/2006/main">
            <a:off x="513778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Resolve</a:t>
            </a:r>
          </a:p>
        </p:txBody>
      </p:sp>
      <p:sp>
        <p:nvSpPr>
          <p:cNvPr id="19" name="node-note-2">
            <a:extLst xmlns:a="http://schemas.openxmlformats.org/drawingml/2006/main">
              <a:ext uri="{FF2B5EF4-FFF2-40B4-BE49-F238E27FC236}">
                <a16:creationId xmlns:a16="http://schemas.microsoft.com/office/drawing/2014/main" id="{A10D5580-53CF-4415-A62F-72F235313B07}"/>
              </a:ext>
            </a:extLst>
          </p:cNvPr>
          <p:cNvSpPr>
            <a:spLocks xmlns:a="http://schemas.openxmlformats.org/drawingml/2006/main" noGrp="1"/>
          </p:cNvSpPr>
          <p:nvPr/>
        </p:nvSpPr>
        <p:spPr>
          <a:xfrm xmlns:a="http://schemas.openxmlformats.org/drawingml/2006/main">
            <a:off x="513778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active + expiry</a:t>
            </a:r>
          </a:p>
        </p:txBody>
      </p:sp>
      <p:sp>
        <p:nvSpPr>
          <p:cNvPr id="20" name="flow-slash-3">
            <a:extLst xmlns:a="http://schemas.openxmlformats.org/drawingml/2006/main">
              <a:ext uri="{FF2B5EF4-FFF2-40B4-BE49-F238E27FC236}">
                <a16:creationId xmlns:a16="http://schemas.microsoft.com/office/drawing/2014/main" id="{C0E49A91-09ED-497C-A95B-05C5DFC54F0D}"/>
              </a:ext>
            </a:extLst>
          </p:cNvPr>
          <p:cNvSpPr>
            <a:spLocks xmlns:a="http://schemas.openxmlformats.org/drawingml/2006/main" noGrp="1"/>
          </p:cNvSpPr>
          <p:nvPr/>
        </p:nvSpPr>
        <p:spPr>
          <a:xfrm xmlns:a="http://schemas.openxmlformats.org/drawingml/2006/main">
            <a:off x="9265920" y="30670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E85D26"/>
                </a:solidFill>
                <a:latin typeface="Consolas"/>
                <a:ea typeface="Consolas"/>
                <a:cs typeface="Consolas"/>
              </a:defRPr>
            </a:pPr>
            <a:r>
              <a:rPr sz="1800" b="1">
                <a:solidFill>
                  <a:srgbClr val="E85D26"/>
                </a:solidFill>
                <a:latin typeface="Consolas"/>
                <a:ea typeface="Consolas"/>
                <a:cs typeface="Consolas"/>
              </a:rPr>
              <a:t>/</a:t>
            </a:r>
          </a:p>
        </p:txBody>
      </p:sp>
      <p:sp>
        <p:nvSpPr>
          <p:cNvPr id="21" name="rule-766.5999999999999-270">
            <a:extLst xmlns:a="http://schemas.openxmlformats.org/drawingml/2006/main">
              <a:ext uri="{FF2B5EF4-FFF2-40B4-BE49-F238E27FC236}">
                <a16:creationId xmlns:a16="http://schemas.microsoft.com/office/drawing/2014/main" id="{D5B97932-A9B8-46F7-ABF4-2FC9D538C4D3}"/>
              </a:ext>
            </a:extLst>
          </p:cNvPr>
          <p:cNvSpPr>
            <a:spLocks xmlns:a="http://schemas.openxmlformats.org/drawingml/2006/main" noGrp="1"/>
          </p:cNvSpPr>
          <p:nvPr/>
        </p:nvSpPr>
        <p:spPr>
          <a:xfrm xmlns:a="http://schemas.openxmlformats.org/drawingml/2006/main">
            <a:off x="7301865" y="2571750"/>
            <a:ext cx="1916430" cy="19050"/>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2" name="node-title-3">
            <a:extLst xmlns:a="http://schemas.openxmlformats.org/drawingml/2006/main">
              <a:ext uri="{FF2B5EF4-FFF2-40B4-BE49-F238E27FC236}">
                <a16:creationId xmlns:a16="http://schemas.microsoft.com/office/drawing/2014/main" id="{E5CD905C-ADE1-4AF6-89FD-A51476F6A086}"/>
              </a:ext>
            </a:extLst>
          </p:cNvPr>
          <p:cNvSpPr>
            <a:spLocks xmlns:a="http://schemas.openxmlformats.org/drawingml/2006/main" noGrp="1"/>
          </p:cNvSpPr>
          <p:nvPr/>
        </p:nvSpPr>
        <p:spPr>
          <a:xfrm xmlns:a="http://schemas.openxmlformats.org/drawingml/2006/main">
            <a:off x="730186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Authorize</a:t>
            </a:r>
          </a:p>
        </p:txBody>
      </p:sp>
      <p:sp>
        <p:nvSpPr>
          <p:cNvPr id="23" name="node-note-3">
            <a:extLst xmlns:a="http://schemas.openxmlformats.org/drawingml/2006/main">
              <a:ext uri="{FF2B5EF4-FFF2-40B4-BE49-F238E27FC236}">
                <a16:creationId xmlns:a16="http://schemas.microsoft.com/office/drawing/2014/main" id="{D13577A1-F614-42B0-8A1D-E82D05C31C8F}"/>
              </a:ext>
            </a:extLst>
          </p:cNvPr>
          <p:cNvSpPr>
            <a:spLocks xmlns:a="http://schemas.openxmlformats.org/drawingml/2006/main" noGrp="1"/>
          </p:cNvSpPr>
          <p:nvPr/>
        </p:nvSpPr>
        <p:spPr>
          <a:xfrm xmlns:a="http://schemas.openxmlformats.org/drawingml/2006/main">
            <a:off x="730186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current DB role</a:t>
            </a:r>
          </a:p>
        </p:txBody>
      </p:sp>
      <p:sp>
        <p:nvSpPr>
          <p:cNvPr id="24" name="rule-993.8-270">
            <a:extLst xmlns:a="http://schemas.openxmlformats.org/drawingml/2006/main">
              <a:ext uri="{FF2B5EF4-FFF2-40B4-BE49-F238E27FC236}">
                <a16:creationId xmlns:a16="http://schemas.microsoft.com/office/drawing/2014/main" id="{79D18C6E-6393-4C95-B9D1-1521C2C6FB73}"/>
              </a:ext>
            </a:extLst>
          </p:cNvPr>
          <p:cNvSpPr>
            <a:spLocks xmlns:a="http://schemas.openxmlformats.org/drawingml/2006/main" noGrp="1"/>
          </p:cNvSpPr>
          <p:nvPr/>
        </p:nvSpPr>
        <p:spPr>
          <a:xfrm xmlns:a="http://schemas.openxmlformats.org/drawingml/2006/main">
            <a:off x="9465945" y="2571750"/>
            <a:ext cx="191643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25" name="node-title-4">
            <a:extLst xmlns:a="http://schemas.openxmlformats.org/drawingml/2006/main">
              <a:ext uri="{FF2B5EF4-FFF2-40B4-BE49-F238E27FC236}">
                <a16:creationId xmlns:a16="http://schemas.microsoft.com/office/drawing/2014/main" id="{D086F88E-58B7-4A40-9671-8499F727DB63}"/>
              </a:ext>
            </a:extLst>
          </p:cNvPr>
          <p:cNvSpPr>
            <a:spLocks xmlns:a="http://schemas.openxmlformats.org/drawingml/2006/main" noGrp="1"/>
          </p:cNvSpPr>
          <p:nvPr/>
        </p:nvSpPr>
        <p:spPr>
          <a:xfrm xmlns:a="http://schemas.openxmlformats.org/drawingml/2006/main">
            <a:off x="9465945" y="2819400"/>
            <a:ext cx="191643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F0ECE5"/>
                </a:solidFill>
                <a:latin typeface="Arial Narrow"/>
                <a:ea typeface="Arial Narrow"/>
                <a:cs typeface="Arial Narrow"/>
              </a:defRPr>
            </a:pPr>
            <a:r>
              <a:rPr sz="1950" b="1">
                <a:solidFill>
                  <a:srgbClr val="F0ECE5"/>
                </a:solidFill>
                <a:latin typeface="Arial Narrow"/>
                <a:ea typeface="Arial Narrow"/>
                <a:cs typeface="Arial Narrow"/>
              </a:rPr>
              <a:t>Revoke</a:t>
            </a:r>
          </a:p>
        </p:txBody>
      </p:sp>
      <p:sp>
        <p:nvSpPr>
          <p:cNvPr id="26" name="node-note-4">
            <a:extLst xmlns:a="http://schemas.openxmlformats.org/drawingml/2006/main">
              <a:ext uri="{FF2B5EF4-FFF2-40B4-BE49-F238E27FC236}">
                <a16:creationId xmlns:a16="http://schemas.microsoft.com/office/drawing/2014/main" id="{72E3F560-0DDE-45FB-A37E-7E87ED5A8320}"/>
              </a:ext>
            </a:extLst>
          </p:cNvPr>
          <p:cNvSpPr>
            <a:spLocks xmlns:a="http://schemas.openxmlformats.org/drawingml/2006/main" noGrp="1"/>
          </p:cNvSpPr>
          <p:nvPr/>
        </p:nvSpPr>
        <p:spPr>
          <a:xfrm xmlns:a="http://schemas.openxmlformats.org/drawingml/2006/main">
            <a:off x="9465945" y="3638550"/>
            <a:ext cx="191643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0">
                <a:solidFill>
                  <a:srgbClr val="888880"/>
                </a:solidFill>
                <a:latin typeface="Consolas"/>
                <a:ea typeface="Consolas"/>
                <a:cs typeface="Consolas"/>
              </a:defRPr>
            </a:pPr>
            <a:r>
              <a:rPr sz="1350" b="0">
                <a:solidFill>
                  <a:srgbClr val="888880"/>
                </a:solidFill>
                <a:latin typeface="Consolas"/>
                <a:ea typeface="Consolas"/>
                <a:cs typeface="Consolas"/>
              </a:rPr>
              <a:t>rotation / logout</a:t>
            </a:r>
          </a:p>
        </p:txBody>
      </p:sp>
      <p:sp>
        <p:nvSpPr>
          <p:cNvPr id="27" name="flow-caption">
            <a:extLst xmlns:a="http://schemas.openxmlformats.org/drawingml/2006/main">
              <a:ext uri="{FF2B5EF4-FFF2-40B4-BE49-F238E27FC236}">
                <a16:creationId xmlns:a16="http://schemas.microsoft.com/office/drawing/2014/main" id="{C14246EA-02E2-4F5D-8D63-566554C73AFA}"/>
              </a:ext>
            </a:extLst>
          </p:cNvPr>
          <p:cNvSpPr>
            <a:spLocks xmlns:a="http://schemas.openxmlformats.org/drawingml/2006/main" noGrp="1"/>
          </p:cNvSpPr>
          <p:nvPr/>
        </p:nvSpPr>
        <p:spPr>
          <a:xfrm xmlns:a="http://schemas.openxmlformats.org/drawingml/2006/main">
            <a:off x="952500" y="49530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00" b="0">
                <a:solidFill>
                  <a:srgbClr val="F0ECE5"/>
                </a:solidFill>
                <a:latin typeface="Arial Narrow"/>
                <a:ea typeface="Arial Narrow"/>
                <a:cs typeface="Arial Narrow"/>
              </a:defRPr>
            </a:pPr>
            <a:r>
              <a:rPr sz="1800" b="0">
                <a:solidFill>
                  <a:srgbClr val="F0ECE5"/>
                </a:solidFill>
                <a:latin typeface="Arial Narrow"/>
                <a:ea typeface="Arial Narrow"/>
                <a:cs typeface="Arial Narrow"/>
              </a:rPr>
              <a:t>Cookie flags bảo vệ kênh và browser behavior; vòng đời + policy mới bảo vệ quyền.</a:t>
            </a:r>
          </a:p>
        </p:txBody>
      </p:sp>
    </p:spTree>
    <p:extLst>
      <p:ext uri="{BB962C8B-B14F-4D97-AF65-F5344CB8AC3E}">
        <p14:creationId xmlns:p14="http://schemas.microsoft.com/office/powerpoint/2010/main" val="1956276905"/>
      </p:ext>
    </p:extLst>
  </p:cSld>
</p:sld>
</file>

<file path=ppt/slides/slide6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9E986E9C-C10D-416C-9EA4-0364C4487060}"/>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LAB06 / KIỂM CHỨNG</a:t>
            </a:r>
          </a:p>
        </p:txBody>
      </p:sp>
      <p:sp>
        <p:nvSpPr>
          <p:cNvPr id="2" name="chrome-number">
            <a:extLst xmlns:a="http://schemas.openxmlformats.org/drawingml/2006/main">
              <a:ext uri="{FF2B5EF4-FFF2-40B4-BE49-F238E27FC236}">
                <a16:creationId xmlns:a16="http://schemas.microsoft.com/office/drawing/2014/main" id="{E42870DA-585B-4314-BFF1-29FDE33B58A3}"/>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60</a:t>
            </a:r>
          </a:p>
        </p:txBody>
      </p:sp>
      <p:sp>
        <p:nvSpPr>
          <p:cNvPr id="3" name="rule-70-58">
            <a:extLst xmlns:a="http://schemas.openxmlformats.org/drawingml/2006/main">
              <a:ext uri="{FF2B5EF4-FFF2-40B4-BE49-F238E27FC236}">
                <a16:creationId xmlns:a16="http://schemas.microsoft.com/office/drawing/2014/main" id="{D5F6D2B7-4173-4688-891D-5FF900276653}"/>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9B2E674B-C0B6-47B8-92A5-2C76457F071E}"/>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2596072D-3517-4558-B1CC-98FC2F85E211}"/>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Năm mô hình được kiểm bằng positive và negative path</a:t>
            </a:r>
          </a:p>
        </p:txBody>
      </p:sp>
      <p:sp>
        <p:nvSpPr>
          <p:cNvPr id="6" name="rule-70-672">
            <a:extLst xmlns:a="http://schemas.openxmlformats.org/drawingml/2006/main">
              <a:ext uri="{FF2B5EF4-FFF2-40B4-BE49-F238E27FC236}">
                <a16:creationId xmlns:a16="http://schemas.microsoft.com/office/drawing/2014/main" id="{589D9440-6CEC-425B-BCE2-7E4F4BA9A1BA}"/>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3E833EDD-850C-4142-A624-0D240757804D}"/>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07E5C9AF-5FDA-4369-9713-05409110CF93}"/>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52C07E41-A30A-472E-8C6F-6C2BD7439701}"/>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183</a:t>
            </a:r>
          </a:p>
        </p:txBody>
      </p:sp>
      <p:sp>
        <p:nvSpPr>
          <p:cNvPr id="10" name="stat-label-0">
            <a:extLst xmlns:a="http://schemas.openxmlformats.org/drawingml/2006/main">
              <a:ext uri="{FF2B5EF4-FFF2-40B4-BE49-F238E27FC236}">
                <a16:creationId xmlns:a16="http://schemas.microsoft.com/office/drawing/2014/main" id="{89248286-3966-41A0-93CD-6A05529E1AF2}"/>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pytest pass</a:t>
            </a:r>
          </a:p>
        </p:txBody>
      </p:sp>
      <p:sp>
        <p:nvSpPr>
          <p:cNvPr id="11" name="rule-430-240">
            <a:extLst xmlns:a="http://schemas.openxmlformats.org/drawingml/2006/main">
              <a:ext uri="{FF2B5EF4-FFF2-40B4-BE49-F238E27FC236}">
                <a16:creationId xmlns:a16="http://schemas.microsoft.com/office/drawing/2014/main" id="{0BDFE7F5-0454-4C5B-94BD-836D7CC4B034}"/>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637EF2AA-8190-4451-ACF0-D34BDEA43B4E}"/>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97%</a:t>
            </a:r>
          </a:p>
        </p:txBody>
      </p:sp>
      <p:sp>
        <p:nvSpPr>
          <p:cNvPr id="13" name="stat-label-1">
            <a:extLst xmlns:a="http://schemas.openxmlformats.org/drawingml/2006/main">
              <a:ext uri="{FF2B5EF4-FFF2-40B4-BE49-F238E27FC236}">
                <a16:creationId xmlns:a16="http://schemas.microsoft.com/office/drawing/2014/main" id="{F7C6E06A-99DA-438A-A895-4F09832B177C}"/>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coverage module lõi</a:t>
            </a:r>
          </a:p>
        </p:txBody>
      </p:sp>
      <p:sp>
        <p:nvSpPr>
          <p:cNvPr id="14" name="rule-790-240">
            <a:extLst xmlns:a="http://schemas.openxmlformats.org/drawingml/2006/main">
              <a:ext uri="{FF2B5EF4-FFF2-40B4-BE49-F238E27FC236}">
                <a16:creationId xmlns:a16="http://schemas.microsoft.com/office/drawing/2014/main" id="{BF482224-6D4D-4419-B4A1-49B3E744EA09}"/>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0AAEC996-D649-44B3-A79D-6B7B4805466C}"/>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20/20</a:t>
            </a:r>
          </a:p>
        </p:txBody>
      </p:sp>
      <p:sp>
        <p:nvSpPr>
          <p:cNvPr id="16" name="stat-label-2">
            <a:extLst xmlns:a="http://schemas.openxmlformats.org/drawingml/2006/main">
              <a:ext uri="{FF2B5EF4-FFF2-40B4-BE49-F238E27FC236}">
                <a16:creationId xmlns:a16="http://schemas.microsoft.com/office/drawing/2014/main" id="{F9B40645-1BF7-4048-BF71-4527D0DBF306}"/>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runtime smoke checks</a:t>
            </a:r>
          </a:p>
        </p:txBody>
      </p:sp>
      <p:sp>
        <p:nvSpPr>
          <p:cNvPr id="17" name="caveat">
            <a:extLst xmlns:a="http://schemas.openxmlformats.org/drawingml/2006/main">
              <a:ext uri="{FF2B5EF4-FFF2-40B4-BE49-F238E27FC236}">
                <a16:creationId xmlns:a16="http://schemas.microsoft.com/office/drawing/2014/main" id="{257B12A0-84DB-41CE-B3F6-07243788294F}"/>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Evidence export ghi 17 flow, 17 trace, 17 audit event và toàn bộ artifact đã redaction.</a:t>
            </a:r>
          </a:p>
        </p:txBody>
      </p:sp>
    </p:spTree>
    <p:extLst>
      <p:ext uri="{BB962C8B-B14F-4D97-AF65-F5344CB8AC3E}">
        <p14:creationId xmlns:p14="http://schemas.microsoft.com/office/powerpoint/2010/main" val="139851778"/>
      </p:ext>
    </p:extLst>
  </p:cSld>
</p:sld>
</file>

<file path=ppt/slides/slide6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3" name="chrome-section">
            <a:extLst xmlns:a="http://schemas.openxmlformats.org/drawingml/2006/main">
              <a:ext uri="{FF2B5EF4-FFF2-40B4-BE49-F238E27FC236}">
                <a16:creationId xmlns:a16="http://schemas.microsoft.com/office/drawing/2014/main" id="{415DE9EC-BCB5-46A1-BBF8-90006FF1F64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TỔNG HỢP</a:t>
            </a:r>
          </a:p>
        </p:txBody>
      </p:sp>
      <p:sp>
        <p:nvSpPr>
          <p:cNvPr id="2" name="chrome-number">
            <a:extLst xmlns:a="http://schemas.openxmlformats.org/drawingml/2006/main">
              <a:ext uri="{FF2B5EF4-FFF2-40B4-BE49-F238E27FC236}">
                <a16:creationId xmlns:a16="http://schemas.microsoft.com/office/drawing/2014/main" id="{CFC3C519-9B6D-4BCD-9E55-9FD71B5A58B7}"/>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61</a:t>
            </a:r>
          </a:p>
        </p:txBody>
      </p:sp>
      <p:sp>
        <p:nvSpPr>
          <p:cNvPr id="3" name="rule-70-58">
            <a:extLst xmlns:a="http://schemas.openxmlformats.org/drawingml/2006/main">
              <a:ext uri="{FF2B5EF4-FFF2-40B4-BE49-F238E27FC236}">
                <a16:creationId xmlns:a16="http://schemas.microsoft.com/office/drawing/2014/main" id="{F8E94177-F3B1-47EA-8B37-AAED7A7179A6}"/>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5AB9ADA7-9242-4CCC-91C7-57AC1BE3118C}"/>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MA TRẬN ĐỐI CHIẾU</a:t>
            </a:r>
          </a:p>
        </p:txBody>
      </p:sp>
      <p:sp>
        <p:nvSpPr>
          <p:cNvPr id="5" name="slide-title">
            <a:extLst xmlns:a="http://schemas.openxmlformats.org/drawingml/2006/main">
              <a:ext uri="{FF2B5EF4-FFF2-40B4-BE49-F238E27FC236}">
                <a16:creationId xmlns:a16="http://schemas.microsoft.com/office/drawing/2014/main" id="{E2483B75-06B7-4FFF-84B3-00BC0256363F}"/>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Mỗi lab thất bại ở một ranh giới khác nhau</a:t>
            </a:r>
          </a:p>
        </p:txBody>
      </p:sp>
      <p:sp>
        <p:nvSpPr>
          <p:cNvPr id="6" name="rule-70-672">
            <a:extLst xmlns:a="http://schemas.openxmlformats.org/drawingml/2006/main">
              <a:ext uri="{FF2B5EF4-FFF2-40B4-BE49-F238E27FC236}">
                <a16:creationId xmlns:a16="http://schemas.microsoft.com/office/drawing/2014/main" id="{C013B1F7-9C2B-4A99-9134-62C5E5AF9E2F}"/>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293489E9-C4EC-4907-8CF0-EBABD43DD2ED}"/>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72">
            <a:extLst xmlns:a="http://schemas.openxmlformats.org/drawingml/2006/main">
              <a:ext uri="{FF2B5EF4-FFF2-40B4-BE49-F238E27FC236}">
                <a16:creationId xmlns:a16="http://schemas.microsoft.com/office/drawing/2014/main" id="{7B03F556-0F02-4E9B-AB7C-393B2D137D0A}"/>
              </a:ext>
            </a:extLst>
          </p:cNvPr>
          <p:cNvSpPr>
            <a:spLocks xmlns:a="http://schemas.openxmlformats.org/drawingml/2006/main" noGrp="1"/>
          </p:cNvSpPr>
          <p:nvPr/>
        </p:nvSpPr>
        <p:spPr>
          <a:xfrm xmlns:a="http://schemas.openxmlformats.org/drawingml/2006/main">
            <a:off x="666750" y="2590800"/>
            <a:ext cx="1085850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9" name="cell-0-0">
            <a:extLst xmlns:a="http://schemas.openxmlformats.org/drawingml/2006/main">
              <a:ext uri="{FF2B5EF4-FFF2-40B4-BE49-F238E27FC236}">
                <a16:creationId xmlns:a16="http://schemas.microsoft.com/office/drawing/2014/main" id="{07AC0AFF-3644-4B24-A95D-C7C3FC678EA9}"/>
              </a:ext>
            </a:extLst>
          </p:cNvPr>
          <p:cNvSpPr>
            <a:spLocks xmlns:a="http://schemas.openxmlformats.org/drawingml/2006/main" noGrp="1"/>
          </p:cNvSpPr>
          <p:nvPr/>
        </p:nvSpPr>
        <p:spPr>
          <a:xfrm xmlns:a="http://schemas.openxmlformats.org/drawingml/2006/main">
            <a:off x="666750" y="20955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LAB</a:t>
            </a:r>
          </a:p>
        </p:txBody>
      </p:sp>
      <p:sp>
        <p:nvSpPr>
          <p:cNvPr id="10" name="cell-0-1">
            <a:extLst xmlns:a="http://schemas.openxmlformats.org/drawingml/2006/main">
              <a:ext uri="{FF2B5EF4-FFF2-40B4-BE49-F238E27FC236}">
                <a16:creationId xmlns:a16="http://schemas.microsoft.com/office/drawing/2014/main" id="{45698E79-F8C4-4FAC-8DC0-2248C81C6CA5}"/>
              </a:ext>
            </a:extLst>
          </p:cNvPr>
          <p:cNvSpPr>
            <a:spLocks xmlns:a="http://schemas.openxmlformats.org/drawingml/2006/main" noGrp="1"/>
          </p:cNvSpPr>
          <p:nvPr/>
        </p:nvSpPr>
        <p:spPr>
          <a:xfrm xmlns:a="http://schemas.openxmlformats.org/drawingml/2006/main">
            <a:off x="2667000" y="20955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DỮ LIỆU KHÔNG TIN CẬY</a:t>
            </a:r>
          </a:p>
        </p:txBody>
      </p:sp>
      <p:sp>
        <p:nvSpPr>
          <p:cNvPr id="11" name="cell-0-2">
            <a:extLst xmlns:a="http://schemas.openxmlformats.org/drawingml/2006/main">
              <a:ext uri="{FF2B5EF4-FFF2-40B4-BE49-F238E27FC236}">
                <a16:creationId xmlns:a16="http://schemas.microsoft.com/office/drawing/2014/main" id="{37C7FB52-4FD9-4E4A-9263-3B8C42F40EAB}"/>
              </a:ext>
            </a:extLst>
          </p:cNvPr>
          <p:cNvSpPr>
            <a:spLocks xmlns:a="http://schemas.openxmlformats.org/drawingml/2006/main" noGrp="1"/>
          </p:cNvSpPr>
          <p:nvPr/>
        </p:nvSpPr>
        <p:spPr>
          <a:xfrm xmlns:a="http://schemas.openxmlformats.org/drawingml/2006/main">
            <a:off x="5238750" y="20955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QUYẾT ĐỊNH SAI</a:t>
            </a:r>
          </a:p>
        </p:txBody>
      </p:sp>
      <p:sp>
        <p:nvSpPr>
          <p:cNvPr id="12" name="cell-0-3">
            <a:extLst xmlns:a="http://schemas.openxmlformats.org/drawingml/2006/main">
              <a:ext uri="{FF2B5EF4-FFF2-40B4-BE49-F238E27FC236}">
                <a16:creationId xmlns:a16="http://schemas.microsoft.com/office/drawing/2014/main" id="{BEB99DEB-7A14-4B4F-A456-E4B637229630}"/>
              </a:ext>
            </a:extLst>
          </p:cNvPr>
          <p:cNvSpPr>
            <a:spLocks xmlns:a="http://schemas.openxmlformats.org/drawingml/2006/main" noGrp="1"/>
          </p:cNvSpPr>
          <p:nvPr/>
        </p:nvSpPr>
        <p:spPr>
          <a:xfrm xmlns:a="http://schemas.openxmlformats.org/drawingml/2006/main">
            <a:off x="8096250" y="20955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ROOT FIX</a:t>
            </a:r>
          </a:p>
        </p:txBody>
      </p:sp>
      <p:sp>
        <p:nvSpPr>
          <p:cNvPr id="13" name="rule-70-330">
            <a:extLst xmlns:a="http://schemas.openxmlformats.org/drawingml/2006/main">
              <a:ext uri="{FF2B5EF4-FFF2-40B4-BE49-F238E27FC236}">
                <a16:creationId xmlns:a16="http://schemas.microsoft.com/office/drawing/2014/main" id="{17FFA942-D532-459C-A0B7-62C2287533B7}"/>
              </a:ext>
            </a:extLst>
          </p:cNvPr>
          <p:cNvSpPr>
            <a:spLocks xmlns:a="http://schemas.openxmlformats.org/drawingml/2006/main" noGrp="1"/>
          </p:cNvSpPr>
          <p:nvPr/>
        </p:nvSpPr>
        <p:spPr>
          <a:xfrm xmlns:a="http://schemas.openxmlformats.org/drawingml/2006/main">
            <a:off x="666750" y="31432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cell-1-0">
            <a:extLst xmlns:a="http://schemas.openxmlformats.org/drawingml/2006/main">
              <a:ext uri="{FF2B5EF4-FFF2-40B4-BE49-F238E27FC236}">
                <a16:creationId xmlns:a16="http://schemas.microsoft.com/office/drawing/2014/main" id="{4D2D77F4-C9F8-4705-8298-953DC1BC9752}"/>
              </a:ext>
            </a:extLst>
          </p:cNvPr>
          <p:cNvSpPr>
            <a:spLocks xmlns:a="http://schemas.openxmlformats.org/drawingml/2006/main" noGrp="1"/>
          </p:cNvSpPr>
          <p:nvPr/>
        </p:nvSpPr>
        <p:spPr>
          <a:xfrm xmlns:a="http://schemas.openxmlformats.org/drawingml/2006/main">
            <a:off x="666750" y="26479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XSS</a:t>
            </a:r>
          </a:p>
        </p:txBody>
      </p:sp>
      <p:sp>
        <p:nvSpPr>
          <p:cNvPr id="15" name="cell-1-1">
            <a:extLst xmlns:a="http://schemas.openxmlformats.org/drawingml/2006/main">
              <a:ext uri="{FF2B5EF4-FFF2-40B4-BE49-F238E27FC236}">
                <a16:creationId xmlns:a16="http://schemas.microsoft.com/office/drawing/2014/main" id="{7083CB8C-B032-4187-B5BF-E95FE35F4736}"/>
              </a:ext>
            </a:extLst>
          </p:cNvPr>
          <p:cNvSpPr>
            <a:spLocks xmlns:a="http://schemas.openxmlformats.org/drawingml/2006/main" noGrp="1"/>
          </p:cNvSpPr>
          <p:nvPr/>
        </p:nvSpPr>
        <p:spPr>
          <a:xfrm xmlns:a="http://schemas.openxmlformats.org/drawingml/2006/main">
            <a:off x="2667000" y="26479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URL/form/DB/fragment</a:t>
            </a:r>
          </a:p>
        </p:txBody>
      </p:sp>
      <p:sp>
        <p:nvSpPr>
          <p:cNvPr id="16" name="cell-1-2">
            <a:extLst xmlns:a="http://schemas.openxmlformats.org/drawingml/2006/main">
              <a:ext uri="{FF2B5EF4-FFF2-40B4-BE49-F238E27FC236}">
                <a16:creationId xmlns:a16="http://schemas.microsoft.com/office/drawing/2014/main" id="{2FC0FC72-D3D6-41B5-A657-EE00FC70D194}"/>
              </a:ext>
            </a:extLst>
          </p:cNvPr>
          <p:cNvSpPr>
            <a:spLocks xmlns:a="http://schemas.openxmlformats.org/drawingml/2006/main" noGrp="1"/>
          </p:cNvSpPr>
          <p:nvPr/>
        </p:nvSpPr>
        <p:spPr>
          <a:xfrm xmlns:a="http://schemas.openxmlformats.org/drawingml/2006/main">
            <a:off x="5238750" y="2647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parse như code</a:t>
            </a:r>
          </a:p>
        </p:txBody>
      </p:sp>
      <p:sp>
        <p:nvSpPr>
          <p:cNvPr id="17" name="cell-1-3">
            <a:extLst xmlns:a="http://schemas.openxmlformats.org/drawingml/2006/main">
              <a:ext uri="{FF2B5EF4-FFF2-40B4-BE49-F238E27FC236}">
                <a16:creationId xmlns:a16="http://schemas.microsoft.com/office/drawing/2014/main" id="{BA9F6366-2E0B-4F46-9590-BD41B22764A8}"/>
              </a:ext>
            </a:extLst>
          </p:cNvPr>
          <p:cNvSpPr>
            <a:spLocks xmlns:a="http://schemas.openxmlformats.org/drawingml/2006/main" noGrp="1"/>
          </p:cNvSpPr>
          <p:nvPr/>
        </p:nvSpPr>
        <p:spPr>
          <a:xfrm xmlns:a="http://schemas.openxmlformats.org/drawingml/2006/main">
            <a:off x="8096250" y="26479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encode/sanitize/safe DOM</a:t>
            </a:r>
          </a:p>
        </p:txBody>
      </p:sp>
      <p:sp>
        <p:nvSpPr>
          <p:cNvPr id="18" name="rule-70-388">
            <a:extLst xmlns:a="http://schemas.openxmlformats.org/drawingml/2006/main">
              <a:ext uri="{FF2B5EF4-FFF2-40B4-BE49-F238E27FC236}">
                <a16:creationId xmlns:a16="http://schemas.microsoft.com/office/drawing/2014/main" id="{329145A0-86CD-45EE-BDCE-DB690C63D3B4}"/>
              </a:ext>
            </a:extLst>
          </p:cNvPr>
          <p:cNvSpPr>
            <a:spLocks xmlns:a="http://schemas.openxmlformats.org/drawingml/2006/main" noGrp="1"/>
          </p:cNvSpPr>
          <p:nvPr/>
        </p:nvSpPr>
        <p:spPr>
          <a:xfrm xmlns:a="http://schemas.openxmlformats.org/drawingml/2006/main">
            <a:off x="666750" y="36957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9" name="cell-2-0">
            <a:extLst xmlns:a="http://schemas.openxmlformats.org/drawingml/2006/main">
              <a:ext uri="{FF2B5EF4-FFF2-40B4-BE49-F238E27FC236}">
                <a16:creationId xmlns:a16="http://schemas.microsoft.com/office/drawing/2014/main" id="{935B7C3E-585B-4F27-986C-AA5259CBFD46}"/>
              </a:ext>
            </a:extLst>
          </p:cNvPr>
          <p:cNvSpPr>
            <a:spLocks xmlns:a="http://schemas.openxmlformats.org/drawingml/2006/main" noGrp="1"/>
          </p:cNvSpPr>
          <p:nvPr/>
        </p:nvSpPr>
        <p:spPr>
          <a:xfrm xmlns:a="http://schemas.openxmlformats.org/drawingml/2006/main">
            <a:off x="666750" y="32004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Overflow</a:t>
            </a:r>
          </a:p>
        </p:txBody>
      </p:sp>
      <p:sp>
        <p:nvSpPr>
          <p:cNvPr id="20" name="cell-2-1">
            <a:extLst xmlns:a="http://schemas.openxmlformats.org/drawingml/2006/main">
              <a:ext uri="{FF2B5EF4-FFF2-40B4-BE49-F238E27FC236}">
                <a16:creationId xmlns:a16="http://schemas.microsoft.com/office/drawing/2014/main" id="{8022D515-5F04-4D29-A088-BC6DB6F889BE}"/>
              </a:ext>
            </a:extLst>
          </p:cNvPr>
          <p:cNvSpPr>
            <a:spLocks xmlns:a="http://schemas.openxmlformats.org/drawingml/2006/main" noGrp="1"/>
          </p:cNvSpPr>
          <p:nvPr/>
        </p:nvSpPr>
        <p:spPr>
          <a:xfrm xmlns:a="http://schemas.openxmlformats.org/drawingml/2006/main">
            <a:off x="2667000" y="3200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HTTP input</a:t>
            </a:r>
          </a:p>
        </p:txBody>
      </p:sp>
      <p:sp>
        <p:nvSpPr>
          <p:cNvPr id="21" name="cell-2-2">
            <a:extLst xmlns:a="http://schemas.openxmlformats.org/drawingml/2006/main">
              <a:ext uri="{FF2B5EF4-FFF2-40B4-BE49-F238E27FC236}">
                <a16:creationId xmlns:a16="http://schemas.microsoft.com/office/drawing/2014/main" id="{C60E6C62-1393-4806-AEED-449EC9A69E1A}"/>
              </a:ext>
            </a:extLst>
          </p:cNvPr>
          <p:cNvSpPr>
            <a:spLocks xmlns:a="http://schemas.openxmlformats.org/drawingml/2006/main" noGrp="1"/>
          </p:cNvSpPr>
          <p:nvPr/>
        </p:nvSpPr>
        <p:spPr>
          <a:xfrm xmlns:a="http://schemas.openxmlformats.org/drawingml/2006/main">
            <a:off x="5238750" y="32004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ghi quá capacity</a:t>
            </a:r>
          </a:p>
        </p:txBody>
      </p:sp>
      <p:sp>
        <p:nvSpPr>
          <p:cNvPr id="22" name="cell-2-3">
            <a:extLst xmlns:a="http://schemas.openxmlformats.org/drawingml/2006/main">
              <a:ext uri="{FF2B5EF4-FFF2-40B4-BE49-F238E27FC236}">
                <a16:creationId xmlns:a16="http://schemas.microsoft.com/office/drawing/2014/main" id="{18ECD0C1-5E1F-4DC7-A564-617225A3C91D}"/>
              </a:ext>
            </a:extLst>
          </p:cNvPr>
          <p:cNvSpPr>
            <a:spLocks xmlns:a="http://schemas.openxmlformats.org/drawingml/2006/main" noGrp="1"/>
          </p:cNvSpPr>
          <p:nvPr/>
        </p:nvSpPr>
        <p:spPr>
          <a:xfrm xmlns:a="http://schemas.openxmlformats.org/drawingml/2006/main">
            <a:off x="8096250" y="32004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length invariant</a:t>
            </a:r>
          </a:p>
        </p:txBody>
      </p:sp>
      <p:sp>
        <p:nvSpPr>
          <p:cNvPr id="23" name="rule-70-446">
            <a:extLst xmlns:a="http://schemas.openxmlformats.org/drawingml/2006/main">
              <a:ext uri="{FF2B5EF4-FFF2-40B4-BE49-F238E27FC236}">
                <a16:creationId xmlns:a16="http://schemas.microsoft.com/office/drawing/2014/main" id="{48F4D28F-C9E4-4C39-A2BB-0F3E95D1D600}"/>
              </a:ext>
            </a:extLst>
          </p:cNvPr>
          <p:cNvSpPr>
            <a:spLocks xmlns:a="http://schemas.openxmlformats.org/drawingml/2006/main" noGrp="1"/>
          </p:cNvSpPr>
          <p:nvPr/>
        </p:nvSpPr>
        <p:spPr>
          <a:xfrm xmlns:a="http://schemas.openxmlformats.org/drawingml/2006/main">
            <a:off x="666750" y="42481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4" name="cell-3-0">
            <a:extLst xmlns:a="http://schemas.openxmlformats.org/drawingml/2006/main">
              <a:ext uri="{FF2B5EF4-FFF2-40B4-BE49-F238E27FC236}">
                <a16:creationId xmlns:a16="http://schemas.microsoft.com/office/drawing/2014/main" id="{FB0B8C18-315C-479E-A3D8-25465CE4A168}"/>
              </a:ext>
            </a:extLst>
          </p:cNvPr>
          <p:cNvSpPr>
            <a:spLocks xmlns:a="http://schemas.openxmlformats.org/drawingml/2006/main" noGrp="1"/>
          </p:cNvSpPr>
          <p:nvPr/>
        </p:nvSpPr>
        <p:spPr>
          <a:xfrm xmlns:a="http://schemas.openxmlformats.org/drawingml/2006/main">
            <a:off x="666750" y="37528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Tampering</a:t>
            </a:r>
          </a:p>
        </p:txBody>
      </p:sp>
      <p:sp>
        <p:nvSpPr>
          <p:cNvPr id="25" name="cell-3-1">
            <a:extLst xmlns:a="http://schemas.openxmlformats.org/drawingml/2006/main">
              <a:ext uri="{FF2B5EF4-FFF2-40B4-BE49-F238E27FC236}">
                <a16:creationId xmlns:a16="http://schemas.microsoft.com/office/drawing/2014/main" id="{8EC847B6-3F70-44E4-B9A8-8A283A489EA9}"/>
              </a:ext>
            </a:extLst>
          </p:cNvPr>
          <p:cNvSpPr>
            <a:spLocks xmlns:a="http://schemas.openxmlformats.org/drawingml/2006/main" noGrp="1"/>
          </p:cNvSpPr>
          <p:nvPr/>
        </p:nvSpPr>
        <p:spPr>
          <a:xfrm xmlns:a="http://schemas.openxmlformats.org/drawingml/2006/main">
            <a:off x="2667000" y="37528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price/id/role</a:t>
            </a:r>
          </a:p>
        </p:txBody>
      </p:sp>
      <p:sp>
        <p:nvSpPr>
          <p:cNvPr id="26" name="cell-3-2">
            <a:extLst xmlns:a="http://schemas.openxmlformats.org/drawingml/2006/main">
              <a:ext uri="{FF2B5EF4-FFF2-40B4-BE49-F238E27FC236}">
                <a16:creationId xmlns:a16="http://schemas.microsoft.com/office/drawing/2014/main" id="{2B5420D0-1AB6-466F-9D0A-CD861D84DD96}"/>
              </a:ext>
            </a:extLst>
          </p:cNvPr>
          <p:cNvSpPr>
            <a:spLocks xmlns:a="http://schemas.openxmlformats.org/drawingml/2006/main" noGrp="1"/>
          </p:cNvSpPr>
          <p:nvPr/>
        </p:nvSpPr>
        <p:spPr>
          <a:xfrm xmlns:a="http://schemas.openxmlformats.org/drawingml/2006/main">
            <a:off x="52387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tin client</a:t>
            </a:r>
          </a:p>
        </p:txBody>
      </p:sp>
      <p:sp>
        <p:nvSpPr>
          <p:cNvPr id="27" name="cell-3-3">
            <a:extLst xmlns:a="http://schemas.openxmlformats.org/drawingml/2006/main">
              <a:ext uri="{FF2B5EF4-FFF2-40B4-BE49-F238E27FC236}">
                <a16:creationId xmlns:a16="http://schemas.microsoft.com/office/drawing/2014/main" id="{71DD424F-5F5C-4D74-8449-34C034A00CE4}"/>
              </a:ext>
            </a:extLst>
          </p:cNvPr>
          <p:cNvSpPr>
            <a:spLocks xmlns:a="http://schemas.openxmlformats.org/drawingml/2006/main" noGrp="1"/>
          </p:cNvSpPr>
          <p:nvPr/>
        </p:nvSpPr>
        <p:spPr>
          <a:xfrm xmlns:a="http://schemas.openxmlformats.org/drawingml/2006/main">
            <a:off x="8096250" y="37528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DB + object auth + allowlist</a:t>
            </a:r>
          </a:p>
        </p:txBody>
      </p:sp>
      <p:sp>
        <p:nvSpPr>
          <p:cNvPr id="28" name="rule-70-504">
            <a:extLst xmlns:a="http://schemas.openxmlformats.org/drawingml/2006/main">
              <a:ext uri="{FF2B5EF4-FFF2-40B4-BE49-F238E27FC236}">
                <a16:creationId xmlns:a16="http://schemas.microsoft.com/office/drawing/2014/main" id="{B77F5FB2-1214-471C-8C4D-ED3F02EE630D}"/>
              </a:ext>
            </a:extLst>
          </p:cNvPr>
          <p:cNvSpPr>
            <a:spLocks xmlns:a="http://schemas.openxmlformats.org/drawingml/2006/main" noGrp="1"/>
          </p:cNvSpPr>
          <p:nvPr/>
        </p:nvSpPr>
        <p:spPr>
          <a:xfrm xmlns:a="http://schemas.openxmlformats.org/drawingml/2006/main">
            <a:off x="666750" y="48006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9" name="cell-4-0">
            <a:extLst xmlns:a="http://schemas.openxmlformats.org/drawingml/2006/main">
              <a:ext uri="{FF2B5EF4-FFF2-40B4-BE49-F238E27FC236}">
                <a16:creationId xmlns:a16="http://schemas.microsoft.com/office/drawing/2014/main" id="{B2B6F7C4-8AF5-4E20-9185-871343E84062}"/>
              </a:ext>
            </a:extLst>
          </p:cNvPr>
          <p:cNvSpPr>
            <a:spLocks xmlns:a="http://schemas.openxmlformats.org/drawingml/2006/main" noGrp="1"/>
          </p:cNvSpPr>
          <p:nvPr/>
        </p:nvSpPr>
        <p:spPr>
          <a:xfrm xmlns:a="http://schemas.openxmlformats.org/drawingml/2006/main">
            <a:off x="66675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CSRF</a:t>
            </a:r>
          </a:p>
        </p:txBody>
      </p:sp>
      <p:sp>
        <p:nvSpPr>
          <p:cNvPr id="30" name="cell-4-1">
            <a:extLst xmlns:a="http://schemas.openxmlformats.org/drawingml/2006/main">
              <a:ext uri="{FF2B5EF4-FFF2-40B4-BE49-F238E27FC236}">
                <a16:creationId xmlns:a16="http://schemas.microsoft.com/office/drawing/2014/main" id="{CAC76609-6641-4F40-B5C2-BD14E016723B}"/>
              </a:ext>
            </a:extLst>
          </p:cNvPr>
          <p:cNvSpPr>
            <a:spLocks xmlns:a="http://schemas.openxmlformats.org/drawingml/2006/main" noGrp="1"/>
          </p:cNvSpPr>
          <p:nvPr/>
        </p:nvSpPr>
        <p:spPr>
          <a:xfrm xmlns:a="http://schemas.openxmlformats.org/drawingml/2006/main">
            <a:off x="2667000" y="4305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cross-origin request</a:t>
            </a:r>
          </a:p>
        </p:txBody>
      </p:sp>
      <p:sp>
        <p:nvSpPr>
          <p:cNvPr id="31" name="cell-4-2">
            <a:extLst xmlns:a="http://schemas.openxmlformats.org/drawingml/2006/main">
              <a:ext uri="{FF2B5EF4-FFF2-40B4-BE49-F238E27FC236}">
                <a16:creationId xmlns:a16="http://schemas.microsoft.com/office/drawing/2014/main" id="{4FB4C5DE-D327-42A4-BA43-E45247F45C81}"/>
              </a:ext>
            </a:extLst>
          </p:cNvPr>
          <p:cNvSpPr>
            <a:spLocks xmlns:a="http://schemas.openxmlformats.org/drawingml/2006/main" noGrp="1"/>
          </p:cNvSpPr>
          <p:nvPr/>
        </p:nvSpPr>
        <p:spPr>
          <a:xfrm xmlns:a="http://schemas.openxmlformats.org/drawingml/2006/main">
            <a:off x="5238750" y="43053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cookie = intent</a:t>
            </a:r>
          </a:p>
        </p:txBody>
      </p:sp>
      <p:sp>
        <p:nvSpPr>
          <p:cNvPr id="32" name="cell-4-3">
            <a:extLst xmlns:a="http://schemas.openxmlformats.org/drawingml/2006/main">
              <a:ext uri="{FF2B5EF4-FFF2-40B4-BE49-F238E27FC236}">
                <a16:creationId xmlns:a16="http://schemas.microsoft.com/office/drawing/2014/main" id="{9E7A3A79-15AD-4E87-AA12-BEF7D3C011EF}"/>
              </a:ext>
            </a:extLst>
          </p:cNvPr>
          <p:cNvSpPr>
            <a:spLocks xmlns:a="http://schemas.openxmlformats.org/drawingml/2006/main" noGrp="1"/>
          </p:cNvSpPr>
          <p:nvPr/>
        </p:nvSpPr>
        <p:spPr>
          <a:xfrm xmlns:a="http://schemas.openxmlformats.org/drawingml/2006/main">
            <a:off x="8096250" y="43053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token + origin</a:t>
            </a:r>
          </a:p>
        </p:txBody>
      </p:sp>
      <p:sp>
        <p:nvSpPr>
          <p:cNvPr id="33" name="rule-70-562">
            <a:extLst xmlns:a="http://schemas.openxmlformats.org/drawingml/2006/main">
              <a:ext uri="{FF2B5EF4-FFF2-40B4-BE49-F238E27FC236}">
                <a16:creationId xmlns:a16="http://schemas.microsoft.com/office/drawing/2014/main" id="{31B3F7F4-2426-4496-8B49-95E2C02B5DFC}"/>
              </a:ext>
            </a:extLst>
          </p:cNvPr>
          <p:cNvSpPr>
            <a:spLocks xmlns:a="http://schemas.openxmlformats.org/drawingml/2006/main" noGrp="1"/>
          </p:cNvSpPr>
          <p:nvPr/>
        </p:nvSpPr>
        <p:spPr>
          <a:xfrm xmlns:a="http://schemas.openxmlformats.org/drawingml/2006/main">
            <a:off x="666750" y="53530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4" name="cell-5-0">
            <a:extLst xmlns:a="http://schemas.openxmlformats.org/drawingml/2006/main">
              <a:ext uri="{FF2B5EF4-FFF2-40B4-BE49-F238E27FC236}">
                <a16:creationId xmlns:a16="http://schemas.microsoft.com/office/drawing/2014/main" id="{5B8546FF-08FE-494E-9792-AAD5F8002535}"/>
              </a:ext>
            </a:extLst>
          </p:cNvPr>
          <p:cNvSpPr>
            <a:spLocks xmlns:a="http://schemas.openxmlformats.org/drawingml/2006/main" noGrp="1"/>
          </p:cNvSpPr>
          <p:nvPr/>
        </p:nvSpPr>
        <p:spPr>
          <a:xfrm xmlns:a="http://schemas.openxmlformats.org/drawingml/2006/main">
            <a:off x="666750" y="48577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SQLi</a:t>
            </a:r>
          </a:p>
        </p:txBody>
      </p:sp>
      <p:sp>
        <p:nvSpPr>
          <p:cNvPr id="35" name="cell-5-1">
            <a:extLst xmlns:a="http://schemas.openxmlformats.org/drawingml/2006/main">
              <a:ext uri="{FF2B5EF4-FFF2-40B4-BE49-F238E27FC236}">
                <a16:creationId xmlns:a16="http://schemas.microsoft.com/office/drawing/2014/main" id="{3A3D61C1-68DB-426B-8A56-367D0DF61D5A}"/>
              </a:ext>
            </a:extLst>
          </p:cNvPr>
          <p:cNvSpPr>
            <a:spLocks xmlns:a="http://schemas.openxmlformats.org/drawingml/2006/main" noGrp="1"/>
          </p:cNvSpPr>
          <p:nvPr/>
        </p:nvSpPr>
        <p:spPr>
          <a:xfrm xmlns:a="http://schemas.openxmlformats.org/drawingml/2006/main">
            <a:off x="2667000" y="48577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query input</a:t>
            </a:r>
          </a:p>
        </p:txBody>
      </p:sp>
      <p:sp>
        <p:nvSpPr>
          <p:cNvPr id="36" name="cell-5-2">
            <a:extLst xmlns:a="http://schemas.openxmlformats.org/drawingml/2006/main">
              <a:ext uri="{FF2B5EF4-FFF2-40B4-BE49-F238E27FC236}">
                <a16:creationId xmlns:a16="http://schemas.microsoft.com/office/drawing/2014/main" id="{A9230656-53D8-4EBE-A2AA-9818D22DF4CD}"/>
              </a:ext>
            </a:extLst>
          </p:cNvPr>
          <p:cNvSpPr>
            <a:spLocks xmlns:a="http://schemas.openxmlformats.org/drawingml/2006/main" noGrp="1"/>
          </p:cNvSpPr>
          <p:nvPr/>
        </p:nvSpPr>
        <p:spPr>
          <a:xfrm xmlns:a="http://schemas.openxmlformats.org/drawingml/2006/main">
            <a:off x="5238750" y="4857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data đổi SQL</a:t>
            </a:r>
          </a:p>
        </p:txBody>
      </p:sp>
      <p:sp>
        <p:nvSpPr>
          <p:cNvPr id="37" name="cell-5-3">
            <a:extLst xmlns:a="http://schemas.openxmlformats.org/drawingml/2006/main">
              <a:ext uri="{FF2B5EF4-FFF2-40B4-BE49-F238E27FC236}">
                <a16:creationId xmlns:a16="http://schemas.microsoft.com/office/drawing/2014/main" id="{1197E322-732F-4CB2-A815-D924C478F4CD}"/>
              </a:ext>
            </a:extLst>
          </p:cNvPr>
          <p:cNvSpPr>
            <a:spLocks xmlns:a="http://schemas.openxmlformats.org/drawingml/2006/main" noGrp="1"/>
          </p:cNvSpPr>
          <p:nvPr/>
        </p:nvSpPr>
        <p:spPr>
          <a:xfrm xmlns:a="http://schemas.openxmlformats.org/drawingml/2006/main">
            <a:off x="8096250" y="48577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parameter binding</a:t>
            </a:r>
          </a:p>
        </p:txBody>
      </p:sp>
      <p:sp>
        <p:nvSpPr>
          <p:cNvPr id="38" name="rule-70-620">
            <a:extLst xmlns:a="http://schemas.openxmlformats.org/drawingml/2006/main">
              <a:ext uri="{FF2B5EF4-FFF2-40B4-BE49-F238E27FC236}">
                <a16:creationId xmlns:a16="http://schemas.microsoft.com/office/drawing/2014/main" id="{9390B073-CB09-4FEB-B8DA-F8B3AAF109A0}"/>
              </a:ext>
            </a:extLst>
          </p:cNvPr>
          <p:cNvSpPr>
            <a:spLocks xmlns:a="http://schemas.openxmlformats.org/drawingml/2006/main" noGrp="1"/>
          </p:cNvSpPr>
          <p:nvPr/>
        </p:nvSpPr>
        <p:spPr>
          <a:xfrm xmlns:a="http://schemas.openxmlformats.org/drawingml/2006/main">
            <a:off x="666750" y="59055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9" name="cell-6-0">
            <a:extLst xmlns:a="http://schemas.openxmlformats.org/drawingml/2006/main">
              <a:ext uri="{FF2B5EF4-FFF2-40B4-BE49-F238E27FC236}">
                <a16:creationId xmlns:a16="http://schemas.microsoft.com/office/drawing/2014/main" id="{879B1913-2C92-40A7-BA25-27CA60586C64}"/>
              </a:ext>
            </a:extLst>
          </p:cNvPr>
          <p:cNvSpPr>
            <a:spLocks xmlns:a="http://schemas.openxmlformats.org/drawingml/2006/main" noGrp="1"/>
          </p:cNvSpPr>
          <p:nvPr/>
        </p:nvSpPr>
        <p:spPr>
          <a:xfrm xmlns:a="http://schemas.openxmlformats.org/drawingml/2006/main">
            <a:off x="666750" y="54102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Cookie</a:t>
            </a:r>
          </a:p>
        </p:txBody>
      </p:sp>
      <p:sp>
        <p:nvSpPr>
          <p:cNvPr id="40" name="cell-6-1">
            <a:extLst xmlns:a="http://schemas.openxmlformats.org/drawingml/2006/main">
              <a:ext uri="{FF2B5EF4-FFF2-40B4-BE49-F238E27FC236}">
                <a16:creationId xmlns:a16="http://schemas.microsoft.com/office/drawing/2014/main" id="{9B89F808-415F-4596-B8FB-EF3F6C3A3253}"/>
              </a:ext>
            </a:extLst>
          </p:cNvPr>
          <p:cNvSpPr>
            <a:spLocks xmlns:a="http://schemas.openxmlformats.org/drawingml/2006/main" noGrp="1"/>
          </p:cNvSpPr>
          <p:nvPr/>
        </p:nvSpPr>
        <p:spPr>
          <a:xfrm xmlns:a="http://schemas.openxmlformats.org/drawingml/2006/main">
            <a:off x="2667000" y="54102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cookie payload</a:t>
            </a:r>
          </a:p>
        </p:txBody>
      </p:sp>
      <p:sp>
        <p:nvSpPr>
          <p:cNvPr id="41" name="cell-6-2">
            <a:extLst xmlns:a="http://schemas.openxmlformats.org/drawingml/2006/main">
              <a:ext uri="{FF2B5EF4-FFF2-40B4-BE49-F238E27FC236}">
                <a16:creationId xmlns:a16="http://schemas.microsoft.com/office/drawing/2014/main" id="{B598B581-19E9-4691-B147-6861CF3F06B1}"/>
              </a:ext>
            </a:extLst>
          </p:cNvPr>
          <p:cNvSpPr>
            <a:spLocks xmlns:a="http://schemas.openxmlformats.org/drawingml/2006/main" noGrp="1"/>
          </p:cNvSpPr>
          <p:nvPr/>
        </p:nvSpPr>
        <p:spPr>
          <a:xfrm xmlns:a="http://schemas.openxmlformats.org/drawingml/2006/main">
            <a:off x="5238750" y="54102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role client = quyền</a:t>
            </a:r>
          </a:p>
        </p:txBody>
      </p:sp>
      <p:sp>
        <p:nvSpPr>
          <p:cNvPr id="42" name="cell-6-3">
            <a:extLst xmlns:a="http://schemas.openxmlformats.org/drawingml/2006/main">
              <a:ext uri="{FF2B5EF4-FFF2-40B4-BE49-F238E27FC236}">
                <a16:creationId xmlns:a16="http://schemas.microsoft.com/office/drawing/2014/main" id="{8538F616-2F1B-4314-8AF7-7F72D781D846}"/>
              </a:ext>
            </a:extLst>
          </p:cNvPr>
          <p:cNvSpPr>
            <a:spLocks xmlns:a="http://schemas.openxmlformats.org/drawingml/2006/main" noGrp="1"/>
          </p:cNvSpPr>
          <p:nvPr/>
        </p:nvSpPr>
        <p:spPr>
          <a:xfrm xmlns:a="http://schemas.openxmlformats.org/drawingml/2006/main">
            <a:off x="8096250" y="54102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server session + policy</a:t>
            </a:r>
          </a:p>
        </p:txBody>
      </p:sp>
    </p:spTree>
    <p:extLst>
      <p:ext uri="{BB962C8B-B14F-4D97-AF65-F5344CB8AC3E}">
        <p14:creationId xmlns:p14="http://schemas.microsoft.com/office/powerpoint/2010/main" val="1138051965"/>
      </p:ext>
    </p:extLst>
  </p:cSld>
</p:sld>
</file>

<file path=ppt/slides/slide6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9688969B-C165-4166-99CF-E55092809D6B}"/>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TỔNG HỢP</a:t>
            </a:r>
          </a:p>
        </p:txBody>
      </p:sp>
      <p:sp>
        <p:nvSpPr>
          <p:cNvPr id="2" name="chrome-number">
            <a:extLst xmlns:a="http://schemas.openxmlformats.org/drawingml/2006/main">
              <a:ext uri="{FF2B5EF4-FFF2-40B4-BE49-F238E27FC236}">
                <a16:creationId xmlns:a16="http://schemas.microsoft.com/office/drawing/2014/main" id="{DABFE805-DC40-40C4-B66B-548DCC734831}"/>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62</a:t>
            </a:r>
          </a:p>
        </p:txBody>
      </p:sp>
      <p:sp>
        <p:nvSpPr>
          <p:cNvPr id="3" name="rule-70-58">
            <a:extLst xmlns:a="http://schemas.openxmlformats.org/drawingml/2006/main">
              <a:ext uri="{FF2B5EF4-FFF2-40B4-BE49-F238E27FC236}">
                <a16:creationId xmlns:a16="http://schemas.microsoft.com/office/drawing/2014/main" id="{7969290C-9DB2-4054-8358-979C64DD3610}"/>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45121D7-2A3B-421C-908E-9E65C48347E1}"/>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A06DE57C-DDFE-4400-876C-B77ED687086D}"/>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Ba câu hỏi để tìm root cause</a:t>
            </a:r>
          </a:p>
        </p:txBody>
      </p:sp>
      <p:sp>
        <p:nvSpPr>
          <p:cNvPr id="6" name="rule-70-672">
            <a:extLst xmlns:a="http://schemas.openxmlformats.org/drawingml/2006/main">
              <a:ext uri="{FF2B5EF4-FFF2-40B4-BE49-F238E27FC236}">
                <a16:creationId xmlns:a16="http://schemas.microsoft.com/office/drawing/2014/main" id="{8BD31E85-AC7A-45A8-A4C6-7D0F2387E6B1}"/>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E9C698CC-C33B-4CF2-B253-CE54936480D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941006EC-C1BE-41E1-AB4C-AE05D0208630}"/>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A4BA1356-52CB-452B-BC3D-DD8B4D54D644}"/>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Source nào do client kiểm soát — kể cả URL, hidden field, cookie và DOM source?</a:t>
            </a:r>
          </a:p>
        </p:txBody>
      </p:sp>
      <p:sp>
        <p:nvSpPr>
          <p:cNvPr id="10" name="bullet-marker-1">
            <a:extLst xmlns:a="http://schemas.openxmlformats.org/drawingml/2006/main">
              <a:ext uri="{FF2B5EF4-FFF2-40B4-BE49-F238E27FC236}">
                <a16:creationId xmlns:a16="http://schemas.microsoft.com/office/drawing/2014/main" id="{CF863299-D5E8-43B4-B3D9-BC7FD9C062ED}"/>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7069454D-B284-47C3-A22A-3917218D8379}"/>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Parser hoặc policy nào đang diễn giải dữ liệu: HTML, C memory, business logic, SQL hay authorization?</a:t>
            </a:r>
          </a:p>
        </p:txBody>
      </p:sp>
      <p:sp>
        <p:nvSpPr>
          <p:cNvPr id="12" name="bullet-marker-2">
            <a:extLst xmlns:a="http://schemas.openxmlformats.org/drawingml/2006/main">
              <a:ext uri="{FF2B5EF4-FFF2-40B4-BE49-F238E27FC236}">
                <a16:creationId xmlns:a16="http://schemas.microsoft.com/office/drawing/2014/main" id="{E15AB80E-FBB4-47E2-B8C7-F0FCAA52C943}"/>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B72A1D2F-0F7F-4391-94A5-DE70DFA38A52}"/>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Invariant server-side nào phải đúng trước khi render, ghi dữ liệu hoặc cho phép hành động?</a:t>
            </a:r>
          </a:p>
        </p:txBody>
      </p:sp>
    </p:spTree>
    <p:extLst>
      <p:ext uri="{BB962C8B-B14F-4D97-AF65-F5344CB8AC3E}">
        <p14:creationId xmlns:p14="http://schemas.microsoft.com/office/powerpoint/2010/main" val="220606605"/>
      </p:ext>
    </p:extLst>
  </p:cSld>
</p:sld>
</file>

<file path=ppt/slides/slide6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6DB53B9C-8815-46EF-B5FC-332993C9A9AE}"/>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TỔNG HỢP</a:t>
            </a:r>
          </a:p>
        </p:txBody>
      </p:sp>
      <p:sp>
        <p:nvSpPr>
          <p:cNvPr id="2" name="chrome-number">
            <a:extLst xmlns:a="http://schemas.openxmlformats.org/drawingml/2006/main">
              <a:ext uri="{FF2B5EF4-FFF2-40B4-BE49-F238E27FC236}">
                <a16:creationId xmlns:a16="http://schemas.microsoft.com/office/drawing/2014/main" id="{5391C9A4-6E37-4619-8901-E8B6861F9F68}"/>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63</a:t>
            </a:r>
          </a:p>
        </p:txBody>
      </p:sp>
      <p:sp>
        <p:nvSpPr>
          <p:cNvPr id="3" name="rule-70-58">
            <a:extLst xmlns:a="http://schemas.openxmlformats.org/drawingml/2006/main">
              <a:ext uri="{FF2B5EF4-FFF2-40B4-BE49-F238E27FC236}">
                <a16:creationId xmlns:a16="http://schemas.microsoft.com/office/drawing/2014/main" id="{6D61A0C8-2511-4B19-91ED-1ED118C1F9EE}"/>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ED6A91B1-5E7B-478B-8B95-4B0EA86A241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EE683C1A-763A-42C6-8008-F04E22FC5CFC}"/>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Defense in depth chỉ có giá trị sau root fix</a:t>
            </a:r>
          </a:p>
        </p:txBody>
      </p:sp>
      <p:sp>
        <p:nvSpPr>
          <p:cNvPr id="6" name="rule-70-672">
            <a:extLst xmlns:a="http://schemas.openxmlformats.org/drawingml/2006/main">
              <a:ext uri="{FF2B5EF4-FFF2-40B4-BE49-F238E27FC236}">
                <a16:creationId xmlns:a16="http://schemas.microsoft.com/office/drawing/2014/main" id="{384F03CB-26FD-436E-8FCA-74665D48AC1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7F2391C0-3120-4B23-AA3A-7D5591773154}"/>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F20F64D1-19EB-49EA-93CE-BA7C16D7ECFB}"/>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61EE6A09-BD77-48F9-9B0F-555C629B2F15}"/>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Root fix: contextual encoding, bounds check, authoritative server data, token, binding, authorization.</a:t>
            </a:r>
          </a:p>
        </p:txBody>
      </p:sp>
      <p:sp>
        <p:nvSpPr>
          <p:cNvPr id="10" name="bullet-marker-1">
            <a:extLst xmlns:a="http://schemas.openxmlformats.org/drawingml/2006/main">
              <a:ext uri="{FF2B5EF4-FFF2-40B4-BE49-F238E27FC236}">
                <a16:creationId xmlns:a16="http://schemas.microsoft.com/office/drawing/2014/main" id="{6D04A658-6A22-448C-9A7A-5FA767671FBF}"/>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3C36A8F4-F032-49CE-B83E-6DEEDAEAD11A}"/>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Hardening: CSP, cookie flags, ASLR/NX, generic error, audit, monitoring, least privilege.</a:t>
            </a:r>
          </a:p>
        </p:txBody>
      </p:sp>
      <p:sp>
        <p:nvSpPr>
          <p:cNvPr id="12" name="bullet-marker-2">
            <a:extLst xmlns:a="http://schemas.openxmlformats.org/drawingml/2006/main">
              <a:ext uri="{FF2B5EF4-FFF2-40B4-BE49-F238E27FC236}">
                <a16:creationId xmlns:a16="http://schemas.microsoft.com/office/drawing/2014/main" id="{F1A0942C-728B-4CD4-A158-D380A5DE2739}"/>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D71C7769-F34B-4933-8F2C-D84F2ADA31BA}"/>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Retest cùng input qua secure path để chứng minh invariant, không chỉ chứng minh UI đổi màu.</a:t>
            </a:r>
          </a:p>
        </p:txBody>
      </p:sp>
    </p:spTree>
    <p:extLst>
      <p:ext uri="{BB962C8B-B14F-4D97-AF65-F5344CB8AC3E}">
        <p14:creationId xmlns:p14="http://schemas.microsoft.com/office/powerpoint/2010/main" val="2013460844"/>
      </p:ext>
    </p:extLst>
  </p:cSld>
</p:sld>
</file>

<file path=ppt/slides/slide6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3" name="chrome-section">
            <a:extLst xmlns:a="http://schemas.openxmlformats.org/drawingml/2006/main">
              <a:ext uri="{FF2B5EF4-FFF2-40B4-BE49-F238E27FC236}">
                <a16:creationId xmlns:a16="http://schemas.microsoft.com/office/drawing/2014/main" id="{EF3B49F1-A0CD-490B-A177-390EE85C2227}"/>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KỊCH BẢN LIVE</a:t>
            </a:r>
          </a:p>
        </p:txBody>
      </p:sp>
      <p:sp>
        <p:nvSpPr>
          <p:cNvPr id="2" name="chrome-number">
            <a:extLst xmlns:a="http://schemas.openxmlformats.org/drawingml/2006/main">
              <a:ext uri="{FF2B5EF4-FFF2-40B4-BE49-F238E27FC236}">
                <a16:creationId xmlns:a16="http://schemas.microsoft.com/office/drawing/2014/main" id="{8F6BEBE3-FEA0-4EFF-A799-AC1C2CD2D8F9}"/>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64</a:t>
            </a:r>
          </a:p>
        </p:txBody>
      </p:sp>
      <p:sp>
        <p:nvSpPr>
          <p:cNvPr id="3" name="rule-70-58">
            <a:extLst xmlns:a="http://schemas.openxmlformats.org/drawingml/2006/main">
              <a:ext uri="{FF2B5EF4-FFF2-40B4-BE49-F238E27FC236}">
                <a16:creationId xmlns:a16="http://schemas.microsoft.com/office/drawing/2014/main" id="{E2B17921-10D3-4ADE-A254-836256E9DC00}"/>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45DD98A1-5E36-40AB-979C-28ABF1EC8F60}"/>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MA TRẬN ĐỐI CHIẾU</a:t>
            </a:r>
          </a:p>
        </p:txBody>
      </p:sp>
      <p:sp>
        <p:nvSpPr>
          <p:cNvPr id="5" name="slide-title">
            <a:extLst xmlns:a="http://schemas.openxmlformats.org/drawingml/2006/main">
              <a:ext uri="{FF2B5EF4-FFF2-40B4-BE49-F238E27FC236}">
                <a16:creationId xmlns:a16="http://schemas.microsoft.com/office/drawing/2014/main" id="{A5C7FADE-5B05-498B-9BCA-2D489274B913}"/>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Thứ tự demo ưu tiên để giảm rủi ro chuyển cảnh</a:t>
            </a:r>
          </a:p>
        </p:txBody>
      </p:sp>
      <p:sp>
        <p:nvSpPr>
          <p:cNvPr id="6" name="rule-70-672">
            <a:extLst xmlns:a="http://schemas.openxmlformats.org/drawingml/2006/main">
              <a:ext uri="{FF2B5EF4-FFF2-40B4-BE49-F238E27FC236}">
                <a16:creationId xmlns:a16="http://schemas.microsoft.com/office/drawing/2014/main" id="{8EBC9C7D-6AA2-4F9F-A06A-12E9BAEDAE87}"/>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C22AB566-2CF3-438B-9A36-89C18C3FCF6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72">
            <a:extLst xmlns:a="http://schemas.openxmlformats.org/drawingml/2006/main">
              <a:ext uri="{FF2B5EF4-FFF2-40B4-BE49-F238E27FC236}">
                <a16:creationId xmlns:a16="http://schemas.microsoft.com/office/drawing/2014/main" id="{324F69D3-C073-4C48-9738-4E75F44390B1}"/>
              </a:ext>
            </a:extLst>
          </p:cNvPr>
          <p:cNvSpPr>
            <a:spLocks xmlns:a="http://schemas.openxmlformats.org/drawingml/2006/main" noGrp="1"/>
          </p:cNvSpPr>
          <p:nvPr/>
        </p:nvSpPr>
        <p:spPr>
          <a:xfrm xmlns:a="http://schemas.openxmlformats.org/drawingml/2006/main">
            <a:off x="666750" y="2590800"/>
            <a:ext cx="10858500" cy="19050"/>
          </a:xfrm>
          <a:prstGeom xmlns:a="http://schemas.openxmlformats.org/drawingml/2006/main" prst="rect">
            <a:avLst/>
          </a:prstGeom>
          <a:solidFill xmlns:a="http://schemas.openxmlformats.org/drawingml/2006/main">
            <a:srgbClr val="E85D26"/>
          </a:solidFill>
          <a:ln xmlns:a="http://schemas.openxmlformats.org/drawingml/2006/main" w="0">
            <a:noFill/>
            <a:prstDash val="solid"/>
          </a:ln>
        </p:spPr>
      </p:sp>
      <p:sp>
        <p:nvSpPr>
          <p:cNvPr id="9" name="cell-0-0">
            <a:extLst xmlns:a="http://schemas.openxmlformats.org/drawingml/2006/main">
              <a:ext uri="{FF2B5EF4-FFF2-40B4-BE49-F238E27FC236}">
                <a16:creationId xmlns:a16="http://schemas.microsoft.com/office/drawing/2014/main" id="{FBFCE39D-9148-4936-9456-059F8DED8EB5}"/>
              </a:ext>
            </a:extLst>
          </p:cNvPr>
          <p:cNvSpPr>
            <a:spLocks xmlns:a="http://schemas.openxmlformats.org/drawingml/2006/main" noGrp="1"/>
          </p:cNvSpPr>
          <p:nvPr/>
        </p:nvSpPr>
        <p:spPr>
          <a:xfrm xmlns:a="http://schemas.openxmlformats.org/drawingml/2006/main">
            <a:off x="666750" y="20955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THỨ TỰ</a:t>
            </a:r>
          </a:p>
        </p:txBody>
      </p:sp>
      <p:sp>
        <p:nvSpPr>
          <p:cNvPr id="10" name="cell-0-1">
            <a:extLst xmlns:a="http://schemas.openxmlformats.org/drawingml/2006/main">
              <a:ext uri="{FF2B5EF4-FFF2-40B4-BE49-F238E27FC236}">
                <a16:creationId xmlns:a16="http://schemas.microsoft.com/office/drawing/2014/main" id="{B9EDE92A-97BD-422F-8C78-926656AE0E53}"/>
              </a:ext>
            </a:extLst>
          </p:cNvPr>
          <p:cNvSpPr>
            <a:spLocks xmlns:a="http://schemas.openxmlformats.org/drawingml/2006/main" noGrp="1"/>
          </p:cNvSpPr>
          <p:nvPr/>
        </p:nvSpPr>
        <p:spPr>
          <a:xfrm xmlns:a="http://schemas.openxmlformats.org/drawingml/2006/main">
            <a:off x="2667000" y="20955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LAB</a:t>
            </a:r>
          </a:p>
        </p:txBody>
      </p:sp>
      <p:sp>
        <p:nvSpPr>
          <p:cNvPr id="11" name="cell-0-2">
            <a:extLst xmlns:a="http://schemas.openxmlformats.org/drawingml/2006/main">
              <a:ext uri="{FF2B5EF4-FFF2-40B4-BE49-F238E27FC236}">
                <a16:creationId xmlns:a16="http://schemas.microsoft.com/office/drawing/2014/main" id="{0D329BAA-2836-456B-8423-5D19221E9743}"/>
              </a:ext>
            </a:extLst>
          </p:cNvPr>
          <p:cNvSpPr>
            <a:spLocks xmlns:a="http://schemas.openxmlformats.org/drawingml/2006/main" noGrp="1"/>
          </p:cNvSpPr>
          <p:nvPr/>
        </p:nvSpPr>
        <p:spPr>
          <a:xfrm xmlns:a="http://schemas.openxmlformats.org/drawingml/2006/main">
            <a:off x="5238750" y="20955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DEMO NHANH</a:t>
            </a:r>
          </a:p>
        </p:txBody>
      </p:sp>
      <p:sp>
        <p:nvSpPr>
          <p:cNvPr id="12" name="cell-0-3">
            <a:extLst xmlns:a="http://schemas.openxmlformats.org/drawingml/2006/main">
              <a:ext uri="{FF2B5EF4-FFF2-40B4-BE49-F238E27FC236}">
                <a16:creationId xmlns:a16="http://schemas.microsoft.com/office/drawing/2014/main" id="{EBB7F1EE-AF90-437E-9540-ACD125F8EDDE}"/>
              </a:ext>
            </a:extLst>
          </p:cNvPr>
          <p:cNvSpPr>
            <a:spLocks xmlns:a="http://schemas.openxmlformats.org/drawingml/2006/main" noGrp="1"/>
          </p:cNvSpPr>
          <p:nvPr/>
        </p:nvSpPr>
        <p:spPr>
          <a:xfrm xmlns:a="http://schemas.openxmlformats.org/drawingml/2006/main">
            <a:off x="8096250" y="20955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200" b="1">
                <a:solidFill>
                  <a:srgbClr val="E85D26"/>
                </a:solidFill>
                <a:latin typeface="Consolas"/>
                <a:ea typeface="Consolas"/>
                <a:cs typeface="Consolas"/>
              </a:defRPr>
            </a:pPr>
            <a:r>
              <a:rPr sz="1200" b="1">
                <a:solidFill>
                  <a:srgbClr val="E85D26"/>
                </a:solidFill>
                <a:latin typeface="Consolas"/>
                <a:ea typeface="Consolas"/>
                <a:cs typeface="Consolas"/>
              </a:rPr>
              <a:t>THỜI LƯỢNG</a:t>
            </a:r>
          </a:p>
        </p:txBody>
      </p:sp>
      <p:sp>
        <p:nvSpPr>
          <p:cNvPr id="13" name="rule-70-330">
            <a:extLst xmlns:a="http://schemas.openxmlformats.org/drawingml/2006/main">
              <a:ext uri="{FF2B5EF4-FFF2-40B4-BE49-F238E27FC236}">
                <a16:creationId xmlns:a16="http://schemas.microsoft.com/office/drawing/2014/main" id="{21B121C8-D316-4E7E-BC68-8E5A5E43EF6C}"/>
              </a:ext>
            </a:extLst>
          </p:cNvPr>
          <p:cNvSpPr>
            <a:spLocks xmlns:a="http://schemas.openxmlformats.org/drawingml/2006/main" noGrp="1"/>
          </p:cNvSpPr>
          <p:nvPr/>
        </p:nvSpPr>
        <p:spPr>
          <a:xfrm xmlns:a="http://schemas.openxmlformats.org/drawingml/2006/main">
            <a:off x="666750" y="31432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4" name="cell-1-0">
            <a:extLst xmlns:a="http://schemas.openxmlformats.org/drawingml/2006/main">
              <a:ext uri="{FF2B5EF4-FFF2-40B4-BE49-F238E27FC236}">
                <a16:creationId xmlns:a16="http://schemas.microsoft.com/office/drawing/2014/main" id="{E92CE001-D87D-4AD7-826B-A0B4575211D6}"/>
              </a:ext>
            </a:extLst>
          </p:cNvPr>
          <p:cNvSpPr>
            <a:spLocks xmlns:a="http://schemas.openxmlformats.org/drawingml/2006/main" noGrp="1"/>
          </p:cNvSpPr>
          <p:nvPr/>
        </p:nvSpPr>
        <p:spPr>
          <a:xfrm xmlns:a="http://schemas.openxmlformats.org/drawingml/2006/main">
            <a:off x="666750" y="26479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1</a:t>
            </a:r>
          </a:p>
        </p:txBody>
      </p:sp>
      <p:sp>
        <p:nvSpPr>
          <p:cNvPr id="15" name="cell-1-1">
            <a:extLst xmlns:a="http://schemas.openxmlformats.org/drawingml/2006/main">
              <a:ext uri="{FF2B5EF4-FFF2-40B4-BE49-F238E27FC236}">
                <a16:creationId xmlns:a16="http://schemas.microsoft.com/office/drawing/2014/main" id="{B6D2C792-1D3B-4DE4-863E-4245FF6D6501}"/>
              </a:ext>
            </a:extLst>
          </p:cNvPr>
          <p:cNvSpPr>
            <a:spLocks xmlns:a="http://schemas.openxmlformats.org/drawingml/2006/main" noGrp="1"/>
          </p:cNvSpPr>
          <p:nvPr/>
        </p:nvSpPr>
        <p:spPr>
          <a:xfrm xmlns:a="http://schemas.openxmlformats.org/drawingml/2006/main">
            <a:off x="2667000" y="26479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Lab01</a:t>
            </a:r>
          </a:p>
        </p:txBody>
      </p:sp>
      <p:sp>
        <p:nvSpPr>
          <p:cNvPr id="16" name="cell-1-2">
            <a:extLst xmlns:a="http://schemas.openxmlformats.org/drawingml/2006/main">
              <a:ext uri="{FF2B5EF4-FFF2-40B4-BE49-F238E27FC236}">
                <a16:creationId xmlns:a16="http://schemas.microsoft.com/office/drawing/2014/main" id="{0AADD949-FBCD-4B62-8B32-EA5610812EED}"/>
              </a:ext>
            </a:extLst>
          </p:cNvPr>
          <p:cNvSpPr>
            <a:spLocks xmlns:a="http://schemas.openxmlformats.org/drawingml/2006/main" noGrp="1"/>
          </p:cNvSpPr>
          <p:nvPr/>
        </p:nvSpPr>
        <p:spPr>
          <a:xfrm xmlns:a="http://schemas.openxmlformats.org/drawingml/2006/main">
            <a:off x="5238750" y="2647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Reflected + DOM secure</a:t>
            </a:r>
          </a:p>
        </p:txBody>
      </p:sp>
      <p:sp>
        <p:nvSpPr>
          <p:cNvPr id="17" name="cell-1-3">
            <a:extLst xmlns:a="http://schemas.openxmlformats.org/drawingml/2006/main">
              <a:ext uri="{FF2B5EF4-FFF2-40B4-BE49-F238E27FC236}">
                <a16:creationId xmlns:a16="http://schemas.microsoft.com/office/drawing/2014/main" id="{75274C20-74EE-4FE2-AB96-7BE4CEE053BC}"/>
              </a:ext>
            </a:extLst>
          </p:cNvPr>
          <p:cNvSpPr>
            <a:spLocks xmlns:a="http://schemas.openxmlformats.org/drawingml/2006/main" noGrp="1"/>
          </p:cNvSpPr>
          <p:nvPr/>
        </p:nvSpPr>
        <p:spPr>
          <a:xfrm xmlns:a="http://schemas.openxmlformats.org/drawingml/2006/main">
            <a:off x="8096250" y="26479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5 phút</a:t>
            </a:r>
          </a:p>
        </p:txBody>
      </p:sp>
      <p:sp>
        <p:nvSpPr>
          <p:cNvPr id="18" name="rule-70-388">
            <a:extLst xmlns:a="http://schemas.openxmlformats.org/drawingml/2006/main">
              <a:ext uri="{FF2B5EF4-FFF2-40B4-BE49-F238E27FC236}">
                <a16:creationId xmlns:a16="http://schemas.microsoft.com/office/drawing/2014/main" id="{B0FA1C9F-0C38-4537-83F2-990F02F1C6BC}"/>
              </a:ext>
            </a:extLst>
          </p:cNvPr>
          <p:cNvSpPr>
            <a:spLocks xmlns:a="http://schemas.openxmlformats.org/drawingml/2006/main" noGrp="1"/>
          </p:cNvSpPr>
          <p:nvPr/>
        </p:nvSpPr>
        <p:spPr>
          <a:xfrm xmlns:a="http://schemas.openxmlformats.org/drawingml/2006/main">
            <a:off x="666750" y="36957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9" name="cell-2-0">
            <a:extLst xmlns:a="http://schemas.openxmlformats.org/drawingml/2006/main">
              <a:ext uri="{FF2B5EF4-FFF2-40B4-BE49-F238E27FC236}">
                <a16:creationId xmlns:a16="http://schemas.microsoft.com/office/drawing/2014/main" id="{FD5EFCCC-F194-4019-9A2B-9043415D196F}"/>
              </a:ext>
            </a:extLst>
          </p:cNvPr>
          <p:cNvSpPr>
            <a:spLocks xmlns:a="http://schemas.openxmlformats.org/drawingml/2006/main" noGrp="1"/>
          </p:cNvSpPr>
          <p:nvPr/>
        </p:nvSpPr>
        <p:spPr>
          <a:xfrm xmlns:a="http://schemas.openxmlformats.org/drawingml/2006/main">
            <a:off x="666750" y="32004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2</a:t>
            </a:r>
          </a:p>
        </p:txBody>
      </p:sp>
      <p:sp>
        <p:nvSpPr>
          <p:cNvPr id="20" name="cell-2-1">
            <a:extLst xmlns:a="http://schemas.openxmlformats.org/drawingml/2006/main">
              <a:ext uri="{FF2B5EF4-FFF2-40B4-BE49-F238E27FC236}">
                <a16:creationId xmlns:a16="http://schemas.microsoft.com/office/drawing/2014/main" id="{6654165F-D24E-4CEC-A570-3942E611B8E8}"/>
              </a:ext>
            </a:extLst>
          </p:cNvPr>
          <p:cNvSpPr>
            <a:spLocks xmlns:a="http://schemas.openxmlformats.org/drawingml/2006/main" noGrp="1"/>
          </p:cNvSpPr>
          <p:nvPr/>
        </p:nvSpPr>
        <p:spPr>
          <a:xfrm xmlns:a="http://schemas.openxmlformats.org/drawingml/2006/main">
            <a:off x="2667000" y="32004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Lab03</a:t>
            </a:r>
          </a:p>
        </p:txBody>
      </p:sp>
      <p:sp>
        <p:nvSpPr>
          <p:cNvPr id="21" name="cell-2-2">
            <a:extLst xmlns:a="http://schemas.openxmlformats.org/drawingml/2006/main">
              <a:ext uri="{FF2B5EF4-FFF2-40B4-BE49-F238E27FC236}">
                <a16:creationId xmlns:a16="http://schemas.microsoft.com/office/drawing/2014/main" id="{B756483F-978D-47F1-B911-56D87B8F6CB7}"/>
              </a:ext>
            </a:extLst>
          </p:cNvPr>
          <p:cNvSpPr>
            <a:spLocks xmlns:a="http://schemas.openxmlformats.org/drawingml/2006/main" noGrp="1"/>
          </p:cNvSpPr>
          <p:nvPr/>
        </p:nvSpPr>
        <p:spPr>
          <a:xfrm xmlns:a="http://schemas.openxmlformats.org/drawingml/2006/main">
            <a:off x="5238750" y="32004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price + IDOR</a:t>
            </a:r>
          </a:p>
        </p:txBody>
      </p:sp>
      <p:sp>
        <p:nvSpPr>
          <p:cNvPr id="22" name="cell-2-3">
            <a:extLst xmlns:a="http://schemas.openxmlformats.org/drawingml/2006/main">
              <a:ext uri="{FF2B5EF4-FFF2-40B4-BE49-F238E27FC236}">
                <a16:creationId xmlns:a16="http://schemas.microsoft.com/office/drawing/2014/main" id="{03970C5D-8891-4BF5-9E0E-8A687CB56A49}"/>
              </a:ext>
            </a:extLst>
          </p:cNvPr>
          <p:cNvSpPr>
            <a:spLocks xmlns:a="http://schemas.openxmlformats.org/drawingml/2006/main" noGrp="1"/>
          </p:cNvSpPr>
          <p:nvPr/>
        </p:nvSpPr>
        <p:spPr>
          <a:xfrm xmlns:a="http://schemas.openxmlformats.org/drawingml/2006/main">
            <a:off x="8096250" y="32004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6 phút</a:t>
            </a:r>
          </a:p>
        </p:txBody>
      </p:sp>
      <p:sp>
        <p:nvSpPr>
          <p:cNvPr id="23" name="rule-70-446">
            <a:extLst xmlns:a="http://schemas.openxmlformats.org/drawingml/2006/main">
              <a:ext uri="{FF2B5EF4-FFF2-40B4-BE49-F238E27FC236}">
                <a16:creationId xmlns:a16="http://schemas.microsoft.com/office/drawing/2014/main" id="{3BC1283E-6C19-4B28-9B3C-CEAC230A86BD}"/>
              </a:ext>
            </a:extLst>
          </p:cNvPr>
          <p:cNvSpPr>
            <a:spLocks xmlns:a="http://schemas.openxmlformats.org/drawingml/2006/main" noGrp="1"/>
          </p:cNvSpPr>
          <p:nvPr/>
        </p:nvSpPr>
        <p:spPr>
          <a:xfrm xmlns:a="http://schemas.openxmlformats.org/drawingml/2006/main">
            <a:off x="666750" y="42481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4" name="cell-3-0">
            <a:extLst xmlns:a="http://schemas.openxmlformats.org/drawingml/2006/main">
              <a:ext uri="{FF2B5EF4-FFF2-40B4-BE49-F238E27FC236}">
                <a16:creationId xmlns:a16="http://schemas.microsoft.com/office/drawing/2014/main" id="{257B5656-E37D-4B5A-8721-A8BF225F6883}"/>
              </a:ext>
            </a:extLst>
          </p:cNvPr>
          <p:cNvSpPr>
            <a:spLocks xmlns:a="http://schemas.openxmlformats.org/drawingml/2006/main" noGrp="1"/>
          </p:cNvSpPr>
          <p:nvPr/>
        </p:nvSpPr>
        <p:spPr>
          <a:xfrm xmlns:a="http://schemas.openxmlformats.org/drawingml/2006/main">
            <a:off x="666750" y="37528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3</a:t>
            </a:r>
          </a:p>
        </p:txBody>
      </p:sp>
      <p:sp>
        <p:nvSpPr>
          <p:cNvPr id="25" name="cell-3-1">
            <a:extLst xmlns:a="http://schemas.openxmlformats.org/drawingml/2006/main">
              <a:ext uri="{FF2B5EF4-FFF2-40B4-BE49-F238E27FC236}">
                <a16:creationId xmlns:a16="http://schemas.microsoft.com/office/drawing/2014/main" id="{C1D56CD6-E332-4A35-A9AF-866C1DEA5C02}"/>
              </a:ext>
            </a:extLst>
          </p:cNvPr>
          <p:cNvSpPr>
            <a:spLocks xmlns:a="http://schemas.openxmlformats.org/drawingml/2006/main" noGrp="1"/>
          </p:cNvSpPr>
          <p:nvPr/>
        </p:nvSpPr>
        <p:spPr>
          <a:xfrm xmlns:a="http://schemas.openxmlformats.org/drawingml/2006/main">
            <a:off x="2667000" y="37528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Lab04</a:t>
            </a:r>
          </a:p>
        </p:txBody>
      </p:sp>
      <p:sp>
        <p:nvSpPr>
          <p:cNvPr id="26" name="cell-3-2">
            <a:extLst xmlns:a="http://schemas.openxmlformats.org/drawingml/2006/main">
              <a:ext uri="{FF2B5EF4-FFF2-40B4-BE49-F238E27FC236}">
                <a16:creationId xmlns:a16="http://schemas.microsoft.com/office/drawing/2014/main" id="{8C22147C-608D-4EBF-908A-D05DEBF3775F}"/>
              </a:ext>
            </a:extLst>
          </p:cNvPr>
          <p:cNvSpPr>
            <a:spLocks xmlns:a="http://schemas.openxmlformats.org/drawingml/2006/main" noGrp="1"/>
          </p:cNvSpPr>
          <p:nvPr/>
        </p:nvSpPr>
        <p:spPr>
          <a:xfrm xmlns:a="http://schemas.openxmlformats.org/drawingml/2006/main">
            <a:off x="52387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missing token 403</a:t>
            </a:r>
          </a:p>
        </p:txBody>
      </p:sp>
      <p:sp>
        <p:nvSpPr>
          <p:cNvPr id="27" name="cell-3-3">
            <a:extLst xmlns:a="http://schemas.openxmlformats.org/drawingml/2006/main">
              <a:ext uri="{FF2B5EF4-FFF2-40B4-BE49-F238E27FC236}">
                <a16:creationId xmlns:a16="http://schemas.microsoft.com/office/drawing/2014/main" id="{568B9290-1842-4533-AE31-C16D47B4BA52}"/>
              </a:ext>
            </a:extLst>
          </p:cNvPr>
          <p:cNvSpPr>
            <a:spLocks xmlns:a="http://schemas.openxmlformats.org/drawingml/2006/main" noGrp="1"/>
          </p:cNvSpPr>
          <p:nvPr/>
        </p:nvSpPr>
        <p:spPr>
          <a:xfrm xmlns:a="http://schemas.openxmlformats.org/drawingml/2006/main">
            <a:off x="8096250" y="37528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5 phút</a:t>
            </a:r>
          </a:p>
        </p:txBody>
      </p:sp>
      <p:sp>
        <p:nvSpPr>
          <p:cNvPr id="28" name="rule-70-504">
            <a:extLst xmlns:a="http://schemas.openxmlformats.org/drawingml/2006/main">
              <a:ext uri="{FF2B5EF4-FFF2-40B4-BE49-F238E27FC236}">
                <a16:creationId xmlns:a16="http://schemas.microsoft.com/office/drawing/2014/main" id="{5ADADF37-D75D-4A23-B851-964D96BD25EE}"/>
              </a:ext>
            </a:extLst>
          </p:cNvPr>
          <p:cNvSpPr>
            <a:spLocks xmlns:a="http://schemas.openxmlformats.org/drawingml/2006/main" noGrp="1"/>
          </p:cNvSpPr>
          <p:nvPr/>
        </p:nvSpPr>
        <p:spPr>
          <a:xfrm xmlns:a="http://schemas.openxmlformats.org/drawingml/2006/main">
            <a:off x="666750" y="48006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29" name="cell-4-0">
            <a:extLst xmlns:a="http://schemas.openxmlformats.org/drawingml/2006/main">
              <a:ext uri="{FF2B5EF4-FFF2-40B4-BE49-F238E27FC236}">
                <a16:creationId xmlns:a16="http://schemas.microsoft.com/office/drawing/2014/main" id="{EC886AA8-5710-4F74-879D-7B9F820423AE}"/>
              </a:ext>
            </a:extLst>
          </p:cNvPr>
          <p:cNvSpPr>
            <a:spLocks xmlns:a="http://schemas.openxmlformats.org/drawingml/2006/main" noGrp="1"/>
          </p:cNvSpPr>
          <p:nvPr/>
        </p:nvSpPr>
        <p:spPr>
          <a:xfrm xmlns:a="http://schemas.openxmlformats.org/drawingml/2006/main">
            <a:off x="66675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4</a:t>
            </a:r>
          </a:p>
        </p:txBody>
      </p:sp>
      <p:sp>
        <p:nvSpPr>
          <p:cNvPr id="30" name="cell-4-1">
            <a:extLst xmlns:a="http://schemas.openxmlformats.org/drawingml/2006/main">
              <a:ext uri="{FF2B5EF4-FFF2-40B4-BE49-F238E27FC236}">
                <a16:creationId xmlns:a16="http://schemas.microsoft.com/office/drawing/2014/main" id="{0E012F70-C872-4399-8369-117ABC1FC58A}"/>
              </a:ext>
            </a:extLst>
          </p:cNvPr>
          <p:cNvSpPr>
            <a:spLocks xmlns:a="http://schemas.openxmlformats.org/drawingml/2006/main" noGrp="1"/>
          </p:cNvSpPr>
          <p:nvPr/>
        </p:nvSpPr>
        <p:spPr>
          <a:xfrm xmlns:a="http://schemas.openxmlformats.org/drawingml/2006/main">
            <a:off x="2667000" y="4305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Lab05</a:t>
            </a:r>
          </a:p>
        </p:txBody>
      </p:sp>
      <p:sp>
        <p:nvSpPr>
          <p:cNvPr id="31" name="cell-4-2">
            <a:extLst xmlns:a="http://schemas.openxmlformats.org/drawingml/2006/main">
              <a:ext uri="{FF2B5EF4-FFF2-40B4-BE49-F238E27FC236}">
                <a16:creationId xmlns:a16="http://schemas.microsoft.com/office/drawing/2014/main" id="{E1003337-9C13-4DF5-BBC6-A0C35EA0A8C7}"/>
              </a:ext>
            </a:extLst>
          </p:cNvPr>
          <p:cNvSpPr>
            <a:spLocks xmlns:a="http://schemas.openxmlformats.org/drawingml/2006/main" noGrp="1"/>
          </p:cNvSpPr>
          <p:nvPr/>
        </p:nvSpPr>
        <p:spPr>
          <a:xfrm xmlns:a="http://schemas.openxmlformats.org/drawingml/2006/main">
            <a:off x="5238750" y="43053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login + search retest</a:t>
            </a:r>
          </a:p>
        </p:txBody>
      </p:sp>
      <p:sp>
        <p:nvSpPr>
          <p:cNvPr id="32" name="cell-4-3">
            <a:extLst xmlns:a="http://schemas.openxmlformats.org/drawingml/2006/main">
              <a:ext uri="{FF2B5EF4-FFF2-40B4-BE49-F238E27FC236}">
                <a16:creationId xmlns:a16="http://schemas.microsoft.com/office/drawing/2014/main" id="{6B90892C-90F9-4911-9E9E-263C585B078E}"/>
              </a:ext>
            </a:extLst>
          </p:cNvPr>
          <p:cNvSpPr>
            <a:spLocks xmlns:a="http://schemas.openxmlformats.org/drawingml/2006/main" noGrp="1"/>
          </p:cNvSpPr>
          <p:nvPr/>
        </p:nvSpPr>
        <p:spPr>
          <a:xfrm xmlns:a="http://schemas.openxmlformats.org/drawingml/2006/main">
            <a:off x="8096250" y="43053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5 phút</a:t>
            </a:r>
          </a:p>
        </p:txBody>
      </p:sp>
      <p:sp>
        <p:nvSpPr>
          <p:cNvPr id="33" name="rule-70-562">
            <a:extLst xmlns:a="http://schemas.openxmlformats.org/drawingml/2006/main">
              <a:ext uri="{FF2B5EF4-FFF2-40B4-BE49-F238E27FC236}">
                <a16:creationId xmlns:a16="http://schemas.microsoft.com/office/drawing/2014/main" id="{75115F86-7DDD-4C8B-9879-DD6D5790BC3A}"/>
              </a:ext>
            </a:extLst>
          </p:cNvPr>
          <p:cNvSpPr>
            <a:spLocks xmlns:a="http://schemas.openxmlformats.org/drawingml/2006/main" noGrp="1"/>
          </p:cNvSpPr>
          <p:nvPr/>
        </p:nvSpPr>
        <p:spPr>
          <a:xfrm xmlns:a="http://schemas.openxmlformats.org/drawingml/2006/main">
            <a:off x="666750" y="53530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4" name="cell-5-0">
            <a:extLst xmlns:a="http://schemas.openxmlformats.org/drawingml/2006/main">
              <a:ext uri="{FF2B5EF4-FFF2-40B4-BE49-F238E27FC236}">
                <a16:creationId xmlns:a16="http://schemas.microsoft.com/office/drawing/2014/main" id="{233C75A0-6410-42B6-B0D0-B0D0750879F5}"/>
              </a:ext>
            </a:extLst>
          </p:cNvPr>
          <p:cNvSpPr>
            <a:spLocks xmlns:a="http://schemas.openxmlformats.org/drawingml/2006/main" noGrp="1"/>
          </p:cNvSpPr>
          <p:nvPr/>
        </p:nvSpPr>
        <p:spPr>
          <a:xfrm xmlns:a="http://schemas.openxmlformats.org/drawingml/2006/main">
            <a:off x="666750" y="485775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5</a:t>
            </a:r>
          </a:p>
        </p:txBody>
      </p:sp>
      <p:sp>
        <p:nvSpPr>
          <p:cNvPr id="35" name="cell-5-1">
            <a:extLst xmlns:a="http://schemas.openxmlformats.org/drawingml/2006/main">
              <a:ext uri="{FF2B5EF4-FFF2-40B4-BE49-F238E27FC236}">
                <a16:creationId xmlns:a16="http://schemas.microsoft.com/office/drawing/2014/main" id="{B83B0AEE-94E2-4BFA-A743-543D8C7A2DEF}"/>
              </a:ext>
            </a:extLst>
          </p:cNvPr>
          <p:cNvSpPr>
            <a:spLocks xmlns:a="http://schemas.openxmlformats.org/drawingml/2006/main" noGrp="1"/>
          </p:cNvSpPr>
          <p:nvPr/>
        </p:nvSpPr>
        <p:spPr>
          <a:xfrm xmlns:a="http://schemas.openxmlformats.org/drawingml/2006/main">
            <a:off x="2667000" y="485775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Lab06</a:t>
            </a:r>
          </a:p>
        </p:txBody>
      </p:sp>
      <p:sp>
        <p:nvSpPr>
          <p:cNvPr id="36" name="cell-5-2">
            <a:extLst xmlns:a="http://schemas.openxmlformats.org/drawingml/2006/main">
              <a:ext uri="{FF2B5EF4-FFF2-40B4-BE49-F238E27FC236}">
                <a16:creationId xmlns:a16="http://schemas.microsoft.com/office/drawing/2014/main" id="{9D8192AC-8B72-4E44-BFF1-CF0C0C34A317}"/>
              </a:ext>
            </a:extLst>
          </p:cNvPr>
          <p:cNvSpPr>
            <a:spLocks xmlns:a="http://schemas.openxmlformats.org/drawingml/2006/main" noGrp="1"/>
          </p:cNvSpPr>
          <p:nvPr/>
        </p:nvSpPr>
        <p:spPr>
          <a:xfrm xmlns:a="http://schemas.openxmlformats.org/drawingml/2006/main">
            <a:off x="5238750" y="4857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plain → signed → session</a:t>
            </a:r>
          </a:p>
        </p:txBody>
      </p:sp>
      <p:sp>
        <p:nvSpPr>
          <p:cNvPr id="37" name="cell-5-3">
            <a:extLst xmlns:a="http://schemas.openxmlformats.org/drawingml/2006/main">
              <a:ext uri="{FF2B5EF4-FFF2-40B4-BE49-F238E27FC236}">
                <a16:creationId xmlns:a16="http://schemas.microsoft.com/office/drawing/2014/main" id="{737750FF-53CB-498E-895E-A0B71301F628}"/>
              </a:ext>
            </a:extLst>
          </p:cNvPr>
          <p:cNvSpPr>
            <a:spLocks xmlns:a="http://schemas.openxmlformats.org/drawingml/2006/main" noGrp="1"/>
          </p:cNvSpPr>
          <p:nvPr/>
        </p:nvSpPr>
        <p:spPr>
          <a:xfrm xmlns:a="http://schemas.openxmlformats.org/drawingml/2006/main">
            <a:off x="8096250" y="485775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8 phút</a:t>
            </a:r>
          </a:p>
        </p:txBody>
      </p:sp>
      <p:sp>
        <p:nvSpPr>
          <p:cNvPr id="38" name="rule-70-620">
            <a:extLst xmlns:a="http://schemas.openxmlformats.org/drawingml/2006/main">
              <a:ext uri="{FF2B5EF4-FFF2-40B4-BE49-F238E27FC236}">
                <a16:creationId xmlns:a16="http://schemas.microsoft.com/office/drawing/2014/main" id="{8636F489-7CC2-44D0-A0E5-D5961B65B88B}"/>
              </a:ext>
            </a:extLst>
          </p:cNvPr>
          <p:cNvSpPr>
            <a:spLocks xmlns:a="http://schemas.openxmlformats.org/drawingml/2006/main" noGrp="1"/>
          </p:cNvSpPr>
          <p:nvPr/>
        </p:nvSpPr>
        <p:spPr>
          <a:xfrm xmlns:a="http://schemas.openxmlformats.org/drawingml/2006/main">
            <a:off x="666750" y="59055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39" name="cell-6-0">
            <a:extLst xmlns:a="http://schemas.openxmlformats.org/drawingml/2006/main">
              <a:ext uri="{FF2B5EF4-FFF2-40B4-BE49-F238E27FC236}">
                <a16:creationId xmlns:a16="http://schemas.microsoft.com/office/drawing/2014/main" id="{83CFC92B-0CA2-400A-AFC1-849C745A7FE6}"/>
              </a:ext>
            </a:extLst>
          </p:cNvPr>
          <p:cNvSpPr>
            <a:spLocks xmlns:a="http://schemas.openxmlformats.org/drawingml/2006/main" noGrp="1"/>
          </p:cNvSpPr>
          <p:nvPr/>
        </p:nvSpPr>
        <p:spPr>
          <a:xfrm xmlns:a="http://schemas.openxmlformats.org/drawingml/2006/main">
            <a:off x="666750" y="54102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1">
                <a:solidFill>
                  <a:srgbClr val="F0ECE5"/>
                </a:solidFill>
                <a:latin typeface="Arial Narrow"/>
                <a:ea typeface="Arial Narrow"/>
                <a:cs typeface="Arial Narrow"/>
              </a:defRPr>
            </a:pPr>
            <a:r>
              <a:rPr sz="1500" b="1">
                <a:solidFill>
                  <a:srgbClr val="F0ECE5"/>
                </a:solidFill>
                <a:latin typeface="Arial Narrow"/>
                <a:ea typeface="Arial Narrow"/>
                <a:cs typeface="Arial Narrow"/>
              </a:rPr>
              <a:t>6</a:t>
            </a:r>
          </a:p>
        </p:txBody>
      </p:sp>
      <p:sp>
        <p:nvSpPr>
          <p:cNvPr id="40" name="cell-6-1">
            <a:extLst xmlns:a="http://schemas.openxmlformats.org/drawingml/2006/main">
              <a:ext uri="{FF2B5EF4-FFF2-40B4-BE49-F238E27FC236}">
                <a16:creationId xmlns:a16="http://schemas.microsoft.com/office/drawing/2014/main" id="{84BA64B5-1A3F-40E4-8341-AD4458487A05}"/>
              </a:ext>
            </a:extLst>
          </p:cNvPr>
          <p:cNvSpPr>
            <a:spLocks xmlns:a="http://schemas.openxmlformats.org/drawingml/2006/main" noGrp="1"/>
          </p:cNvSpPr>
          <p:nvPr/>
        </p:nvSpPr>
        <p:spPr>
          <a:xfrm xmlns:a="http://schemas.openxmlformats.org/drawingml/2006/main">
            <a:off x="2667000" y="54102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Lab02</a:t>
            </a:r>
          </a:p>
        </p:txBody>
      </p:sp>
      <p:sp>
        <p:nvSpPr>
          <p:cNvPr id="41" name="cell-6-2">
            <a:extLst xmlns:a="http://schemas.openxmlformats.org/drawingml/2006/main">
              <a:ext uri="{FF2B5EF4-FFF2-40B4-BE49-F238E27FC236}">
                <a16:creationId xmlns:a16="http://schemas.microsoft.com/office/drawing/2014/main" id="{43027906-8AB6-4270-AEB6-5125AF13799E}"/>
              </a:ext>
            </a:extLst>
          </p:cNvPr>
          <p:cNvSpPr>
            <a:spLocks xmlns:a="http://schemas.openxmlformats.org/drawingml/2006/main" noGrp="1"/>
          </p:cNvSpPr>
          <p:nvPr/>
        </p:nvSpPr>
        <p:spPr>
          <a:xfrm xmlns:a="http://schemas.openxmlformats.org/drawingml/2006/main">
            <a:off x="5238750" y="541020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UI + GDB nếu WSL sẵn</a:t>
            </a:r>
          </a:p>
        </p:txBody>
      </p:sp>
      <p:sp>
        <p:nvSpPr>
          <p:cNvPr id="42" name="cell-6-3">
            <a:extLst xmlns:a="http://schemas.openxmlformats.org/drawingml/2006/main">
              <a:ext uri="{FF2B5EF4-FFF2-40B4-BE49-F238E27FC236}">
                <a16:creationId xmlns:a16="http://schemas.microsoft.com/office/drawing/2014/main" id="{BAD34E32-8220-4F32-BA21-7AED698ADE03}"/>
              </a:ext>
            </a:extLst>
          </p:cNvPr>
          <p:cNvSpPr>
            <a:spLocks xmlns:a="http://schemas.openxmlformats.org/drawingml/2006/main" noGrp="1"/>
          </p:cNvSpPr>
          <p:nvPr/>
        </p:nvSpPr>
        <p:spPr>
          <a:xfrm xmlns:a="http://schemas.openxmlformats.org/drawingml/2006/main">
            <a:off x="8096250" y="5410200"/>
            <a:ext cx="293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1500" b="0">
                <a:solidFill>
                  <a:srgbClr val="888880"/>
                </a:solidFill>
                <a:latin typeface="Arial Narrow"/>
                <a:ea typeface="Arial Narrow"/>
                <a:cs typeface="Arial Narrow"/>
              </a:defRPr>
            </a:pPr>
            <a:r>
              <a:rPr sz="1500" b="0">
                <a:solidFill>
                  <a:srgbClr val="888880"/>
                </a:solidFill>
                <a:latin typeface="Arial Narrow"/>
                <a:ea typeface="Arial Narrow"/>
                <a:cs typeface="Arial Narrow"/>
              </a:rPr>
              <a:t>6–10 phút</a:t>
            </a:r>
          </a:p>
        </p:txBody>
      </p:sp>
    </p:spTree>
    <p:extLst>
      <p:ext uri="{BB962C8B-B14F-4D97-AF65-F5344CB8AC3E}">
        <p14:creationId xmlns:p14="http://schemas.microsoft.com/office/powerpoint/2010/main" val="766620848"/>
      </p:ext>
    </p:extLst>
  </p:cSld>
</p:sld>
</file>

<file path=ppt/slides/slide6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4" name="chrome-section">
            <a:extLst xmlns:a="http://schemas.openxmlformats.org/drawingml/2006/main">
              <a:ext uri="{FF2B5EF4-FFF2-40B4-BE49-F238E27FC236}">
                <a16:creationId xmlns:a16="http://schemas.microsoft.com/office/drawing/2014/main" id="{41862FF1-B726-4389-8166-0583439CFA99}"/>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PHƯƠNG ÁN DỰ PHÒNG</a:t>
            </a:r>
          </a:p>
        </p:txBody>
      </p:sp>
      <p:sp>
        <p:nvSpPr>
          <p:cNvPr id="2" name="chrome-number">
            <a:extLst xmlns:a="http://schemas.openxmlformats.org/drawingml/2006/main">
              <a:ext uri="{FF2B5EF4-FFF2-40B4-BE49-F238E27FC236}">
                <a16:creationId xmlns:a16="http://schemas.microsoft.com/office/drawing/2014/main" id="{874D7047-F70B-4507-A922-7EFFBA5C6FDB}"/>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65</a:t>
            </a:r>
          </a:p>
        </p:txBody>
      </p:sp>
      <p:sp>
        <p:nvSpPr>
          <p:cNvPr id="3" name="rule-70-58">
            <a:extLst xmlns:a="http://schemas.openxmlformats.org/drawingml/2006/main">
              <a:ext uri="{FF2B5EF4-FFF2-40B4-BE49-F238E27FC236}">
                <a16:creationId xmlns:a16="http://schemas.microsoft.com/office/drawing/2014/main" id="{8AF6B182-120E-49C5-8C85-194E7FC35335}"/>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B04894EF-7221-48C4-B73C-186CB8F1A007}"/>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ĐIỂM CHÍNH</a:t>
            </a:r>
          </a:p>
        </p:txBody>
      </p:sp>
      <p:sp>
        <p:nvSpPr>
          <p:cNvPr id="5" name="slide-title">
            <a:extLst xmlns:a="http://schemas.openxmlformats.org/drawingml/2006/main">
              <a:ext uri="{FF2B5EF4-FFF2-40B4-BE49-F238E27FC236}">
                <a16:creationId xmlns:a16="http://schemas.microsoft.com/office/drawing/2014/main" id="{770D330C-0022-4006-9CDD-CC0BC5F5C51E}"/>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Nếu live demo gặp lỗi, vẫn giữ được tính trung thực</a:t>
            </a:r>
          </a:p>
        </p:txBody>
      </p:sp>
      <p:sp>
        <p:nvSpPr>
          <p:cNvPr id="6" name="rule-70-672">
            <a:extLst xmlns:a="http://schemas.openxmlformats.org/drawingml/2006/main">
              <a:ext uri="{FF2B5EF4-FFF2-40B4-BE49-F238E27FC236}">
                <a16:creationId xmlns:a16="http://schemas.microsoft.com/office/drawing/2014/main" id="{DE3BAD19-F9DE-4559-8214-9E465E21844D}"/>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04D6127B-3EAE-4AD2-8091-564A2043D166}"/>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bullet-marker-0">
            <a:extLst xmlns:a="http://schemas.openxmlformats.org/drawingml/2006/main">
              <a:ext uri="{FF2B5EF4-FFF2-40B4-BE49-F238E27FC236}">
                <a16:creationId xmlns:a16="http://schemas.microsoft.com/office/drawing/2014/main" id="{37B1091F-CDC7-42D7-9F52-CBD23153909B}"/>
              </a:ext>
            </a:extLst>
          </p:cNvPr>
          <p:cNvSpPr>
            <a:spLocks xmlns:a="http://schemas.openxmlformats.org/drawingml/2006/main" noGrp="1"/>
          </p:cNvSpPr>
          <p:nvPr/>
        </p:nvSpPr>
        <p:spPr>
          <a:xfrm xmlns:a="http://schemas.openxmlformats.org/drawingml/2006/main">
            <a:off x="857250" y="21526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9" name="bullet-0">
            <a:extLst xmlns:a="http://schemas.openxmlformats.org/drawingml/2006/main">
              <a:ext uri="{FF2B5EF4-FFF2-40B4-BE49-F238E27FC236}">
                <a16:creationId xmlns:a16="http://schemas.microsoft.com/office/drawing/2014/main" id="{66F8DBEB-25C5-4EAA-B51E-B4EA02144BBF}"/>
              </a:ext>
            </a:extLst>
          </p:cNvPr>
          <p:cNvSpPr>
            <a:spLocks xmlns:a="http://schemas.openxmlformats.org/drawingml/2006/main" noGrp="1"/>
          </p:cNvSpPr>
          <p:nvPr/>
        </p:nvSpPr>
        <p:spPr>
          <a:xfrm xmlns:a="http://schemas.openxmlformats.org/drawingml/2006/main">
            <a:off x="1257300" y="21336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Không đổi sang website khác; dùng trace/evidence local đã export và chỉ rõ đó là artifact đã chạy trước.</a:t>
            </a:r>
          </a:p>
        </p:txBody>
      </p:sp>
      <p:sp>
        <p:nvSpPr>
          <p:cNvPr id="10" name="bullet-marker-1">
            <a:extLst xmlns:a="http://schemas.openxmlformats.org/drawingml/2006/main">
              <a:ext uri="{FF2B5EF4-FFF2-40B4-BE49-F238E27FC236}">
                <a16:creationId xmlns:a16="http://schemas.microsoft.com/office/drawing/2014/main" id="{42D3645D-134F-4976-A999-7C0D96E823E0}"/>
              </a:ext>
            </a:extLst>
          </p:cNvPr>
          <p:cNvSpPr>
            <a:spLocks xmlns:a="http://schemas.openxmlformats.org/drawingml/2006/main" noGrp="1"/>
          </p:cNvSpPr>
          <p:nvPr/>
        </p:nvSpPr>
        <p:spPr>
          <a:xfrm xmlns:a="http://schemas.openxmlformats.org/drawingml/2006/main">
            <a:off x="857250" y="32004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1" name="bullet-1">
            <a:extLst xmlns:a="http://schemas.openxmlformats.org/drawingml/2006/main">
              <a:ext uri="{FF2B5EF4-FFF2-40B4-BE49-F238E27FC236}">
                <a16:creationId xmlns:a16="http://schemas.microsoft.com/office/drawing/2014/main" id="{98D89F8F-E2F0-4E87-AA4F-EEDADA84CE7A}"/>
              </a:ext>
            </a:extLst>
          </p:cNvPr>
          <p:cNvSpPr>
            <a:spLocks xmlns:a="http://schemas.openxmlformats.org/drawingml/2006/main" noGrp="1"/>
          </p:cNvSpPr>
          <p:nvPr/>
        </p:nvSpPr>
        <p:spPr>
          <a:xfrm xmlns:a="http://schemas.openxmlformats.org/drawingml/2006/main">
            <a:off x="1257300" y="318135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Đọc đúng status code, query/state diff và source line — không gọi hướng dẫn hoặc placeholder là kết quả runtime.</a:t>
            </a:r>
          </a:p>
        </p:txBody>
      </p:sp>
      <p:sp>
        <p:nvSpPr>
          <p:cNvPr id="12" name="bullet-marker-2">
            <a:extLst xmlns:a="http://schemas.openxmlformats.org/drawingml/2006/main">
              <a:ext uri="{FF2B5EF4-FFF2-40B4-BE49-F238E27FC236}">
                <a16:creationId xmlns:a16="http://schemas.microsoft.com/office/drawing/2014/main" id="{2AD517BF-34A7-47D9-9255-7A88CFE7BA8E}"/>
              </a:ext>
            </a:extLst>
          </p:cNvPr>
          <p:cNvSpPr>
            <a:spLocks xmlns:a="http://schemas.openxmlformats.org/drawingml/2006/main" noGrp="1"/>
          </p:cNvSpPr>
          <p:nvPr/>
        </p:nvSpPr>
        <p:spPr>
          <a:xfrm xmlns:a="http://schemas.openxmlformats.org/drawingml/2006/main">
            <a:off x="857250" y="42481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72"/>
          </a:bodyPr>
          <a:lstStyle xmlns:a="http://schemas.openxmlformats.org/drawingml/2006/main"/>
          <a:p xmlns:a="http://schemas.openxmlformats.org/drawingml/2006/main">
            <a:pPr algn="l">
              <a:lnSpc>
                <a:spcPct val="105000"/>
              </a:lnSpc>
              <a:buNone/>
              <a:defRPr sz="2100" b="1">
                <a:solidFill>
                  <a:srgbClr val="E85D26"/>
                </a:solidFill>
                <a:latin typeface="Consolas"/>
                <a:ea typeface="Consolas"/>
                <a:cs typeface="Consolas"/>
              </a:defRPr>
            </a:pPr>
            <a:r>
              <a:rPr sz="2100" b="1">
                <a:solidFill>
                  <a:srgbClr val="E85D26"/>
                </a:solidFill>
                <a:latin typeface="Consolas"/>
                <a:ea typeface="Consolas"/>
                <a:cs typeface="Consolas"/>
              </a:rPr>
              <a:t>/</a:t>
            </a:r>
          </a:p>
        </p:txBody>
      </p:sp>
      <p:sp>
        <p:nvSpPr>
          <p:cNvPr id="13" name="bullet-2">
            <a:extLst xmlns:a="http://schemas.openxmlformats.org/drawingml/2006/main">
              <a:ext uri="{FF2B5EF4-FFF2-40B4-BE49-F238E27FC236}">
                <a16:creationId xmlns:a16="http://schemas.microsoft.com/office/drawing/2014/main" id="{D2EC95FA-87D0-442D-A8BF-C2CB228E5074}"/>
              </a:ext>
            </a:extLst>
          </p:cNvPr>
          <p:cNvSpPr>
            <a:spLocks xmlns:a="http://schemas.openxmlformats.org/drawingml/2006/main" noGrp="1"/>
          </p:cNvSpPr>
          <p:nvPr/>
        </p:nvSpPr>
        <p:spPr>
          <a:xfrm xmlns:a="http://schemas.openxmlformats.org/drawingml/2006/main">
            <a:off x="1257300" y="4229100"/>
            <a:ext cx="9886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F0ECE5"/>
                </a:solidFill>
                <a:latin typeface="Arial Narrow"/>
                <a:ea typeface="Arial Narrow"/>
                <a:cs typeface="Arial Narrow"/>
              </a:defRPr>
            </a:pPr>
            <a:r>
              <a:rPr sz="2250" b="0">
                <a:solidFill>
                  <a:srgbClr val="F0ECE5"/>
                </a:solidFill>
                <a:latin typeface="Arial Narrow"/>
                <a:ea typeface="Arial Narrow"/>
                <a:cs typeface="Arial Narrow"/>
              </a:rPr>
              <a:t>Nêu giới hạn hiện có: Lab02 thiếu GDB/ASan log; Lab04 Demo Page cần click, không auto-submit.</a:t>
            </a:r>
          </a:p>
        </p:txBody>
      </p:sp>
    </p:spTree>
    <p:extLst>
      <p:ext uri="{BB962C8B-B14F-4D97-AF65-F5344CB8AC3E}">
        <p14:creationId xmlns:p14="http://schemas.microsoft.com/office/powerpoint/2010/main" val="1202704419"/>
      </p:ext>
    </p:extLst>
  </p:cSld>
</p:sld>
</file>

<file path=ppt/slides/slide6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chrome-section">
            <a:extLst xmlns:a="http://schemas.openxmlformats.org/drawingml/2006/main">
              <a:ext uri="{FF2B5EF4-FFF2-40B4-BE49-F238E27FC236}">
                <a16:creationId xmlns:a16="http://schemas.microsoft.com/office/drawing/2014/main" id="{75FCD1B8-476E-4D06-BAFA-1D2B98186311}"/>
              </a:ext>
            </a:extLst>
          </p:cNvPr>
          <p:cNvSpPr>
            <a:spLocks xmlns:a="http://schemas.openxmlformats.org/drawingml/2006/main" noGrp="1"/>
          </p:cNvSpPr>
          <p:nvPr/>
        </p:nvSpPr>
        <p:spPr>
          <a:xfrm xmlns:a="http://schemas.openxmlformats.org/drawingml/2006/main">
            <a:off x="66675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85D26"/>
                </a:solidFill>
                <a:latin typeface="Consolas"/>
                <a:ea typeface="Consolas"/>
                <a:cs typeface="Consolas"/>
              </a:defRPr>
            </a:pPr>
            <a:r>
              <a:rPr sz="1050" b="1">
                <a:solidFill>
                  <a:srgbClr val="E85D26"/>
                </a:solidFill>
                <a:latin typeface="Consolas"/>
                <a:ea typeface="Consolas"/>
                <a:cs typeface="Consolas"/>
              </a:rPr>
              <a:t>ĐỘ PHỦ ĐỀ BÀI</a:t>
            </a:r>
          </a:p>
        </p:txBody>
      </p:sp>
      <p:sp>
        <p:nvSpPr>
          <p:cNvPr id="2" name="chrome-number">
            <a:extLst xmlns:a="http://schemas.openxmlformats.org/drawingml/2006/main">
              <a:ext uri="{FF2B5EF4-FFF2-40B4-BE49-F238E27FC236}">
                <a16:creationId xmlns:a16="http://schemas.microsoft.com/office/drawing/2014/main" id="{26F73707-3508-41C3-8545-ED5E893C94B6}"/>
              </a:ext>
            </a:extLst>
          </p:cNvPr>
          <p:cNvSpPr>
            <a:spLocks xmlns:a="http://schemas.openxmlformats.org/drawingml/2006/main" noGrp="1"/>
          </p:cNvSpPr>
          <p:nvPr/>
        </p:nvSpPr>
        <p:spPr>
          <a:xfrm xmlns:a="http://schemas.openxmlformats.org/drawingml/2006/main">
            <a:off x="10953750" y="2667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888880"/>
                </a:solidFill>
                <a:latin typeface="Consolas"/>
                <a:ea typeface="Consolas"/>
                <a:cs typeface="Consolas"/>
              </a:defRPr>
            </a:pPr>
            <a:r>
              <a:rPr sz="1050" b="1">
                <a:solidFill>
                  <a:srgbClr val="888880"/>
                </a:solidFill>
                <a:latin typeface="Consolas"/>
                <a:ea typeface="Consolas"/>
                <a:cs typeface="Consolas"/>
              </a:rPr>
              <a:t>66</a:t>
            </a:r>
          </a:p>
        </p:txBody>
      </p:sp>
      <p:sp>
        <p:nvSpPr>
          <p:cNvPr id="3" name="rule-70-58">
            <a:extLst xmlns:a="http://schemas.openxmlformats.org/drawingml/2006/main">
              <a:ext uri="{FF2B5EF4-FFF2-40B4-BE49-F238E27FC236}">
                <a16:creationId xmlns:a16="http://schemas.microsoft.com/office/drawing/2014/main" id="{3F920E29-3E28-4BC7-AB92-37ABFA8BEE04}"/>
              </a:ext>
            </a:extLst>
          </p:cNvPr>
          <p:cNvSpPr>
            <a:spLocks xmlns:a="http://schemas.openxmlformats.org/drawingml/2006/main" noGrp="1"/>
          </p:cNvSpPr>
          <p:nvPr/>
        </p:nvSpPr>
        <p:spPr>
          <a:xfrm xmlns:a="http://schemas.openxmlformats.org/drawingml/2006/main">
            <a:off x="666750" y="55245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4" name="kicker">
            <a:extLst xmlns:a="http://schemas.openxmlformats.org/drawingml/2006/main">
              <a:ext uri="{FF2B5EF4-FFF2-40B4-BE49-F238E27FC236}">
                <a16:creationId xmlns:a16="http://schemas.microsoft.com/office/drawing/2014/main" id="{7CD98DCE-86B5-48D8-B925-346E7C26FD0E}"/>
              </a:ext>
            </a:extLst>
          </p:cNvPr>
          <p:cNvSpPr>
            <a:spLocks xmlns:a="http://schemas.openxmlformats.org/drawingml/2006/main" noGrp="1"/>
          </p:cNvSpPr>
          <p:nvPr/>
        </p:nvSpPr>
        <p:spPr>
          <a:xfrm xmlns:a="http://schemas.openxmlformats.org/drawingml/2006/main">
            <a:off x="666750" y="781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E85D26"/>
                </a:solidFill>
                <a:latin typeface="Consolas"/>
                <a:ea typeface="Consolas"/>
                <a:cs typeface="Consolas"/>
              </a:defRPr>
            </a:pPr>
            <a:r>
              <a:rPr sz="1125" b="1">
                <a:solidFill>
                  <a:srgbClr val="E85D26"/>
                </a:solidFill>
                <a:latin typeface="Consolas"/>
                <a:ea typeface="Consolas"/>
                <a:cs typeface="Consolas"/>
              </a:rPr>
              <a:t>EVIDENCE ĐÃ CÓ TRONG REPOSITORY</a:t>
            </a:r>
          </a:p>
        </p:txBody>
      </p:sp>
      <p:sp>
        <p:nvSpPr>
          <p:cNvPr id="5" name="slide-title">
            <a:extLst xmlns:a="http://schemas.openxmlformats.org/drawingml/2006/main">
              <a:ext uri="{FF2B5EF4-FFF2-40B4-BE49-F238E27FC236}">
                <a16:creationId xmlns:a16="http://schemas.microsoft.com/office/drawing/2014/main" id="{E5F427AA-1E8E-4F19-A57D-8AB0BB9F8947}"/>
              </a:ext>
            </a:extLst>
          </p:cNvPr>
          <p:cNvSpPr>
            <a:spLocks xmlns:a="http://schemas.openxmlformats.org/drawingml/2006/main" noGrp="1"/>
          </p:cNvSpPr>
          <p:nvPr/>
        </p:nvSpPr>
        <p:spPr>
          <a:xfrm xmlns:a="http://schemas.openxmlformats.org/drawingml/2006/main">
            <a:off x="666750" y="106680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852"/>
          </a:bodyPr>
          <a:lstStyle xmlns:a="http://schemas.openxmlformats.org/drawingml/2006/main"/>
          <a:p xmlns:a="http://schemas.openxmlformats.org/drawingml/2006/main">
            <a:pPr algn="l">
              <a:lnSpc>
                <a:spcPct val="95000"/>
              </a:lnSpc>
              <a:buNone/>
              <a:defRPr sz="3675" b="1">
                <a:solidFill>
                  <a:srgbClr val="F0ECE5"/>
                </a:solidFill>
                <a:latin typeface="Arial Narrow"/>
                <a:ea typeface="Arial Narrow"/>
                <a:cs typeface="Arial Narrow"/>
              </a:defRPr>
            </a:pPr>
            <a:r>
              <a:rPr sz="3675" b="1">
                <a:solidFill>
                  <a:srgbClr val="F0ECE5"/>
                </a:solidFill>
                <a:latin typeface="Arial Narrow"/>
                <a:ea typeface="Arial Narrow"/>
                <a:cs typeface="Arial Narrow"/>
              </a:rPr>
              <a:t>Tất cả câu hỏi trong DOCX đã có câu trả lời theo đúng thứ tự</a:t>
            </a:r>
          </a:p>
        </p:txBody>
      </p:sp>
      <p:sp>
        <p:nvSpPr>
          <p:cNvPr id="6" name="rule-70-672">
            <a:extLst xmlns:a="http://schemas.openxmlformats.org/drawingml/2006/main">
              <a:ext uri="{FF2B5EF4-FFF2-40B4-BE49-F238E27FC236}">
                <a16:creationId xmlns:a16="http://schemas.microsoft.com/office/drawing/2014/main" id="{42FC6151-6C54-4005-A7EE-3AC48D8BA075}"/>
              </a:ext>
            </a:extLst>
          </p:cNvPr>
          <p:cNvSpPr>
            <a:spLocks xmlns:a="http://schemas.openxmlformats.org/drawingml/2006/main" noGrp="1"/>
          </p:cNvSpPr>
          <p:nvPr/>
        </p:nvSpPr>
        <p:spPr>
          <a:xfrm xmlns:a="http://schemas.openxmlformats.org/drawingml/2006/main">
            <a:off x="666750" y="6400800"/>
            <a:ext cx="1085850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7" name="footer">
            <a:extLst xmlns:a="http://schemas.openxmlformats.org/drawingml/2006/main">
              <a:ext uri="{FF2B5EF4-FFF2-40B4-BE49-F238E27FC236}">
                <a16:creationId xmlns:a16="http://schemas.microsoft.com/office/drawing/2014/main" id="{461BBDFA-D6AF-4292-AC9D-9E4CE517141F}"/>
              </a:ext>
            </a:extLst>
          </p:cNvPr>
          <p:cNvSpPr>
            <a:spLocks xmlns:a="http://schemas.openxmlformats.org/drawingml/2006/main" noGrp="1"/>
          </p:cNvSpPr>
          <p:nvPr/>
        </p:nvSpPr>
        <p:spPr>
          <a:xfrm xmlns:a="http://schemas.openxmlformats.org/drawingml/2006/main">
            <a:off x="66675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888880"/>
                </a:solidFill>
                <a:latin typeface="Consolas"/>
                <a:ea typeface="Consolas"/>
                <a:cs typeface="Consolas"/>
              </a:defRPr>
            </a:pPr>
            <a:r>
              <a:rPr sz="825" b="1">
                <a:solidFill>
                  <a:srgbClr val="888880"/>
                </a:solidFill>
                <a:latin typeface="Consolas"/>
                <a:ea typeface="Consolas"/>
                <a:cs typeface="Consolas"/>
              </a:rPr>
              <a:t>THỬ NGHIỆM LỖ HỔNG BẢO MẬT ỨNG DỤNG WEB</a:t>
            </a:r>
          </a:p>
        </p:txBody>
      </p:sp>
      <p:sp>
        <p:nvSpPr>
          <p:cNvPr id="8" name="rule-70-240">
            <a:extLst xmlns:a="http://schemas.openxmlformats.org/drawingml/2006/main">
              <a:ext uri="{FF2B5EF4-FFF2-40B4-BE49-F238E27FC236}">
                <a16:creationId xmlns:a16="http://schemas.microsoft.com/office/drawing/2014/main" id="{97431945-3547-457E-BCCE-29AB6B4C690E}"/>
              </a:ext>
            </a:extLst>
          </p:cNvPr>
          <p:cNvSpPr>
            <a:spLocks xmlns:a="http://schemas.openxmlformats.org/drawingml/2006/main" noGrp="1"/>
          </p:cNvSpPr>
          <p:nvPr/>
        </p:nvSpPr>
        <p:spPr>
          <a:xfrm xmlns:a="http://schemas.openxmlformats.org/drawingml/2006/main">
            <a:off x="666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9" name="stat-value-0">
            <a:extLst xmlns:a="http://schemas.openxmlformats.org/drawingml/2006/main">
              <a:ext uri="{FF2B5EF4-FFF2-40B4-BE49-F238E27FC236}">
                <a16:creationId xmlns:a16="http://schemas.microsoft.com/office/drawing/2014/main" id="{5A437A93-746B-46AB-8A6A-091BF4194FA3}"/>
              </a:ext>
            </a:extLst>
          </p:cNvPr>
          <p:cNvSpPr>
            <a:spLocks xmlns:a="http://schemas.openxmlformats.org/drawingml/2006/main" noGrp="1"/>
          </p:cNvSpPr>
          <p:nvPr/>
        </p:nvSpPr>
        <p:spPr>
          <a:xfrm xmlns:a="http://schemas.openxmlformats.org/drawingml/2006/main">
            <a:off x="666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E85D26"/>
                </a:solidFill>
                <a:latin typeface="Arial Narrow"/>
                <a:ea typeface="Arial Narrow"/>
                <a:cs typeface="Arial Narrow"/>
              </a:defRPr>
            </a:pPr>
            <a:r>
              <a:rPr sz="4950" b="1">
                <a:solidFill>
                  <a:srgbClr val="E85D26"/>
                </a:solidFill>
                <a:latin typeface="Arial Narrow"/>
                <a:ea typeface="Arial Narrow"/>
                <a:cs typeface="Arial Narrow"/>
              </a:rPr>
              <a:t>11</a:t>
            </a:r>
          </a:p>
        </p:txBody>
      </p:sp>
      <p:sp>
        <p:nvSpPr>
          <p:cNvPr id="10" name="stat-label-0">
            <a:extLst xmlns:a="http://schemas.openxmlformats.org/drawingml/2006/main">
              <a:ext uri="{FF2B5EF4-FFF2-40B4-BE49-F238E27FC236}">
                <a16:creationId xmlns:a16="http://schemas.microsoft.com/office/drawing/2014/main" id="{6D69B143-E404-4AFB-9CD9-9AAF9B3576C3}"/>
              </a:ext>
            </a:extLst>
          </p:cNvPr>
          <p:cNvSpPr>
            <a:spLocks xmlns:a="http://schemas.openxmlformats.org/drawingml/2006/main" noGrp="1"/>
          </p:cNvSpPr>
          <p:nvPr/>
        </p:nvSpPr>
        <p:spPr>
          <a:xfrm xmlns:a="http://schemas.openxmlformats.org/drawingml/2006/main">
            <a:off x="666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câu hỏi Lab01</a:t>
            </a:r>
          </a:p>
        </p:txBody>
      </p:sp>
      <p:sp>
        <p:nvSpPr>
          <p:cNvPr id="11" name="rule-430-240">
            <a:extLst xmlns:a="http://schemas.openxmlformats.org/drawingml/2006/main">
              <a:ext uri="{FF2B5EF4-FFF2-40B4-BE49-F238E27FC236}">
                <a16:creationId xmlns:a16="http://schemas.microsoft.com/office/drawing/2014/main" id="{9777AB8B-C476-49E2-8486-0AE2E0B4D295}"/>
              </a:ext>
            </a:extLst>
          </p:cNvPr>
          <p:cNvSpPr>
            <a:spLocks xmlns:a="http://schemas.openxmlformats.org/drawingml/2006/main" noGrp="1"/>
          </p:cNvSpPr>
          <p:nvPr/>
        </p:nvSpPr>
        <p:spPr>
          <a:xfrm xmlns:a="http://schemas.openxmlformats.org/drawingml/2006/main">
            <a:off x="4095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2" name="stat-value-1">
            <a:extLst xmlns:a="http://schemas.openxmlformats.org/drawingml/2006/main">
              <a:ext uri="{FF2B5EF4-FFF2-40B4-BE49-F238E27FC236}">
                <a16:creationId xmlns:a16="http://schemas.microsoft.com/office/drawing/2014/main" id="{2AD95704-B82A-4196-A29B-C0C83470598F}"/>
              </a:ext>
            </a:extLst>
          </p:cNvPr>
          <p:cNvSpPr>
            <a:spLocks xmlns:a="http://schemas.openxmlformats.org/drawingml/2006/main" noGrp="1"/>
          </p:cNvSpPr>
          <p:nvPr/>
        </p:nvSpPr>
        <p:spPr>
          <a:xfrm xmlns:a="http://schemas.openxmlformats.org/drawingml/2006/main">
            <a:off x="4095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10</a:t>
            </a:r>
          </a:p>
        </p:txBody>
      </p:sp>
      <p:sp>
        <p:nvSpPr>
          <p:cNvPr id="13" name="stat-label-1">
            <a:extLst xmlns:a="http://schemas.openxmlformats.org/drawingml/2006/main">
              <a:ext uri="{FF2B5EF4-FFF2-40B4-BE49-F238E27FC236}">
                <a16:creationId xmlns:a16="http://schemas.microsoft.com/office/drawing/2014/main" id="{7BDC51BE-D51A-4747-84C7-A4F5230C5AC1}"/>
              </a:ext>
            </a:extLst>
          </p:cNvPr>
          <p:cNvSpPr>
            <a:spLocks xmlns:a="http://schemas.openxmlformats.org/drawingml/2006/main" noGrp="1"/>
          </p:cNvSpPr>
          <p:nvPr/>
        </p:nvSpPr>
        <p:spPr>
          <a:xfrm xmlns:a="http://schemas.openxmlformats.org/drawingml/2006/main">
            <a:off x="4095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câu hỏi Lab02</a:t>
            </a:r>
          </a:p>
        </p:txBody>
      </p:sp>
      <p:sp>
        <p:nvSpPr>
          <p:cNvPr id="14" name="rule-790-240">
            <a:extLst xmlns:a="http://schemas.openxmlformats.org/drawingml/2006/main">
              <a:ext uri="{FF2B5EF4-FFF2-40B4-BE49-F238E27FC236}">
                <a16:creationId xmlns:a16="http://schemas.microsoft.com/office/drawing/2014/main" id="{64CE4F11-453E-4747-9926-27A149FBA841}"/>
              </a:ext>
            </a:extLst>
          </p:cNvPr>
          <p:cNvSpPr>
            <a:spLocks xmlns:a="http://schemas.openxmlformats.org/drawingml/2006/main" noGrp="1"/>
          </p:cNvSpPr>
          <p:nvPr/>
        </p:nvSpPr>
        <p:spPr>
          <a:xfrm xmlns:a="http://schemas.openxmlformats.org/drawingml/2006/main">
            <a:off x="7524750" y="2286000"/>
            <a:ext cx="3143250" cy="9525"/>
          </a:xfrm>
          <a:prstGeom xmlns:a="http://schemas.openxmlformats.org/drawingml/2006/main" prst="rect">
            <a:avLst/>
          </a:prstGeom>
          <a:solidFill xmlns:a="http://schemas.openxmlformats.org/drawingml/2006/main">
            <a:srgbClr val="282826"/>
          </a:solidFill>
          <a:ln xmlns:a="http://schemas.openxmlformats.org/drawingml/2006/main" w="0">
            <a:noFill/>
            <a:prstDash val="solid"/>
          </a:ln>
        </p:spPr>
      </p:sp>
      <p:sp>
        <p:nvSpPr>
          <p:cNvPr id="15" name="stat-value-2">
            <a:extLst xmlns:a="http://schemas.openxmlformats.org/drawingml/2006/main">
              <a:ext uri="{FF2B5EF4-FFF2-40B4-BE49-F238E27FC236}">
                <a16:creationId xmlns:a16="http://schemas.microsoft.com/office/drawing/2014/main" id="{E6E87619-1561-4959-861B-20E5703B6F80}"/>
              </a:ext>
            </a:extLst>
          </p:cNvPr>
          <p:cNvSpPr>
            <a:spLocks xmlns:a="http://schemas.openxmlformats.org/drawingml/2006/main" noGrp="1"/>
          </p:cNvSpPr>
          <p:nvPr/>
        </p:nvSpPr>
        <p:spPr>
          <a:xfrm xmlns:a="http://schemas.openxmlformats.org/drawingml/2006/main">
            <a:off x="7524750" y="2571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a:solidFill>
                  <a:srgbClr val="F0ECE5"/>
                </a:solidFill>
                <a:latin typeface="Arial Narrow"/>
                <a:ea typeface="Arial Narrow"/>
                <a:cs typeface="Arial Narrow"/>
              </a:defRPr>
            </a:pPr>
            <a:r>
              <a:rPr sz="4950" b="1">
                <a:solidFill>
                  <a:srgbClr val="F0ECE5"/>
                </a:solidFill>
                <a:latin typeface="Arial Narrow"/>
                <a:ea typeface="Arial Narrow"/>
                <a:cs typeface="Arial Narrow"/>
              </a:rPr>
              <a:t>20</a:t>
            </a:r>
          </a:p>
        </p:txBody>
      </p:sp>
      <p:sp>
        <p:nvSpPr>
          <p:cNvPr id="16" name="stat-label-2">
            <a:extLst xmlns:a="http://schemas.openxmlformats.org/drawingml/2006/main">
              <a:ext uri="{FF2B5EF4-FFF2-40B4-BE49-F238E27FC236}">
                <a16:creationId xmlns:a16="http://schemas.microsoft.com/office/drawing/2014/main" id="{0315BCB7-7B2A-46B3-98A6-14B0D81D6871}"/>
              </a:ext>
            </a:extLst>
          </p:cNvPr>
          <p:cNvSpPr>
            <a:spLocks xmlns:a="http://schemas.openxmlformats.org/drawingml/2006/main" noGrp="1"/>
          </p:cNvSpPr>
          <p:nvPr/>
        </p:nvSpPr>
        <p:spPr>
          <a:xfrm xmlns:a="http://schemas.openxmlformats.org/drawingml/2006/main">
            <a:off x="7524750" y="3695700"/>
            <a:ext cx="3086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0">
                <a:solidFill>
                  <a:srgbClr val="888880"/>
                </a:solidFill>
                <a:latin typeface="Arial Narrow"/>
                <a:ea typeface="Arial Narrow"/>
                <a:cs typeface="Arial Narrow"/>
              </a:defRPr>
            </a:pPr>
            <a:r>
              <a:rPr sz="1575" b="0">
                <a:solidFill>
                  <a:srgbClr val="888880"/>
                </a:solidFill>
                <a:latin typeface="Arial Narrow"/>
                <a:ea typeface="Arial Narrow"/>
                <a:cs typeface="Arial Narrow"/>
              </a:rPr>
              <a:t>câu hỏi Lab03–Lab06</a:t>
            </a:r>
          </a:p>
        </p:txBody>
      </p:sp>
      <p:sp>
        <p:nvSpPr>
          <p:cNvPr id="17" name="caveat">
            <a:extLst xmlns:a="http://schemas.openxmlformats.org/drawingml/2006/main">
              <a:ext uri="{FF2B5EF4-FFF2-40B4-BE49-F238E27FC236}">
                <a16:creationId xmlns:a16="http://schemas.microsoft.com/office/drawing/2014/main" id="{43F2EC88-F57F-4F0E-BD10-B30A14DAF5E2}"/>
              </a:ext>
            </a:extLst>
          </p:cNvPr>
          <p:cNvSpPr>
            <a:spLocks xmlns:a="http://schemas.openxmlformats.org/drawingml/2006/main" noGrp="1"/>
          </p:cNvSpPr>
          <p:nvPr/>
        </p:nvSpPr>
        <p:spPr>
          <a:xfrm xmlns:a="http://schemas.openxmlformats.org/drawingml/2006/main">
            <a:off x="666750" y="50958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a:solidFill>
                  <a:srgbClr val="F0ECE5"/>
                </a:solidFill>
                <a:latin typeface="Arial Narrow"/>
                <a:ea typeface="Arial Narrow"/>
                <a:cs typeface="Arial Narrow"/>
              </a:defRPr>
            </a:pPr>
            <a:r>
              <a:rPr sz="1650" b="0">
                <a:solidFill>
                  <a:srgbClr val="F0ECE5"/>
                </a:solidFill>
                <a:latin typeface="Arial Narrow"/>
                <a:ea typeface="Arial Narrow"/>
                <a:cs typeface="Arial Narrow"/>
              </a:rPr>
              <a:t>Tổng cộng 41 câu hỏi phân tích/báo cáo được trả lời trên slide 9, 11, 13–14, 21–24, 32–33, 39–40, 47–48 và 57–58.</a:t>
            </a:r>
          </a:p>
        </p:txBody>
      </p:sp>
    </p:spTree>
    <p:extLst>
      <p:ext uri="{BB962C8B-B14F-4D97-AF65-F5344CB8AC3E}">
        <p14:creationId xmlns:p14="http://schemas.microsoft.com/office/powerpoint/2010/main" val="742840716"/>
      </p:ext>
    </p:extLst>
  </p:cSld>
</p:sld>
</file>

<file path=ppt/slides/slide67.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5" name="statement-section">
            <a:extLst xmlns:a="http://schemas.openxmlformats.org/drawingml/2006/main">
              <a:ext uri="{FF2B5EF4-FFF2-40B4-BE49-F238E27FC236}">
                <a16:creationId xmlns:a16="http://schemas.microsoft.com/office/drawing/2014/main" id="{C6B5163E-9247-47FD-89CC-F2352876F429}"/>
              </a:ext>
            </a:extLst>
          </p:cNvPr>
          <p:cNvSpPr>
            <a:spLocks xmlns:a="http://schemas.openxmlformats.org/drawingml/2006/main" noGrp="1"/>
          </p:cNvSpPr>
          <p:nvPr/>
        </p:nvSpPr>
        <p:spPr>
          <a:xfrm xmlns:a="http://schemas.openxmlformats.org/drawingml/2006/main">
            <a:off x="685800" y="4762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11111"/>
                </a:solidFill>
                <a:latin typeface="Consolas"/>
                <a:ea typeface="Consolas"/>
                <a:cs typeface="Consolas"/>
              </a:defRPr>
            </a:pPr>
            <a:r>
              <a:rPr sz="1125" b="1">
                <a:solidFill>
                  <a:srgbClr val="111111"/>
                </a:solidFill>
                <a:latin typeface="Consolas"/>
                <a:ea typeface="Consolas"/>
                <a:cs typeface="Consolas"/>
              </a:rPr>
              <a:t>KẾT THÚC</a:t>
            </a:r>
          </a:p>
        </p:txBody>
      </p:sp>
      <p:sp>
        <p:nvSpPr>
          <p:cNvPr id="2" name="statement-number">
            <a:extLst xmlns:a="http://schemas.openxmlformats.org/drawingml/2006/main">
              <a:ext uri="{FF2B5EF4-FFF2-40B4-BE49-F238E27FC236}">
                <a16:creationId xmlns:a16="http://schemas.microsoft.com/office/drawing/2014/main" id="{FFEED450-6571-457C-AAC9-87F00F63C131}"/>
              </a:ext>
            </a:extLst>
          </p:cNvPr>
          <p:cNvSpPr>
            <a:spLocks xmlns:a="http://schemas.openxmlformats.org/drawingml/2006/main" noGrp="1"/>
          </p:cNvSpPr>
          <p:nvPr/>
        </p:nvSpPr>
        <p:spPr>
          <a:xfrm xmlns:a="http://schemas.openxmlformats.org/drawingml/2006/main">
            <a:off x="10668000" y="4762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125" b="1">
                <a:solidFill>
                  <a:srgbClr val="73311C"/>
                </a:solidFill>
                <a:latin typeface="Consolas"/>
                <a:ea typeface="Consolas"/>
                <a:cs typeface="Consolas"/>
              </a:defRPr>
            </a:pPr>
            <a:r>
              <a:rPr sz="1125" b="1">
                <a:solidFill>
                  <a:srgbClr val="73311C"/>
                </a:solidFill>
                <a:latin typeface="Consolas"/>
                <a:ea typeface="Consolas"/>
                <a:cs typeface="Consolas"/>
              </a:rPr>
              <a:t>67</a:t>
            </a:r>
          </a:p>
        </p:txBody>
      </p:sp>
      <p:sp>
        <p:nvSpPr>
          <p:cNvPr id="3" name="statement">
            <a:extLst xmlns:a="http://schemas.openxmlformats.org/drawingml/2006/main">
              <a:ext uri="{FF2B5EF4-FFF2-40B4-BE49-F238E27FC236}">
                <a16:creationId xmlns:a16="http://schemas.microsoft.com/office/drawing/2014/main" id="{B2A3E02A-A5C1-45A1-A900-0BF4A75364A8}"/>
              </a:ext>
            </a:extLst>
          </p:cNvPr>
          <p:cNvSpPr>
            <a:spLocks xmlns:a="http://schemas.openxmlformats.org/drawingml/2006/main" noGrp="1"/>
          </p:cNvSpPr>
          <p:nvPr/>
        </p:nvSpPr>
        <p:spPr>
          <a:xfrm xmlns:a="http://schemas.openxmlformats.org/drawingml/2006/main">
            <a:off x="647700" y="1447800"/>
            <a:ext cx="10858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5000"/>
              </a:lnSpc>
              <a:buNone/>
              <a:defRPr sz="6600" b="1">
                <a:solidFill>
                  <a:srgbClr val="111111"/>
                </a:solidFill>
                <a:latin typeface="Arial Narrow"/>
                <a:ea typeface="Arial Narrow"/>
                <a:cs typeface="Arial Narrow"/>
              </a:defRPr>
            </a:pPr>
            <a:r>
              <a:rPr sz="6600" b="1">
                <a:solidFill>
                  <a:srgbClr val="111111"/>
                </a:solidFill>
                <a:latin typeface="Arial Narrow"/>
                <a:ea typeface="Arial Narrow"/>
                <a:cs typeface="Arial Narrow"/>
              </a:rPr>
              <a:t>đừng nhớ payload.</a:t>
            </a:r>
          </a:p>
          <a:p xmlns:a="http://schemas.openxmlformats.org/drawingml/2006/main">
            <a:pPr algn="l">
              <a:lnSpc>
                <a:spcPct val="85000"/>
              </a:lnSpc>
              <a:buNone/>
              <a:defRPr sz="6600" b="1">
                <a:solidFill>
                  <a:srgbClr val="111111"/>
                </a:solidFill>
                <a:latin typeface="Arial Narrow"/>
                <a:ea typeface="Arial Narrow"/>
                <a:cs typeface="Arial Narrow"/>
              </a:defRPr>
            </a:pPr>
            <a:r>
              <a:rPr sz="6600" b="1">
                <a:solidFill>
                  <a:srgbClr val="111111"/>
                </a:solidFill>
                <a:latin typeface="Arial Narrow"/>
                <a:ea typeface="Arial Narrow"/>
                <a:cs typeface="Arial Narrow"/>
              </a:rPr>
              <a:t>hãy nhớ trust boundary.</a:t>
            </a:r>
          </a:p>
        </p:txBody>
      </p:sp>
      <p:sp>
        <p:nvSpPr>
          <p:cNvPr id="4" name="statement-caption">
            <a:extLst xmlns:a="http://schemas.openxmlformats.org/drawingml/2006/main">
              <a:ext uri="{FF2B5EF4-FFF2-40B4-BE49-F238E27FC236}">
                <a16:creationId xmlns:a16="http://schemas.microsoft.com/office/drawing/2014/main" id="{A2543C6E-7769-4748-9961-117E225E9846}"/>
              </a:ext>
            </a:extLst>
          </p:cNvPr>
          <p:cNvSpPr>
            <a:spLocks xmlns:a="http://schemas.openxmlformats.org/drawingml/2006/main" noGrp="1"/>
          </p:cNvSpPr>
          <p:nvPr/>
        </p:nvSpPr>
        <p:spPr>
          <a:xfrm xmlns:a="http://schemas.openxmlformats.org/drawingml/2006/main">
            <a:off x="723900" y="4953000"/>
            <a:ext cx="895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0">
                <a:solidFill>
                  <a:srgbClr val="111111"/>
                </a:solidFill>
                <a:latin typeface="Arial Narrow"/>
                <a:ea typeface="Arial Narrow"/>
                <a:cs typeface="Arial Narrow"/>
              </a:defRPr>
            </a:pPr>
            <a:r>
              <a:rPr sz="1950" b="0">
                <a:solidFill>
                  <a:srgbClr val="111111"/>
                </a:solidFill>
                <a:latin typeface="Arial Narrow"/>
                <a:ea typeface="Arial Narrow"/>
                <a:cs typeface="Arial Narrow"/>
              </a:rPr>
              <a:t>Nhận diện dữ liệu không tin cậy → tìm parser/policy → đặt invariant ở server → retest cùng input.</a:t>
            </a:r>
          </a:p>
        </p:txBody>
      </p:sp>
    </p:spTree>
    <p:extLst>
      <p:ext uri="{BB962C8B-B14F-4D97-AF65-F5344CB8AC3E}">
        <p14:creationId xmlns:p14="http://schemas.microsoft.com/office/powerpoint/2010/main" val="788196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2026-08-02T20:20:23.9670000Z</dcterms:created>
  <dcterms:modified xsi:type="dcterms:W3CDTF">2026-08-02T20:20:23.9670000Z</dcterms:modified>
</coreProperties>
</file>
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bae3144fe64301" /><Relationship Type="http://schemas.openxmlformats.org/officeDocument/2006/relationships/extended-properties" Target="/docProps/app.xml" Id="R6e5f69a834e1479e" /><Relationship Type="http://schemas.openxmlformats.org/officeDocument/2006/relationships/officeDocument" Target="/ppt/presentation.xml" Id="Rf68157274a9743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a5b594c2f7426c"/>
  </p:sldMasterIdLst>
  <p:notesMasterIdLst>
    <p:notesMasterId xmlns:r="http://schemas.openxmlformats.org/officeDocument/2006/relationships" r:id="R5d8745db465640ba"/>
  </p:notesMasterIdLst>
  <p:sldIdLst>
    <p:sldId xmlns:r="http://schemas.openxmlformats.org/officeDocument/2006/relationships" id="256" r:id="R6bb9c93553584d9a"/>
    <p:sldId xmlns:r="http://schemas.openxmlformats.org/officeDocument/2006/relationships" id="257" r:id="R8d453ec22dc446f2"/>
    <p:sldId xmlns:r="http://schemas.openxmlformats.org/officeDocument/2006/relationships" id="258" r:id="R75f37171118d413f"/>
    <p:sldId xmlns:r="http://schemas.openxmlformats.org/officeDocument/2006/relationships" id="259" r:id="Rce0ad0e5d1b74a6b"/>
    <p:sldId xmlns:r="http://schemas.openxmlformats.org/officeDocument/2006/relationships" id="260" r:id="Rdd89124457da4089"/>
    <p:sldId xmlns:r="http://schemas.openxmlformats.org/officeDocument/2006/relationships" id="261" r:id="R7a4c16f8983e40dc"/>
    <p:sldId xmlns:r="http://schemas.openxmlformats.org/officeDocument/2006/relationships" id="262" r:id="Re181514c572548e3"/>
    <p:sldId xmlns:r="http://schemas.openxmlformats.org/officeDocument/2006/relationships" id="263" r:id="R093d6d03e63c448a"/>
    <p:sldId xmlns:r="http://schemas.openxmlformats.org/officeDocument/2006/relationships" id="264" r:id="R6b4b595e10d54c5b"/>
    <p:sldId xmlns:r="http://schemas.openxmlformats.org/officeDocument/2006/relationships" id="265" r:id="Rda4e56f042504ff4"/>
    <p:sldId xmlns:r="http://schemas.openxmlformats.org/officeDocument/2006/relationships" id="266" r:id="R6a7457b0398043fb"/>
    <p:sldId xmlns:r="http://schemas.openxmlformats.org/officeDocument/2006/relationships" id="267" r:id="R04418b59843f4113"/>
    <p:sldId xmlns:r="http://schemas.openxmlformats.org/officeDocument/2006/relationships" id="268" r:id="R7b2bd97c51774b53"/>
    <p:sldId xmlns:r="http://schemas.openxmlformats.org/officeDocument/2006/relationships" id="269" r:id="Re95a811d3ce44b18"/>
    <p:sldId xmlns:r="http://schemas.openxmlformats.org/officeDocument/2006/relationships" id="270" r:id="Rf757c57edd12480a"/>
    <p:sldId xmlns:r="http://schemas.openxmlformats.org/officeDocument/2006/relationships" id="271" r:id="Re4040688289f4fdd"/>
    <p:sldId xmlns:r="http://schemas.openxmlformats.org/officeDocument/2006/relationships" id="272" r:id="R6628301d992f4c9c"/>
    <p:sldId xmlns:r="http://schemas.openxmlformats.org/officeDocument/2006/relationships" id="273" r:id="Reebbe893b54c4ba3"/>
    <p:sldId xmlns:r="http://schemas.openxmlformats.org/officeDocument/2006/relationships" id="274" r:id="Rbb18a383cd234b02"/>
    <p:sldId xmlns:r="http://schemas.openxmlformats.org/officeDocument/2006/relationships" id="275" r:id="Ra24d1c461aa14ae0"/>
    <p:sldId xmlns:r="http://schemas.openxmlformats.org/officeDocument/2006/relationships" id="276" r:id="Rcd023609e66f4f7b"/>
    <p:sldId xmlns:r="http://schemas.openxmlformats.org/officeDocument/2006/relationships" id="277" r:id="Rd62ce6d6c16f4eb1"/>
    <p:sldId xmlns:r="http://schemas.openxmlformats.org/officeDocument/2006/relationships" id="278" r:id="R13175588f6f34597"/>
    <p:sldId xmlns:r="http://schemas.openxmlformats.org/officeDocument/2006/relationships" id="279" r:id="Rd2966839daf04874"/>
    <p:sldId xmlns:r="http://schemas.openxmlformats.org/officeDocument/2006/relationships" id="280" r:id="Rff1fab03cde641dc"/>
    <p:sldId xmlns:r="http://schemas.openxmlformats.org/officeDocument/2006/relationships" id="281" r:id="Ra1f8e9db8c2944b9"/>
    <p:sldId xmlns:r="http://schemas.openxmlformats.org/officeDocument/2006/relationships" id="282" r:id="Rf2472f46e85e44ea"/>
    <p:sldId xmlns:r="http://schemas.openxmlformats.org/officeDocument/2006/relationships" id="283" r:id="R4a8eed2a87414d24"/>
    <p:sldId xmlns:r="http://schemas.openxmlformats.org/officeDocument/2006/relationships" id="284" r:id="Rdcdcf1a148684889"/>
    <p:sldId xmlns:r="http://schemas.openxmlformats.org/officeDocument/2006/relationships" id="285" r:id="R6aec01f8f1524e31"/>
    <p:sldId xmlns:r="http://schemas.openxmlformats.org/officeDocument/2006/relationships" id="286" r:id="R781733b5ab274b5e"/>
    <p:sldId xmlns:r="http://schemas.openxmlformats.org/officeDocument/2006/relationships" id="287" r:id="R00475e232107468a"/>
    <p:sldId xmlns:r="http://schemas.openxmlformats.org/officeDocument/2006/relationships" id="288" r:id="R6f560ea4adbf4a5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dfd139930449c0" /><Relationship Type="http://schemas.openxmlformats.org/officeDocument/2006/relationships/slideMaster" Target="/ppt/slideMasters/slideMaster1.xml" Id="R8ea5b594c2f7426c" /><Relationship Type="http://schemas.openxmlformats.org/officeDocument/2006/relationships/notesMaster" Target="/ppt/notesMasters/notesMaster1.xml" Id="R5d8745db465640ba" /><Relationship Type="http://schemas.openxmlformats.org/officeDocument/2006/relationships/presProps" Target="/ppt/presProps.xml" Id="Rf6e81ea4d5d44ec2" /><Relationship Type="http://schemas.openxmlformats.org/officeDocument/2006/relationships/tableStyles" Target="/ppt/tableStyles.xml" Id="R57914eff9a1a49a5" /><Relationship Type="http://schemas.openxmlformats.org/officeDocument/2006/relationships/slide" Target="/ppt/slides/slide1.xml" Id="R6bb9c93553584d9a" /><Relationship Type="http://schemas.openxmlformats.org/officeDocument/2006/relationships/slide" Target="/ppt/slides/slide2.xml" Id="R8d453ec22dc446f2" /><Relationship Type="http://schemas.openxmlformats.org/officeDocument/2006/relationships/slide" Target="/ppt/slides/slide3.xml" Id="R75f37171118d413f" /><Relationship Type="http://schemas.openxmlformats.org/officeDocument/2006/relationships/slide" Target="/ppt/slides/slide4.xml" Id="Rce0ad0e5d1b74a6b" /><Relationship Type="http://schemas.openxmlformats.org/officeDocument/2006/relationships/slide" Target="/ppt/slides/slide5.xml" Id="Rdd89124457da4089" /><Relationship Type="http://schemas.openxmlformats.org/officeDocument/2006/relationships/slide" Target="/ppt/slides/slide6.xml" Id="R7a4c16f8983e40dc" /><Relationship Type="http://schemas.openxmlformats.org/officeDocument/2006/relationships/slide" Target="/ppt/slides/slide7.xml" Id="Re181514c572548e3" /><Relationship Type="http://schemas.openxmlformats.org/officeDocument/2006/relationships/slide" Target="/ppt/slides/slide8.xml" Id="R093d6d03e63c448a" /><Relationship Type="http://schemas.openxmlformats.org/officeDocument/2006/relationships/slide" Target="/ppt/slides/slide9.xml" Id="R6b4b595e10d54c5b" /><Relationship Type="http://schemas.openxmlformats.org/officeDocument/2006/relationships/slide" Target="/ppt/slides/slide10.xml" Id="Rda4e56f042504ff4" /><Relationship Type="http://schemas.openxmlformats.org/officeDocument/2006/relationships/slide" Target="/ppt/slides/slide11.xml" Id="R6a7457b0398043fb" /><Relationship Type="http://schemas.openxmlformats.org/officeDocument/2006/relationships/slide" Target="/ppt/slides/slide12.xml" Id="R04418b59843f4113" /><Relationship Type="http://schemas.openxmlformats.org/officeDocument/2006/relationships/slide" Target="/ppt/slides/slide13.xml" Id="R7b2bd97c51774b53" /><Relationship Type="http://schemas.openxmlformats.org/officeDocument/2006/relationships/slide" Target="/ppt/slides/slide14.xml" Id="Re95a811d3ce44b18" /><Relationship Type="http://schemas.openxmlformats.org/officeDocument/2006/relationships/slide" Target="/ppt/slides/slide15.xml" Id="Rf757c57edd12480a" /><Relationship Type="http://schemas.openxmlformats.org/officeDocument/2006/relationships/slide" Target="/ppt/slides/slide16.xml" Id="Re4040688289f4fdd" /><Relationship Type="http://schemas.openxmlformats.org/officeDocument/2006/relationships/slide" Target="/ppt/slides/slide17.xml" Id="R6628301d992f4c9c" /><Relationship Type="http://schemas.openxmlformats.org/officeDocument/2006/relationships/slide" Target="/ppt/slides/slide18.xml" Id="Reebbe893b54c4ba3" /><Relationship Type="http://schemas.openxmlformats.org/officeDocument/2006/relationships/slide" Target="/ppt/slides/slide19.xml" Id="Rbb18a383cd234b02" /><Relationship Type="http://schemas.openxmlformats.org/officeDocument/2006/relationships/slide" Target="/ppt/slides/slide20.xml" Id="Ra24d1c461aa14ae0" /><Relationship Type="http://schemas.openxmlformats.org/officeDocument/2006/relationships/slide" Target="/ppt/slides/slide21.xml" Id="Rcd023609e66f4f7b" /><Relationship Type="http://schemas.openxmlformats.org/officeDocument/2006/relationships/slide" Target="/ppt/slides/slide22.xml" Id="Rd62ce6d6c16f4eb1" /><Relationship Type="http://schemas.openxmlformats.org/officeDocument/2006/relationships/slide" Target="/ppt/slides/slide23.xml" Id="R13175588f6f34597" /><Relationship Type="http://schemas.openxmlformats.org/officeDocument/2006/relationships/slide" Target="/ppt/slides/slide24.xml" Id="Rd2966839daf04874" /><Relationship Type="http://schemas.openxmlformats.org/officeDocument/2006/relationships/slide" Target="/ppt/slides/slide25.xml" Id="Rff1fab03cde641dc" /><Relationship Type="http://schemas.openxmlformats.org/officeDocument/2006/relationships/slide" Target="/ppt/slides/slide26.xml" Id="Ra1f8e9db8c2944b9" /><Relationship Type="http://schemas.openxmlformats.org/officeDocument/2006/relationships/slide" Target="/ppt/slides/slide27.xml" Id="Rf2472f46e85e44ea" /><Relationship Type="http://schemas.openxmlformats.org/officeDocument/2006/relationships/slide" Target="/ppt/slides/slide28.xml" Id="R4a8eed2a87414d24" /><Relationship Type="http://schemas.openxmlformats.org/officeDocument/2006/relationships/slide" Target="/ppt/slides/slide29.xml" Id="Rdcdcf1a148684889" /><Relationship Type="http://schemas.openxmlformats.org/officeDocument/2006/relationships/slide" Target="/ppt/slides/slide30.xml" Id="R6aec01f8f1524e31" /><Relationship Type="http://schemas.openxmlformats.org/officeDocument/2006/relationships/slide" Target="/ppt/slides/slide31.xml" Id="R781733b5ab274b5e" /><Relationship Type="http://schemas.openxmlformats.org/officeDocument/2006/relationships/slide" Target="/ppt/slides/slide32.xml" Id="R00475e232107468a" /><Relationship Type="http://schemas.openxmlformats.org/officeDocument/2006/relationships/slide" Target="/ppt/slides/slide33.xml" Id="R6f560ea4adbf4a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23a80b2d034d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be1bb00b494cf0" /><Relationship Type="http://schemas.openxmlformats.org/officeDocument/2006/relationships/notesMaster" Target="/ppt/notesMasters/notesMaster1.xml" Id="R60a84598632249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62640e94a34acc" /><Relationship Type="http://schemas.openxmlformats.org/officeDocument/2006/relationships/notesMaster" Target="/ppt/notesMasters/notesMaster1.xml" Id="R9489d172145c45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8743f0662d4254" /><Relationship Type="http://schemas.openxmlformats.org/officeDocument/2006/relationships/notesMaster" Target="/ppt/notesMasters/notesMaster1.xml" Id="R235cc7d4df5049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0c122b06894e2b" /><Relationship Type="http://schemas.openxmlformats.org/officeDocument/2006/relationships/notesMaster" Target="/ppt/notesMasters/notesMaster1.xml" Id="R45e3e6fc385047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0f49c9fbc74e52" /><Relationship Type="http://schemas.openxmlformats.org/officeDocument/2006/relationships/notesMaster" Target="/ppt/notesMasters/notesMaster1.xml" Id="R53883348bc6b43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ba33334d564037" /><Relationship Type="http://schemas.openxmlformats.org/officeDocument/2006/relationships/notesMaster" Target="/ppt/notesMasters/notesMaster1.xml" Id="R91d32f8a8a1c4a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96123d1a7f4c32" /><Relationship Type="http://schemas.openxmlformats.org/officeDocument/2006/relationships/notesMaster" Target="/ppt/notesMasters/notesMaster1.xml" Id="Rf92d933c9d2546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eed97d99fa4fbd" /><Relationship Type="http://schemas.openxmlformats.org/officeDocument/2006/relationships/notesMaster" Target="/ppt/notesMasters/notesMaster1.xml" Id="Rfa374a95cca548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764cbf4bc94a37" /><Relationship Type="http://schemas.openxmlformats.org/officeDocument/2006/relationships/notesMaster" Target="/ppt/notesMasters/notesMaster1.xml" Id="Rab69f070b4754c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9bfc4ddab84606" /><Relationship Type="http://schemas.openxmlformats.org/officeDocument/2006/relationships/notesMaster" Target="/ppt/notesMasters/notesMaster1.xml" Id="Rd141ae5fcf694e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a3a0cee66f400e" /><Relationship Type="http://schemas.openxmlformats.org/officeDocument/2006/relationships/notesMaster" Target="/ppt/notesMasters/notesMaster1.xml" Id="Ra0c9480d25834a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8499e777904eed" /><Relationship Type="http://schemas.openxmlformats.org/officeDocument/2006/relationships/notesMaster" Target="/ppt/notesMasters/notesMaster1.xml" Id="R1338e61db6f045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6e303211fe945b2" /><Relationship Type="http://schemas.openxmlformats.org/officeDocument/2006/relationships/notesMaster" Target="/ppt/notesMasters/notesMaster1.xml" Id="R0a5e69b2974a41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83c8f1ae6e448a8" /><Relationship Type="http://schemas.openxmlformats.org/officeDocument/2006/relationships/notesMaster" Target="/ppt/notesMasters/notesMaster1.xml" Id="Rbe47dd2567c24b9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c8c7581d15c479e" /><Relationship Type="http://schemas.openxmlformats.org/officeDocument/2006/relationships/notesMaster" Target="/ppt/notesMasters/notesMaster1.xml" Id="R863ef99d9eef4a6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551c9fd369347de" /><Relationship Type="http://schemas.openxmlformats.org/officeDocument/2006/relationships/notesMaster" Target="/ppt/notesMasters/notesMaster1.xml" Id="Rd8c99c4c50b84de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56fc265a42142bb" /><Relationship Type="http://schemas.openxmlformats.org/officeDocument/2006/relationships/notesMaster" Target="/ppt/notesMasters/notesMaster1.xml" Id="R1b033f9cfba343d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d828d2a0f704174" /><Relationship Type="http://schemas.openxmlformats.org/officeDocument/2006/relationships/notesMaster" Target="/ppt/notesMasters/notesMaster1.xml" Id="R319b95b04d894de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86ae89b7dcb456a" /><Relationship Type="http://schemas.openxmlformats.org/officeDocument/2006/relationships/notesMaster" Target="/ppt/notesMasters/notesMaster1.xml" Id="Re47f61d51b5e4de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bfdea7d738a46c4" /><Relationship Type="http://schemas.openxmlformats.org/officeDocument/2006/relationships/notesMaster" Target="/ppt/notesMasters/notesMaster1.xml" Id="Rbbac7a3296d9418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1786995abe344c9" /><Relationship Type="http://schemas.openxmlformats.org/officeDocument/2006/relationships/notesMaster" Target="/ppt/notesMasters/notesMaster1.xml" Id="R4579be59908d446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f7632d9ffcf40a5" /><Relationship Type="http://schemas.openxmlformats.org/officeDocument/2006/relationships/notesMaster" Target="/ppt/notesMasters/notesMaster1.xml" Id="R89150fa9284d425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afd8183d33b42d2" /><Relationship Type="http://schemas.openxmlformats.org/officeDocument/2006/relationships/notesMaster" Target="/ppt/notesMasters/notesMaster1.xml" Id="R7edc330cd4dd4de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b585b8e5731439c" /><Relationship Type="http://schemas.openxmlformats.org/officeDocument/2006/relationships/notesMaster" Target="/ppt/notesMasters/notesMaster1.xml" Id="R034e107d82c84cf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4abff03cff846a1" /><Relationship Type="http://schemas.openxmlformats.org/officeDocument/2006/relationships/notesMaster" Target="/ppt/notesMasters/notesMaster1.xml" Id="R2bd6edfaae47410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9185b781c8e42a0" /><Relationship Type="http://schemas.openxmlformats.org/officeDocument/2006/relationships/notesMaster" Target="/ppt/notesMasters/notesMaster1.xml" Id="Rc30dbe667806438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48f3660da294b79" /><Relationship Type="http://schemas.openxmlformats.org/officeDocument/2006/relationships/notesMaster" Target="/ppt/notesMasters/notesMaster1.xml" Id="Rdda4ba23e6724a0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3af6ff8d88f4aba" /><Relationship Type="http://schemas.openxmlformats.org/officeDocument/2006/relationships/notesMaster" Target="/ppt/notesMasters/notesMaster1.xml" Id="R0e3ab035c9294d2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fa27f1cde56459c" /><Relationship Type="http://schemas.openxmlformats.org/officeDocument/2006/relationships/notesMaster" Target="/ppt/notesMasters/notesMaster1.xml" Id="R8da77471468c4a4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4ed79ea2d06469d" /><Relationship Type="http://schemas.openxmlformats.org/officeDocument/2006/relationships/notesMaster" Target="/ppt/notesMasters/notesMaster1.xml" Id="Rb8dfc09cd0514a0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ff2590e667443ea" /><Relationship Type="http://schemas.openxmlformats.org/officeDocument/2006/relationships/notesMaster" Target="/ppt/notesMasters/notesMaster1.xml" Id="R0d59dc2c82f94d6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471823a9bdc4a21" /><Relationship Type="http://schemas.openxmlformats.org/officeDocument/2006/relationships/notesMaster" Target="/ppt/notesMasters/notesMaster1.xml" Id="R20edc76edb66433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b0890a5949944d5" /><Relationship Type="http://schemas.openxmlformats.org/officeDocument/2006/relationships/notesMaster" Target="/ppt/notesMasters/notesMaster1.xml" Id="R964bf19535fb44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01 — Tổng quan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 ĐỐI CHIẾU</a:t>
            </a:r>
          </a:p>
          <a:p xmlns:a="http://schemas.openxmlformats.org/drawingml/2006/main">
            <a:r>
              <a:t>BaiTapTopic04.docx; README và báo cáo Lab01–Lab06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GỢI Ý THUYẾT TRÌNH</a:t>
            </a:r>
          </a:p>
          <a:p xmlns:a="http://schemas.openxmlformats.org/drawingml/2006/main">
            <a:r>
              <a:t>Mở đầu bằng luận điểm: sáu lỗi khác tên nhưng đều xuất hiện khi ứng dụng đặt niềm tin sai chỗ ở một ranh giới dữ liệu.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PHẠM VI</a:t>
            </a:r>
          </a:p>
          <a:p xmlns:a="http://schemas.openxmlformats.org/drawingml/2006/main">
            <a:r>
              <a:t>Chỉ trình diễn trên ứng dụng localhost cố ý có lỗi trong repository Topic04.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02 — Tổng quan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 ĐỐI CHIẾU</a:t>
            </a:r>
          </a:p>
          <a:p xmlns:a="http://schemas.openxmlformats.org/drawingml/2006/main">
            <a:r>
              <a:t>BaiTapTopic04.docx P003–P021; app/source của sáu lab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GỢI Ý THUYẾT TRÌNH</a:t>
            </a:r>
          </a:p>
          <a:p xmlns:a="http://schemas.openxmlformats.org/drawingml/2006/main">
            <a:r>
              <a:t>Dùng vòng đời dữ liệu làm khung đọc. Mỗi lab sẽ trả lời bốn câu: dữ liệu đến từ đâu, sink/quyết định nào tin nó, hậu quả gì, và bản vá gốc đặt ở đâu.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PHẠM VI</a:t>
            </a:r>
          </a:p>
          <a:p xmlns:a="http://schemas.openxmlformats.org/drawingml/2006/main">
            <a:r>
              <a:t>Chỉ trình diễn trên ứng dụng localhost cố ý có lỗi trong repository Topic04.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03 — Lab01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 ĐỐI CHIẾU</a:t>
            </a:r>
          </a:p>
          <a:p xmlns:a="http://schemas.openxmlformats.org/drawingml/2006/main">
            <a:r>
              <a:t>Lab01/app.py; Lab01/static/js/dom_vulnerable.js; report Lab01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GỢI Ý THUYẾT TRÌNH</a:t>
            </a:r>
          </a:p>
          <a:p xmlns:a="http://schemas.openxmlformats.org/drawingml/2006/main">
            <a:r>
              <a:t>Nhấn mạnh Stored nguy hiểm hơn vì payload tồn tại và phát lại cho nhiều nạn nhân. DOM XSS vẫn là XSS dù lỗi hoàn toàn ở client.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PHẠM VI</a:t>
            </a:r>
          </a:p>
          <a:p xmlns:a="http://schemas.openxmlformats.org/drawingml/2006/main">
            <a:r>
              <a:t>Chỉ trình diễn trên ứng dụng localhost cố ý có lỗi trong repository Topic04.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04 — Lab01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 ĐỐI CHIẾU</a:t>
            </a:r>
          </a:p>
          <a:p xmlns:a="http://schemas.openxmlformats.org/drawingml/2006/main">
            <a:r>
              <a:t>Lab01/app.py routes /vulnerable/search và /vulnerable/post/1/comments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GỢI Ý THUYẾT TRÌNH</a:t>
            </a:r>
          </a:p>
          <a:p xmlns:a="http://schemas.openxmlformats.org/drawingml/2006/main">
            <a:r>
              <a:t>Đọc hai sequence từ trái sang phải, sau đó chỉ ra bằng chứng Network cần chèn. Không coi validation đầu vào là thay thế cho output encoding.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PHẠM VI</a:t>
            </a:r>
          </a:p>
          <a:p xmlns:a="http://schemas.openxmlformats.org/drawingml/2006/main">
            <a:r>
              <a:t>Chỉ trình diễn trên ứng dụng localhost cố ý có lỗi trong repository Topic04.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05 — Lab01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 ĐỐI CHIẾU</a:t>
            </a:r>
          </a:p>
          <a:p xmlns:a="http://schemas.openxmlformats.org/drawingml/2006/main">
            <a:r>
              <a:t>Lab01/static/js/dom_vulnerable.js; Lab01/static/js/dom_secure.js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GỢI Ý THUYẾT TRÌNH</a:t>
            </a:r>
          </a:p>
          <a:p xmlns:a="http://schemas.openxmlformats.org/drawingml/2006/main">
            <a:r>
              <a:t>Đối chiếu đúng một dòng innerHTML và textContent. Fragment là source; DOM API là sink; server có thể không hề nhìn thấy payload.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PHẠM VI</a:t>
            </a:r>
          </a:p>
          <a:p xmlns:a="http://schemas.openxmlformats.org/drawingml/2006/main">
            <a:r>
              <a:t>Chỉ trình diễn trên ứng dụng localhost cố ý có lỗi trong repository Topic04.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06 — Lab01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 ĐỐI CHIẾU</a:t>
            </a:r>
          </a:p>
          <a:p xmlns:a="http://schemas.openxmlformats.org/drawingml/2006/main">
            <a:r>
              <a:t>Lab01/app.py secure routes; bleach.clean; CSP; static/js/dom_secure.js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GỢI Ý THUYẾT TRÌNH</a:t>
            </a:r>
          </a:p>
          <a:p xmlns:a="http://schemas.openxmlformats.org/drawingml/2006/main">
            <a:r>
              <a:t>Phân biệt bản vá nguyên nhân gốc với lớp bổ sung. CSP không biến innerHTML thành an toàn và validation không thể bao quát mọi ngữ cảnh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PHẠM VI</a:t>
            </a:r>
          </a:p>
          <a:p xmlns:a="http://schemas.openxmlformats.org/drawingml/2006/main">
            <a:r>
              <a:t>Chỉ trình diễn trên ứng dụng localhost cố ý có lỗi trong repository Topic04.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07 — Lab01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 ĐỐI CHIẾU</a:t>
            </a:r>
          </a:p>
          <a:p xmlns:a="http://schemas.openxmlformats.org/drawingml/2006/main">
            <a:r>
              <a:t>BaiTapTopic04.docx; report 21127645_LeMinh_Lab01_XSS.docx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GỢI Ý THUYẾT TRÌNH</a:t>
            </a:r>
          </a:p>
          <a:p xmlns:a="http://schemas.openxmlformats.org/drawingml/2006/main">
            <a:r>
              <a:t>Dùng slide như checklist trả lời báo cáo. Bằng chứng phải cho thấy cả vulnerable và secure, không chỉ popup alert.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PHẠM VI</a:t>
            </a:r>
          </a:p>
          <a:p xmlns:a="http://schemas.openxmlformats.org/drawingml/2006/main">
            <a:r>
              <a:t>Chỉ trình diễn trên ứng dụng localhost cố ý có lỗi trong repository Topic04.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08 — Lab02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 ĐỐI CHIẾU</a:t>
            </a:r>
          </a:p>
          <a:p xmlns:a="http://schemas.openxmlformats.org/drawingml/2006/main">
            <a:r>
              <a:t>Lab02/app.py; Lab02/native_runner.py; Lab02/native/vulnerable_processor.c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GỢI Ý THUYẾT TRÌNH</a:t>
            </a:r>
          </a:p>
          <a:p xmlns:a="http://schemas.openxmlformats.org/drawingml/2006/main">
            <a:r>
              <a:t>Giải thích tại sao một request web bình thường vẫn kích hoạt bug native. Scope lab dừng ở crash/quan sát bộ nhớ, không chuyển sang khai thác thực chiến.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PHẠM VI</a:t>
            </a:r>
          </a:p>
          <a:p xmlns:a="http://schemas.openxmlformats.org/drawingml/2006/main">
            <a:r>
              <a:t>Chỉ trình diễn trên ứng dụng localhost cố ý có lỗi trong repository Topic04.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09 — Lab02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 ĐỐI CHIẾU</a:t>
            </a:r>
          </a:p>
          <a:p xmlns:a="http://schemas.openxmlformats.org/drawingml/2006/main">
            <a:r>
              <a:t>Lab02/native/vulnerable_processor.c; NAME_BUFFER_SIZE=32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GỢI Ý THUYẾT TRÌNH</a:t>
            </a:r>
          </a:p>
          <a:p xmlns:a="http://schemas.openxmlformats.org/drawingml/2006/main">
            <a:r>
              <a:t>Không nói 32 ký tự dữ liệu hợp lệ: chuỗi C cần byte null. Hậu quả là undefined behavior, có thể crash hoặc phá hỏng control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PHẠM VI</a:t>
            </a:r>
          </a:p>
          <a:p xmlns:a="http://schemas.openxmlformats.org/drawingml/2006/main">
            <a:r>
              <a:t>Chỉ trình diễn trên ứng dụng localhost cố ý có lỗi trong repository Topic04.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10 — Lab02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 ĐỐI CHIẾU</a:t>
            </a:r>
          </a:p>
          <a:p xmlns:a="http://schemas.openxmlformats.org/drawingml/2006/main">
            <a:r>
              <a:t>Lab02/README.md; Lab02/gdb/README_GDB.md; screenshot manifest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GỢI Ý THUYẾT TRÌNH</a:t>
            </a:r>
          </a:p>
          <a:p xmlns:a="http://schemas.openxmlformats.org/drawingml/2006/main">
            <a:r>
              <a:t>Ảnh trái chứng minh payload thật; ảnh phải chứng minh bản secure từ chối cùng độ dài. Nếu native toolchain không chạy, ghi rõ giới hạn thay vì tạo bằng chứng giả.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PHẠM VI</a:t>
            </a:r>
          </a:p>
          <a:p xmlns:a="http://schemas.openxmlformats.org/drawingml/2006/main">
            <a:r>
              <a:t>Chỉ trình diễn trên ứng dụng localhost cố ý có lỗi trong repository Topic04.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11 — Lab02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 ĐỐI CHIẾU</a:t>
            </a:r>
          </a:p>
          <a:p xmlns:a="http://schemas.openxmlformats.org/drawingml/2006/main">
            <a:r>
              <a:t>Lab02/native/secure_length_processor.c; secure_snprintf_processor.c; Lab02/config.py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GỢI Ý THUYẾT TRÌNH</a:t>
            </a:r>
          </a:p>
          <a:p xmlns:a="http://schemas.openxmlformats.org/drawingml/2006/main">
            <a:r>
              <a:t>Request limit và input limit web vẫn lớn hơn buffer native; vì vậy phải giữ invariant ngay tại boundary gọi code 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PHẠM VI</a:t>
            </a:r>
          </a:p>
          <a:p xmlns:a="http://schemas.openxmlformats.org/drawingml/2006/main">
            <a:r>
              <a:t>Chỉ trình diễn trên ứng dụng localhost cố ý có lỗi trong repository Topic04.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12 — Lab02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 ĐỐI CHIẾU</a:t>
            </a:r>
          </a:p>
          <a:p xmlns:a="http://schemas.openxmlformats.org/drawingml/2006/main">
            <a:r>
              <a:t>Lab02/Makefile; BaiTapTopic04.docx; report Lab02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GỢI Ý THUYẾT TRÌNH</a:t>
            </a:r>
          </a:p>
          <a:p xmlns:a="http://schemas.openxmlformats.org/drawingml/2006/main">
            <a:r>
              <a:t>Trả lời trực tiếp năm câu hỏi báo cáo. Nhấn mạnh ASLR/NX/Canary có thể biến khai thác thành crash nhưng không làm strcpy an toàn.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PHẠM VI</a:t>
            </a:r>
          </a:p>
          <a:p xmlns:a="http://schemas.openxmlformats.org/drawingml/2006/main">
            <a:r>
              <a:t>Chỉ trình diễn trên ứng dụng localhost cố ý có lỗi trong repository Topic04.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13 — Lab03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 ĐỐI CHIẾU</a:t>
            </a:r>
          </a:p>
          <a:p xmlns:a="http://schemas.openxmlformats.org/drawingml/2006/main">
            <a:r>
              <a:t>Lab03/app.py; Lab03/services.py; Lab03/authorization.py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GỢI Ý THUYẾT TRÌNH</a:t>
            </a:r>
          </a:p>
          <a:p xmlns:a="http://schemas.openxmlformats.org/drawingml/2006/main">
            <a:r>
              <a:t>Tách validation kiểu/range khỏi authorization nghiệp vụ. Một integer đúng cú pháp vẫn có thể là object của người khác hoặc giá không hợp lệ.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PHẠM VI</a:t>
            </a:r>
          </a:p>
          <a:p xmlns:a="http://schemas.openxmlformats.org/drawingml/2006/main">
            <a:r>
              <a:t>Chỉ trình diễn trên ứng dụng localhost cố ý có lỗi trong repository Topic04.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14 — Lab03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 ĐỐI CHIẾU</a:t>
            </a:r>
          </a:p>
          <a:p xmlns:a="http://schemas.openxmlformats.org/drawingml/2006/main">
            <a:r>
              <a:t>Lab03/services.py vulnerable_checkout/secure_checkout; seed product 5 price 100000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GỢI Ý THUYẾT TRÌNH</a:t>
            </a:r>
          </a:p>
          <a:p xmlns:a="http://schemas.openxmlformats.org/drawingml/2006/main">
            <a:r>
              <a:t>Dùng cùng product_id=5, quantity=1 để đối chiếu. Client price chỉ là gợi ý hiển thị; quyết định tài chính phải dựa trên dữ liệu authoritative ở server.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PHẠM VI</a:t>
            </a:r>
          </a:p>
          <a:p xmlns:a="http://schemas.openxmlformats.org/drawingml/2006/main">
            <a:r>
              <a:t>Chỉ trình diễn trên ứng dụng localhost cố ý có lỗi trong repository Topic04.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15 — Lab03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 ĐỐI CHIẾU</a:t>
            </a:r>
          </a:p>
          <a:p xmlns:a="http://schemas.openxmlformats.org/drawingml/2006/main">
            <a:r>
              <a:t>Lab03/authorization.py authorize_invoice; seed invoices 1001/1002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GỢI Ý THUYẾT TRÌNH</a:t>
            </a:r>
          </a:p>
          <a:p xmlns:a="http://schemas.openxmlformats.org/drawingml/2006/main">
            <a:r>
              <a:t>IDOR thuộc Broken Access Control. Route secure phải kiểm tra ownership theo session identity hoặc quyền admin trước khi trả dữ liệu.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PHẠM VI</a:t>
            </a:r>
          </a:p>
          <a:p xmlns:a="http://schemas.openxmlformats.org/drawingml/2006/main">
            <a:r>
              <a:t>Chỉ trình diễn trên ứng dụng localhost cố ý có lỗi trong repository Topic04.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16 — Lab03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 ĐỐI CHIẾU</a:t>
            </a:r>
          </a:p>
          <a:p xmlns:a="http://schemas.openxmlformats.org/drawingml/2006/main">
            <a:r>
              <a:t>Lab03/services.py vulnerable_profile/secure_profile; authorization.py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GỢI Ý THUYẾT TRÌNH</a:t>
            </a:r>
          </a:p>
          <a:p xmlns:a="http://schemas.openxmlformats.org/drawingml/2006/main">
            <a:r>
              <a:t>Không chỉ blacklist role: dùng allowlist field cập nhật và identity từ session. Field nhạy cảm phải có command/route riêng với policy rõ ràng.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PHẠM VI</a:t>
            </a:r>
          </a:p>
          <a:p xmlns:a="http://schemas.openxmlformats.org/drawingml/2006/main">
            <a:r>
              <a:t>Chỉ trình diễn trên ứng dụng localhost cố ý có lỗi trong repository Topic04.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17 — Lab03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 ĐỐI CHIẾU</a:t>
            </a:r>
          </a:p>
          <a:p xmlns:a="http://schemas.openxmlformats.org/drawingml/2006/main">
            <a:r>
              <a:t>BaiTapTopic04.docx; report Lab03; source services/authorization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GỢI Ý THUYẾT TRÌNH</a:t>
            </a:r>
          </a:p>
          <a:p xmlns:a="http://schemas.openxmlformats.org/drawingml/2006/main">
            <a:r>
              <a:t>Trả lời năm câu hỏi bắt buộc và nối mỗi scenario với đúng control authoritative, không dừng ở validation định dạng.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PHẠM VI</a:t>
            </a:r>
          </a:p>
          <a:p xmlns:a="http://schemas.openxmlformats.org/drawingml/2006/main">
            <a:r>
              <a:t>Chỉ trình diễn trên ứng dụng localhost cố ý có lỗi trong repository Topic04.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18 — Lab04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 ĐỐI CHIẾU</a:t>
            </a:r>
          </a:p>
          <a:p xmlns:a="http://schemas.openxmlformats.org/drawingml/2006/main">
            <a:r>
              <a:t>Lab04/victim_app.py; attacker_app.py; report Lab04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GỢI Ý THUYẾT TRÌNH</a:t>
            </a:r>
          </a:p>
          <a:p xmlns:a="http://schemas.openxmlformats.org/drawingml/2006/main">
            <a:r>
              <a:t>Phân biệt CSRF và XSS: CSRF khiến browser gửi request có credential; XSS chạy code trong origin nạn nhân. SOP không ngăn gửi form cross-origin.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PHẠM VI</a:t>
            </a:r>
          </a:p>
          <a:p xmlns:a="http://schemas.openxmlformats.org/drawingml/2006/main">
            <a:r>
              <a:t>Chỉ trình diễn trên ứng dụng localhost cố ý có lỗi trong repository Topic04.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19 — Lab04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 ĐỐI CHIẾU</a:t>
            </a:r>
          </a:p>
          <a:p xmlns:a="http://schemas.openxmlformats.org/drawingml/2006/main">
            <a:r>
              <a:t>Lab04/attacker_templates/attack_page.html; victim_app.vulnerable_change_email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GỢI Ý THUYẾT TRÌNH</a:t>
            </a:r>
          </a:p>
          <a:p xmlns:a="http://schemas.openxmlformats.org/drawingml/2006/main">
            <a:r>
              <a:t>Demo attacker dùng nút gửi thủ công, không auto-submit. Chỉ thực hiện trên hai origin localhost đã cấu hình.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PHẠM VI</a:t>
            </a:r>
          </a:p>
          <a:p xmlns:a="http://schemas.openxmlformats.org/drawingml/2006/main">
            <a:r>
              <a:t>Chỉ trình diễn trên ứng dụng localhost cố ý có lỗi trong repository Topic04.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20 — Lab04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 ĐỐI CHIẾU</a:t>
            </a:r>
          </a:p>
          <a:p xmlns:a="http://schemas.openxmlformats.org/drawingml/2006/main">
            <a:r>
              <a:t>Lab04/victim_app.py; csrf_service.py; origin_service.py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GỢI Ý THUYẾT TRÌNH</a:t>
            </a:r>
          </a:p>
          <a:p xmlns:a="http://schemas.openxmlformats.org/drawingml/2006/main">
            <a:r>
              <a:t>Không hiển thị token thật trong slide/ảnh. Dùng request anatomy để chứng minh vì sao chỉ kiểm session là chưa đủ.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PHẠM VI</a:t>
            </a:r>
          </a:p>
          <a:p xmlns:a="http://schemas.openxmlformats.org/drawingml/2006/main">
            <a:r>
              <a:t>Chỉ trình diễn trên ứng dụng localhost cố ý có lỗi trong repository Topic04.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21 — Lab04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 ĐỐI CHIẾU</a:t>
            </a:r>
          </a:p>
          <a:p xmlns:a="http://schemas.openxmlformats.org/drawingml/2006/main">
            <a:r>
              <a:t>Lab04/csrf_service.py secrets.token_urlsafe(32), hmac.compare_digest; origin allowlist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GỢI Ý THUYẾT TRÌNH</a:t>
            </a:r>
          </a:p>
          <a:p xmlns:a="http://schemas.openxmlformats.org/drawingml/2006/main">
            <a:r>
              <a:t>Giải thích defense-in-depth. CAPTCHA không phải lớp chính; GET không được dùng cho state change vì dễ kích hoạt và có thể bị prefetch/cache/log.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PHẠM VI</a:t>
            </a:r>
          </a:p>
          <a:p xmlns:a="http://schemas.openxmlformats.org/drawingml/2006/main">
            <a:r>
              <a:t>Chỉ trình diễn trên ứng dụng localhost cố ý có lỗi trong repository Topic04.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22 — Lab04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 ĐỐI CHIẾU</a:t>
            </a:r>
          </a:p>
          <a:p xmlns:a="http://schemas.openxmlformats.org/drawingml/2006/main">
            <a:r>
              <a:t>BaiTapTopic04.docx; report Lab04; secure/vulnerable routes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GỢI Ý THUYẾT TRÌNH</a:t>
            </a:r>
          </a:p>
          <a:p xmlns:a="http://schemas.openxmlformats.org/drawingml/2006/main">
            <a:r>
              <a:t>Slide tổng hợp năm câu hỏi. Bằng chứng sau vá phải cho thấy 403 và trạng thái email không đổi.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PHẠM VI</a:t>
            </a:r>
          </a:p>
          <a:p xmlns:a="http://schemas.openxmlformats.org/drawingml/2006/main">
            <a:r>
              <a:t>Chỉ trình diễn trên ứng dụng localhost cố ý có lỗi trong repository Topic04.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23 — Lab05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 ĐỐI CHIẾU</a:t>
            </a:r>
          </a:p>
          <a:p xmlns:a="http://schemas.openxmlformats.org/drawingml/2006/main">
            <a:r>
              <a:t>Lab05/vulnerable_queries.py; Lab05/secure_queries.py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GỢI Ý THUYẾT TRÌNH</a:t>
            </a:r>
          </a:p>
          <a:p xmlns:a="http://schemas.openxmlformats.org/drawingml/2006/main">
            <a:r>
              <a:t>SQLi không nằm ở dấu nháy đơn tự thân mà ở API xây query. Prepared statement tách cấu trúc SQL khỏi giá trị binding.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PHẠM VI</a:t>
            </a:r>
          </a:p>
          <a:p xmlns:a="http://schemas.openxmlformats.org/drawingml/2006/main">
            <a:r>
              <a:t>Chỉ trình diễn trên ứng dụng localhost cố ý có lỗi trong repository Topic04.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24 — Lab05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 ĐỐI CHIẾU</a:t>
            </a:r>
          </a:p>
          <a:p xmlns:a="http://schemas.openxmlformats.org/drawingml/2006/main">
            <a:r>
              <a:t>Lab05/config.py AUTH_LOGIC_INPUT; vulnerable login route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GỢI Ý THUYẾT TRÌNH</a:t>
            </a:r>
          </a:p>
          <a:p xmlns:a="http://schemas.openxmlformats.org/drawingml/2006/main">
            <a:r>
              <a:t>Dùng đúng payload repo. Mục tiêu là thấy transformation của WHERE, không phải mở rộng kỹ thuật khai thác.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PHẠM VI</a:t>
            </a:r>
          </a:p>
          <a:p xmlns:a="http://schemas.openxmlformats.org/drawingml/2006/main">
            <a:r>
              <a:t>Chỉ trình diễn trên ứng dụng localhost cố ý có lỗi trong repository Topic04.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25 — Lab05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 ĐỐI CHIẾU</a:t>
            </a:r>
          </a:p>
          <a:p xmlns:a="http://schemas.openxmlformats.org/drawingml/2006/main">
            <a:r>
              <a:t>Lab05/config.py SEARCH_EXPANDED_INPUT; vulnerable_queries.py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GỢI Ý THUYẾT TRÌNH</a:t>
            </a:r>
          </a:p>
          <a:p xmlns:a="http://schemas.openxmlformats.org/drawingml/2006/main">
            <a:r>
              <a:t>So sánh baseline USB và payload cố định. Không biến demo thành khai thác dữ liệu tùy ý; giữ phạm vi SELECT-only trên dataset lab.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PHẠM VI</a:t>
            </a:r>
          </a:p>
          <a:p xmlns:a="http://schemas.openxmlformats.org/drawingml/2006/main">
            <a:r>
              <a:t>Chỉ trình diễn trên ứng dụng localhost cố ý có lỗi trong repository Topic04.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26 — Lab05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 ĐỐI CHIẾU</a:t>
            </a:r>
          </a:p>
          <a:p xmlns:a="http://schemas.openxmlformats.org/drawingml/2006/main">
            <a:r>
              <a:t>Lab05/secure_queries.py; auth_service.py; seed PBKDF2 600000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GỢI Ý THUYẾT TRÌNH</a:t>
            </a:r>
          </a:p>
          <a:p xmlns:a="http://schemas.openxmlformats.org/drawingml/2006/main">
            <a:r>
              <a:t>Escaping thủ công dễ sai theo dialect/ngữ cảnh. ORM chỉ an toàn khi không quay lại raw string concatenation.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PHẠM VI</a:t>
            </a:r>
          </a:p>
          <a:p xmlns:a="http://schemas.openxmlformats.org/drawingml/2006/main">
            <a:r>
              <a:t>Chỉ trình diễn trên ứng dụng localhost cố ý có lỗi trong repository Topic04.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27 — Lab05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 ĐỐI CHIẾU</a:t>
            </a:r>
          </a:p>
          <a:p xmlns:a="http://schemas.openxmlformats.org/drawingml/2006/main">
            <a:r>
              <a:t>BaiTapTopic04.docx; report Lab05; secure/vulnerable query source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GỢI Ý THUYẾT TRÌNH</a:t>
            </a:r>
          </a:p>
          <a:p xmlns:a="http://schemas.openxmlformats.org/drawingml/2006/main">
            <a:r>
              <a:t>Trả lời năm câu hỏi và nhắc lại retest cùng payload là bằng chứng tốt nhất cho bản vá.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PHẠM VI</a:t>
            </a:r>
          </a:p>
          <a:p xmlns:a="http://schemas.openxmlformats.org/drawingml/2006/main">
            <a:r>
              <a:t>Chỉ trình diễn trên ứng dụng localhost cố ý có lỗi trong repository Topic04.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28 — Lab06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 ĐỐI CHIẾU</a:t>
            </a:r>
          </a:p>
          <a:p xmlns:a="http://schemas.openxmlformats.org/drawingml/2006/main">
            <a:r>
              <a:t>Lab06/app.py; cookie_service.py; seed.py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GỢI Ý THUYẾT TRÌNH</a:t>
            </a:r>
          </a:p>
          <a:p xmlns:a="http://schemas.openxmlformats.org/drawingml/2006/main">
            <a:r>
              <a:t>Cookie flags không làm role client trở thành authoritative. Phân biệt poisoning với hijacking để chọn defense đúng.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PHẠM VI</a:t>
            </a:r>
          </a:p>
          <a:p xmlns:a="http://schemas.openxmlformats.org/drawingml/2006/main">
            <a:r>
              <a:t>Chỉ trình diễn trên ứng dụng localhost cố ý có lỗi trong repository Topic04.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29 — Lab06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 ĐỐI CHIẾU</a:t>
            </a:r>
          </a:p>
          <a:p xmlns:a="http://schemas.openxmlformats.org/drawingml/2006/main">
            <a:r>
              <a:t>Lab06/app.py vulnerable plain cookie; HUONG_DAN_CHUP_ANH.md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GỢI Ý THUYẾT TRÌNH</a:t>
            </a:r>
          </a:p>
          <a:p xmlns:a="http://schemas.openxmlformats.org/drawingml/2006/main">
            <a:r>
              <a:t>Dùng tài khoản student và chỉ sửa lab06_role. Không công bố giá trị session hoặc token dài trong ảnh.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PHẠM VI</a:t>
            </a:r>
          </a:p>
          <a:p xmlns:a="http://schemas.openxmlformats.org/drawingml/2006/main">
            <a:r>
              <a:t>Chỉ trình diễn trên ứng dụng localhost cố ý có lỗi trong repository Topic04.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30 — Lab06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 ĐỐI CHIẾU</a:t>
            </a:r>
          </a:p>
          <a:p xmlns:a="http://schemas.openxmlformats.org/drawingml/2006/main">
            <a:r>
              <a:t>Lab06/base64_cookie_service.py; signed_cookie_service.py; encrypted_cookie_service.py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GỢI Ý THUYẾT TRÌNH</a:t>
            </a:r>
          </a:p>
          <a:p xmlns:a="http://schemas.openxmlformats.org/drawingml/2006/main">
            <a:r>
              <a:t>Base64 không có secret và không có MAC. Signed cookie bảo vệ integrity nhưng vẫn lộ payload; encryption mới bảo vệ confidentiality khi triển khai đúng.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PHẠM VI</a:t>
            </a:r>
          </a:p>
          <a:p xmlns:a="http://schemas.openxmlformats.org/drawingml/2006/main">
            <a:r>
              <a:t>Chỉ trình diễn trên ứng dụng localhost cố ý có lỗi trong repository Topic04.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31 — Lab06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 ĐỐI CHIẾU</a:t>
            </a:r>
          </a:p>
          <a:p xmlns:a="http://schemas.openxmlformats.org/drawingml/2006/main">
            <a:r>
              <a:t>Lab06/server_session_service.py; authorization_service.py; signed cookie BadData handling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GỢI Ý THUYẾT TRÌNH</a:t>
            </a:r>
          </a:p>
          <a:p xmlns:a="http://schemas.openxmlformats.org/drawingml/2006/main">
            <a:r>
              <a:t>Rotate khi login, revoke khi logout, và đọc role từ DB ở mỗi quyết định. Trên localhost HTTP, Secure=false là cấu hình demo có chủ đích.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PHẠM VI</a:t>
            </a:r>
          </a:p>
          <a:p xmlns:a="http://schemas.openxmlformats.org/drawingml/2006/main">
            <a:r>
              <a:t>Chỉ trình diễn trên ứng dụng localhost cố ý có lỗi trong repository Topic04.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32 — Lab06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 ĐỐI CHIẾU</a:t>
            </a:r>
          </a:p>
          <a:p xmlns:a="http://schemas.openxmlformats.org/drawingml/2006/main">
            <a:r>
              <a:t>BaiTapTopic04.docx; report Lab06; cookie/session services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GỢI Ý THUYẾT TRÌNH</a:t>
            </a:r>
          </a:p>
          <a:p xmlns:a="http://schemas.openxmlformats.org/drawingml/2006/main">
            <a:r>
              <a:t>Dùng matrix để trả lời câu hỏi về confidentiality, integrity và revocation. Kết luận không đổi: authorization phải dựa vào server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PHẠM VI</a:t>
            </a:r>
          </a:p>
          <a:p xmlns:a="http://schemas.openxmlformats.org/drawingml/2006/main">
            <a:r>
              <a:t>Chỉ trình diễn trên ứng dụng localhost cố ý có lỗi trong repository Topic04.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33 — Tổng kết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NGUỒN ĐỐI CHIẾU</a:t>
            </a:r>
          </a:p>
          <a:p xmlns:a="http://schemas.openxmlformats.org/drawingml/2006/main">
            <a:r>
              <a:t>BaiTapTopic04.docx P527–P534; toàn bộ source/report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GỢI Ý THUYẾT TRÌNH</a:t>
            </a:r>
          </a:p>
          <a:p xmlns:a="http://schemas.openxmlformats.org/drawingml/2006/main">
            <a:r>
              <a:t>Kết lại bằng quy trình bảy bước và một câu chung: dữ liệu client không trở thành đáng tin chỉ vì đã đi qua UI, cookie, hidden field hay HTTP hợp lệ.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PHẠM VI</a:t>
            </a:r>
          </a:p>
          <a:p xmlns:a="http://schemas.openxmlformats.org/drawingml/2006/main">
            <a:r>
              <a:t>Chỉ trình diễn trên ứng dụng localhost cố ý có lỗi trong repository Topic04.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5aad31c3274a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189c124bff41e8" /><Relationship Type="http://schemas.openxmlformats.org/officeDocument/2006/relationships/slideLayout" Target="/ppt/slideLayouts/slideLayout1.xml" Id="Rafb876dfcad44a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b876dfcad44a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27b6a7eee4e94" /><Relationship Type="http://schemas.openxmlformats.org/officeDocument/2006/relationships/notesSlide" Target="/ppt/notesSlides/notesSlide1.xml" Id="R67cebaa16ced47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5f43fd78741b4" /><Relationship Type="http://schemas.openxmlformats.org/officeDocument/2006/relationships/notesSlide" Target="/ppt/notesSlides/notesSlide2.xml" Id="Rd40960b4639747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8f4a9a5d84d4c" /><Relationship Type="http://schemas.openxmlformats.org/officeDocument/2006/relationships/notesSlide" Target="/ppt/notesSlides/notesSlide3.xml" Id="R9e9ab18952e947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1fa437b464630" /><Relationship Type="http://schemas.openxmlformats.org/officeDocument/2006/relationships/notesSlide" Target="/ppt/notesSlides/notesSlide4.xml" Id="Rdb8d0d69663d43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c13926f2b4d43" /><Relationship Type="http://schemas.openxmlformats.org/officeDocument/2006/relationships/notesSlide" Target="/ppt/notesSlides/notesSlide5.xml" Id="Rfb2b41b2aa514f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4b8f50e244653" /><Relationship Type="http://schemas.openxmlformats.org/officeDocument/2006/relationships/notesSlide" Target="/ppt/notesSlides/notesSlide6.xml" Id="R570686402a8640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07b20aa754135" /><Relationship Type="http://schemas.openxmlformats.org/officeDocument/2006/relationships/notesSlide" Target="/ppt/notesSlides/notesSlide7.xml" Id="R549dab8e34b247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aa1542cc347d8" /><Relationship Type="http://schemas.openxmlformats.org/officeDocument/2006/relationships/notesSlide" Target="/ppt/notesSlides/notesSlide8.xml" Id="Rdba7f5554eb647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acb1d32d24c17" /><Relationship Type="http://schemas.openxmlformats.org/officeDocument/2006/relationships/notesSlide" Target="/ppt/notesSlides/notesSlide9.xml" Id="Re9cbb022489748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b0a6ef2334a0b" /><Relationship Type="http://schemas.openxmlformats.org/officeDocument/2006/relationships/notesSlide" Target="/ppt/notesSlides/notesSlide10.xml" Id="R3a87ea8f05c143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07f5b3aa944c7" /><Relationship Type="http://schemas.openxmlformats.org/officeDocument/2006/relationships/notesSlide" Target="/ppt/notesSlides/notesSlide11.xml" Id="R2919326223b94d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1bc6990044c9d" /><Relationship Type="http://schemas.openxmlformats.org/officeDocument/2006/relationships/notesSlide" Target="/ppt/notesSlides/notesSlide12.xml" Id="Rda2e63af26684c8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31afe7f0540d5" /><Relationship Type="http://schemas.openxmlformats.org/officeDocument/2006/relationships/notesSlide" Target="/ppt/notesSlides/notesSlide13.xml" Id="Rbe5d52be001a4c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7cd93dd344f13" /><Relationship Type="http://schemas.openxmlformats.org/officeDocument/2006/relationships/notesSlide" Target="/ppt/notesSlides/notesSlide14.xml" Id="R1562ab4a57634e4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f6608a5154c43" /><Relationship Type="http://schemas.openxmlformats.org/officeDocument/2006/relationships/notesSlide" Target="/ppt/notesSlides/notesSlide15.xml" Id="R9848728cb72f404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fe08ef20b4f16" /><Relationship Type="http://schemas.openxmlformats.org/officeDocument/2006/relationships/notesSlide" Target="/ppt/notesSlides/notesSlide16.xml" Id="Rc4ee916ada71476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e48fffcb041f4" /><Relationship Type="http://schemas.openxmlformats.org/officeDocument/2006/relationships/notesSlide" Target="/ppt/notesSlides/notesSlide17.xml" Id="Rc9597741375d49e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1ba4453284cd9" /><Relationship Type="http://schemas.openxmlformats.org/officeDocument/2006/relationships/notesSlide" Target="/ppt/notesSlides/notesSlide18.xml" Id="R9fbac437d7cb41c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52b7291074077" /><Relationship Type="http://schemas.openxmlformats.org/officeDocument/2006/relationships/notesSlide" Target="/ppt/notesSlides/notesSlide19.xml" Id="R2f0befb1be394d6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d639ffff14559" /><Relationship Type="http://schemas.openxmlformats.org/officeDocument/2006/relationships/notesSlide" Target="/ppt/notesSlides/notesSlide20.xml" Id="Rc95a154cae514b1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402d68b724398" /><Relationship Type="http://schemas.openxmlformats.org/officeDocument/2006/relationships/notesSlide" Target="/ppt/notesSlides/notesSlide21.xml" Id="R1a4678dd0997408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55e2b38cf48a7" /><Relationship Type="http://schemas.openxmlformats.org/officeDocument/2006/relationships/notesSlide" Target="/ppt/notesSlides/notesSlide22.xml" Id="R616fdfc4cd7a486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537bce6554be6" /><Relationship Type="http://schemas.openxmlformats.org/officeDocument/2006/relationships/notesSlide" Target="/ppt/notesSlides/notesSlide23.xml" Id="R84574412284b41d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6ab30356c4f1c" /><Relationship Type="http://schemas.openxmlformats.org/officeDocument/2006/relationships/notesSlide" Target="/ppt/notesSlides/notesSlide24.xml" Id="Rff525a064bd24e0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da0f9b0be42b3" /><Relationship Type="http://schemas.openxmlformats.org/officeDocument/2006/relationships/notesSlide" Target="/ppt/notesSlides/notesSlide25.xml" Id="Rb0bdaa12f8954fd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a5a595139422a" /><Relationship Type="http://schemas.openxmlformats.org/officeDocument/2006/relationships/notesSlide" Target="/ppt/notesSlides/notesSlide26.xml" Id="Rb747419441c74fc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1c805d4834733" /><Relationship Type="http://schemas.openxmlformats.org/officeDocument/2006/relationships/notesSlide" Target="/ppt/notesSlides/notesSlide27.xml" Id="Rd265060a80d3413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ee4c5079c4615" /><Relationship Type="http://schemas.openxmlformats.org/officeDocument/2006/relationships/notesSlide" Target="/ppt/notesSlides/notesSlide28.xml" Id="Rd224381ee74e4b5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01055fabe4133" /><Relationship Type="http://schemas.openxmlformats.org/officeDocument/2006/relationships/notesSlide" Target="/ppt/notesSlides/notesSlide29.xml" Id="R5b7866dce9e84bb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da06e25c64c3e" /><Relationship Type="http://schemas.openxmlformats.org/officeDocument/2006/relationships/notesSlide" Target="/ppt/notesSlides/notesSlide30.xml" Id="R27e6e4ae731d4f9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ca0d90e314161" /><Relationship Type="http://schemas.openxmlformats.org/officeDocument/2006/relationships/notesSlide" Target="/ppt/notesSlides/notesSlide31.xml" Id="Rfaaa4b2c1370400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492390b404068" /><Relationship Type="http://schemas.openxmlformats.org/officeDocument/2006/relationships/notesSlide" Target="/ppt/notesSlides/notesSlide32.xml" Id="R5cef78224d714cd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2c8a2ef114f0f" /><Relationship Type="http://schemas.openxmlformats.org/officeDocument/2006/relationships/notesSlide" Target="/ppt/notesSlides/notesSlide33.xml" Id="Ra002970a6cd349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5D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1_FOOTER_RULE">
            <a:extLst xmlns:a="http://schemas.openxmlformats.org/drawingml/2006/main">
              <a:ext uri="{FF2B5EF4-FFF2-40B4-BE49-F238E27FC236}">
                <a16:creationId xmlns:a16="http://schemas.microsoft.com/office/drawing/2014/main" id="{565B7562-1019-4D42-B797-A91A5A25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1_SOURCE">
            <a:extLst xmlns:a="http://schemas.openxmlformats.org/drawingml/2006/main">
              <a:ext uri="{FF2B5EF4-FFF2-40B4-BE49-F238E27FC236}">
                <a16:creationId xmlns:a16="http://schemas.microsoft.com/office/drawing/2014/main" id="{983F677F-67F8-43DC-B77F-E1250A0F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NGUỒN  BaiTapTopic04.docx · Lab01–Lab06</a:t>
            </a:r>
          </a:p>
        </p:txBody>
      </p:sp>
      <p:sp>
        <p:nvSpPr>
          <p:cNvPr id="3" name="S1_NUMBER">
            <a:extLst xmlns:a="http://schemas.openxmlformats.org/drawingml/2006/main">
              <a:ext uri="{FF2B5EF4-FFF2-40B4-BE49-F238E27FC236}">
                <a16:creationId xmlns:a16="http://schemas.microsoft.com/office/drawing/2014/main" id="{96F7D61C-3D01-4A4B-AB55-1C529169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4" name="S1_KICKER">
            <a:extLst xmlns:a="http://schemas.openxmlformats.org/drawingml/2006/main">
              <a:ext uri="{FF2B5EF4-FFF2-40B4-BE49-F238E27FC236}">
                <a16:creationId xmlns:a16="http://schemas.microsoft.com/office/drawing/2014/main" id="{43D6B5C0-B624-48CE-AC8C-4480BDB1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WEB APPLICATION SECURITY / 06 LABS</a:t>
            </a:r>
          </a:p>
        </p:txBody>
      </p:sp>
      <p:sp>
        <p:nvSpPr>
          <p:cNvPr id="5" name="S1_TITLE">
            <a:extLst xmlns:a="http://schemas.openxmlformats.org/drawingml/2006/main">
              <a:ext uri="{FF2B5EF4-FFF2-40B4-BE49-F238E27FC236}">
                <a16:creationId xmlns:a16="http://schemas.microsoft.com/office/drawing/2014/main" id="{E27EA421-9C03-4AFF-A05B-596B846F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7429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4800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SÁU CÁCH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4800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PHÁ VỠ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4800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TRUST BOUNDARY</a:t>
            </a:r>
          </a:p>
        </p:txBody>
      </p:sp>
      <p:sp>
        <p:nvSpPr>
          <p:cNvPr id="6" name="S1_VERTICAL">
            <a:extLst xmlns:a="http://schemas.openxmlformats.org/drawingml/2006/main">
              <a:ext uri="{FF2B5EF4-FFF2-40B4-BE49-F238E27FC236}">
                <a16:creationId xmlns:a16="http://schemas.microsoft.com/office/drawing/2014/main" id="{F6A78E0B-D95D-4FD6-94A8-8CA9E035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819150"/>
            <a:ext cx="190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1_LABS">
            <a:extLst xmlns:a="http://schemas.openxmlformats.org/drawingml/2006/main">
              <a:ext uri="{FF2B5EF4-FFF2-40B4-BE49-F238E27FC236}">
                <a16:creationId xmlns:a16="http://schemas.microsoft.com/office/drawing/2014/main" id="{92E4D64F-9E44-4DA5-84E8-FA09DBB7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19200"/>
            <a:ext cx="2667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01  XSS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02  BUFFER OVERFLOW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03  PARAMETER TAMPERING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04  CSRF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05  SQL INJECTION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06  COOKIE POISONING</a:t>
            </a:r>
          </a:p>
        </p:txBody>
      </p:sp>
      <p:sp>
        <p:nvSpPr>
          <p:cNvPr id="8" name="S1_ID">
            <a:extLst xmlns:a="http://schemas.openxmlformats.org/drawingml/2006/main">
              <a:ext uri="{FF2B5EF4-FFF2-40B4-BE49-F238E27FC236}">
                <a16:creationId xmlns:a16="http://schemas.microsoft.com/office/drawing/2014/main" id="{D61BB886-047E-46AA-9EFF-AC3A47D0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800" b="1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LÊ MINH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1800" b="1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21127645</a:t>
            </a:r>
          </a:p>
        </p:txBody>
      </p:sp>
    </p:spTree>
    <p:extLst>
      <p:ext uri="{BB962C8B-B14F-4D97-AF65-F5344CB8AC3E}">
        <p14:creationId xmlns:p14="http://schemas.microsoft.com/office/powerpoint/2010/main" val="14718075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2_EYEBROW">
            <a:extLst xmlns:a="http://schemas.openxmlformats.org/drawingml/2006/main">
              <a:ext uri="{FF2B5EF4-FFF2-40B4-BE49-F238E27FC236}">
                <a16:creationId xmlns:a16="http://schemas.microsoft.com/office/drawing/2014/main" id="{178CC352-2D37-41A1-B3C4-662326AB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BẢN ĐỒ</a:t>
            </a:r>
          </a:p>
        </p:txBody>
      </p:sp>
      <p:sp>
        <p:nvSpPr>
          <p:cNvPr id="2" name="S2_TITLE">
            <a:extLst xmlns:a="http://schemas.openxmlformats.org/drawingml/2006/main">
              <a:ext uri="{FF2B5EF4-FFF2-40B4-BE49-F238E27FC236}">
                <a16:creationId xmlns:a16="http://schemas.microsoft.com/office/drawing/2014/main" id="{6517D224-4EDC-4A8F-8367-48E4DA05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4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Một vòng đời dữ liệu — sáu điểm gãy</a:t>
            </a:r>
          </a:p>
        </p:txBody>
      </p:sp>
      <p:sp>
        <p:nvSpPr>
          <p:cNvPr id="3" name="S2_SUBTITLE">
            <a:extLst xmlns:a="http://schemas.openxmlformats.org/drawingml/2006/main">
              <a:ext uri="{FF2B5EF4-FFF2-40B4-BE49-F238E27FC236}">
                <a16:creationId xmlns:a16="http://schemas.microsoft.com/office/drawing/2014/main" id="{7EEA70EC-B069-4036-B968-21284E2D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Theo dấu dữ liệu từ browser tới quyết định cuối cùng của server hoặc DOM.</a:t>
            </a:r>
          </a:p>
        </p:txBody>
      </p:sp>
      <p:sp>
        <p:nvSpPr>
          <p:cNvPr id="4" name="S2_TITLE_RULE">
            <a:extLst xmlns:a="http://schemas.openxmlformats.org/drawingml/2006/main">
              <a:ext uri="{FF2B5EF4-FFF2-40B4-BE49-F238E27FC236}">
                <a16:creationId xmlns:a16="http://schemas.microsoft.com/office/drawing/2014/main" id="{D4D15F9E-8176-4714-9E35-6092A849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2_FOOTER_RULE">
            <a:extLst xmlns:a="http://schemas.openxmlformats.org/drawingml/2006/main">
              <a:ext uri="{FF2B5EF4-FFF2-40B4-BE49-F238E27FC236}">
                <a16:creationId xmlns:a16="http://schemas.microsoft.com/office/drawing/2014/main" id="{364AAE6F-D1EB-4582-9086-42D3C954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2_SOURCE">
            <a:extLst xmlns:a="http://schemas.openxmlformats.org/drawingml/2006/main">
              <a:ext uri="{FF2B5EF4-FFF2-40B4-BE49-F238E27FC236}">
                <a16:creationId xmlns:a16="http://schemas.microsoft.com/office/drawing/2014/main" id="{2AA5F864-4C19-47B4-A0B9-45FE98EC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NGUỒN  BaiTapTopic04.docx · source Lab01–Lab06</a:t>
            </a:r>
          </a:p>
        </p:txBody>
      </p:sp>
      <p:sp>
        <p:nvSpPr>
          <p:cNvPr id="7" name="S2_NUMBER">
            <a:extLst xmlns:a="http://schemas.openxmlformats.org/drawingml/2006/main">
              <a:ext uri="{FF2B5EF4-FFF2-40B4-BE49-F238E27FC236}">
                <a16:creationId xmlns:a16="http://schemas.microsoft.com/office/drawing/2014/main" id="{A0E5A440-A6E7-4B7A-99E4-9859A8F7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8" name="S2_LIFECYCLE_ARROW_1">
            <a:extLst xmlns:a="http://schemas.openxmlformats.org/drawingml/2006/main">
              <a:ext uri="{FF2B5EF4-FFF2-40B4-BE49-F238E27FC236}">
                <a16:creationId xmlns:a16="http://schemas.microsoft.com/office/drawing/2014/main" id="{56B94B78-E3C6-4D68-BCDF-02E387FA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4787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2_LIFECYCLE_ARROW_2">
            <a:extLst xmlns:a="http://schemas.openxmlformats.org/drawingml/2006/main">
              <a:ext uri="{FF2B5EF4-FFF2-40B4-BE49-F238E27FC236}">
                <a16:creationId xmlns:a16="http://schemas.microsoft.com/office/drawing/2014/main" id="{9764AA5D-B1EC-47EB-B0C4-78F3DBCE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4787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2_LIFECYCLE_ARROW_3">
            <a:extLst xmlns:a="http://schemas.openxmlformats.org/drawingml/2006/main">
              <a:ext uri="{FF2B5EF4-FFF2-40B4-BE49-F238E27FC236}">
                <a16:creationId xmlns:a16="http://schemas.microsoft.com/office/drawing/2014/main" id="{557249C9-F402-4F17-B67F-A2C34B30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4787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2_LIFECYCLE_ARROW_4">
            <a:extLst xmlns:a="http://schemas.openxmlformats.org/drawingml/2006/main">
              <a:ext uri="{FF2B5EF4-FFF2-40B4-BE49-F238E27FC236}">
                <a16:creationId xmlns:a16="http://schemas.microsoft.com/office/drawing/2014/main" id="{D6CCCEC4-A6E1-4C81-9594-24058021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4787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2_LIFECYCLE_NODE_1">
            <a:extLst xmlns:a="http://schemas.openxmlformats.org/drawingml/2006/main">
              <a:ext uri="{FF2B5EF4-FFF2-40B4-BE49-F238E27FC236}">
                <a16:creationId xmlns:a16="http://schemas.microsoft.com/office/drawing/2014/main" id="{545DC005-7E16-429A-9918-283C3C79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BROWSER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INPUT</a:t>
            </a:r>
          </a:p>
        </p:txBody>
      </p:sp>
      <p:sp>
        <p:nvSpPr>
          <p:cNvPr id="13" name="S2_LIFECYCLE_NODE_2">
            <a:extLst xmlns:a="http://schemas.openxmlformats.org/drawingml/2006/main">
              <a:ext uri="{FF2B5EF4-FFF2-40B4-BE49-F238E27FC236}">
                <a16:creationId xmlns:a16="http://schemas.microsoft.com/office/drawing/2014/main" id="{7F8CD6D9-C73C-4B36-8287-2F2D7A1E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9545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HTTP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REQUEST</a:t>
            </a:r>
          </a:p>
        </p:txBody>
      </p:sp>
      <p:sp>
        <p:nvSpPr>
          <p:cNvPr id="14" name="S2_LIFECYCLE_NODE_3">
            <a:extLst xmlns:a="http://schemas.openxmlformats.org/drawingml/2006/main">
              <a:ext uri="{FF2B5EF4-FFF2-40B4-BE49-F238E27FC236}">
                <a16:creationId xmlns:a16="http://schemas.microsoft.com/office/drawing/2014/main" id="{F6147F42-1E7E-41AB-BCA6-2CCE3CA2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9545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APP /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NATIVE</a:t>
            </a:r>
          </a:p>
        </p:txBody>
      </p:sp>
      <p:sp>
        <p:nvSpPr>
          <p:cNvPr id="15" name="S2_LIFECYCLE_NODE_4">
            <a:extLst xmlns:a="http://schemas.openxmlformats.org/drawingml/2006/main">
              <a:ext uri="{FF2B5EF4-FFF2-40B4-BE49-F238E27FC236}">
                <a16:creationId xmlns:a16="http://schemas.microsoft.com/office/drawing/2014/main" id="{B576CA03-73A6-4C34-80C9-9A70E422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9545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DB /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SESSION</a:t>
            </a:r>
          </a:p>
        </p:txBody>
      </p:sp>
      <p:sp>
        <p:nvSpPr>
          <p:cNvPr id="16" name="S2_LIFECYCLE_NODE_5">
            <a:extLst xmlns:a="http://schemas.openxmlformats.org/drawingml/2006/main">
              <a:ext uri="{FF2B5EF4-FFF2-40B4-BE49-F238E27FC236}">
                <a16:creationId xmlns:a16="http://schemas.microsoft.com/office/drawing/2014/main" id="{4802E11E-5A38-45F0-B96B-431FFAAF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695450"/>
            <a:ext cx="190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RESPONSE /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DOM</a:t>
            </a:r>
          </a:p>
        </p:txBody>
      </p:sp>
      <p:sp>
        <p:nvSpPr>
          <p:cNvPr id="17" name="S2_ATTACK_1">
            <a:extLst xmlns:a="http://schemas.openxmlformats.org/drawingml/2006/main">
              <a:ext uri="{FF2B5EF4-FFF2-40B4-BE49-F238E27FC236}">
                <a16:creationId xmlns:a16="http://schemas.microsoft.com/office/drawing/2014/main" id="{E2F859C5-1F36-4AB8-B60A-D5521111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95600"/>
            <a:ext cx="3562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  <p:txBody>
          <a:bodyPr xmlns:a="http://schemas.openxmlformats.org/drawingml/2006/main" wrap="square" lIns="133350" tIns="114300" rIns="1333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XSS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output / DOM sink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→ mã chạy trong browser</a:t>
            </a:r>
          </a:p>
        </p:txBody>
      </p:sp>
      <p:sp>
        <p:nvSpPr>
          <p:cNvPr id="18" name="S2_ATTACK_2">
            <a:extLst xmlns:a="http://schemas.openxmlformats.org/drawingml/2006/main">
              <a:ext uri="{FF2B5EF4-FFF2-40B4-BE49-F238E27FC236}">
                <a16:creationId xmlns:a16="http://schemas.microsoft.com/office/drawing/2014/main" id="{8B2AC47B-CC70-4E29-832C-2E4090C3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95600"/>
            <a:ext cx="3562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133350" tIns="114300" rIns="1333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BUFFER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native memory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→ crash / corruption</a:t>
            </a:r>
          </a:p>
        </p:txBody>
      </p:sp>
      <p:sp>
        <p:nvSpPr>
          <p:cNvPr id="19" name="S2_ATTACK_3">
            <a:extLst xmlns:a="http://schemas.openxmlformats.org/drawingml/2006/main">
              <a:ext uri="{FF2B5EF4-FFF2-40B4-BE49-F238E27FC236}">
                <a16:creationId xmlns:a16="http://schemas.microsoft.com/office/drawing/2014/main" id="{5CD295E4-E607-41B4-B541-EF5CC3CD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95600"/>
            <a:ext cx="3562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133350" tIns="114300" rIns="1333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PARAMETER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policy decision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→ giá / object / role</a:t>
            </a:r>
          </a:p>
        </p:txBody>
      </p:sp>
      <p:sp>
        <p:nvSpPr>
          <p:cNvPr id="20" name="S2_ATTACK_4">
            <a:extLst xmlns:a="http://schemas.openxmlformats.org/drawingml/2006/main">
              <a:ext uri="{FF2B5EF4-FFF2-40B4-BE49-F238E27FC236}">
                <a16:creationId xmlns:a16="http://schemas.microsoft.com/office/drawing/2014/main" id="{8E26DDEA-5B74-4137-9F94-468B1A80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3562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133350" tIns="114300" rIns="1333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CSRF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browser credential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→ state change ngoài ý muốn</a:t>
            </a:r>
          </a:p>
        </p:txBody>
      </p:sp>
      <p:sp>
        <p:nvSpPr>
          <p:cNvPr id="21" name="S2_ATTACK_5">
            <a:extLst xmlns:a="http://schemas.openxmlformats.org/drawingml/2006/main">
              <a:ext uri="{FF2B5EF4-FFF2-40B4-BE49-F238E27FC236}">
                <a16:creationId xmlns:a16="http://schemas.microsoft.com/office/drawing/2014/main" id="{1707A110-0076-49D9-889D-88F3EE8F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324350"/>
            <a:ext cx="3562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133350" tIns="114300" rIns="1333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SQLi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query construction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→ logic SQL bị thay</a:t>
            </a:r>
          </a:p>
        </p:txBody>
      </p:sp>
      <p:sp>
        <p:nvSpPr>
          <p:cNvPr id="22" name="S2_ATTACK_6">
            <a:extLst xmlns:a="http://schemas.openxmlformats.org/drawingml/2006/main">
              <a:ext uri="{FF2B5EF4-FFF2-40B4-BE49-F238E27FC236}">
                <a16:creationId xmlns:a16="http://schemas.microsoft.com/office/drawing/2014/main" id="{67B0E099-84E8-452A-9E44-1874F200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24350"/>
            <a:ext cx="3562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133350" tIns="114300" rIns="1333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COOKIE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client state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→ quyền bị giả mạo</a:t>
            </a:r>
          </a:p>
        </p:txBody>
      </p:sp>
      <p:sp>
        <p:nvSpPr>
          <p:cNvPr id="23" name="S2_THESIS_BAR">
            <a:extLst xmlns:a="http://schemas.openxmlformats.org/drawingml/2006/main">
              <a:ext uri="{FF2B5EF4-FFF2-40B4-BE49-F238E27FC236}">
                <a16:creationId xmlns:a16="http://schemas.microsoft.com/office/drawing/2014/main" id="{2D00055D-0FB3-4415-8ADC-10FA2C06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762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4" name="S2_THESIS_LABEL">
            <a:extLst xmlns:a="http://schemas.openxmlformats.org/drawingml/2006/main">
              <a:ext uri="{FF2B5EF4-FFF2-40B4-BE49-F238E27FC236}">
                <a16:creationId xmlns:a16="http://schemas.microsoft.com/office/drawing/2014/main" id="{4A7FE1EB-B054-431A-8131-75436B7C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NGUYÊN TẮC</a:t>
            </a:r>
          </a:p>
        </p:txBody>
      </p:sp>
      <p:sp>
        <p:nvSpPr>
          <p:cNvPr id="25" name="S2_THESIS_BODY">
            <a:extLst xmlns:a="http://schemas.openxmlformats.org/drawingml/2006/main">
              <a:ext uri="{FF2B5EF4-FFF2-40B4-BE49-F238E27FC236}">
                <a16:creationId xmlns:a16="http://schemas.microsoft.com/office/drawing/2014/main" id="{D12A5EB8-84B6-4D9A-BBB7-D1E4D975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715000"/>
            <a:ext cx="920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Không tin dữ liệu client · kiểm tra đúng boundary · dùng primitive an toàn ở sink · xác thực quyền ở server.</a:t>
            </a:r>
          </a:p>
        </p:txBody>
      </p:sp>
    </p:spTree>
    <p:extLst>
      <p:ext uri="{BB962C8B-B14F-4D97-AF65-F5344CB8AC3E}">
        <p14:creationId xmlns:p14="http://schemas.microsoft.com/office/powerpoint/2010/main" val="2230850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3_EYEBROW">
            <a:extLst xmlns:a="http://schemas.openxmlformats.org/drawingml/2006/main">
              <a:ext uri="{FF2B5EF4-FFF2-40B4-BE49-F238E27FC236}">
                <a16:creationId xmlns:a16="http://schemas.microsoft.com/office/drawing/2014/main" id="{353842B9-9C82-4962-A1A2-B57623CD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LAB01 / XSS</a:t>
            </a:r>
          </a:p>
        </p:txBody>
      </p:sp>
      <p:sp>
        <p:nvSpPr>
          <p:cNvPr id="2" name="S3_TITLE">
            <a:extLst xmlns:a="http://schemas.openxmlformats.org/drawingml/2006/main">
              <a:ext uri="{FF2B5EF4-FFF2-40B4-BE49-F238E27FC236}">
                <a16:creationId xmlns:a16="http://schemas.microsoft.com/office/drawing/2014/main" id="{E5536E31-ECAD-4EED-B017-6D9C17E5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4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Ba biến thể — một lỗi niềm tin</a:t>
            </a:r>
          </a:p>
        </p:txBody>
      </p:sp>
      <p:sp>
        <p:nvSpPr>
          <p:cNvPr id="3" name="S3_SUBTITLE">
            <a:extLst xmlns:a="http://schemas.openxmlformats.org/drawingml/2006/main">
              <a:ext uri="{FF2B5EF4-FFF2-40B4-BE49-F238E27FC236}">
                <a16:creationId xmlns:a16="http://schemas.microsoft.com/office/drawing/2014/main" id="{60482008-FD3D-4209-8202-37604BEB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Khác đường đi; giống kết quả: dữ liệu bị diễn giải như HTML/JavaScript.</a:t>
            </a:r>
          </a:p>
        </p:txBody>
      </p:sp>
      <p:sp>
        <p:nvSpPr>
          <p:cNvPr id="4" name="S3_TITLE_RULE">
            <a:extLst xmlns:a="http://schemas.openxmlformats.org/drawingml/2006/main">
              <a:ext uri="{FF2B5EF4-FFF2-40B4-BE49-F238E27FC236}">
                <a16:creationId xmlns:a16="http://schemas.microsoft.com/office/drawing/2014/main" id="{62A7F197-EA22-4AEE-AD92-A954B0AA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3_FOOTER_RULE">
            <a:extLst xmlns:a="http://schemas.openxmlformats.org/drawingml/2006/main">
              <a:ext uri="{FF2B5EF4-FFF2-40B4-BE49-F238E27FC236}">
                <a16:creationId xmlns:a16="http://schemas.microsoft.com/office/drawing/2014/main" id="{5B8DEA32-8822-4ABE-B323-DB3B0A13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3_SOURCE">
            <a:extLst xmlns:a="http://schemas.openxmlformats.org/drawingml/2006/main">
              <a:ext uri="{FF2B5EF4-FFF2-40B4-BE49-F238E27FC236}">
                <a16:creationId xmlns:a16="http://schemas.microsoft.com/office/drawing/2014/main" id="{CA80D4F2-2F39-4044-8EDF-DE5A8EF7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NGUỒN  Lab01/app.py · templates · static/js</a:t>
            </a:r>
          </a:p>
        </p:txBody>
      </p:sp>
      <p:sp>
        <p:nvSpPr>
          <p:cNvPr id="7" name="S3_NUMBER">
            <a:extLst xmlns:a="http://schemas.openxmlformats.org/drawingml/2006/main">
              <a:ext uri="{FF2B5EF4-FFF2-40B4-BE49-F238E27FC236}">
                <a16:creationId xmlns:a16="http://schemas.microsoft.com/office/drawing/2014/main" id="{FAABDB02-E50E-499A-8A68-DB1D5683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8" name="S3_XSS_MATRIX_H0">
            <a:extLst xmlns:a="http://schemas.openxmlformats.org/drawingml/2006/main">
              <a:ext uri="{FF2B5EF4-FFF2-40B4-BE49-F238E27FC236}">
                <a16:creationId xmlns:a16="http://schemas.microsoft.com/office/drawing/2014/main" id="{94266BAB-110F-46B5-B7E2-A2C60C5C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80975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BIẾN THỂ</a:t>
            </a:r>
          </a:p>
        </p:txBody>
      </p:sp>
      <p:sp>
        <p:nvSpPr>
          <p:cNvPr id="9" name="S3_XSS_MATRIX_H1">
            <a:extLst xmlns:a="http://schemas.openxmlformats.org/drawingml/2006/main">
              <a:ext uri="{FF2B5EF4-FFF2-40B4-BE49-F238E27FC236}">
                <a16:creationId xmlns:a16="http://schemas.microsoft.com/office/drawing/2014/main" id="{C54EB5BB-7072-4A6B-955C-F849108A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33550"/>
            <a:ext cx="224790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SOURCE</a:t>
            </a:r>
          </a:p>
        </p:txBody>
      </p:sp>
      <p:sp>
        <p:nvSpPr>
          <p:cNvPr id="10" name="S3_XSS_MATRIX_H2">
            <a:extLst xmlns:a="http://schemas.openxmlformats.org/drawingml/2006/main">
              <a:ext uri="{FF2B5EF4-FFF2-40B4-BE49-F238E27FC236}">
                <a16:creationId xmlns:a16="http://schemas.microsoft.com/office/drawing/2014/main" id="{DE1FF9D7-5E88-48BB-99BF-A55EE7ED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33550"/>
            <a:ext cx="266700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TRUNG GIAN</a:t>
            </a:r>
          </a:p>
        </p:txBody>
      </p:sp>
      <p:sp>
        <p:nvSpPr>
          <p:cNvPr id="11" name="S3_XSS_MATRIX_H3">
            <a:extLst xmlns:a="http://schemas.openxmlformats.org/drawingml/2006/main">
              <a:ext uri="{FF2B5EF4-FFF2-40B4-BE49-F238E27FC236}">
                <a16:creationId xmlns:a16="http://schemas.microsoft.com/office/drawing/2014/main" id="{BE544B31-8D5C-41FD-AE66-8A33C5C3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33550"/>
            <a:ext cx="440055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SINK / THỜI ĐIỂM</a:t>
            </a:r>
          </a:p>
        </p:txBody>
      </p:sp>
      <p:sp>
        <p:nvSpPr>
          <p:cNvPr id="12" name="S3_XSS_MATRIX_R0C0">
            <a:extLst xmlns:a="http://schemas.openxmlformats.org/drawingml/2006/main">
              <a:ext uri="{FF2B5EF4-FFF2-40B4-BE49-F238E27FC236}">
                <a16:creationId xmlns:a16="http://schemas.microsoft.com/office/drawing/2014/main" id="{74FEEB5E-1D24-422E-9452-C19522FF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14588"/>
            <a:ext cx="180975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Reflected</a:t>
            </a:r>
          </a:p>
        </p:txBody>
      </p:sp>
      <p:sp>
        <p:nvSpPr>
          <p:cNvPr id="13" name="S3_XSS_MATRIX_R0C1">
            <a:extLst xmlns:a="http://schemas.openxmlformats.org/drawingml/2006/main">
              <a:ext uri="{FF2B5EF4-FFF2-40B4-BE49-F238E27FC236}">
                <a16:creationId xmlns:a16="http://schemas.microsoft.com/office/drawing/2014/main" id="{22516975-EFD6-4F3C-A98C-F7B4F167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414588"/>
            <a:ext cx="224790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query q</a:t>
            </a:r>
          </a:p>
        </p:txBody>
      </p:sp>
      <p:sp>
        <p:nvSpPr>
          <p:cNvPr id="14" name="S3_XSS_MATRIX_R0C2">
            <a:extLst xmlns:a="http://schemas.openxmlformats.org/drawingml/2006/main">
              <a:ext uri="{FF2B5EF4-FFF2-40B4-BE49-F238E27FC236}">
                <a16:creationId xmlns:a16="http://schemas.microsoft.com/office/drawing/2014/main" id="{DF35A2FE-E04F-4EBA-B804-FB1DBEE7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14588"/>
            <a:ext cx="266700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request → response</a:t>
            </a:r>
          </a:p>
        </p:txBody>
      </p:sp>
      <p:sp>
        <p:nvSpPr>
          <p:cNvPr id="15" name="S3_XSS_MATRIX_R0C3">
            <a:extLst xmlns:a="http://schemas.openxmlformats.org/drawingml/2006/main">
              <a:ext uri="{FF2B5EF4-FFF2-40B4-BE49-F238E27FC236}">
                <a16:creationId xmlns:a16="http://schemas.microsoft.com/office/drawing/2014/main" id="{91B888A0-D14D-441B-B5B4-3E2EE91F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14588"/>
            <a:ext cx="440055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Markup(q) · chạy khi mở URL</a:t>
            </a:r>
          </a:p>
        </p:txBody>
      </p:sp>
      <p:sp>
        <p:nvSpPr>
          <p:cNvPr id="16" name="S3_XSS_MATRIX_R1C0">
            <a:extLst xmlns:a="http://schemas.openxmlformats.org/drawingml/2006/main">
              <a:ext uri="{FF2B5EF4-FFF2-40B4-BE49-F238E27FC236}">
                <a16:creationId xmlns:a16="http://schemas.microsoft.com/office/drawing/2014/main" id="{DDC0B4B5-8B38-4CD2-A736-86DFA68B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95625"/>
            <a:ext cx="180975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Stored</a:t>
            </a:r>
          </a:p>
        </p:txBody>
      </p:sp>
      <p:sp>
        <p:nvSpPr>
          <p:cNvPr id="17" name="S3_XSS_MATRIX_R1C1">
            <a:extLst xmlns:a="http://schemas.openxmlformats.org/drawingml/2006/main">
              <a:ext uri="{FF2B5EF4-FFF2-40B4-BE49-F238E27FC236}">
                <a16:creationId xmlns:a16="http://schemas.microsoft.com/office/drawing/2014/main" id="{7D1E38FB-7EFA-4107-A51C-FE176A98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95625"/>
            <a:ext cx="224790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comment body</a:t>
            </a:r>
          </a:p>
        </p:txBody>
      </p:sp>
      <p:sp>
        <p:nvSpPr>
          <p:cNvPr id="18" name="S3_XSS_MATRIX_R1C2">
            <a:extLst xmlns:a="http://schemas.openxmlformats.org/drawingml/2006/main">
              <a:ext uri="{FF2B5EF4-FFF2-40B4-BE49-F238E27FC236}">
                <a16:creationId xmlns:a16="http://schemas.microsoft.com/office/drawing/2014/main" id="{A96B3B77-E693-416C-B520-C42A876F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95625"/>
            <a:ext cx="266700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SQLite</a:t>
            </a:r>
          </a:p>
        </p:txBody>
      </p:sp>
      <p:sp>
        <p:nvSpPr>
          <p:cNvPr id="19" name="S3_XSS_MATRIX_R1C3">
            <a:extLst xmlns:a="http://schemas.openxmlformats.org/drawingml/2006/main">
              <a:ext uri="{FF2B5EF4-FFF2-40B4-BE49-F238E27FC236}">
                <a16:creationId xmlns:a16="http://schemas.microsoft.com/office/drawing/2014/main" id="{37F226DC-2D13-4B21-A0AC-917562DF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95625"/>
            <a:ext cx="440055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Markup(body) · chạy với mọi người xem</a:t>
            </a:r>
          </a:p>
        </p:txBody>
      </p:sp>
      <p:sp>
        <p:nvSpPr>
          <p:cNvPr id="20" name="S3_XSS_MATRIX_R2C0">
            <a:extLst xmlns:a="http://schemas.openxmlformats.org/drawingml/2006/main">
              <a:ext uri="{FF2B5EF4-FFF2-40B4-BE49-F238E27FC236}">
                <a16:creationId xmlns:a16="http://schemas.microsoft.com/office/drawing/2014/main" id="{CE291C2D-40EF-4633-AB5E-392BE3C3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6663"/>
            <a:ext cx="180975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DOM</a:t>
            </a:r>
          </a:p>
        </p:txBody>
      </p:sp>
      <p:sp>
        <p:nvSpPr>
          <p:cNvPr id="21" name="S3_XSS_MATRIX_R2C1">
            <a:extLst xmlns:a="http://schemas.openxmlformats.org/drawingml/2006/main">
              <a:ext uri="{FF2B5EF4-FFF2-40B4-BE49-F238E27FC236}">
                <a16:creationId xmlns:a16="http://schemas.microsoft.com/office/drawing/2014/main" id="{F8D7FBD4-691B-4A84-B49C-26A2206E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776663"/>
            <a:ext cx="224790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location.hash</a:t>
            </a:r>
          </a:p>
        </p:txBody>
      </p:sp>
      <p:sp>
        <p:nvSpPr>
          <p:cNvPr id="22" name="S3_XSS_MATRIX_R2C2">
            <a:extLst xmlns:a="http://schemas.openxmlformats.org/drawingml/2006/main">
              <a:ext uri="{FF2B5EF4-FFF2-40B4-BE49-F238E27FC236}">
                <a16:creationId xmlns:a16="http://schemas.microsoft.com/office/drawing/2014/main" id="{B34384A1-1A59-43D6-BFF5-45A3AED3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76663"/>
            <a:ext cx="266700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browser only</a:t>
            </a:r>
          </a:p>
        </p:txBody>
      </p:sp>
      <p:sp>
        <p:nvSpPr>
          <p:cNvPr id="23" name="S3_XSS_MATRIX_R2C3">
            <a:extLst xmlns:a="http://schemas.openxmlformats.org/drawingml/2006/main">
              <a:ext uri="{FF2B5EF4-FFF2-40B4-BE49-F238E27FC236}">
                <a16:creationId xmlns:a16="http://schemas.microsoft.com/office/drawing/2014/main" id="{8717367D-B171-49D2-A0D4-38D29CCA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76663"/>
            <a:ext cx="4400550" cy="681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innerHTML · không cần server phản chiếu</a:t>
            </a:r>
          </a:p>
        </p:txBody>
      </p:sp>
      <p:sp>
        <p:nvSpPr>
          <p:cNvPr id="24" name="S3_COMMON_ARROW_1">
            <a:extLst xmlns:a="http://schemas.openxmlformats.org/drawingml/2006/main">
              <a:ext uri="{FF2B5EF4-FFF2-40B4-BE49-F238E27FC236}">
                <a16:creationId xmlns:a16="http://schemas.microsoft.com/office/drawing/2014/main" id="{C4753524-A267-471A-898D-C305F650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526732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3_COMMON_ARROW_2">
            <a:extLst xmlns:a="http://schemas.openxmlformats.org/drawingml/2006/main">
              <a:ext uri="{FF2B5EF4-FFF2-40B4-BE49-F238E27FC236}">
                <a16:creationId xmlns:a16="http://schemas.microsoft.com/office/drawing/2014/main" id="{CEC1C53C-24B3-4D5E-BF5B-CFC5D3D9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250" y="526732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3_COMMON_NODE_1">
            <a:extLst xmlns:a="http://schemas.openxmlformats.org/drawingml/2006/main">
              <a:ext uri="{FF2B5EF4-FFF2-40B4-BE49-F238E27FC236}">
                <a16:creationId xmlns:a16="http://schemas.microsoft.com/office/drawing/2014/main" id="{5E40A9B7-E483-4675-BE7E-78A5E06A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2717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UNTRUSTED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DATA</a:t>
            </a:r>
          </a:p>
        </p:txBody>
      </p:sp>
      <p:sp>
        <p:nvSpPr>
          <p:cNvPr id="27" name="S3_COMMON_NODE_2">
            <a:extLst xmlns:a="http://schemas.openxmlformats.org/drawingml/2006/main">
              <a:ext uri="{FF2B5EF4-FFF2-40B4-BE49-F238E27FC236}">
                <a16:creationId xmlns:a16="http://schemas.microsoft.com/office/drawing/2014/main" id="{4716D2E6-FF1E-435D-982B-1D244F00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100" y="4876800"/>
            <a:ext cx="2717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UNSAFE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INTERPRETATION</a:t>
            </a:r>
          </a:p>
        </p:txBody>
      </p:sp>
      <p:sp>
        <p:nvSpPr>
          <p:cNvPr id="28" name="S3_COMMON_NODE_3">
            <a:extLst xmlns:a="http://schemas.openxmlformats.org/drawingml/2006/main">
              <a:ext uri="{FF2B5EF4-FFF2-40B4-BE49-F238E27FC236}">
                <a16:creationId xmlns:a16="http://schemas.microsoft.com/office/drawing/2014/main" id="{E0E076F9-5A56-49F2-A99D-338C5010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950" y="4876800"/>
            <a:ext cx="2717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SCRIPT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EXECUTION</a:t>
            </a:r>
          </a:p>
        </p:txBody>
      </p:sp>
    </p:spTree>
    <p:extLst>
      <p:ext uri="{BB962C8B-B14F-4D97-AF65-F5344CB8AC3E}">
        <p14:creationId xmlns:p14="http://schemas.microsoft.com/office/powerpoint/2010/main" val="19610673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4_EYEBROW">
            <a:extLst xmlns:a="http://schemas.openxmlformats.org/drawingml/2006/main">
              <a:ext uri="{FF2B5EF4-FFF2-40B4-BE49-F238E27FC236}">
                <a16:creationId xmlns:a16="http://schemas.microsoft.com/office/drawing/2014/main" id="{0DBB1912-EE28-48D8-B02C-4C33BCFD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LAB01 / XSS</a:t>
            </a:r>
          </a:p>
        </p:txBody>
      </p:sp>
      <p:sp>
        <p:nvSpPr>
          <p:cNvPr id="2" name="S4_TITLE">
            <a:extLst xmlns:a="http://schemas.openxmlformats.org/drawingml/2006/main">
              <a:ext uri="{FF2B5EF4-FFF2-40B4-BE49-F238E27FC236}">
                <a16:creationId xmlns:a16="http://schemas.microsoft.com/office/drawing/2014/main" id="{B3865BEB-06EF-41D8-84AB-40DC3A8A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4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Reflected và Stored: hai đường phát lại</a:t>
            </a:r>
          </a:p>
        </p:txBody>
      </p:sp>
      <p:sp>
        <p:nvSpPr>
          <p:cNvPr id="3" name="S4_SUBTITLE">
            <a:extLst xmlns:a="http://schemas.openxmlformats.org/drawingml/2006/main">
              <a:ext uri="{FF2B5EF4-FFF2-40B4-BE49-F238E27FC236}">
                <a16:creationId xmlns:a16="http://schemas.microsoft.com/office/drawing/2014/main" id="{5587C0DE-924D-4FC7-81E3-A874DAA5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Reflected quay về ngay; Stored đi qua database rồi kích hoạt ở lần xem sau.</a:t>
            </a:r>
          </a:p>
        </p:txBody>
      </p:sp>
      <p:sp>
        <p:nvSpPr>
          <p:cNvPr id="4" name="S4_TITLE_RULE">
            <a:extLst xmlns:a="http://schemas.openxmlformats.org/drawingml/2006/main">
              <a:ext uri="{FF2B5EF4-FFF2-40B4-BE49-F238E27FC236}">
                <a16:creationId xmlns:a16="http://schemas.microsoft.com/office/drawing/2014/main" id="{D0576121-DDE0-4137-BB11-47574BF2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4_FOOTER_RULE">
            <a:extLst xmlns:a="http://schemas.openxmlformats.org/drawingml/2006/main">
              <a:ext uri="{FF2B5EF4-FFF2-40B4-BE49-F238E27FC236}">
                <a16:creationId xmlns:a16="http://schemas.microsoft.com/office/drawing/2014/main" id="{980C327B-326A-4A22-9C67-DC077018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4_SOURCE">
            <a:extLst xmlns:a="http://schemas.openxmlformats.org/drawingml/2006/main">
              <a:ext uri="{FF2B5EF4-FFF2-40B4-BE49-F238E27FC236}">
                <a16:creationId xmlns:a16="http://schemas.microsoft.com/office/drawing/2014/main" id="{1B73464C-D82A-4BB4-B95C-A91B8F1A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NGUỒN  Lab01/app.py · reflected/stored templates</a:t>
            </a:r>
          </a:p>
        </p:txBody>
      </p:sp>
      <p:sp>
        <p:nvSpPr>
          <p:cNvPr id="7" name="S4_NUMBER">
            <a:extLst xmlns:a="http://schemas.openxmlformats.org/drawingml/2006/main">
              <a:ext uri="{FF2B5EF4-FFF2-40B4-BE49-F238E27FC236}">
                <a16:creationId xmlns:a16="http://schemas.microsoft.com/office/drawing/2014/main" id="{6E0FE31A-69A6-4472-8977-82C0E5E7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8" name="S4_REFLECTED_ARROW_1">
            <a:extLst xmlns:a="http://schemas.openxmlformats.org/drawingml/2006/main">
              <a:ext uri="{FF2B5EF4-FFF2-40B4-BE49-F238E27FC236}">
                <a16:creationId xmlns:a16="http://schemas.microsoft.com/office/drawing/2014/main" id="{67C52476-D1E1-47B0-A03A-19A9031B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738" y="21336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4_REFLECTED_ARROW_2">
            <a:extLst xmlns:a="http://schemas.openxmlformats.org/drawingml/2006/main">
              <a:ext uri="{FF2B5EF4-FFF2-40B4-BE49-F238E27FC236}">
                <a16:creationId xmlns:a16="http://schemas.microsoft.com/office/drawing/2014/main" id="{A73FBFC5-57A2-481C-A638-B2BFB21D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1336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4_REFLECTED_ARROW_3">
            <a:extLst xmlns:a="http://schemas.openxmlformats.org/drawingml/2006/main">
              <a:ext uri="{FF2B5EF4-FFF2-40B4-BE49-F238E27FC236}">
                <a16:creationId xmlns:a16="http://schemas.microsoft.com/office/drawing/2014/main" id="{D6A773D2-1900-4EAE-9627-5DE93D8B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13" y="21336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4_REFLECTED_NODE_1">
            <a:extLst xmlns:a="http://schemas.openxmlformats.org/drawingml/2006/main">
              <a:ext uri="{FF2B5EF4-FFF2-40B4-BE49-F238E27FC236}">
                <a16:creationId xmlns:a16="http://schemas.microsoft.com/office/drawing/2014/main" id="{10A2BC9C-8CB3-4A67-A6FB-0F7B6A14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423988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GET ?q=</a:t>
            </a:r>
          </a:p>
        </p:txBody>
      </p:sp>
      <p:sp>
        <p:nvSpPr>
          <p:cNvPr id="12" name="S4_REFLECTED_NODE_2">
            <a:extLst xmlns:a="http://schemas.openxmlformats.org/drawingml/2006/main">
              <a:ext uri="{FF2B5EF4-FFF2-40B4-BE49-F238E27FC236}">
                <a16:creationId xmlns:a16="http://schemas.microsoft.com/office/drawing/2014/main" id="{99978E3A-5A08-435D-93EE-0D46AA52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8" y="1809750"/>
            <a:ext cx="1423988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Markup(q)</a:t>
            </a:r>
          </a:p>
        </p:txBody>
      </p:sp>
      <p:sp>
        <p:nvSpPr>
          <p:cNvPr id="13" name="S4_REFLECTED_NODE_3">
            <a:extLst xmlns:a="http://schemas.openxmlformats.org/drawingml/2006/main">
              <a:ext uri="{FF2B5EF4-FFF2-40B4-BE49-F238E27FC236}">
                <a16:creationId xmlns:a16="http://schemas.microsoft.com/office/drawing/2014/main" id="{5773AF55-DA08-4055-A90E-2D3A56A7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809750"/>
            <a:ext cx="1423988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HTML response</a:t>
            </a:r>
          </a:p>
        </p:txBody>
      </p:sp>
      <p:sp>
        <p:nvSpPr>
          <p:cNvPr id="14" name="S4_REFLECTED_NODE_4">
            <a:extLst xmlns:a="http://schemas.openxmlformats.org/drawingml/2006/main">
              <a:ext uri="{FF2B5EF4-FFF2-40B4-BE49-F238E27FC236}">
                <a16:creationId xmlns:a16="http://schemas.microsoft.com/office/drawing/2014/main" id="{C4E32252-FAE2-4830-9182-E15F09E1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5513" y="1809750"/>
            <a:ext cx="1423988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Browser chạy</a:t>
            </a:r>
          </a:p>
        </p:txBody>
      </p:sp>
      <p:sp>
        <p:nvSpPr>
          <p:cNvPr id="15" name="S4_STORED_ARROW_1">
            <a:extLst xmlns:a="http://schemas.openxmlformats.org/drawingml/2006/main">
              <a:ext uri="{FF2B5EF4-FFF2-40B4-BE49-F238E27FC236}">
                <a16:creationId xmlns:a16="http://schemas.microsoft.com/office/drawing/2014/main" id="{03322E62-BBDC-4824-9CB0-F1225619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738" y="32956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4_STORED_ARROW_2">
            <a:extLst xmlns:a="http://schemas.openxmlformats.org/drawingml/2006/main">
              <a:ext uri="{FF2B5EF4-FFF2-40B4-BE49-F238E27FC236}">
                <a16:creationId xmlns:a16="http://schemas.microsoft.com/office/drawing/2014/main" id="{E5E0A3BB-5871-4B9D-BE19-6523173E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2956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4_STORED_ARROW_3">
            <a:extLst xmlns:a="http://schemas.openxmlformats.org/drawingml/2006/main">
              <a:ext uri="{FF2B5EF4-FFF2-40B4-BE49-F238E27FC236}">
                <a16:creationId xmlns:a16="http://schemas.microsoft.com/office/drawing/2014/main" id="{CB2508AF-102F-474D-9C8C-41614B34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13" y="32956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4_STORED_NODE_1">
            <a:extLst xmlns:a="http://schemas.openxmlformats.org/drawingml/2006/main">
              <a:ext uri="{FF2B5EF4-FFF2-40B4-BE49-F238E27FC236}">
                <a16:creationId xmlns:a16="http://schemas.microsoft.com/office/drawing/2014/main" id="{6DB7BE82-3BC5-4111-81D3-3ED5A280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1423988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POST body</a:t>
            </a:r>
          </a:p>
        </p:txBody>
      </p:sp>
      <p:sp>
        <p:nvSpPr>
          <p:cNvPr id="19" name="S4_STORED_NODE_2">
            <a:extLst xmlns:a="http://schemas.openxmlformats.org/drawingml/2006/main">
              <a:ext uri="{FF2B5EF4-FFF2-40B4-BE49-F238E27FC236}">
                <a16:creationId xmlns:a16="http://schemas.microsoft.com/office/drawing/2014/main" id="{3BCE17EB-162B-4867-A1AA-F7258185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8" y="2971800"/>
            <a:ext cx="1423988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SQLite</a:t>
            </a:r>
          </a:p>
        </p:txBody>
      </p:sp>
      <p:sp>
        <p:nvSpPr>
          <p:cNvPr id="20" name="S4_STORED_NODE_3">
            <a:extLst xmlns:a="http://schemas.openxmlformats.org/drawingml/2006/main">
              <a:ext uri="{FF2B5EF4-FFF2-40B4-BE49-F238E27FC236}">
                <a16:creationId xmlns:a16="http://schemas.microsoft.com/office/drawing/2014/main" id="{7C871EAF-07AE-43FB-9F59-335E0FA4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971800"/>
            <a:ext cx="1423988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Markup(body)</a:t>
            </a:r>
          </a:p>
        </p:txBody>
      </p:sp>
      <p:sp>
        <p:nvSpPr>
          <p:cNvPr id="21" name="S4_STORED_NODE_4">
            <a:extLst xmlns:a="http://schemas.openxmlformats.org/drawingml/2006/main">
              <a:ext uri="{FF2B5EF4-FFF2-40B4-BE49-F238E27FC236}">
                <a16:creationId xmlns:a16="http://schemas.microsoft.com/office/drawing/2014/main" id="{561E14E3-DB4E-4559-8479-6A57A1D5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5513" y="2971800"/>
            <a:ext cx="1423988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Mọi viewer</a:t>
            </a:r>
          </a:p>
        </p:txBody>
      </p:sp>
      <p:sp>
        <p:nvSpPr>
          <p:cNvPr id="22" name="PH_S04_Lab01_29_reflected_network_request_png_FRAME">
            <a:extLst xmlns:a="http://schemas.openxmlformats.org/drawingml/2006/main">
              <a:ext uri="{FF2B5EF4-FFF2-40B4-BE49-F238E27FC236}">
                <a16:creationId xmlns:a16="http://schemas.microsoft.com/office/drawing/2014/main" id="{BE4A8D9E-1EBA-46CD-B3E6-89A36EA9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24025"/>
            <a:ext cx="39243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5D26"/>
            </a:solidFill>
            <a:prstDash val="solid"/>
          </a:ln>
        </p:spPr>
      </p:sp>
      <p:sp>
        <p:nvSpPr>
          <p:cNvPr id="23" name="PH_S04_Lab01_29_reflected_network_request_png_IMAGE">
            <a:extLst xmlns:a="http://schemas.openxmlformats.org/drawingml/2006/main">
              <a:ext uri="{FF2B5EF4-FFF2-40B4-BE49-F238E27FC236}">
                <a16:creationId xmlns:a16="http://schemas.microsoft.com/office/drawing/2014/main" id="{07FE85B7-F5A5-4FA1-93E0-F16172A7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52600"/>
            <a:ext cx="3867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</p:sp>
      <p:sp>
        <p:nvSpPr>
          <p:cNvPr id="24" name="PH_S04_Lab01_29_reflected_network_request_png_ICON">
            <a:extLst xmlns:a="http://schemas.openxmlformats.org/drawingml/2006/main">
              <a:ext uri="{FF2B5EF4-FFF2-40B4-BE49-F238E27FC236}">
                <a16:creationId xmlns:a16="http://schemas.microsoft.com/office/drawing/2014/main" id="{0742EDD3-FD42-4EB2-B873-6350E9A3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954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▣</a:t>
            </a:r>
          </a:p>
        </p:txBody>
      </p:sp>
      <p:sp>
        <p:nvSpPr>
          <p:cNvPr id="25" name="PH_S04_Lab01_29_reflected_network_request_png_INSTRUCTION">
            <a:extLst xmlns:a="http://schemas.openxmlformats.org/drawingml/2006/main">
              <a:ext uri="{FF2B5EF4-FFF2-40B4-BE49-F238E27FC236}">
                <a16:creationId xmlns:a16="http://schemas.microsoft.com/office/drawing/2014/main" id="{9EF7F9DF-44CE-4FB8-80EE-1582984E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24050"/>
            <a:ext cx="3028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CHÈN ẢNH THẬT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29_reflected_network_request.png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16:9 · CROP → FILL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XEM GUIDE</a:t>
            </a:r>
          </a:p>
        </p:txBody>
      </p:sp>
      <p:sp>
        <p:nvSpPr>
          <p:cNvPr id="26" name="PH_S04_Lab01_29_reflected_network_request_png_CAPTION">
            <a:extLst xmlns:a="http://schemas.openxmlformats.org/drawingml/2006/main">
              <a:ext uri="{FF2B5EF4-FFF2-40B4-BE49-F238E27FC236}">
                <a16:creationId xmlns:a16="http://schemas.microsoft.com/office/drawing/2014/main" id="{BE196CEA-707B-4B65-B4D8-807C0214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52825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Reflected XSS — request GET trong Network</a:t>
            </a:r>
          </a:p>
        </p:txBody>
      </p:sp>
      <p:sp>
        <p:nvSpPr>
          <p:cNvPr id="27" name="S4_IMPACT_BAR">
            <a:extLst xmlns:a="http://schemas.openxmlformats.org/drawingml/2006/main">
              <a:ext uri="{FF2B5EF4-FFF2-40B4-BE49-F238E27FC236}">
                <a16:creationId xmlns:a16="http://schemas.microsoft.com/office/drawing/2014/main" id="{96B16C2C-B66E-4B90-835C-C9329546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762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8" name="S4_IMPACT_LABEL">
            <a:extLst xmlns:a="http://schemas.openxmlformats.org/drawingml/2006/main">
              <a:ext uri="{FF2B5EF4-FFF2-40B4-BE49-F238E27FC236}">
                <a16:creationId xmlns:a16="http://schemas.microsoft.com/office/drawing/2014/main" id="{593488DA-40AE-48D0-99F6-9878EA47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1093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TÁC ĐỘNG</a:t>
            </a:r>
          </a:p>
        </p:txBody>
      </p:sp>
      <p:sp>
        <p:nvSpPr>
          <p:cNvPr id="29" name="S4_IMPACT_BODY">
            <a:extLst xmlns:a="http://schemas.openxmlformats.org/drawingml/2006/main">
              <a:ext uri="{FF2B5EF4-FFF2-40B4-BE49-F238E27FC236}">
                <a16:creationId xmlns:a16="http://schemas.microsoft.com/office/drawing/2014/main" id="{A3CDF04E-671A-4D65-AF85-F48B16FC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109347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Reflected cần nạn nhân mở URL. Stored tự phát lại từ dữ liệu bền vững; thiếu HttpOnly làm rủi ro chiếm cookie tăng mạnh.</a:t>
            </a:r>
          </a:p>
        </p:txBody>
      </p:sp>
    </p:spTree>
    <p:extLst>
      <p:ext uri="{BB962C8B-B14F-4D97-AF65-F5344CB8AC3E}">
        <p14:creationId xmlns:p14="http://schemas.microsoft.com/office/powerpoint/2010/main" val="20542817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5_EYEBROW">
            <a:extLst xmlns:a="http://schemas.openxmlformats.org/drawingml/2006/main">
              <a:ext uri="{FF2B5EF4-FFF2-40B4-BE49-F238E27FC236}">
                <a16:creationId xmlns:a16="http://schemas.microsoft.com/office/drawing/2014/main" id="{15B07DCF-4287-4741-B8CC-97BC1987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LAB01 / XSS</a:t>
            </a:r>
          </a:p>
        </p:txBody>
      </p:sp>
      <p:sp>
        <p:nvSpPr>
          <p:cNvPr id="2" name="S5_TITLE">
            <a:extLst xmlns:a="http://schemas.openxmlformats.org/drawingml/2006/main">
              <a:ext uri="{FF2B5EF4-FFF2-40B4-BE49-F238E27FC236}">
                <a16:creationId xmlns:a16="http://schemas.microsoft.com/office/drawing/2014/main" id="{F9EC0857-45D0-4B14-9487-22FF1E96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4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DOM XSS: source và sink cùng ở browser</a:t>
            </a:r>
          </a:p>
        </p:txBody>
      </p:sp>
      <p:sp>
        <p:nvSpPr>
          <p:cNvPr id="3" name="S5_SUBTITLE">
            <a:extLst xmlns:a="http://schemas.openxmlformats.org/drawingml/2006/main">
              <a:ext uri="{FF2B5EF4-FFF2-40B4-BE49-F238E27FC236}">
                <a16:creationId xmlns:a16="http://schemas.microsoft.com/office/drawing/2014/main" id="{96F8C568-C923-40FE-B354-6D1A0380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Fragment không gửi lên server; JavaScript phía client tự biến nó thành DOM.</a:t>
            </a:r>
          </a:p>
        </p:txBody>
      </p:sp>
      <p:sp>
        <p:nvSpPr>
          <p:cNvPr id="4" name="S5_TITLE_RULE">
            <a:extLst xmlns:a="http://schemas.openxmlformats.org/drawingml/2006/main">
              <a:ext uri="{FF2B5EF4-FFF2-40B4-BE49-F238E27FC236}">
                <a16:creationId xmlns:a16="http://schemas.microsoft.com/office/drawing/2014/main" id="{C674AFCD-9D5C-42BD-8291-1496E4F4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5_FOOTER_RULE">
            <a:extLst xmlns:a="http://schemas.openxmlformats.org/drawingml/2006/main">
              <a:ext uri="{FF2B5EF4-FFF2-40B4-BE49-F238E27FC236}">
                <a16:creationId xmlns:a16="http://schemas.microsoft.com/office/drawing/2014/main" id="{18E673BE-661C-462F-A88E-843E80FD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5_SOURCE">
            <a:extLst xmlns:a="http://schemas.openxmlformats.org/drawingml/2006/main">
              <a:ext uri="{FF2B5EF4-FFF2-40B4-BE49-F238E27FC236}">
                <a16:creationId xmlns:a16="http://schemas.microsoft.com/office/drawing/2014/main" id="{241CB9A6-C62E-4013-870D-DD0F2085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NGUỒN  Lab01/static/js/dom_vulnerable.js · dom_secure.js</a:t>
            </a:r>
          </a:p>
        </p:txBody>
      </p:sp>
      <p:sp>
        <p:nvSpPr>
          <p:cNvPr id="7" name="S5_NUMBER">
            <a:extLst xmlns:a="http://schemas.openxmlformats.org/drawingml/2006/main">
              <a:ext uri="{FF2B5EF4-FFF2-40B4-BE49-F238E27FC236}">
                <a16:creationId xmlns:a16="http://schemas.microsoft.com/office/drawing/2014/main" id="{E7C092F8-E9A4-4F24-B253-B0E85A4C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8" name="S5_DOM_FLOW_ARROW_1">
            <a:extLst xmlns:a="http://schemas.openxmlformats.org/drawingml/2006/main">
              <a:ext uri="{FF2B5EF4-FFF2-40B4-BE49-F238E27FC236}">
                <a16:creationId xmlns:a16="http://schemas.microsoft.com/office/drawing/2014/main" id="{74DA2CC6-C01A-4A62-B5C5-51DF79D2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013" y="21336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5_DOM_FLOW_ARROW_2">
            <a:extLst xmlns:a="http://schemas.openxmlformats.org/drawingml/2006/main">
              <a:ext uri="{FF2B5EF4-FFF2-40B4-BE49-F238E27FC236}">
                <a16:creationId xmlns:a16="http://schemas.microsoft.com/office/drawing/2014/main" id="{B5815644-A3F3-41F4-8663-E6C1807F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1336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5_DOM_FLOW_ARROW_3">
            <a:extLst xmlns:a="http://schemas.openxmlformats.org/drawingml/2006/main">
              <a:ext uri="{FF2B5EF4-FFF2-40B4-BE49-F238E27FC236}">
                <a16:creationId xmlns:a16="http://schemas.microsoft.com/office/drawing/2014/main" id="{4CEC5085-3916-4088-8D45-C6565306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21336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5_DOM_FLOW_NODE_1">
            <a:extLst xmlns:a="http://schemas.openxmlformats.org/drawingml/2006/main">
              <a:ext uri="{FF2B5EF4-FFF2-40B4-BE49-F238E27FC236}">
                <a16:creationId xmlns:a16="http://schemas.microsoft.com/office/drawing/2014/main" id="{F9A9440D-DA7D-4314-952C-825AE3BC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2481263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location.hash</a:t>
            </a:r>
          </a:p>
        </p:txBody>
      </p:sp>
      <p:sp>
        <p:nvSpPr>
          <p:cNvPr id="12" name="S5_DOM_FLOW_NODE_2">
            <a:extLst xmlns:a="http://schemas.openxmlformats.org/drawingml/2006/main">
              <a:ext uri="{FF2B5EF4-FFF2-40B4-BE49-F238E27FC236}">
                <a16:creationId xmlns:a16="http://schemas.microsoft.com/office/drawing/2014/main" id="{FD0CF935-7AFA-45E9-B261-931ED0BF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1752600"/>
            <a:ext cx="2481263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decodeURIComponent</a:t>
            </a:r>
          </a:p>
        </p:txBody>
      </p:sp>
      <p:sp>
        <p:nvSpPr>
          <p:cNvPr id="13" name="S5_DOM_FLOW_NODE_3">
            <a:extLst xmlns:a="http://schemas.openxmlformats.org/drawingml/2006/main">
              <a:ext uri="{FF2B5EF4-FFF2-40B4-BE49-F238E27FC236}">
                <a16:creationId xmlns:a16="http://schemas.microsoft.com/office/drawing/2014/main" id="{4E41A83F-656D-4030-9133-0766CEA6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752600"/>
            <a:ext cx="2481263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innerHTML</a:t>
            </a:r>
          </a:p>
        </p:txBody>
      </p:sp>
      <p:sp>
        <p:nvSpPr>
          <p:cNvPr id="14" name="S5_DOM_FLOW_NODE_4">
            <a:extLst xmlns:a="http://schemas.openxmlformats.org/drawingml/2006/main">
              <a:ext uri="{FF2B5EF4-FFF2-40B4-BE49-F238E27FC236}">
                <a16:creationId xmlns:a16="http://schemas.microsoft.com/office/drawing/2014/main" id="{EAC4D07C-AE96-46E4-8338-DFF91BBE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1752600"/>
            <a:ext cx="2481263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DOM node / event</a:t>
            </a:r>
          </a:p>
        </p:txBody>
      </p:sp>
      <p:sp>
        <p:nvSpPr>
          <p:cNvPr id="15" name="S5_VULN_CODE">
            <a:extLst xmlns:a="http://schemas.openxmlformats.org/drawingml/2006/main">
              <a:ext uri="{FF2B5EF4-FFF2-40B4-BE49-F238E27FC236}">
                <a16:creationId xmlns:a16="http://schemas.microsoft.com/office/drawing/2014/main" id="{2BF4577C-E68A-4929-9F90-00BE8D68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53149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9525">
            <a:solidFill>
              <a:srgbClr val="D96C5F"/>
            </a:solidFill>
            <a:prstDash val="solid"/>
          </a:ln>
        </p:spPr>
        <p:txBody>
          <a:bodyPr xmlns:a="http://schemas.openxmlformats.org/drawingml/2006/main" wrap="square" lIns="133350" tIns="123825" rIns="133350" bIns="1143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// vulnerable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const value = decodeURIComponent(location.hash.slice(1));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result.innerHTML = value;</a:t>
            </a:r>
          </a:p>
        </p:txBody>
      </p:sp>
      <p:sp>
        <p:nvSpPr>
          <p:cNvPr id="16" name="S5_SAFE_CODE">
            <a:extLst xmlns:a="http://schemas.openxmlformats.org/drawingml/2006/main">
              <a:ext uri="{FF2B5EF4-FFF2-40B4-BE49-F238E27FC236}">
                <a16:creationId xmlns:a16="http://schemas.microsoft.com/office/drawing/2014/main" id="{EF9AA840-D53A-4C6F-9950-2E68E601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05150"/>
            <a:ext cx="55816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9525">
            <a:solidFill>
              <a:srgbClr val="71B48D"/>
            </a:solidFill>
            <a:prstDash val="solid"/>
          </a:ln>
        </p:spPr>
        <p:txBody>
          <a:bodyPr xmlns:a="http://schemas.openxmlformats.org/drawingml/2006/main" wrap="square" lIns="133350" tIns="123825" rIns="133350" bIns="1143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// secure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const value = decodeURIComponent(location.hash.slice(1));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result.textContent = value;</a:t>
            </a:r>
          </a:p>
        </p:txBody>
      </p:sp>
      <p:sp>
        <p:nvSpPr>
          <p:cNvPr id="17" name="S5_ROOT_BAR">
            <a:extLst xmlns:a="http://schemas.openxmlformats.org/drawingml/2006/main">
              <a:ext uri="{FF2B5EF4-FFF2-40B4-BE49-F238E27FC236}">
                <a16:creationId xmlns:a16="http://schemas.microsoft.com/office/drawing/2014/main" id="{158FF293-A61E-4EF9-9315-ED2DF7AA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762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8" name="S5_ROOT_LABEL">
            <a:extLst xmlns:a="http://schemas.openxmlformats.org/drawingml/2006/main">
              <a:ext uri="{FF2B5EF4-FFF2-40B4-BE49-F238E27FC236}">
                <a16:creationId xmlns:a16="http://schemas.microsoft.com/office/drawing/2014/main" id="{9F8FFB35-2FFB-48D4-A3C3-09D4CB09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638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ROOT CAUSE</a:t>
            </a:r>
          </a:p>
        </p:txBody>
      </p:sp>
      <p:sp>
        <p:nvSpPr>
          <p:cNvPr id="19" name="S5_ROOT_BODY">
            <a:extLst xmlns:a="http://schemas.openxmlformats.org/drawingml/2006/main">
              <a:ext uri="{FF2B5EF4-FFF2-40B4-BE49-F238E27FC236}">
                <a16:creationId xmlns:a16="http://schemas.microsoft.com/office/drawing/2014/main" id="{D73BE453-B52E-49EA-9148-2AAA681B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19700"/>
            <a:ext cx="9201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Không phải fragment tự nguy hiểm; lỗi nằm ở việc đưa dữ liệu chưa tin cậy vào sink diễn giải HTML.</a:t>
            </a:r>
          </a:p>
        </p:txBody>
      </p:sp>
    </p:spTree>
    <p:extLst>
      <p:ext uri="{BB962C8B-B14F-4D97-AF65-F5344CB8AC3E}">
        <p14:creationId xmlns:p14="http://schemas.microsoft.com/office/powerpoint/2010/main" val="16062662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6_EYEBROW">
            <a:extLst xmlns:a="http://schemas.openxmlformats.org/drawingml/2006/main">
              <a:ext uri="{FF2B5EF4-FFF2-40B4-BE49-F238E27FC236}">
                <a16:creationId xmlns:a16="http://schemas.microsoft.com/office/drawing/2014/main" id="{A03AA855-D815-4AC6-95AE-7EE5380D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LAB01 / XSS</a:t>
            </a:r>
          </a:p>
        </p:txBody>
      </p:sp>
      <p:sp>
        <p:nvSpPr>
          <p:cNvPr id="2" name="S6_TITLE">
            <a:extLst xmlns:a="http://schemas.openxmlformats.org/drawingml/2006/main">
              <a:ext uri="{FF2B5EF4-FFF2-40B4-BE49-F238E27FC236}">
                <a16:creationId xmlns:a16="http://schemas.microsoft.com/office/drawing/2014/main" id="{CFE95447-508A-4711-BA6A-AF3E43C5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4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Bản vá gốc nằm tại output và DOM sink</a:t>
            </a:r>
          </a:p>
        </p:txBody>
      </p:sp>
      <p:sp>
        <p:nvSpPr>
          <p:cNvPr id="3" name="S6_SUBTITLE">
            <a:extLst xmlns:a="http://schemas.openxmlformats.org/drawingml/2006/main">
              <a:ext uri="{FF2B5EF4-FFF2-40B4-BE49-F238E27FC236}">
                <a16:creationId xmlns:a16="http://schemas.microsoft.com/office/drawing/2014/main" id="{1D7C2B2E-507E-4D14-9FEB-AFA9E724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Encode theo ngữ cảnh · sanitize HTML có chủ đích · dùng API tạo text.</a:t>
            </a:r>
          </a:p>
        </p:txBody>
      </p:sp>
      <p:sp>
        <p:nvSpPr>
          <p:cNvPr id="4" name="S6_TITLE_RULE">
            <a:extLst xmlns:a="http://schemas.openxmlformats.org/drawingml/2006/main">
              <a:ext uri="{FF2B5EF4-FFF2-40B4-BE49-F238E27FC236}">
                <a16:creationId xmlns:a16="http://schemas.microsoft.com/office/drawing/2014/main" id="{00C417A6-8F87-49BF-A548-24E7DD3D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6_FOOTER_RULE">
            <a:extLst xmlns:a="http://schemas.openxmlformats.org/drawingml/2006/main">
              <a:ext uri="{FF2B5EF4-FFF2-40B4-BE49-F238E27FC236}">
                <a16:creationId xmlns:a16="http://schemas.microsoft.com/office/drawing/2014/main" id="{AE2E52B5-303D-42EF-AD9B-63434205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6_SOURCE">
            <a:extLst xmlns:a="http://schemas.openxmlformats.org/drawingml/2006/main">
              <a:ext uri="{FF2B5EF4-FFF2-40B4-BE49-F238E27FC236}">
                <a16:creationId xmlns:a16="http://schemas.microsoft.com/office/drawing/2014/main" id="{132295AE-6820-4691-A34A-9D0D6440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NGUỒN  Lab01/app.py · dom_secure.js · config.py</a:t>
            </a:r>
          </a:p>
        </p:txBody>
      </p:sp>
      <p:sp>
        <p:nvSpPr>
          <p:cNvPr id="7" name="S6_NUMBER">
            <a:extLst xmlns:a="http://schemas.openxmlformats.org/drawingml/2006/main">
              <a:ext uri="{FF2B5EF4-FFF2-40B4-BE49-F238E27FC236}">
                <a16:creationId xmlns:a16="http://schemas.microsoft.com/office/drawing/2014/main" id="{660C94B5-E0FD-41B5-B343-FE85913A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8" name="S6_PATCH_LEFT">
            <a:extLst xmlns:a="http://schemas.openxmlformats.org/drawingml/2006/main">
              <a:ext uri="{FF2B5EF4-FFF2-40B4-BE49-F238E27FC236}">
                <a16:creationId xmlns:a16="http://schemas.microsoft.com/office/drawing/2014/main" id="{9F18136C-0C19-49D4-8BA2-FEA1EE1E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448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D96C5F"/>
            </a:solidFill>
            <a:prstDash val="solid"/>
          </a:ln>
        </p:spPr>
        <p:txBody>
          <a:bodyPr xmlns:a="http://schemas.openxmlformats.org/drawingml/2006/main" wrap="square" lIns="133350" tIns="114300" rIns="1333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VULNERABLE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Markup(q)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Markup(comment.body)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innerHTML = value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Dữ liệu trở thành markup</a:t>
            </a:r>
          </a:p>
        </p:txBody>
      </p:sp>
      <p:sp>
        <p:nvSpPr>
          <p:cNvPr id="9" name="S6_PATCH_RIGHT">
            <a:extLst xmlns:a="http://schemas.openxmlformats.org/drawingml/2006/main">
              <a:ext uri="{FF2B5EF4-FFF2-40B4-BE49-F238E27FC236}">
                <a16:creationId xmlns:a16="http://schemas.microsoft.com/office/drawing/2014/main" id="{AB09C510-767D-432B-880A-E4928036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52600"/>
            <a:ext cx="5448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71B48D"/>
            </a:solidFill>
            <a:prstDash val="solid"/>
          </a:ln>
        </p:spPr>
        <p:txBody>
          <a:bodyPr xmlns:a="http://schemas.openxmlformats.org/drawingml/2006/main" wrap="square" lIns="133350" tIns="114300" rIns="1333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SECURE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Jinja auto-escape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bleach.clean(..., strip=True)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textContent = value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Dữ liệu giữ nguyên vai trò data</a:t>
            </a:r>
          </a:p>
        </p:txBody>
      </p:sp>
      <p:sp>
        <p:nvSpPr>
          <p:cNvPr id="10" name="PH_S06_Lab01_41_secure_dom_textcontent_png_FRAME">
            <a:extLst xmlns:a="http://schemas.openxmlformats.org/drawingml/2006/main">
              <a:ext uri="{FF2B5EF4-FFF2-40B4-BE49-F238E27FC236}">
                <a16:creationId xmlns:a16="http://schemas.microsoft.com/office/drawing/2014/main" id="{A0534A02-D611-41CB-A0B5-005C78F9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410075"/>
            <a:ext cx="52959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5D26"/>
            </a:solidFill>
            <a:prstDash val="solid"/>
          </a:ln>
        </p:spPr>
      </p:sp>
      <p:sp>
        <p:nvSpPr>
          <p:cNvPr id="11" name="PH_S06_Lab01_41_secure_dom_textcontent_png_IMAGE">
            <a:extLst xmlns:a="http://schemas.openxmlformats.org/drawingml/2006/main">
              <a:ext uri="{FF2B5EF4-FFF2-40B4-BE49-F238E27FC236}">
                <a16:creationId xmlns:a16="http://schemas.microsoft.com/office/drawing/2014/main" id="{516A624A-96F0-43F6-95C1-E2ADFAE0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5238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</p:sp>
      <p:sp>
        <p:nvSpPr>
          <p:cNvPr id="12" name="PH_S06_Lab01_41_secure_dom_textcontent_png_ICON">
            <a:extLst xmlns:a="http://schemas.openxmlformats.org/drawingml/2006/main">
              <a:ext uri="{FF2B5EF4-FFF2-40B4-BE49-F238E27FC236}">
                <a16:creationId xmlns:a16="http://schemas.microsoft.com/office/drawing/2014/main" id="{686A79BE-482F-432B-8AAE-C785FD79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▣</a:t>
            </a:r>
          </a:p>
        </p:txBody>
      </p:sp>
      <p:sp>
        <p:nvSpPr>
          <p:cNvPr id="13" name="PH_S06_Lab01_41_secure_dom_textcontent_png_INSTRUCTION">
            <a:extLst xmlns:a="http://schemas.openxmlformats.org/drawingml/2006/main">
              <a:ext uri="{FF2B5EF4-FFF2-40B4-BE49-F238E27FC236}">
                <a16:creationId xmlns:a16="http://schemas.microsoft.com/office/drawing/2014/main" id="{F9EF7528-E665-400B-BF2D-2BFF5B0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4400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CHÈN ẢNH THẬT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41_secure_dom_textcontent.png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16:9 · CROP → FILL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XEM GUIDE</a:t>
            </a:r>
          </a:p>
        </p:txBody>
      </p:sp>
      <p:sp>
        <p:nvSpPr>
          <p:cNvPr id="14" name="PH_S06_Lab01_41_secure_dom_textcontent_png_CAPTION">
            <a:extLst xmlns:a="http://schemas.openxmlformats.org/drawingml/2006/main">
              <a:ext uri="{FF2B5EF4-FFF2-40B4-BE49-F238E27FC236}">
                <a16:creationId xmlns:a16="http://schemas.microsoft.com/office/drawing/2014/main" id="{780922DD-494F-4530-80B9-7596D3B1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4832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Elements chứng minh textContent an toàn</a:t>
            </a:r>
          </a:p>
        </p:txBody>
      </p:sp>
      <p:sp>
        <p:nvSpPr>
          <p:cNvPr id="15" name="S6_LAYERS_BAR">
            <a:extLst xmlns:a="http://schemas.openxmlformats.org/drawingml/2006/main">
              <a:ext uri="{FF2B5EF4-FFF2-40B4-BE49-F238E27FC236}">
                <a16:creationId xmlns:a16="http://schemas.microsoft.com/office/drawing/2014/main" id="{BB21DE1B-18C5-4479-AA1C-8D4C9384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76750"/>
            <a:ext cx="762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6" name="S6_LAYERS_LABEL">
            <a:extLst xmlns:a="http://schemas.openxmlformats.org/drawingml/2006/main">
              <a:ext uri="{FF2B5EF4-FFF2-40B4-BE49-F238E27FC236}">
                <a16:creationId xmlns:a16="http://schemas.microsoft.com/office/drawing/2014/main" id="{A1099AE1-73E6-4926-A861-9937E685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95800"/>
            <a:ext cx="537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DEFENSE IN DEPTH</a:t>
            </a:r>
          </a:p>
        </p:txBody>
      </p:sp>
      <p:sp>
        <p:nvSpPr>
          <p:cNvPr id="17" name="S6_LAYERS_BODY">
            <a:extLst xmlns:a="http://schemas.openxmlformats.org/drawingml/2006/main">
              <a:ext uri="{FF2B5EF4-FFF2-40B4-BE49-F238E27FC236}">
                <a16:creationId xmlns:a16="http://schemas.microsoft.com/office/drawing/2014/main" id="{63254367-88FF-435F-8374-A33B9E75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00600"/>
            <a:ext cx="5372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CSP giảm blast radius; HttpOnly/Secure/SameSite bảo vệ cookie; validation giảm input bất thường. Không lớp nào thay thế sửa sink.</a:t>
            </a:r>
          </a:p>
        </p:txBody>
      </p:sp>
    </p:spTree>
    <p:extLst>
      <p:ext uri="{BB962C8B-B14F-4D97-AF65-F5344CB8AC3E}">
        <p14:creationId xmlns:p14="http://schemas.microsoft.com/office/powerpoint/2010/main" val="6220067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7_EYEBROW">
            <a:extLst xmlns:a="http://schemas.openxmlformats.org/drawingml/2006/main">
              <a:ext uri="{FF2B5EF4-FFF2-40B4-BE49-F238E27FC236}">
                <a16:creationId xmlns:a16="http://schemas.microsoft.com/office/drawing/2014/main" id="{82D64031-A932-41DA-8200-85DB433C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LAB01 / XSS</a:t>
            </a:r>
          </a:p>
        </p:txBody>
      </p:sp>
      <p:sp>
        <p:nvSpPr>
          <p:cNvPr id="2" name="S7_TITLE">
            <a:extLst xmlns:a="http://schemas.openxmlformats.org/drawingml/2006/main">
              <a:ext uri="{FF2B5EF4-FFF2-40B4-BE49-F238E27FC236}">
                <a16:creationId xmlns:a16="http://schemas.microsoft.com/office/drawing/2014/main" id="{A2278252-B8DF-4D8C-8C2B-6A340450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4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Kiểm chứng và câu trả lời báo cáo</a:t>
            </a:r>
          </a:p>
        </p:txBody>
      </p:sp>
      <p:sp>
        <p:nvSpPr>
          <p:cNvPr id="3" name="S7_SUBTITLE">
            <a:extLst xmlns:a="http://schemas.openxmlformats.org/drawingml/2006/main">
              <a:ext uri="{FF2B5EF4-FFF2-40B4-BE49-F238E27FC236}">
                <a16:creationId xmlns:a16="http://schemas.microsoft.com/office/drawing/2014/main" id="{523DC5BC-1E16-4985-A27A-E7FFBFDC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Một bảng so sánh, năm kết luận, một checklist bằng chứng.</a:t>
            </a:r>
          </a:p>
        </p:txBody>
      </p:sp>
      <p:sp>
        <p:nvSpPr>
          <p:cNvPr id="4" name="S7_TITLE_RULE">
            <a:extLst xmlns:a="http://schemas.openxmlformats.org/drawingml/2006/main">
              <a:ext uri="{FF2B5EF4-FFF2-40B4-BE49-F238E27FC236}">
                <a16:creationId xmlns:a16="http://schemas.microsoft.com/office/drawing/2014/main" id="{6A24E7A7-43EE-4B50-B946-11481E2D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7_FOOTER_RULE">
            <a:extLst xmlns:a="http://schemas.openxmlformats.org/drawingml/2006/main">
              <a:ext uri="{FF2B5EF4-FFF2-40B4-BE49-F238E27FC236}">
                <a16:creationId xmlns:a16="http://schemas.microsoft.com/office/drawing/2014/main" id="{C62B38F4-F8D2-4429-B2A5-4EF803B4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7_SOURCE">
            <a:extLst xmlns:a="http://schemas.openxmlformats.org/drawingml/2006/main">
              <a:ext uri="{FF2B5EF4-FFF2-40B4-BE49-F238E27FC236}">
                <a16:creationId xmlns:a16="http://schemas.microsoft.com/office/drawing/2014/main" id="{1E07EE60-E2FC-4DFC-8D92-D975F772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NGUỒN  BaiTapTopic04.docx P103–P108 · report Lab01</a:t>
            </a:r>
          </a:p>
        </p:txBody>
      </p:sp>
      <p:sp>
        <p:nvSpPr>
          <p:cNvPr id="7" name="S7_NUMBER">
            <a:extLst xmlns:a="http://schemas.openxmlformats.org/drawingml/2006/main">
              <a:ext uri="{FF2B5EF4-FFF2-40B4-BE49-F238E27FC236}">
                <a16:creationId xmlns:a16="http://schemas.microsoft.com/office/drawing/2014/main" id="{DC46F6B2-B9CD-4F1A-AFF5-FD163D8F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8" name="S7_MATRIX_H0">
            <a:extLst xmlns:a="http://schemas.openxmlformats.org/drawingml/2006/main">
              <a:ext uri="{FF2B5EF4-FFF2-40B4-BE49-F238E27FC236}">
                <a16:creationId xmlns:a16="http://schemas.microsoft.com/office/drawing/2014/main" id="{9140ECB9-8572-470E-A214-4CE3F734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14300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LOẠI</a:t>
            </a:r>
          </a:p>
        </p:txBody>
      </p:sp>
      <p:sp>
        <p:nvSpPr>
          <p:cNvPr id="9" name="S7_MATRIX_H1">
            <a:extLst xmlns:a="http://schemas.openxmlformats.org/drawingml/2006/main">
              <a:ext uri="{FF2B5EF4-FFF2-40B4-BE49-F238E27FC236}">
                <a16:creationId xmlns:a16="http://schemas.microsoft.com/office/drawing/2014/main" id="{599FFE5C-DCAF-4032-98B0-F3D8201C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695450"/>
            <a:ext cx="11620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TỒN TẠI</a:t>
            </a:r>
          </a:p>
        </p:txBody>
      </p:sp>
      <p:sp>
        <p:nvSpPr>
          <p:cNvPr id="10" name="S7_MATRIX_H2">
            <a:extLst xmlns:a="http://schemas.openxmlformats.org/drawingml/2006/main">
              <a:ext uri="{FF2B5EF4-FFF2-40B4-BE49-F238E27FC236}">
                <a16:creationId xmlns:a16="http://schemas.microsoft.com/office/drawing/2014/main" id="{CD50CBE6-ABA2-4116-9A49-ED132ABB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95450"/>
            <a:ext cx="1381125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SERVER</a:t>
            </a:r>
          </a:p>
        </p:txBody>
      </p:sp>
      <p:sp>
        <p:nvSpPr>
          <p:cNvPr id="11" name="S7_MATRIX_H3">
            <a:extLst xmlns:a="http://schemas.openxmlformats.org/drawingml/2006/main">
              <a:ext uri="{FF2B5EF4-FFF2-40B4-BE49-F238E27FC236}">
                <a16:creationId xmlns:a16="http://schemas.microsoft.com/office/drawing/2014/main" id="{74F11D92-6EB5-444B-9FF8-CBA5A7C2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695450"/>
            <a:ext cx="1457325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PATCH GỐC</a:t>
            </a:r>
          </a:p>
        </p:txBody>
      </p:sp>
      <p:sp>
        <p:nvSpPr>
          <p:cNvPr id="12" name="S7_MATRIX_R0C0">
            <a:extLst xmlns:a="http://schemas.openxmlformats.org/drawingml/2006/main">
              <a:ext uri="{FF2B5EF4-FFF2-40B4-BE49-F238E27FC236}">
                <a16:creationId xmlns:a16="http://schemas.microsoft.com/office/drawing/2014/main" id="{417787E8-65DD-407C-A556-817DC0B1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2188"/>
            <a:ext cx="114300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Reflected</a:t>
            </a:r>
          </a:p>
        </p:txBody>
      </p:sp>
      <p:sp>
        <p:nvSpPr>
          <p:cNvPr id="13" name="S7_MATRIX_R0C1">
            <a:extLst xmlns:a="http://schemas.openxmlformats.org/drawingml/2006/main">
              <a:ext uri="{FF2B5EF4-FFF2-40B4-BE49-F238E27FC236}">
                <a16:creationId xmlns:a16="http://schemas.microsoft.com/office/drawing/2014/main" id="{E9C8D8A6-1FBC-4E62-84CA-373D5ED7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62188"/>
            <a:ext cx="11620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không</a:t>
            </a:r>
          </a:p>
        </p:txBody>
      </p:sp>
      <p:sp>
        <p:nvSpPr>
          <p:cNvPr id="14" name="S7_MATRIX_R0C2">
            <a:extLst xmlns:a="http://schemas.openxmlformats.org/drawingml/2006/main">
              <a:ext uri="{FF2B5EF4-FFF2-40B4-BE49-F238E27FC236}">
                <a16:creationId xmlns:a16="http://schemas.microsoft.com/office/drawing/2014/main" id="{D26A9F93-64B8-4437-9FCE-546C39C7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62188"/>
            <a:ext cx="1381125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phản chiếu</a:t>
            </a:r>
          </a:p>
        </p:txBody>
      </p:sp>
      <p:sp>
        <p:nvSpPr>
          <p:cNvPr id="15" name="S7_MATRIX_R0C3">
            <a:extLst xmlns:a="http://schemas.openxmlformats.org/drawingml/2006/main">
              <a:ext uri="{FF2B5EF4-FFF2-40B4-BE49-F238E27FC236}">
                <a16:creationId xmlns:a16="http://schemas.microsoft.com/office/drawing/2014/main" id="{B417ECB7-E6E0-441F-8FD3-2A18453C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262188"/>
            <a:ext cx="1457325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contextual encoding</a:t>
            </a:r>
          </a:p>
        </p:txBody>
      </p:sp>
      <p:sp>
        <p:nvSpPr>
          <p:cNvPr id="16" name="S7_MATRIX_R1C0">
            <a:extLst xmlns:a="http://schemas.openxmlformats.org/drawingml/2006/main">
              <a:ext uri="{FF2B5EF4-FFF2-40B4-BE49-F238E27FC236}">
                <a16:creationId xmlns:a16="http://schemas.microsoft.com/office/drawing/2014/main" id="{1E1960A2-F367-4E0D-BC92-5002E33E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28925"/>
            <a:ext cx="114300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Stored</a:t>
            </a:r>
          </a:p>
        </p:txBody>
      </p:sp>
      <p:sp>
        <p:nvSpPr>
          <p:cNvPr id="17" name="S7_MATRIX_R1C1">
            <a:extLst xmlns:a="http://schemas.openxmlformats.org/drawingml/2006/main">
              <a:ext uri="{FF2B5EF4-FFF2-40B4-BE49-F238E27FC236}">
                <a16:creationId xmlns:a16="http://schemas.microsoft.com/office/drawing/2014/main" id="{A5871FB1-511F-4DFE-B292-BB97E00B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28925"/>
            <a:ext cx="11620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SQLite</a:t>
            </a:r>
          </a:p>
        </p:txBody>
      </p:sp>
      <p:sp>
        <p:nvSpPr>
          <p:cNvPr id="18" name="S7_MATRIX_R1C2">
            <a:extLst xmlns:a="http://schemas.openxmlformats.org/drawingml/2006/main">
              <a:ext uri="{FF2B5EF4-FFF2-40B4-BE49-F238E27FC236}">
                <a16:creationId xmlns:a16="http://schemas.microsoft.com/office/drawing/2014/main" id="{82724748-C83B-4E70-8CE8-CCF0B3DD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28925"/>
            <a:ext cx="1381125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lưu + phát lại</a:t>
            </a:r>
          </a:p>
        </p:txBody>
      </p:sp>
      <p:sp>
        <p:nvSpPr>
          <p:cNvPr id="19" name="S7_MATRIX_R1C3">
            <a:extLst xmlns:a="http://schemas.openxmlformats.org/drawingml/2006/main">
              <a:ext uri="{FF2B5EF4-FFF2-40B4-BE49-F238E27FC236}">
                <a16:creationId xmlns:a16="http://schemas.microsoft.com/office/drawing/2014/main" id="{8D46CE99-E038-4D6C-B652-4D185832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828925"/>
            <a:ext cx="1457325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sanitize/encode output</a:t>
            </a:r>
          </a:p>
        </p:txBody>
      </p:sp>
      <p:sp>
        <p:nvSpPr>
          <p:cNvPr id="20" name="S7_MATRIX_R2C0">
            <a:extLst xmlns:a="http://schemas.openxmlformats.org/drawingml/2006/main">
              <a:ext uri="{FF2B5EF4-FFF2-40B4-BE49-F238E27FC236}">
                <a16:creationId xmlns:a16="http://schemas.microsoft.com/office/drawing/2014/main" id="{1AEB03F9-EBB8-4C54-96A0-807CBAFD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5663"/>
            <a:ext cx="114300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DOM</a:t>
            </a:r>
          </a:p>
        </p:txBody>
      </p:sp>
      <p:sp>
        <p:nvSpPr>
          <p:cNvPr id="21" name="S7_MATRIX_R2C1">
            <a:extLst xmlns:a="http://schemas.openxmlformats.org/drawingml/2006/main">
              <a:ext uri="{FF2B5EF4-FFF2-40B4-BE49-F238E27FC236}">
                <a16:creationId xmlns:a16="http://schemas.microsoft.com/office/drawing/2014/main" id="{A88D78C6-42A2-4C32-910B-139FFEA9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95663"/>
            <a:ext cx="11620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fragment</a:t>
            </a:r>
          </a:p>
        </p:txBody>
      </p:sp>
      <p:sp>
        <p:nvSpPr>
          <p:cNvPr id="22" name="S7_MATRIX_R2C2">
            <a:extLst xmlns:a="http://schemas.openxmlformats.org/drawingml/2006/main">
              <a:ext uri="{FF2B5EF4-FFF2-40B4-BE49-F238E27FC236}">
                <a16:creationId xmlns:a16="http://schemas.microsoft.com/office/drawing/2014/main" id="{EC243954-2E87-4EE1-898E-FC0E0E48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95663"/>
            <a:ext cx="1381125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không bắt buộc</a:t>
            </a:r>
          </a:p>
        </p:txBody>
      </p:sp>
      <p:sp>
        <p:nvSpPr>
          <p:cNvPr id="23" name="S7_MATRIX_R2C3">
            <a:extLst xmlns:a="http://schemas.openxmlformats.org/drawingml/2006/main">
              <a:ext uri="{FF2B5EF4-FFF2-40B4-BE49-F238E27FC236}">
                <a16:creationId xmlns:a16="http://schemas.microsoft.com/office/drawing/2014/main" id="{B8A73A18-D496-4C18-A862-02A071C3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395663"/>
            <a:ext cx="1457325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safe DOM API</a:t>
            </a:r>
          </a:p>
        </p:txBody>
      </p:sp>
      <p:sp>
        <p:nvSpPr>
          <p:cNvPr id="24" name="S7_QA_1">
            <a:extLst xmlns:a="http://schemas.openxmlformats.org/drawingml/2006/main">
              <a:ext uri="{FF2B5EF4-FFF2-40B4-BE49-F238E27FC236}">
                <a16:creationId xmlns:a16="http://schemas.microsoft.com/office/drawing/2014/main" id="{F6A45F9F-98DF-45BC-A3DE-F6C5DC04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95450"/>
            <a:ext cx="2781300" cy="128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01  Validation chưa đủ vì sink/ngữ cảnh quyết định cách diễn giải.</a:t>
            </a:r>
          </a:p>
        </p:txBody>
      </p:sp>
      <p:sp>
        <p:nvSpPr>
          <p:cNvPr id="25" name="S7_QA_2">
            <a:extLst xmlns:a="http://schemas.openxmlformats.org/drawingml/2006/main">
              <a:ext uri="{FF2B5EF4-FFF2-40B4-BE49-F238E27FC236}">
                <a16:creationId xmlns:a16="http://schemas.microsoft.com/office/drawing/2014/main" id="{1864BF1F-20CD-41B6-AD5A-0005C4DB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95450"/>
            <a:ext cx="2781300" cy="128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02  Output encoding giữ dữ liệu không trở thành mã.</a:t>
            </a:r>
          </a:p>
        </p:txBody>
      </p:sp>
      <p:sp>
        <p:nvSpPr>
          <p:cNvPr id="26" name="S7_QA_3">
            <a:extLst xmlns:a="http://schemas.openxmlformats.org/drawingml/2006/main">
              <a:ext uri="{FF2B5EF4-FFF2-40B4-BE49-F238E27FC236}">
                <a16:creationId xmlns:a16="http://schemas.microsoft.com/office/drawing/2014/main" id="{2219AE76-34DD-4EA8-8F24-A6CC7C2D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36900"/>
            <a:ext cx="2781300" cy="128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03  Stored ảnh hưởng mọi người xem dữ liệu đã lưu.</a:t>
            </a:r>
          </a:p>
        </p:txBody>
      </p:sp>
      <p:sp>
        <p:nvSpPr>
          <p:cNvPr id="27" name="S7_QA_4">
            <a:extLst xmlns:a="http://schemas.openxmlformats.org/drawingml/2006/main">
              <a:ext uri="{FF2B5EF4-FFF2-40B4-BE49-F238E27FC236}">
                <a16:creationId xmlns:a16="http://schemas.microsoft.com/office/drawing/2014/main" id="{CCB006BC-8838-4515-8455-F66AABEC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36900"/>
            <a:ext cx="2781300" cy="128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04  DOM XSS phát sinh và thực thi hoàn toàn ở browser.</a:t>
            </a:r>
          </a:p>
        </p:txBody>
      </p:sp>
      <p:sp>
        <p:nvSpPr>
          <p:cNvPr id="28" name="S7_QA_5">
            <a:extLst xmlns:a="http://schemas.openxmlformats.org/drawingml/2006/main">
              <a:ext uri="{FF2B5EF4-FFF2-40B4-BE49-F238E27FC236}">
                <a16:creationId xmlns:a16="http://schemas.microsoft.com/office/drawing/2014/main" id="{3CDC5E10-40C3-4FEF-8C74-22F314A5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78350"/>
            <a:ext cx="2781300" cy="128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05  CSP hỗ trợ, không thay sửa code.</a:t>
            </a:r>
          </a:p>
        </p:txBody>
      </p:sp>
      <p:sp>
        <p:nvSpPr>
          <p:cNvPr id="29" name="S7_QA_6">
            <a:extLst xmlns:a="http://schemas.openxmlformats.org/drawingml/2006/main">
              <a:ext uri="{FF2B5EF4-FFF2-40B4-BE49-F238E27FC236}">
                <a16:creationId xmlns:a16="http://schemas.microsoft.com/office/drawing/2014/main" id="{BCC1B77E-E354-4A32-8BBB-D397C5D5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78350"/>
            <a:ext cx="2781300" cy="128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06  Evidence: URL/request · storage · Elements · secure retest.</a:t>
            </a:r>
          </a:p>
        </p:txBody>
      </p:sp>
      <p:sp>
        <p:nvSpPr>
          <p:cNvPr id="30" name="S7_ANSWER_BAR">
            <a:extLst xmlns:a="http://schemas.openxmlformats.org/drawingml/2006/main">
              <a:ext uri="{FF2B5EF4-FFF2-40B4-BE49-F238E27FC236}">
                <a16:creationId xmlns:a16="http://schemas.microsoft.com/office/drawing/2014/main" id="{BC0C78F6-807E-44A3-B66B-29D2A11B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762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1" name="S7_ANSWER_LABEL">
            <a:extLst xmlns:a="http://schemas.openxmlformats.org/drawingml/2006/main">
              <a:ext uri="{FF2B5EF4-FFF2-40B4-BE49-F238E27FC236}">
                <a16:creationId xmlns:a16="http://schemas.microsoft.com/office/drawing/2014/main" id="{A23592D0-D5A4-4A78-8FEC-10F2E45B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PATCH THE SINK</a:t>
            </a:r>
          </a:p>
        </p:txBody>
      </p:sp>
      <p:sp>
        <p:nvSpPr>
          <p:cNvPr id="32" name="S7_ANSWER_BODY">
            <a:extLst xmlns:a="http://schemas.openxmlformats.org/drawingml/2006/main">
              <a:ext uri="{FF2B5EF4-FFF2-40B4-BE49-F238E27FC236}">
                <a16:creationId xmlns:a16="http://schemas.microsoft.com/office/drawing/2014/main" id="{B7913908-ACD0-49E3-8127-AD71A109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Reflected: escape output · Stored: sanitize/encode khi hiển thị · DOM: textContent/DOM API an toàn.</a:t>
            </a:r>
          </a:p>
        </p:txBody>
      </p:sp>
    </p:spTree>
    <p:extLst>
      <p:ext uri="{BB962C8B-B14F-4D97-AF65-F5344CB8AC3E}">
        <p14:creationId xmlns:p14="http://schemas.microsoft.com/office/powerpoint/2010/main" val="16974385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8_EYEBROW">
            <a:extLst xmlns:a="http://schemas.openxmlformats.org/drawingml/2006/main">
              <a:ext uri="{FF2B5EF4-FFF2-40B4-BE49-F238E27FC236}">
                <a16:creationId xmlns:a16="http://schemas.microsoft.com/office/drawing/2014/main" id="{4C1903F6-C5A2-4D40-B304-4DE29992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LAB02 / BUFFER OVERFLOW</a:t>
            </a:r>
          </a:p>
        </p:txBody>
      </p:sp>
      <p:sp>
        <p:nvSpPr>
          <p:cNvPr id="2" name="S8_TITLE">
            <a:extLst xmlns:a="http://schemas.openxmlformats.org/drawingml/2006/main">
              <a:ext uri="{FF2B5EF4-FFF2-40B4-BE49-F238E27FC236}">
                <a16:creationId xmlns:a16="http://schemas.microsoft.com/office/drawing/2014/main" id="{31ED5A88-0D35-4C69-AD16-922CDB26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4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HTTP có thể chạm tới lỗi bộ nhớ native</a:t>
            </a:r>
          </a:p>
        </p:txBody>
      </p:sp>
      <p:sp>
        <p:nvSpPr>
          <p:cNvPr id="3" name="S8_SUBTITLE">
            <a:extLst xmlns:a="http://schemas.openxmlformats.org/drawingml/2006/main">
              <a:ext uri="{FF2B5EF4-FFF2-40B4-BE49-F238E27FC236}">
                <a16:creationId xmlns:a16="http://schemas.microsoft.com/office/drawing/2014/main" id="{CF3B1B1E-B140-490A-8A8C-FF5FD5D4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Flask chỉ là cầu nối; lỗi xảy ra trong process C khi input vượt sức chứa.</a:t>
            </a:r>
          </a:p>
        </p:txBody>
      </p:sp>
      <p:sp>
        <p:nvSpPr>
          <p:cNvPr id="4" name="S8_TITLE_RULE">
            <a:extLst xmlns:a="http://schemas.openxmlformats.org/drawingml/2006/main">
              <a:ext uri="{FF2B5EF4-FFF2-40B4-BE49-F238E27FC236}">
                <a16:creationId xmlns:a16="http://schemas.microsoft.com/office/drawing/2014/main" id="{DAC280DF-001E-4196-8889-24C353B5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8_FOOTER_RULE">
            <a:extLst xmlns:a="http://schemas.openxmlformats.org/drawingml/2006/main">
              <a:ext uri="{FF2B5EF4-FFF2-40B4-BE49-F238E27FC236}">
                <a16:creationId xmlns:a16="http://schemas.microsoft.com/office/drawing/2014/main" id="{165DEA64-2498-4035-AA4D-6BA0DE1B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8_SOURCE">
            <a:extLst xmlns:a="http://schemas.openxmlformats.org/drawingml/2006/main">
              <a:ext uri="{FF2B5EF4-FFF2-40B4-BE49-F238E27FC236}">
                <a16:creationId xmlns:a16="http://schemas.microsoft.com/office/drawing/2014/main" id="{B070013E-527A-4E33-88E5-5260CEF8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NGUỒN  Lab02/app.py · native_runner.py · native/*.c</a:t>
            </a:r>
          </a:p>
        </p:txBody>
      </p:sp>
      <p:sp>
        <p:nvSpPr>
          <p:cNvPr id="7" name="S8_NUMBER">
            <a:extLst xmlns:a="http://schemas.openxmlformats.org/drawingml/2006/main">
              <a:ext uri="{FF2B5EF4-FFF2-40B4-BE49-F238E27FC236}">
                <a16:creationId xmlns:a16="http://schemas.microsoft.com/office/drawing/2014/main" id="{1FA5376F-DA86-4C2D-994A-B4CA9053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8" name="S8_ARCH_ARROW_1">
            <a:extLst xmlns:a="http://schemas.openxmlformats.org/drawingml/2006/main">
              <a:ext uri="{FF2B5EF4-FFF2-40B4-BE49-F238E27FC236}">
                <a16:creationId xmlns:a16="http://schemas.microsoft.com/office/drawing/2014/main" id="{CD8740D8-B468-44AF-B8E0-385E73B8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675" y="213360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8_ARCH_ARROW_2">
            <a:extLst xmlns:a="http://schemas.openxmlformats.org/drawingml/2006/main">
              <a:ext uri="{FF2B5EF4-FFF2-40B4-BE49-F238E27FC236}">
                <a16:creationId xmlns:a16="http://schemas.microsoft.com/office/drawing/2014/main" id="{1F4E4E0C-B530-4522-8BA4-F07776A5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0" y="213360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8_ARCH_ARROW_3">
            <a:extLst xmlns:a="http://schemas.openxmlformats.org/drawingml/2006/main">
              <a:ext uri="{FF2B5EF4-FFF2-40B4-BE49-F238E27FC236}">
                <a16:creationId xmlns:a16="http://schemas.microsoft.com/office/drawing/2014/main" id="{96FF4442-3F6C-48E0-9B79-F51EFAC5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13360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8_ARCH_ARROW_4">
            <a:extLst xmlns:a="http://schemas.openxmlformats.org/drawingml/2006/main">
              <a:ext uri="{FF2B5EF4-FFF2-40B4-BE49-F238E27FC236}">
                <a16:creationId xmlns:a16="http://schemas.microsoft.com/office/drawing/2014/main" id="{A7E9C805-3204-46E6-9465-6E421B03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213360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8_ARCH_ARROW_5">
            <a:extLst xmlns:a="http://schemas.openxmlformats.org/drawingml/2006/main">
              <a:ext uri="{FF2B5EF4-FFF2-40B4-BE49-F238E27FC236}">
                <a16:creationId xmlns:a16="http://schemas.microsoft.com/office/drawing/2014/main" id="{CB45BC1D-7F30-486F-A5D3-CB3F67BE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975" y="213360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8_ARCH_NODE_1">
            <a:extLst xmlns:a="http://schemas.openxmlformats.org/drawingml/2006/main">
              <a:ext uri="{FF2B5EF4-FFF2-40B4-BE49-F238E27FC236}">
                <a16:creationId xmlns:a16="http://schemas.microsoft.com/office/drawing/2014/main" id="{424FFC14-5106-4D45-B005-75EE9A71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16160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Browser</a:t>
            </a:r>
          </a:p>
        </p:txBody>
      </p:sp>
      <p:sp>
        <p:nvSpPr>
          <p:cNvPr id="14" name="S8_ARCH_NODE_2">
            <a:extLst xmlns:a="http://schemas.openxmlformats.org/drawingml/2006/main">
              <a:ext uri="{FF2B5EF4-FFF2-40B4-BE49-F238E27FC236}">
                <a16:creationId xmlns:a16="http://schemas.microsoft.com/office/drawing/2014/main" id="{33991B1D-F7F1-4DCF-A498-C8D13006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225" y="1771650"/>
            <a:ext cx="16160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POST /submit</a:t>
            </a:r>
          </a:p>
        </p:txBody>
      </p:sp>
      <p:sp>
        <p:nvSpPr>
          <p:cNvPr id="15" name="S8_ARCH_NODE_3">
            <a:extLst xmlns:a="http://schemas.openxmlformats.org/drawingml/2006/main">
              <a:ext uri="{FF2B5EF4-FFF2-40B4-BE49-F238E27FC236}">
                <a16:creationId xmlns:a16="http://schemas.microsoft.com/office/drawing/2014/main" id="{135D2EF2-9405-4432-9F13-4CBDAB5F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1771650"/>
            <a:ext cx="16160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Flask</a:t>
            </a:r>
          </a:p>
        </p:txBody>
      </p:sp>
      <p:sp>
        <p:nvSpPr>
          <p:cNvPr id="16" name="S8_ARCH_NODE_4">
            <a:extLst xmlns:a="http://schemas.openxmlformats.org/drawingml/2006/main">
              <a:ext uri="{FF2B5EF4-FFF2-40B4-BE49-F238E27FC236}">
                <a16:creationId xmlns:a16="http://schemas.microsoft.com/office/drawing/2014/main" id="{193FA7F2-FED1-406D-B692-D183A5C0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71650"/>
            <a:ext cx="16160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subprocess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shell=False</a:t>
            </a:r>
          </a:p>
        </p:txBody>
      </p:sp>
      <p:sp>
        <p:nvSpPr>
          <p:cNvPr id="17" name="S8_ARCH_NODE_5">
            <a:extLst xmlns:a="http://schemas.openxmlformats.org/drawingml/2006/main">
              <a:ext uri="{FF2B5EF4-FFF2-40B4-BE49-F238E27FC236}">
                <a16:creationId xmlns:a16="http://schemas.microsoft.com/office/drawing/2014/main" id="{02DDA03D-523F-4FEB-982B-30735424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1771650"/>
            <a:ext cx="16160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C binary</a:t>
            </a:r>
          </a:p>
        </p:txBody>
      </p:sp>
      <p:sp>
        <p:nvSpPr>
          <p:cNvPr id="18" name="S8_ARCH_NODE_6">
            <a:extLst xmlns:a="http://schemas.openxmlformats.org/drawingml/2006/main">
              <a:ext uri="{FF2B5EF4-FFF2-40B4-BE49-F238E27FC236}">
                <a16:creationId xmlns:a16="http://schemas.microsoft.com/office/drawing/2014/main" id="{76B0C6F0-7CCC-4772-ABFD-5F6B40B7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2525" y="1771650"/>
            <a:ext cx="16160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stack</a:t>
            </a:r>
          </a:p>
        </p:txBody>
      </p:sp>
      <p:sp>
        <p:nvSpPr>
          <p:cNvPr id="19" name="S8_SCOPE_BAR">
            <a:extLst xmlns:a="http://schemas.openxmlformats.org/drawingml/2006/main">
              <a:ext uri="{FF2B5EF4-FFF2-40B4-BE49-F238E27FC236}">
                <a16:creationId xmlns:a16="http://schemas.microsoft.com/office/drawing/2014/main" id="{345ACBF2-642B-4B79-A271-3CBDC10A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762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0" name="S8_SCOPE_LABEL">
            <a:extLst xmlns:a="http://schemas.openxmlformats.org/drawingml/2006/main">
              <a:ext uri="{FF2B5EF4-FFF2-40B4-BE49-F238E27FC236}">
                <a16:creationId xmlns:a16="http://schemas.microsoft.com/office/drawing/2014/main" id="{A4F54A0F-233C-4660-B56D-84BFA881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512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PHẠM VI AN TOÀN</a:t>
            </a:r>
          </a:p>
        </p:txBody>
      </p:sp>
      <p:sp>
        <p:nvSpPr>
          <p:cNvPr id="21" name="S8_SCOPE_BODY">
            <a:extLst xmlns:a="http://schemas.openxmlformats.org/drawingml/2006/main">
              <a:ext uri="{FF2B5EF4-FFF2-40B4-BE49-F238E27FC236}">
                <a16:creationId xmlns:a16="http://schemas.microsoft.com/office/drawing/2014/main" id="{D08ACC70-D5F8-453D-8EF2-119EDCE2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51244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Chỉ input local để quan sát response, ASan/GDB hoặc crash có kiểm soát. Không shellcode, ROP, chiếm quyền hay persistence.</a:t>
            </a:r>
          </a:p>
        </p:txBody>
      </p:sp>
      <p:sp>
        <p:nvSpPr>
          <p:cNvPr id="22" name="S8_THESIS_BAR">
            <a:extLst xmlns:a="http://schemas.openxmlformats.org/drawingml/2006/main">
              <a:ext uri="{FF2B5EF4-FFF2-40B4-BE49-F238E27FC236}">
                <a16:creationId xmlns:a16="http://schemas.microsoft.com/office/drawing/2014/main" id="{6E8BCB95-C0CE-4C0E-9E24-A150AED8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67050"/>
            <a:ext cx="762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3" name="S8_THESIS_LABEL">
            <a:extLst xmlns:a="http://schemas.openxmlformats.org/drawingml/2006/main">
              <a:ext uri="{FF2B5EF4-FFF2-40B4-BE49-F238E27FC236}">
                <a16:creationId xmlns:a16="http://schemas.microsoft.com/office/drawing/2014/main" id="{128013DE-8BF7-4144-B704-F8474C59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86100"/>
            <a:ext cx="539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D96C5F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D96C5F"/>
                </a:solidFill>
                <a:latin typeface="Consolas"/>
                <a:ea typeface="Consolas"/>
                <a:cs typeface="Consolas"/>
              </a:rPr>
              <a:t>ĐIỂM GÃY</a:t>
            </a:r>
          </a:p>
        </p:txBody>
      </p:sp>
      <p:sp>
        <p:nvSpPr>
          <p:cNvPr id="24" name="S8_THESIS_BODY">
            <a:extLst xmlns:a="http://schemas.openxmlformats.org/drawingml/2006/main">
              <a:ext uri="{FF2B5EF4-FFF2-40B4-BE49-F238E27FC236}">
                <a16:creationId xmlns:a16="http://schemas.microsoft.com/office/drawing/2014/main" id="{2737E33E-F14A-4150-99B2-D326B98F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90900"/>
            <a:ext cx="5391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Firewall thấy HTTP hợp lệ. Native code lại dùng API copy không biết kích thước đích; memory corruption xuất hiện sau boundary ứng dụng.</a:t>
            </a:r>
          </a:p>
        </p:txBody>
      </p:sp>
      <p:sp>
        <p:nvSpPr>
          <p:cNvPr id="25" name="S8_RESULT_ARROW_1">
            <a:extLst xmlns:a="http://schemas.openxmlformats.org/drawingml/2006/main">
              <a:ext uri="{FF2B5EF4-FFF2-40B4-BE49-F238E27FC236}">
                <a16:creationId xmlns:a16="http://schemas.microsoft.com/office/drawing/2014/main" id="{74BBB8BE-3DF9-4A2B-940C-738516CF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0938" y="541972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8_RESULT_ARROW_2">
            <a:extLst xmlns:a="http://schemas.openxmlformats.org/drawingml/2006/main">
              <a:ext uri="{FF2B5EF4-FFF2-40B4-BE49-F238E27FC236}">
                <a16:creationId xmlns:a16="http://schemas.microsoft.com/office/drawing/2014/main" id="{E036E2CA-0F75-4CCB-969A-9B6C025E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541972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8_RESULT_ARROW_3">
            <a:extLst xmlns:a="http://schemas.openxmlformats.org/drawingml/2006/main">
              <a:ext uri="{FF2B5EF4-FFF2-40B4-BE49-F238E27FC236}">
                <a16:creationId xmlns:a16="http://schemas.microsoft.com/office/drawing/2014/main" id="{9A7E922F-D318-4BDA-947C-68D78047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713" y="541972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8_RESULT_NODE_1">
            <a:extLst xmlns:a="http://schemas.openxmlformats.org/drawingml/2006/main">
              <a:ext uri="{FF2B5EF4-FFF2-40B4-BE49-F238E27FC236}">
                <a16:creationId xmlns:a16="http://schemas.microsoft.com/office/drawing/2014/main" id="{A1AD740E-BEFF-4B8C-9407-9A2C9169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05400"/>
            <a:ext cx="1938338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input bytes</a:t>
            </a:r>
          </a:p>
        </p:txBody>
      </p:sp>
      <p:sp>
        <p:nvSpPr>
          <p:cNvPr id="29" name="S8_RESULT_NODE_2">
            <a:extLst xmlns:a="http://schemas.openxmlformats.org/drawingml/2006/main">
              <a:ext uri="{FF2B5EF4-FFF2-40B4-BE49-F238E27FC236}">
                <a16:creationId xmlns:a16="http://schemas.microsoft.com/office/drawing/2014/main" id="{B335D2F9-6107-43DC-877A-56B204FB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7638" y="5105400"/>
            <a:ext cx="1938338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unsafe copy</a:t>
            </a:r>
          </a:p>
        </p:txBody>
      </p:sp>
      <p:sp>
        <p:nvSpPr>
          <p:cNvPr id="30" name="S8_RESULT_NODE_3">
            <a:extLst xmlns:a="http://schemas.openxmlformats.org/drawingml/2006/main">
              <a:ext uri="{FF2B5EF4-FFF2-40B4-BE49-F238E27FC236}">
                <a16:creationId xmlns:a16="http://schemas.microsoft.com/office/drawing/2014/main" id="{F966D5AE-51BB-4890-B573-6C4EAEB8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105400"/>
            <a:ext cx="1938338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adjacent memory</a:t>
            </a:r>
          </a:p>
        </p:txBody>
      </p:sp>
      <p:sp>
        <p:nvSpPr>
          <p:cNvPr id="31" name="S8_RESULT_NODE_4">
            <a:extLst xmlns:a="http://schemas.openxmlformats.org/drawingml/2006/main">
              <a:ext uri="{FF2B5EF4-FFF2-40B4-BE49-F238E27FC236}">
                <a16:creationId xmlns:a16="http://schemas.microsoft.com/office/drawing/2014/main" id="{46DE3345-F926-4F14-BD57-C68E9E6A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413" y="5105400"/>
            <a:ext cx="1938338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crash / UB</a:t>
            </a:r>
          </a:p>
        </p:txBody>
      </p:sp>
    </p:spTree>
    <p:extLst>
      <p:ext uri="{BB962C8B-B14F-4D97-AF65-F5344CB8AC3E}">
        <p14:creationId xmlns:p14="http://schemas.microsoft.com/office/powerpoint/2010/main" val="6168050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9_EYEBROW">
            <a:extLst xmlns:a="http://schemas.openxmlformats.org/drawingml/2006/main">
              <a:ext uri="{FF2B5EF4-FFF2-40B4-BE49-F238E27FC236}">
                <a16:creationId xmlns:a16="http://schemas.microsoft.com/office/drawing/2014/main" id="{A7E9602F-DF63-44B9-A495-755259A1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LAB02 / BUFFER OVERFLOW</a:t>
            </a:r>
          </a:p>
        </p:txBody>
      </p:sp>
      <p:sp>
        <p:nvSpPr>
          <p:cNvPr id="2" name="S9_TITLE">
            <a:extLst xmlns:a="http://schemas.openxmlformats.org/drawingml/2006/main">
              <a:ext uri="{FF2B5EF4-FFF2-40B4-BE49-F238E27FC236}">
                <a16:creationId xmlns:a16="http://schemas.microsoft.com/office/drawing/2014/main" id="{5C78D6EC-7C4A-4031-9CE6-7126FA40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4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32 byte nghĩa là 31 byte dữ liệu + null</a:t>
            </a:r>
          </a:p>
        </p:txBody>
      </p:sp>
      <p:sp>
        <p:nvSpPr>
          <p:cNvPr id="3" name="S9_SUBTITLE">
            <a:extLst xmlns:a="http://schemas.openxmlformats.org/drawingml/2006/main">
              <a:ext uri="{FF2B5EF4-FFF2-40B4-BE49-F238E27FC236}">
                <a16:creationId xmlns:a16="http://schemas.microsoft.com/office/drawing/2014/main" id="{3A72F3AE-6370-43E9-8B32-D47469BD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strcpy không nhận capacity; byte thứ 33 bắt đầu chạm vùng lân cận.</a:t>
            </a:r>
          </a:p>
        </p:txBody>
      </p:sp>
      <p:sp>
        <p:nvSpPr>
          <p:cNvPr id="4" name="S9_TITLE_RULE">
            <a:extLst xmlns:a="http://schemas.openxmlformats.org/drawingml/2006/main">
              <a:ext uri="{FF2B5EF4-FFF2-40B4-BE49-F238E27FC236}">
                <a16:creationId xmlns:a16="http://schemas.microsoft.com/office/drawing/2014/main" id="{F63E4B88-705D-4D54-AA5E-0F800241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9_FOOTER_RULE">
            <a:extLst xmlns:a="http://schemas.openxmlformats.org/drawingml/2006/main">
              <a:ext uri="{FF2B5EF4-FFF2-40B4-BE49-F238E27FC236}">
                <a16:creationId xmlns:a16="http://schemas.microsoft.com/office/drawing/2014/main" id="{FB5C59D0-6681-4EA5-B8BB-42CD4E4F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9_SOURCE">
            <a:extLst xmlns:a="http://schemas.openxmlformats.org/drawingml/2006/main">
              <a:ext uri="{FF2B5EF4-FFF2-40B4-BE49-F238E27FC236}">
                <a16:creationId xmlns:a16="http://schemas.microsoft.com/office/drawing/2014/main" id="{5224AF84-50F0-40AD-87A5-C271C867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NGUỒN  Lab02/native/vulnerable_processor.c · processor_common.h</a:t>
            </a:r>
          </a:p>
        </p:txBody>
      </p:sp>
      <p:sp>
        <p:nvSpPr>
          <p:cNvPr id="7" name="S9_NUMBER">
            <a:extLst xmlns:a="http://schemas.openxmlformats.org/drawingml/2006/main">
              <a:ext uri="{FF2B5EF4-FFF2-40B4-BE49-F238E27FC236}">
                <a16:creationId xmlns:a16="http://schemas.microsoft.com/office/drawing/2014/main" id="{A0ED7FB8-AE4C-4DE3-95B9-6720B987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8" name="S9_CODE">
            <a:extLst xmlns:a="http://schemas.openxmlformats.org/drawingml/2006/main">
              <a:ext uri="{FF2B5EF4-FFF2-40B4-BE49-F238E27FC236}">
                <a16:creationId xmlns:a16="http://schemas.microsoft.com/office/drawing/2014/main" id="{B65E569E-7681-49ED-BD0A-4D3CECAC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4476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9525">
            <a:solidFill>
              <a:srgbClr val="D96C5F"/>
            </a:solidFill>
            <a:prstDash val="solid"/>
          </a:ln>
        </p:spPr>
        <p:txBody>
          <a:bodyPr xmlns:a="http://schemas.openxmlformats.org/drawingml/2006/main" wrap="square" lIns="133350" tIns="123825" rIns="133350" bIns="1143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char name[32];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strcpy(name, user_input);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// Không có capacity trong lời gọi</a:t>
            </a:r>
          </a:p>
        </p:txBody>
      </p:sp>
      <p:sp>
        <p:nvSpPr>
          <p:cNvPr id="9" name="S9_STACK_H0">
            <a:extLst xmlns:a="http://schemas.openxmlformats.org/drawingml/2006/main">
              <a:ext uri="{FF2B5EF4-FFF2-40B4-BE49-F238E27FC236}">
                <a16:creationId xmlns:a16="http://schemas.microsoft.com/office/drawing/2014/main" id="{2137786B-06AF-4BB5-9D7E-6AF0D916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52600"/>
            <a:ext cx="23812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VÙNG STACK</a:t>
            </a:r>
          </a:p>
        </p:txBody>
      </p:sp>
      <p:sp>
        <p:nvSpPr>
          <p:cNvPr id="10" name="S9_STACK_H1">
            <a:extLst xmlns:a="http://schemas.openxmlformats.org/drawingml/2006/main">
              <a:ext uri="{FF2B5EF4-FFF2-40B4-BE49-F238E27FC236}">
                <a16:creationId xmlns:a16="http://schemas.microsoft.com/office/drawing/2014/main" id="{1BCA29F7-F87E-447D-BD66-5DF7622C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52600"/>
            <a:ext cx="18097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INPUT ≤31</a:t>
            </a:r>
          </a:p>
        </p:txBody>
      </p:sp>
      <p:sp>
        <p:nvSpPr>
          <p:cNvPr id="11" name="S9_STACK_H2">
            <a:extLst xmlns:a="http://schemas.openxmlformats.org/drawingml/2006/main">
              <a:ext uri="{FF2B5EF4-FFF2-40B4-BE49-F238E27FC236}">
                <a16:creationId xmlns:a16="http://schemas.microsoft.com/office/drawing/2014/main" id="{FE34C930-84CC-4EF8-81B0-4857DCEE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52600"/>
            <a:ext cx="21526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INPUT 64</a:t>
            </a:r>
          </a:p>
        </p:txBody>
      </p:sp>
      <p:sp>
        <p:nvSpPr>
          <p:cNvPr id="12" name="S9_STACK_R0C0">
            <a:extLst xmlns:a="http://schemas.openxmlformats.org/drawingml/2006/main">
              <a:ext uri="{FF2B5EF4-FFF2-40B4-BE49-F238E27FC236}">
                <a16:creationId xmlns:a16="http://schemas.microsoft.com/office/drawing/2014/main" id="{C4CD3317-2A70-425C-8D83-4A643A3B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19338"/>
            <a:ext cx="23812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name[32]</a:t>
            </a:r>
          </a:p>
        </p:txBody>
      </p:sp>
      <p:sp>
        <p:nvSpPr>
          <p:cNvPr id="13" name="S9_STACK_R0C1">
            <a:extLst xmlns:a="http://schemas.openxmlformats.org/drawingml/2006/main">
              <a:ext uri="{FF2B5EF4-FFF2-40B4-BE49-F238E27FC236}">
                <a16:creationId xmlns:a16="http://schemas.microsoft.com/office/drawing/2014/main" id="{9DD2BFF0-8A30-4A39-AB71-8910458D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19338"/>
            <a:ext cx="18097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data + \0</a:t>
            </a:r>
          </a:p>
        </p:txBody>
      </p:sp>
      <p:sp>
        <p:nvSpPr>
          <p:cNvPr id="14" name="S9_STACK_R0C2">
            <a:extLst xmlns:a="http://schemas.openxmlformats.org/drawingml/2006/main">
              <a:ext uri="{FF2B5EF4-FFF2-40B4-BE49-F238E27FC236}">
                <a16:creationId xmlns:a16="http://schemas.microsoft.com/office/drawing/2014/main" id="{044A335F-DA47-4819-8CA9-937A5F76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19338"/>
            <a:ext cx="21526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đầy + vượt</a:t>
            </a:r>
          </a:p>
        </p:txBody>
      </p:sp>
      <p:sp>
        <p:nvSpPr>
          <p:cNvPr id="15" name="S9_STACK_R1C0">
            <a:extLst xmlns:a="http://schemas.openxmlformats.org/drawingml/2006/main">
              <a:ext uri="{FF2B5EF4-FFF2-40B4-BE49-F238E27FC236}">
                <a16:creationId xmlns:a16="http://schemas.microsoft.com/office/drawing/2014/main" id="{7FFE89E1-389A-4040-B396-73032FB0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86075"/>
            <a:ext cx="23812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canary / padding</a:t>
            </a:r>
          </a:p>
        </p:txBody>
      </p:sp>
      <p:sp>
        <p:nvSpPr>
          <p:cNvPr id="16" name="S9_STACK_R1C1">
            <a:extLst xmlns:a="http://schemas.openxmlformats.org/drawingml/2006/main">
              <a:ext uri="{FF2B5EF4-FFF2-40B4-BE49-F238E27FC236}">
                <a16:creationId xmlns:a16="http://schemas.microsoft.com/office/drawing/2014/main" id="{DC9D0846-4BF0-4E30-9299-DAC8F861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86075"/>
            <a:ext cx="18097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không đổi</a:t>
            </a:r>
          </a:p>
        </p:txBody>
      </p:sp>
      <p:sp>
        <p:nvSpPr>
          <p:cNvPr id="17" name="S9_STACK_R1C2">
            <a:extLst xmlns:a="http://schemas.openxmlformats.org/drawingml/2006/main">
              <a:ext uri="{FF2B5EF4-FFF2-40B4-BE49-F238E27FC236}">
                <a16:creationId xmlns:a16="http://schemas.microsoft.com/office/drawing/2014/main" id="{20E3F16D-BCC7-4E77-A79B-12ABF20C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86075"/>
            <a:ext cx="21526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có thể bị ghi</a:t>
            </a:r>
          </a:p>
        </p:txBody>
      </p:sp>
      <p:sp>
        <p:nvSpPr>
          <p:cNvPr id="18" name="S9_STACK_R2C0">
            <a:extLst xmlns:a="http://schemas.openxmlformats.org/drawingml/2006/main">
              <a:ext uri="{FF2B5EF4-FFF2-40B4-BE49-F238E27FC236}">
                <a16:creationId xmlns:a16="http://schemas.microsoft.com/office/drawing/2014/main" id="{B5C9E7E1-3104-4C55-ADD8-03F4583B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452813"/>
            <a:ext cx="23812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frame / return</a:t>
            </a:r>
          </a:p>
        </p:txBody>
      </p:sp>
      <p:sp>
        <p:nvSpPr>
          <p:cNvPr id="19" name="S9_STACK_R2C1">
            <a:extLst xmlns:a="http://schemas.openxmlformats.org/drawingml/2006/main">
              <a:ext uri="{FF2B5EF4-FFF2-40B4-BE49-F238E27FC236}">
                <a16:creationId xmlns:a16="http://schemas.microsoft.com/office/drawing/2014/main" id="{595BDA83-B817-4301-BB96-139936D4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52813"/>
            <a:ext cx="18097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không đổi</a:t>
            </a:r>
          </a:p>
        </p:txBody>
      </p:sp>
      <p:sp>
        <p:nvSpPr>
          <p:cNvPr id="20" name="S9_STACK_R2C2">
            <a:extLst xmlns:a="http://schemas.openxmlformats.org/drawingml/2006/main">
              <a:ext uri="{FF2B5EF4-FFF2-40B4-BE49-F238E27FC236}">
                <a16:creationId xmlns:a16="http://schemas.microsoft.com/office/drawing/2014/main" id="{712F5FC5-F1E0-400C-AF78-268DA570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452813"/>
            <a:ext cx="21526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corruption / UB</a:t>
            </a:r>
          </a:p>
        </p:txBody>
      </p:sp>
      <p:sp>
        <p:nvSpPr>
          <p:cNvPr id="21" name="S9_BYTES_ARROW_1">
            <a:extLst xmlns:a="http://schemas.openxmlformats.org/drawingml/2006/main">
              <a:ext uri="{FF2B5EF4-FFF2-40B4-BE49-F238E27FC236}">
                <a16:creationId xmlns:a16="http://schemas.microsoft.com/office/drawing/2014/main" id="{57EFC333-4D8F-4F69-B032-0178CF62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8013" y="482917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9_BYTES_ARROW_2">
            <a:extLst xmlns:a="http://schemas.openxmlformats.org/drawingml/2006/main">
              <a:ext uri="{FF2B5EF4-FFF2-40B4-BE49-F238E27FC236}">
                <a16:creationId xmlns:a16="http://schemas.microsoft.com/office/drawing/2014/main" id="{5F56B366-C488-4B5F-8791-83807EFD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82917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9_BYTES_ARROW_3">
            <a:extLst xmlns:a="http://schemas.openxmlformats.org/drawingml/2006/main">
              <a:ext uri="{FF2B5EF4-FFF2-40B4-BE49-F238E27FC236}">
                <a16:creationId xmlns:a16="http://schemas.microsoft.com/office/drawing/2014/main" id="{D2491270-43F1-4F43-AA0B-0881FFC7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482917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9_BYTES_NODE_1">
            <a:extLst xmlns:a="http://schemas.openxmlformats.org/drawingml/2006/main">
              <a:ext uri="{FF2B5EF4-FFF2-40B4-BE49-F238E27FC236}">
                <a16:creationId xmlns:a16="http://schemas.microsoft.com/office/drawing/2014/main" id="{1CF3A7D6-250F-4EF4-A7E9-FB35E89D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2481263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31 DATA</a:t>
            </a:r>
          </a:p>
        </p:txBody>
      </p:sp>
      <p:sp>
        <p:nvSpPr>
          <p:cNvPr id="25" name="S9_BYTES_NODE_2">
            <a:extLst xmlns:a="http://schemas.openxmlformats.org/drawingml/2006/main">
              <a:ext uri="{FF2B5EF4-FFF2-40B4-BE49-F238E27FC236}">
                <a16:creationId xmlns:a16="http://schemas.microsoft.com/office/drawing/2014/main" id="{E7595253-041A-48E9-8D4C-EE7A1A87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4476750"/>
            <a:ext cx="2481263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1 NULL</a:t>
            </a:r>
          </a:p>
        </p:txBody>
      </p:sp>
      <p:sp>
        <p:nvSpPr>
          <p:cNvPr id="26" name="S9_BYTES_NODE_3">
            <a:extLst xmlns:a="http://schemas.openxmlformats.org/drawingml/2006/main">
              <a:ext uri="{FF2B5EF4-FFF2-40B4-BE49-F238E27FC236}">
                <a16:creationId xmlns:a16="http://schemas.microsoft.com/office/drawing/2014/main" id="{DE752714-5B99-458D-A95F-FB46C2B6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476750"/>
            <a:ext cx="2481263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BYTE 33+</a:t>
            </a:r>
          </a:p>
        </p:txBody>
      </p:sp>
      <p:sp>
        <p:nvSpPr>
          <p:cNvPr id="27" name="S9_BYTES_NODE_4">
            <a:extLst xmlns:a="http://schemas.openxmlformats.org/drawingml/2006/main">
              <a:ext uri="{FF2B5EF4-FFF2-40B4-BE49-F238E27FC236}">
                <a16:creationId xmlns:a16="http://schemas.microsoft.com/office/drawing/2014/main" id="{621EC490-A9E6-4B18-A522-1505D274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4476750"/>
            <a:ext cx="2481263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ADJACENT MEMORY</a:t>
            </a:r>
          </a:p>
        </p:txBody>
      </p:sp>
      <p:sp>
        <p:nvSpPr>
          <p:cNvPr id="28" name="S9_DIFF_BAR">
            <a:extLst xmlns:a="http://schemas.openxmlformats.org/drawingml/2006/main">
              <a:ext uri="{FF2B5EF4-FFF2-40B4-BE49-F238E27FC236}">
                <a16:creationId xmlns:a16="http://schemas.microsoft.com/office/drawing/2014/main" id="{AD22F964-474C-465E-9A08-6C51575A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762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9" name="S9_DIFF_LABEL">
            <a:extLst xmlns:a="http://schemas.openxmlformats.org/drawingml/2006/main">
              <a:ext uri="{FF2B5EF4-FFF2-40B4-BE49-F238E27FC236}">
                <a16:creationId xmlns:a16="http://schemas.microsoft.com/office/drawing/2014/main" id="{7D2C1390-02A9-4440-AB0A-69C2FFF7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3880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KHÁC INJECTION</a:t>
            </a:r>
          </a:p>
        </p:txBody>
      </p:sp>
      <p:sp>
        <p:nvSpPr>
          <p:cNvPr id="30" name="S9_DIFF_BODY">
            <a:extLst xmlns:a="http://schemas.openxmlformats.org/drawingml/2006/main">
              <a:ext uri="{FF2B5EF4-FFF2-40B4-BE49-F238E27FC236}">
                <a16:creationId xmlns:a16="http://schemas.microsoft.com/office/drawing/2014/main" id="{514AAA71-84F3-48E2-91E9-E0D2C0E2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38800"/>
            <a:ext cx="920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Injection đổi ý nghĩa lệnh/query; Buffer Overflow ghi vượt vùng nhớ. Cả hai đều bắt đầu từ trust boundary nhưng phá vỡ primitive khác nhau.</a:t>
            </a:r>
          </a:p>
        </p:txBody>
      </p:sp>
    </p:spTree>
    <p:extLst>
      <p:ext uri="{BB962C8B-B14F-4D97-AF65-F5344CB8AC3E}">
        <p14:creationId xmlns:p14="http://schemas.microsoft.com/office/powerpoint/2010/main" val="21102508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10_EYEBROW">
            <a:extLst xmlns:a="http://schemas.openxmlformats.org/drawingml/2006/main">
              <a:ext uri="{FF2B5EF4-FFF2-40B4-BE49-F238E27FC236}">
                <a16:creationId xmlns:a16="http://schemas.microsoft.com/office/drawing/2014/main" id="{D43AD321-1D0E-4452-8AB3-2083A6B2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LAB02 / BUFFER OVERFLOW</a:t>
            </a:r>
          </a:p>
        </p:txBody>
      </p:sp>
      <p:sp>
        <p:nvSpPr>
          <p:cNvPr id="2" name="S10_TITLE">
            <a:extLst xmlns:a="http://schemas.openxmlformats.org/drawingml/2006/main">
              <a:ext uri="{FF2B5EF4-FFF2-40B4-BE49-F238E27FC236}">
                <a16:creationId xmlns:a16="http://schemas.microsoft.com/office/drawing/2014/main" id="{EA022817-A9CA-4630-B137-3EF1E07B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4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Quan sát: từ request tới từ chối trước copy</a:t>
            </a:r>
          </a:p>
        </p:txBody>
      </p:sp>
      <p:sp>
        <p:nvSpPr>
          <p:cNvPr id="3" name="S10_SUBTITLE">
            <a:extLst xmlns:a="http://schemas.openxmlformats.org/drawingml/2006/main">
              <a:ext uri="{FF2B5EF4-FFF2-40B4-BE49-F238E27FC236}">
                <a16:creationId xmlns:a16="http://schemas.microsoft.com/office/drawing/2014/main" id="{D8E56AC8-B1E1-46E6-94E4-C99B745D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Ghi bằng chứng thật; không dựng crash log hoặc response giả.</a:t>
            </a:r>
          </a:p>
        </p:txBody>
      </p:sp>
      <p:sp>
        <p:nvSpPr>
          <p:cNvPr id="4" name="S10_TITLE_RULE">
            <a:extLst xmlns:a="http://schemas.openxmlformats.org/drawingml/2006/main">
              <a:ext uri="{FF2B5EF4-FFF2-40B4-BE49-F238E27FC236}">
                <a16:creationId xmlns:a16="http://schemas.microsoft.com/office/drawing/2014/main" id="{4EF57E23-E74D-4842-9808-0B06AA5F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10_FOOTER_RULE">
            <a:extLst xmlns:a="http://schemas.openxmlformats.org/drawingml/2006/main">
              <a:ext uri="{FF2B5EF4-FFF2-40B4-BE49-F238E27FC236}">
                <a16:creationId xmlns:a16="http://schemas.microsoft.com/office/drawing/2014/main" id="{28CAC901-589C-44AC-A49D-A4163845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0_SOURCE">
            <a:extLst xmlns:a="http://schemas.openxmlformats.org/drawingml/2006/main">
              <a:ext uri="{FF2B5EF4-FFF2-40B4-BE49-F238E27FC236}">
                <a16:creationId xmlns:a16="http://schemas.microsoft.com/office/drawing/2014/main" id="{5AF05FB0-FA35-4EA0-84AA-D82AF29B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NGUỒN  Lab02/README.md · gdb/README_GDB.md · evidence logs</a:t>
            </a:r>
          </a:p>
        </p:txBody>
      </p:sp>
      <p:sp>
        <p:nvSpPr>
          <p:cNvPr id="7" name="S10_NUMBER">
            <a:extLst xmlns:a="http://schemas.openxmlformats.org/drawingml/2006/main">
              <a:ext uri="{FF2B5EF4-FFF2-40B4-BE49-F238E27FC236}">
                <a16:creationId xmlns:a16="http://schemas.microsoft.com/office/drawing/2014/main" id="{2EF32466-72BB-442D-9DAF-FDBFE636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8" name="S10_STEPS_ARROW_1">
            <a:extLst xmlns:a="http://schemas.openxmlformats.org/drawingml/2006/main">
              <a:ext uri="{FF2B5EF4-FFF2-40B4-BE49-F238E27FC236}">
                <a16:creationId xmlns:a16="http://schemas.microsoft.com/office/drawing/2014/main" id="{89C43BD8-5CC5-4534-9892-4F6ADFD6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131" y="1924050"/>
            <a:ext cx="133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10_STEPS_ARROW_2">
            <a:extLst xmlns:a="http://schemas.openxmlformats.org/drawingml/2006/main">
              <a:ext uri="{FF2B5EF4-FFF2-40B4-BE49-F238E27FC236}">
                <a16:creationId xmlns:a16="http://schemas.microsoft.com/office/drawing/2014/main" id="{7E7D413A-1986-4620-B9CF-F86ACF3B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213" y="1924050"/>
            <a:ext cx="133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10_STEPS_ARROW_3">
            <a:extLst xmlns:a="http://schemas.openxmlformats.org/drawingml/2006/main">
              <a:ext uri="{FF2B5EF4-FFF2-40B4-BE49-F238E27FC236}">
                <a16:creationId xmlns:a16="http://schemas.microsoft.com/office/drawing/2014/main" id="{D6701955-0ECE-410C-903C-7D7EB44C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294" y="1924050"/>
            <a:ext cx="133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10_STEPS_ARROW_4">
            <a:extLst xmlns:a="http://schemas.openxmlformats.org/drawingml/2006/main">
              <a:ext uri="{FF2B5EF4-FFF2-40B4-BE49-F238E27FC236}">
                <a16:creationId xmlns:a16="http://schemas.microsoft.com/office/drawing/2014/main" id="{122292E6-D850-4A51-8E30-9C9F0C8A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24050"/>
            <a:ext cx="133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10_STEPS_ARROW_5">
            <a:extLst xmlns:a="http://schemas.openxmlformats.org/drawingml/2006/main">
              <a:ext uri="{FF2B5EF4-FFF2-40B4-BE49-F238E27FC236}">
                <a16:creationId xmlns:a16="http://schemas.microsoft.com/office/drawing/2014/main" id="{FD4AFDA6-7F69-4D44-B50E-18BE5B05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0456" y="1924050"/>
            <a:ext cx="133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10_STEPS_ARROW_6">
            <a:extLst xmlns:a="http://schemas.openxmlformats.org/drawingml/2006/main">
              <a:ext uri="{FF2B5EF4-FFF2-40B4-BE49-F238E27FC236}">
                <a16:creationId xmlns:a16="http://schemas.microsoft.com/office/drawing/2014/main" id="{ABB633E1-DD67-442A-84EC-B8363F6A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1924050"/>
            <a:ext cx="133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10_STEPS_ARROW_7">
            <a:extLst xmlns:a="http://schemas.openxmlformats.org/drawingml/2006/main">
              <a:ext uri="{FF2B5EF4-FFF2-40B4-BE49-F238E27FC236}">
                <a16:creationId xmlns:a16="http://schemas.microsoft.com/office/drawing/2014/main" id="{1FFD50F9-C0FE-4670-BC05-51AADE74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4619" y="1924050"/>
            <a:ext cx="133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10_STEPS_NODE_1">
            <a:extLst xmlns:a="http://schemas.openxmlformats.org/drawingml/2006/main">
              <a:ext uri="{FF2B5EF4-FFF2-40B4-BE49-F238E27FC236}">
                <a16:creationId xmlns:a16="http://schemas.microsoft.com/office/drawing/2014/main" id="{84BF3AA8-B2BF-4DD3-A62E-2EB64BCA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240631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1 RUN</a:t>
            </a:r>
          </a:p>
        </p:txBody>
      </p:sp>
      <p:sp>
        <p:nvSpPr>
          <p:cNvPr id="16" name="S10_STEPS_NODE_2">
            <a:extLst xmlns:a="http://schemas.openxmlformats.org/drawingml/2006/main">
              <a:ext uri="{FF2B5EF4-FFF2-40B4-BE49-F238E27FC236}">
                <a16:creationId xmlns:a16="http://schemas.microsoft.com/office/drawing/2014/main" id="{370CDA8E-46E9-4EE0-BBD5-0FB2DB4E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481" y="1676400"/>
            <a:ext cx="1240631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2 INPUT</a:t>
            </a:r>
          </a:p>
        </p:txBody>
      </p:sp>
      <p:sp>
        <p:nvSpPr>
          <p:cNvPr id="17" name="S10_STEPS_NODE_3">
            <a:extLst xmlns:a="http://schemas.openxmlformats.org/drawingml/2006/main">
              <a:ext uri="{FF2B5EF4-FFF2-40B4-BE49-F238E27FC236}">
                <a16:creationId xmlns:a16="http://schemas.microsoft.com/office/drawing/2014/main" id="{805660DB-ADFD-45AF-8D88-7793A0D8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1240631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3 POST</a:t>
            </a:r>
          </a:p>
        </p:txBody>
      </p:sp>
      <p:sp>
        <p:nvSpPr>
          <p:cNvPr id="18" name="S10_STEPS_NODE_4">
            <a:extLst xmlns:a="http://schemas.openxmlformats.org/drawingml/2006/main">
              <a:ext uri="{FF2B5EF4-FFF2-40B4-BE49-F238E27FC236}">
                <a16:creationId xmlns:a16="http://schemas.microsoft.com/office/drawing/2014/main" id="{8811A22D-7D69-440C-9D9E-B1698160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644" y="1676400"/>
            <a:ext cx="1240631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4 TRACE</a:t>
            </a:r>
          </a:p>
        </p:txBody>
      </p:sp>
      <p:sp>
        <p:nvSpPr>
          <p:cNvPr id="19" name="S10_STEPS_NODE_5">
            <a:extLst xmlns:a="http://schemas.openxmlformats.org/drawingml/2006/main">
              <a:ext uri="{FF2B5EF4-FFF2-40B4-BE49-F238E27FC236}">
                <a16:creationId xmlns:a16="http://schemas.microsoft.com/office/drawing/2014/main" id="{BEBA8B56-C7BB-45FC-B7CB-4DE3042F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676400"/>
            <a:ext cx="1240631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5 ASan/GDB</a:t>
            </a:r>
          </a:p>
        </p:txBody>
      </p:sp>
      <p:sp>
        <p:nvSpPr>
          <p:cNvPr id="20" name="S10_STEPS_NODE_6">
            <a:extLst xmlns:a="http://schemas.openxmlformats.org/drawingml/2006/main">
              <a:ext uri="{FF2B5EF4-FFF2-40B4-BE49-F238E27FC236}">
                <a16:creationId xmlns:a16="http://schemas.microsoft.com/office/drawing/2014/main" id="{D96C3944-AAF8-4A03-A7B0-FD2684FD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3806" y="1676400"/>
            <a:ext cx="1240631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6 PATCH</a:t>
            </a:r>
          </a:p>
        </p:txBody>
      </p:sp>
      <p:sp>
        <p:nvSpPr>
          <p:cNvPr id="21" name="S10_STEPS_NODE_7">
            <a:extLst xmlns:a="http://schemas.openxmlformats.org/drawingml/2006/main">
              <a:ext uri="{FF2B5EF4-FFF2-40B4-BE49-F238E27FC236}">
                <a16:creationId xmlns:a16="http://schemas.microsoft.com/office/drawing/2014/main" id="{CAD2FA6E-ECE3-4C1B-8981-3B53FB14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888" y="1676400"/>
            <a:ext cx="1240631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7 RETEST</a:t>
            </a:r>
          </a:p>
        </p:txBody>
      </p:sp>
      <p:sp>
        <p:nvSpPr>
          <p:cNvPr id="22" name="S10_STEPS_NODE_8">
            <a:extLst xmlns:a="http://schemas.openxmlformats.org/drawingml/2006/main">
              <a:ext uri="{FF2B5EF4-FFF2-40B4-BE49-F238E27FC236}">
                <a16:creationId xmlns:a16="http://schemas.microsoft.com/office/drawing/2014/main" id="{394FFE5A-9274-4EE9-8456-8FA70FFB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969" y="1676400"/>
            <a:ext cx="1240631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8 REPORT</a:t>
            </a:r>
          </a:p>
        </p:txBody>
      </p:sp>
      <p:sp>
        <p:nvSpPr>
          <p:cNvPr id="23" name="PH_S10_Lab02_31_long_input_network_payload_png_FRAME">
            <a:extLst xmlns:a="http://schemas.openxmlformats.org/drawingml/2006/main">
              <a:ext uri="{FF2B5EF4-FFF2-40B4-BE49-F238E27FC236}">
                <a16:creationId xmlns:a16="http://schemas.microsoft.com/office/drawing/2014/main" id="{47ECDE08-403E-4730-A8FE-8D23DBA1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657475"/>
            <a:ext cx="53911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5D26"/>
            </a:solidFill>
            <a:prstDash val="solid"/>
          </a:ln>
        </p:spPr>
      </p:sp>
      <p:sp>
        <p:nvSpPr>
          <p:cNvPr id="24" name="PH_S10_Lab02_31_long_input_network_payload_png_IMAGE">
            <a:extLst xmlns:a="http://schemas.openxmlformats.org/drawingml/2006/main">
              <a:ext uri="{FF2B5EF4-FFF2-40B4-BE49-F238E27FC236}">
                <a16:creationId xmlns:a16="http://schemas.microsoft.com/office/drawing/2014/main" id="{2982900C-ED7B-4F93-A967-97F3092D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53340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</p:sp>
      <p:sp>
        <p:nvSpPr>
          <p:cNvPr id="25" name="PH_S10_Lab02_31_long_input_network_payload_png_ICON">
            <a:extLst xmlns:a="http://schemas.openxmlformats.org/drawingml/2006/main">
              <a:ext uri="{FF2B5EF4-FFF2-40B4-BE49-F238E27FC236}">
                <a16:creationId xmlns:a16="http://schemas.microsoft.com/office/drawing/2014/main" id="{2F6CD256-81D4-4734-A15A-EC4BBFDD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▣</a:t>
            </a:r>
          </a:p>
        </p:txBody>
      </p:sp>
      <p:sp>
        <p:nvSpPr>
          <p:cNvPr id="26" name="PH_S10_Lab02_31_long_input_network_payload_png_INSTRUCTION">
            <a:extLst xmlns:a="http://schemas.openxmlformats.org/drawingml/2006/main">
              <a:ext uri="{FF2B5EF4-FFF2-40B4-BE49-F238E27FC236}">
                <a16:creationId xmlns:a16="http://schemas.microsoft.com/office/drawing/2014/main" id="{10816271-EE86-4BF6-A812-E9EAFD2A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44958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CHÈN ẢNH THẬT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31_long_input_network_payload.png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16:9 · CROP → FILL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XEM GUIDE</a:t>
            </a:r>
          </a:p>
        </p:txBody>
      </p:sp>
      <p:sp>
        <p:nvSpPr>
          <p:cNvPr id="27" name="PH_S10_Lab02_31_long_input_network_payload_png_CAPTION">
            <a:extLst xmlns:a="http://schemas.openxmlformats.org/drawingml/2006/main">
              <a:ext uri="{FF2B5EF4-FFF2-40B4-BE49-F238E27FC236}">
                <a16:creationId xmlns:a16="http://schemas.microsoft.com/office/drawing/2014/main" id="{CAB5E81B-B70F-4DED-9811-0602528E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7682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Payload 64 byte gửi tới bản vulnerable</a:t>
            </a:r>
          </a:p>
        </p:txBody>
      </p:sp>
      <p:sp>
        <p:nvSpPr>
          <p:cNvPr id="28" name="PH_S10_Lab02_34_secure_length_network_response_png_FRAME">
            <a:extLst xmlns:a="http://schemas.openxmlformats.org/drawingml/2006/main">
              <a:ext uri="{FF2B5EF4-FFF2-40B4-BE49-F238E27FC236}">
                <a16:creationId xmlns:a16="http://schemas.microsoft.com/office/drawing/2014/main" id="{2A37A234-6EB6-4FA5-B17D-94958936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657475"/>
            <a:ext cx="53911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5D26"/>
            </a:solidFill>
            <a:prstDash val="solid"/>
          </a:ln>
        </p:spPr>
      </p:sp>
      <p:sp>
        <p:nvSpPr>
          <p:cNvPr id="29" name="PH_S10_Lab02_34_secure_length_network_response_png_IMAGE">
            <a:extLst xmlns:a="http://schemas.openxmlformats.org/drawingml/2006/main">
              <a:ext uri="{FF2B5EF4-FFF2-40B4-BE49-F238E27FC236}">
                <a16:creationId xmlns:a16="http://schemas.microsoft.com/office/drawing/2014/main" id="{45F0484C-068C-4E3C-B664-50534800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53340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</p:sp>
      <p:sp>
        <p:nvSpPr>
          <p:cNvPr id="30" name="PH_S10_Lab02_34_secure_length_network_response_png_ICON">
            <a:extLst xmlns:a="http://schemas.openxmlformats.org/drawingml/2006/main">
              <a:ext uri="{FF2B5EF4-FFF2-40B4-BE49-F238E27FC236}">
                <a16:creationId xmlns:a16="http://schemas.microsoft.com/office/drawing/2014/main" id="{73C2FE58-2510-4A18-BC56-3A144651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289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▣</a:t>
            </a:r>
          </a:p>
        </p:txBody>
      </p:sp>
      <p:sp>
        <p:nvSpPr>
          <p:cNvPr id="31" name="PH_S10_Lab02_34_secure_length_network_response_png_INSTRUCTION">
            <a:extLst xmlns:a="http://schemas.openxmlformats.org/drawingml/2006/main">
              <a:ext uri="{FF2B5EF4-FFF2-40B4-BE49-F238E27FC236}">
                <a16:creationId xmlns:a16="http://schemas.microsoft.com/office/drawing/2014/main" id="{0126405B-9CAF-4C7A-B271-96B1D542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57500"/>
            <a:ext cx="44958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CHÈN ẢNH THẬT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34_secure_length_network_response.png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16:9 · CROP → FILL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XEM GUIDE</a:t>
            </a:r>
          </a:p>
        </p:txBody>
      </p:sp>
      <p:sp>
        <p:nvSpPr>
          <p:cNvPr id="32" name="PH_S10_Lab02_34_secure_length_network_response_png_CAPTION">
            <a:extLst xmlns:a="http://schemas.openxmlformats.org/drawingml/2006/main">
              <a:ext uri="{FF2B5EF4-FFF2-40B4-BE49-F238E27FC236}">
                <a16:creationId xmlns:a16="http://schemas.microsoft.com/office/drawing/2014/main" id="{81B03D9A-D357-4CA0-BF7C-D1C988D4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7682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Response secure_length từ chối input dài</a:t>
            </a:r>
          </a:p>
        </p:txBody>
      </p:sp>
      <p:sp>
        <p:nvSpPr>
          <p:cNvPr id="33" name="S10_CHECK_BAR">
            <a:extLst xmlns:a="http://schemas.openxmlformats.org/drawingml/2006/main">
              <a:ext uri="{FF2B5EF4-FFF2-40B4-BE49-F238E27FC236}">
                <a16:creationId xmlns:a16="http://schemas.microsoft.com/office/drawing/2014/main" id="{03B463C3-2EA3-4F4C-B4D9-8B190840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762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4" name="S10_CHECK_LABEL">
            <a:extLst xmlns:a="http://schemas.openxmlformats.org/drawingml/2006/main">
              <a:ext uri="{FF2B5EF4-FFF2-40B4-BE49-F238E27FC236}">
                <a16:creationId xmlns:a16="http://schemas.microsoft.com/office/drawing/2014/main" id="{B41E1930-1106-42BD-86F3-774C52D4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MỐC KỸ THUẬT</a:t>
            </a:r>
          </a:p>
        </p:txBody>
      </p:sp>
      <p:sp>
        <p:nvSpPr>
          <p:cNvPr id="35" name="S10_CHECK_BODY">
            <a:extLst xmlns:a="http://schemas.openxmlformats.org/drawingml/2006/main">
              <a:ext uri="{FF2B5EF4-FFF2-40B4-BE49-F238E27FC236}">
                <a16:creationId xmlns:a16="http://schemas.microsoft.com/office/drawing/2014/main" id="{57EBC2AF-4ABB-4164-B90B-B11D3ADC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10250"/>
            <a:ext cx="920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mode=vulnerable_asan · 64 × A · POST /submit  |  mode=secure_length · POST /secure/length/submit · reject trước copy</a:t>
            </a:r>
          </a:p>
        </p:txBody>
      </p:sp>
    </p:spTree>
    <p:extLst>
      <p:ext uri="{BB962C8B-B14F-4D97-AF65-F5344CB8AC3E}">
        <p14:creationId xmlns:p14="http://schemas.microsoft.com/office/powerpoint/2010/main" val="17280851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11_EYEBROW">
            <a:extLst xmlns:a="http://schemas.openxmlformats.org/drawingml/2006/main">
              <a:ext uri="{FF2B5EF4-FFF2-40B4-BE49-F238E27FC236}">
                <a16:creationId xmlns:a16="http://schemas.microsoft.com/office/drawing/2014/main" id="{015A6CFF-ADEF-4CAC-BF9A-6C3ACC50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LAB02 / BUFFER OVERFLOW</a:t>
            </a:r>
          </a:p>
        </p:txBody>
      </p:sp>
      <p:sp>
        <p:nvSpPr>
          <p:cNvPr id="2" name="S11_TITLE">
            <a:extLst xmlns:a="http://schemas.openxmlformats.org/drawingml/2006/main">
              <a:ext uri="{FF2B5EF4-FFF2-40B4-BE49-F238E27FC236}">
                <a16:creationId xmlns:a16="http://schemas.microsoft.com/office/drawing/2014/main" id="{D03E9EBE-A593-4589-B298-7D8DB686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4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Hai bản vá chặn lỗi trước thao tác copy</a:t>
            </a:r>
          </a:p>
        </p:txBody>
      </p:sp>
      <p:sp>
        <p:nvSpPr>
          <p:cNvPr id="3" name="S11_SUBTITLE">
            <a:extLst xmlns:a="http://schemas.openxmlformats.org/drawingml/2006/main">
              <a:ext uri="{FF2B5EF4-FFF2-40B4-BE49-F238E27FC236}">
                <a16:creationId xmlns:a16="http://schemas.microsoft.com/office/drawing/2014/main" id="{2FE9B203-F4B1-4680-B525-3EC4548A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Length check đặt invariant 31 byte; snprintf ràng buộc mọi ghi theo capacity.</a:t>
            </a:r>
          </a:p>
        </p:txBody>
      </p:sp>
      <p:sp>
        <p:nvSpPr>
          <p:cNvPr id="4" name="S11_TITLE_RULE">
            <a:extLst xmlns:a="http://schemas.openxmlformats.org/drawingml/2006/main">
              <a:ext uri="{FF2B5EF4-FFF2-40B4-BE49-F238E27FC236}">
                <a16:creationId xmlns:a16="http://schemas.microsoft.com/office/drawing/2014/main" id="{126DEF79-1518-4B19-9192-ECD2524A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11_FOOTER_RULE">
            <a:extLst xmlns:a="http://schemas.openxmlformats.org/drawingml/2006/main">
              <a:ext uri="{FF2B5EF4-FFF2-40B4-BE49-F238E27FC236}">
                <a16:creationId xmlns:a16="http://schemas.microsoft.com/office/drawing/2014/main" id="{657AA89F-B9E8-4192-9F6E-623A8480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1_SOURCE">
            <a:extLst xmlns:a="http://schemas.openxmlformats.org/drawingml/2006/main">
              <a:ext uri="{FF2B5EF4-FFF2-40B4-BE49-F238E27FC236}">
                <a16:creationId xmlns:a16="http://schemas.microsoft.com/office/drawing/2014/main" id="{C758851B-F737-4088-979C-4AB9C596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NGUỒN  Lab02/native/secure_*_processor.c · config.py</a:t>
            </a:r>
          </a:p>
        </p:txBody>
      </p:sp>
      <p:sp>
        <p:nvSpPr>
          <p:cNvPr id="7" name="S11_NUMBER">
            <a:extLst xmlns:a="http://schemas.openxmlformats.org/drawingml/2006/main">
              <a:ext uri="{FF2B5EF4-FFF2-40B4-BE49-F238E27FC236}">
                <a16:creationId xmlns:a16="http://schemas.microsoft.com/office/drawing/2014/main" id="{1E4261E5-E4A6-44F2-8BC3-FA0D8204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8" name="S11_VULN">
            <a:extLst xmlns:a="http://schemas.openxmlformats.org/drawingml/2006/main">
              <a:ext uri="{FF2B5EF4-FFF2-40B4-BE49-F238E27FC236}">
                <a16:creationId xmlns:a16="http://schemas.microsoft.com/office/drawing/2014/main" id="{FC05309E-0671-4C43-BEC2-3E81B077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3333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9525">
            <a:solidFill>
              <a:srgbClr val="D96C5F"/>
            </a:solidFill>
            <a:prstDash val="solid"/>
          </a:ln>
        </p:spPr>
        <p:txBody>
          <a:bodyPr xmlns:a="http://schemas.openxmlformats.org/drawingml/2006/main" wrap="square" lIns="133350" tIns="123825" rIns="133350" bIns="1143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// vulnerable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char name[32];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strcpy(name, user_input);</a:t>
            </a:r>
          </a:p>
        </p:txBody>
      </p:sp>
      <p:sp>
        <p:nvSpPr>
          <p:cNvPr id="9" name="S11_LENGTH">
            <a:extLst xmlns:a="http://schemas.openxmlformats.org/drawingml/2006/main">
              <a:ext uri="{FF2B5EF4-FFF2-40B4-BE49-F238E27FC236}">
                <a16:creationId xmlns:a16="http://schemas.microsoft.com/office/drawing/2014/main" id="{80058ACC-E6D3-42C7-97EB-C21E6B9F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52600"/>
            <a:ext cx="36385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9525">
            <a:solidFill>
              <a:srgbClr val="71B48D"/>
            </a:solidFill>
            <a:prstDash val="solid"/>
          </a:ln>
        </p:spPr>
        <p:txBody>
          <a:bodyPr xmlns:a="http://schemas.openxmlformats.org/drawingml/2006/main" wrap="square" lIns="133350" tIns="123825" rIns="133350" bIns="1143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// secure_length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len = strnlen(input, 33);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if (len &gt; 31) reject();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memcpy(name, input, len + 1);</a:t>
            </a:r>
          </a:p>
        </p:txBody>
      </p:sp>
      <p:sp>
        <p:nvSpPr>
          <p:cNvPr id="10" name="S11_SNPRINTF">
            <a:extLst xmlns:a="http://schemas.openxmlformats.org/drawingml/2006/main">
              <a:ext uri="{FF2B5EF4-FFF2-40B4-BE49-F238E27FC236}">
                <a16:creationId xmlns:a16="http://schemas.microsoft.com/office/drawing/2014/main" id="{F69C1AE9-A0E1-4929-9B4C-BF10457D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52600"/>
            <a:ext cx="36957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9525">
            <a:solidFill>
              <a:srgbClr val="71B48D"/>
            </a:solidFill>
            <a:prstDash val="solid"/>
          </a:ln>
        </p:spPr>
        <p:txBody>
          <a:bodyPr xmlns:a="http://schemas.openxmlformats.org/drawingml/2006/main" wrap="square" lIns="133350" tIns="123825" rIns="133350" bIns="1143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// secure_snprintf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written = snprintf(name, 32, "%s", input);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if (written &gt;= 32) reject();</a:t>
            </a:r>
          </a:p>
        </p:txBody>
      </p:sp>
      <p:sp>
        <p:nvSpPr>
          <p:cNvPr id="11" name="S11_LAYERS_H0">
            <a:extLst xmlns:a="http://schemas.openxmlformats.org/drawingml/2006/main">
              <a:ext uri="{FF2B5EF4-FFF2-40B4-BE49-F238E27FC236}">
                <a16:creationId xmlns:a16="http://schemas.microsoft.com/office/drawing/2014/main" id="{F026F042-E378-44CE-8F24-405B08AB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2190750" cy="53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LỚP</a:t>
            </a:r>
          </a:p>
        </p:txBody>
      </p:sp>
      <p:sp>
        <p:nvSpPr>
          <p:cNvPr id="12" name="S11_LAYERS_H1">
            <a:extLst xmlns:a="http://schemas.openxmlformats.org/drawingml/2006/main">
              <a:ext uri="{FF2B5EF4-FFF2-40B4-BE49-F238E27FC236}">
                <a16:creationId xmlns:a16="http://schemas.microsoft.com/office/drawing/2014/main" id="{ED6D4A78-D8AF-4630-966F-18868C9F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4286250" cy="53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GIÁ TRỊ</a:t>
            </a:r>
          </a:p>
        </p:txBody>
      </p:sp>
      <p:sp>
        <p:nvSpPr>
          <p:cNvPr id="13" name="S11_LAYERS_H2">
            <a:extLst xmlns:a="http://schemas.openxmlformats.org/drawingml/2006/main">
              <a:ext uri="{FF2B5EF4-FFF2-40B4-BE49-F238E27FC236}">
                <a16:creationId xmlns:a16="http://schemas.microsoft.com/office/drawing/2014/main" id="{8D461A3D-8AE5-4ACF-A359-37EAB5E6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38550"/>
            <a:ext cx="4648200" cy="53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GIỚI HẠN</a:t>
            </a:r>
          </a:p>
        </p:txBody>
      </p:sp>
      <p:sp>
        <p:nvSpPr>
          <p:cNvPr id="14" name="S11_LAYERS_R0C0">
            <a:extLst xmlns:a="http://schemas.openxmlformats.org/drawingml/2006/main">
              <a:ext uri="{FF2B5EF4-FFF2-40B4-BE49-F238E27FC236}">
                <a16:creationId xmlns:a16="http://schemas.microsoft.com/office/drawing/2014/main" id="{0ABF90BC-088A-437D-A6E6-CFEF645B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6713"/>
            <a:ext cx="2190750" cy="53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Request</a:t>
            </a:r>
          </a:p>
        </p:txBody>
      </p:sp>
      <p:sp>
        <p:nvSpPr>
          <p:cNvPr id="15" name="S11_LAYERS_R0C1">
            <a:extLst xmlns:a="http://schemas.openxmlformats.org/drawingml/2006/main">
              <a:ext uri="{FF2B5EF4-FFF2-40B4-BE49-F238E27FC236}">
                <a16:creationId xmlns:a16="http://schemas.microsoft.com/office/drawing/2014/main" id="{F70CA734-075F-439A-9709-A03439B7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76713"/>
            <a:ext cx="4286250" cy="53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MAX_CONTENT_LENGTH=4096</a:t>
            </a:r>
          </a:p>
        </p:txBody>
      </p:sp>
      <p:sp>
        <p:nvSpPr>
          <p:cNvPr id="16" name="S11_LAYERS_R0C2">
            <a:extLst xmlns:a="http://schemas.openxmlformats.org/drawingml/2006/main">
              <a:ext uri="{FF2B5EF4-FFF2-40B4-BE49-F238E27FC236}">
                <a16:creationId xmlns:a16="http://schemas.microsoft.com/office/drawing/2014/main" id="{887F8F08-D8B7-4DB0-A09A-3301DC3B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76713"/>
            <a:ext cx="4648200" cy="53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không biết capacity C</a:t>
            </a:r>
          </a:p>
        </p:txBody>
      </p:sp>
      <p:sp>
        <p:nvSpPr>
          <p:cNvPr id="17" name="S11_LAYERS_R1C0">
            <a:extLst xmlns:a="http://schemas.openxmlformats.org/drawingml/2006/main">
              <a:ext uri="{FF2B5EF4-FFF2-40B4-BE49-F238E27FC236}">
                <a16:creationId xmlns:a16="http://schemas.microsoft.com/office/drawing/2014/main" id="{2216D87B-CC38-4009-8DCF-BBBAFC34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2190750" cy="53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Validation</a:t>
            </a:r>
          </a:p>
        </p:txBody>
      </p:sp>
      <p:sp>
        <p:nvSpPr>
          <p:cNvPr id="18" name="S11_LAYERS_R1C1">
            <a:extLst xmlns:a="http://schemas.openxmlformats.org/drawingml/2006/main">
              <a:ext uri="{FF2B5EF4-FFF2-40B4-BE49-F238E27FC236}">
                <a16:creationId xmlns:a16="http://schemas.microsoft.com/office/drawing/2014/main" id="{F90944FF-2F2D-4BD4-BD25-ABEE5A7E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14875"/>
            <a:ext cx="4286250" cy="53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MAX_NAME_BYTES=256</a:t>
            </a:r>
          </a:p>
        </p:txBody>
      </p:sp>
      <p:sp>
        <p:nvSpPr>
          <p:cNvPr id="19" name="S11_LAYERS_R1C2">
            <a:extLst xmlns:a="http://schemas.openxmlformats.org/drawingml/2006/main">
              <a:ext uri="{FF2B5EF4-FFF2-40B4-BE49-F238E27FC236}">
                <a16:creationId xmlns:a16="http://schemas.microsoft.com/office/drawing/2014/main" id="{AEA6824D-0F44-4C38-803C-23BE144D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14875"/>
            <a:ext cx="4648200" cy="53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chưa đủ cho name[32]</a:t>
            </a:r>
          </a:p>
        </p:txBody>
      </p:sp>
      <p:sp>
        <p:nvSpPr>
          <p:cNvPr id="20" name="S11_LAYERS_R2C0">
            <a:extLst xmlns:a="http://schemas.openxmlformats.org/drawingml/2006/main">
              <a:ext uri="{FF2B5EF4-FFF2-40B4-BE49-F238E27FC236}">
                <a16:creationId xmlns:a16="http://schemas.microsoft.com/office/drawing/2014/main" id="{262DEA88-80F1-4D8B-9BDF-3C32854E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3038"/>
            <a:ext cx="2190750" cy="53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Native</a:t>
            </a:r>
          </a:p>
        </p:txBody>
      </p:sp>
      <p:sp>
        <p:nvSpPr>
          <p:cNvPr id="21" name="S11_LAYERS_R2C1">
            <a:extLst xmlns:a="http://schemas.openxmlformats.org/drawingml/2006/main">
              <a:ext uri="{FF2B5EF4-FFF2-40B4-BE49-F238E27FC236}">
                <a16:creationId xmlns:a16="http://schemas.microsoft.com/office/drawing/2014/main" id="{446C8937-B793-43F0-B357-C74799A9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53038"/>
            <a:ext cx="4286250" cy="53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31-byte invariant</a:t>
            </a:r>
          </a:p>
        </p:txBody>
      </p:sp>
      <p:sp>
        <p:nvSpPr>
          <p:cNvPr id="22" name="S11_LAYERS_R2C2">
            <a:extLst xmlns:a="http://schemas.openxmlformats.org/drawingml/2006/main">
              <a:ext uri="{FF2B5EF4-FFF2-40B4-BE49-F238E27FC236}">
                <a16:creationId xmlns:a16="http://schemas.microsoft.com/office/drawing/2014/main" id="{A115E67E-BC6A-4E36-9C24-A90CA0C7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53038"/>
            <a:ext cx="4648200" cy="53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bản vá nguyên nhân gốc</a:t>
            </a:r>
          </a:p>
        </p:txBody>
      </p:sp>
    </p:spTree>
    <p:extLst>
      <p:ext uri="{BB962C8B-B14F-4D97-AF65-F5344CB8AC3E}">
        <p14:creationId xmlns:p14="http://schemas.microsoft.com/office/powerpoint/2010/main" val="9989133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12_EYEBROW">
            <a:extLst xmlns:a="http://schemas.openxmlformats.org/drawingml/2006/main">
              <a:ext uri="{FF2B5EF4-FFF2-40B4-BE49-F238E27FC236}">
                <a16:creationId xmlns:a16="http://schemas.microsoft.com/office/drawing/2014/main" id="{4AAA3394-C5F9-4379-B254-A78028DB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LAB02 / BUFFER OVERFLOW</a:t>
            </a:r>
          </a:p>
        </p:txBody>
      </p:sp>
      <p:sp>
        <p:nvSpPr>
          <p:cNvPr id="2" name="S12_TITLE">
            <a:extLst xmlns:a="http://schemas.openxmlformats.org/drawingml/2006/main">
              <a:ext uri="{FF2B5EF4-FFF2-40B4-BE49-F238E27FC236}">
                <a16:creationId xmlns:a16="http://schemas.microsoft.com/office/drawing/2014/main" id="{F4BD57DF-6E86-443D-9B3A-0438B0C5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4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Hardening giảm khả năng khai thác — không vá strcpy</a:t>
            </a:r>
          </a:p>
        </p:txBody>
      </p:sp>
      <p:sp>
        <p:nvSpPr>
          <p:cNvPr id="3" name="S12_SUBTITLE">
            <a:extLst xmlns:a="http://schemas.openxmlformats.org/drawingml/2006/main">
              <a:ext uri="{FF2B5EF4-FFF2-40B4-BE49-F238E27FC236}">
                <a16:creationId xmlns:a16="http://schemas.microsoft.com/office/drawing/2014/main" id="{8781852B-420C-417C-839F-2D9D854E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Source fix trước; compiler, loader và OS thu hẹp hậu quả.</a:t>
            </a:r>
          </a:p>
        </p:txBody>
      </p:sp>
      <p:sp>
        <p:nvSpPr>
          <p:cNvPr id="4" name="S12_TITLE_RULE">
            <a:extLst xmlns:a="http://schemas.openxmlformats.org/drawingml/2006/main">
              <a:ext uri="{FF2B5EF4-FFF2-40B4-BE49-F238E27FC236}">
                <a16:creationId xmlns:a16="http://schemas.microsoft.com/office/drawing/2014/main" id="{93F5B9F9-D549-46B8-90D0-F8963960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12_FOOTER_RULE">
            <a:extLst xmlns:a="http://schemas.openxmlformats.org/drawingml/2006/main">
              <a:ext uri="{FF2B5EF4-FFF2-40B4-BE49-F238E27FC236}">
                <a16:creationId xmlns:a16="http://schemas.microsoft.com/office/drawing/2014/main" id="{098E04AC-11A8-4DDD-8EF4-4D3A1853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2_SOURCE">
            <a:extLst xmlns:a="http://schemas.openxmlformats.org/drawingml/2006/main">
              <a:ext uri="{FF2B5EF4-FFF2-40B4-BE49-F238E27FC236}">
                <a16:creationId xmlns:a16="http://schemas.microsoft.com/office/drawing/2014/main" id="{E677E2F4-3967-462F-9CB1-DC603809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NGUỒN  Lab02/Makefile · BaiTapTopic04.docx P157–P187</a:t>
            </a:r>
          </a:p>
        </p:txBody>
      </p:sp>
      <p:sp>
        <p:nvSpPr>
          <p:cNvPr id="7" name="S12_NUMBER">
            <a:extLst xmlns:a="http://schemas.openxmlformats.org/drawingml/2006/main">
              <a:ext uri="{FF2B5EF4-FFF2-40B4-BE49-F238E27FC236}">
                <a16:creationId xmlns:a16="http://schemas.microsoft.com/office/drawing/2014/main" id="{1A1C5D28-BF23-4FDF-86F3-CBC34920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8" name="S12_HARDEN_H0">
            <a:extLst xmlns:a="http://schemas.openxmlformats.org/drawingml/2006/main">
              <a:ext uri="{FF2B5EF4-FFF2-40B4-BE49-F238E27FC236}">
                <a16:creationId xmlns:a16="http://schemas.microsoft.com/office/drawing/2014/main" id="{311BB89A-AD84-410A-BAA0-A9AA62B0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428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LỚP</a:t>
            </a:r>
          </a:p>
        </p:txBody>
      </p:sp>
      <p:sp>
        <p:nvSpPr>
          <p:cNvPr id="9" name="S12_HARDEN_H1">
            <a:extLst xmlns:a="http://schemas.openxmlformats.org/drawingml/2006/main">
              <a:ext uri="{FF2B5EF4-FFF2-40B4-BE49-F238E27FC236}">
                <a16:creationId xmlns:a16="http://schemas.microsoft.com/office/drawing/2014/main" id="{4B5F5881-A8F2-41A0-86BC-C794334A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695450"/>
            <a:ext cx="2381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CƠ CHẾ</a:t>
            </a:r>
          </a:p>
        </p:txBody>
      </p:sp>
      <p:sp>
        <p:nvSpPr>
          <p:cNvPr id="10" name="S12_HARDEN_H2">
            <a:extLst xmlns:a="http://schemas.openxmlformats.org/drawingml/2006/main">
              <a:ext uri="{FF2B5EF4-FFF2-40B4-BE49-F238E27FC236}">
                <a16:creationId xmlns:a16="http://schemas.microsoft.com/office/drawing/2014/main" id="{4D8D903C-4CC2-4D8F-9C0E-1433D9DD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95450"/>
            <a:ext cx="2571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TÁC DỤNG</a:t>
            </a:r>
          </a:p>
        </p:txBody>
      </p:sp>
      <p:sp>
        <p:nvSpPr>
          <p:cNvPr id="11" name="S12_HARDEN_R0C0">
            <a:extLst xmlns:a="http://schemas.openxmlformats.org/drawingml/2006/main">
              <a:ext uri="{FF2B5EF4-FFF2-40B4-BE49-F238E27FC236}">
                <a16:creationId xmlns:a16="http://schemas.microsoft.com/office/drawing/2014/main" id="{2E734A26-3467-48BA-8A3B-7C5B57B7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14575"/>
            <a:ext cx="1428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Source</a:t>
            </a:r>
          </a:p>
        </p:txBody>
      </p:sp>
      <p:sp>
        <p:nvSpPr>
          <p:cNvPr id="12" name="S12_HARDEN_R0C1">
            <a:extLst xmlns:a="http://schemas.openxmlformats.org/drawingml/2006/main">
              <a:ext uri="{FF2B5EF4-FFF2-40B4-BE49-F238E27FC236}">
                <a16:creationId xmlns:a16="http://schemas.microsoft.com/office/drawing/2014/main" id="{A940B3E8-0D4A-4ADC-B29C-4AB8F2FF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14575"/>
            <a:ext cx="2381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bounded copy + invariant</a:t>
            </a:r>
          </a:p>
        </p:txBody>
      </p:sp>
      <p:sp>
        <p:nvSpPr>
          <p:cNvPr id="13" name="S12_HARDEN_R0C2">
            <a:extLst xmlns:a="http://schemas.openxmlformats.org/drawingml/2006/main">
              <a:ext uri="{FF2B5EF4-FFF2-40B4-BE49-F238E27FC236}">
                <a16:creationId xmlns:a16="http://schemas.microsoft.com/office/drawing/2014/main" id="{97AB9260-2CCE-4B3A-A941-C6A697FD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14575"/>
            <a:ext cx="2571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ngăn overflow</a:t>
            </a:r>
          </a:p>
        </p:txBody>
      </p:sp>
      <p:sp>
        <p:nvSpPr>
          <p:cNvPr id="14" name="S12_HARDEN_R1C0">
            <a:extLst xmlns:a="http://schemas.openxmlformats.org/drawingml/2006/main">
              <a:ext uri="{FF2B5EF4-FFF2-40B4-BE49-F238E27FC236}">
                <a16:creationId xmlns:a16="http://schemas.microsoft.com/office/drawing/2014/main" id="{CCACA03D-48AD-4F1A-A56A-A7215762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33700"/>
            <a:ext cx="1428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Compiler</a:t>
            </a:r>
          </a:p>
        </p:txBody>
      </p:sp>
      <p:sp>
        <p:nvSpPr>
          <p:cNvPr id="15" name="S12_HARDEN_R1C1">
            <a:extLst xmlns:a="http://schemas.openxmlformats.org/drawingml/2006/main">
              <a:ext uri="{FF2B5EF4-FFF2-40B4-BE49-F238E27FC236}">
                <a16:creationId xmlns:a16="http://schemas.microsoft.com/office/drawing/2014/main" id="{2E799509-820B-48F7-BDBC-E47C140B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33700"/>
            <a:ext cx="2381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stack protector · FORTIFY</a:t>
            </a:r>
          </a:p>
        </p:txBody>
      </p:sp>
      <p:sp>
        <p:nvSpPr>
          <p:cNvPr id="16" name="S12_HARDEN_R1C2">
            <a:extLst xmlns:a="http://schemas.openxmlformats.org/drawingml/2006/main">
              <a:ext uri="{FF2B5EF4-FFF2-40B4-BE49-F238E27FC236}">
                <a16:creationId xmlns:a16="http://schemas.microsoft.com/office/drawing/2014/main" id="{CEBFA0CD-B495-4B35-AF8A-20B858E7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33700"/>
            <a:ext cx="2571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phát hiện / abort</a:t>
            </a:r>
          </a:p>
        </p:txBody>
      </p:sp>
      <p:sp>
        <p:nvSpPr>
          <p:cNvPr id="17" name="S12_HARDEN_R2C0">
            <a:extLst xmlns:a="http://schemas.openxmlformats.org/drawingml/2006/main">
              <a:ext uri="{FF2B5EF4-FFF2-40B4-BE49-F238E27FC236}">
                <a16:creationId xmlns:a16="http://schemas.microsoft.com/office/drawing/2014/main" id="{4DB7C1EE-2A2D-4228-8056-F0D157AC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52825"/>
            <a:ext cx="1428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Binary</a:t>
            </a:r>
          </a:p>
        </p:txBody>
      </p:sp>
      <p:sp>
        <p:nvSpPr>
          <p:cNvPr id="18" name="S12_HARDEN_R2C1">
            <a:extLst xmlns:a="http://schemas.openxmlformats.org/drawingml/2006/main">
              <a:ext uri="{FF2B5EF4-FFF2-40B4-BE49-F238E27FC236}">
                <a16:creationId xmlns:a16="http://schemas.microsoft.com/office/drawing/2014/main" id="{007CDAEF-BAAE-4194-8CE5-FD263AD4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2381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PIE · RELRO · NOW</a:t>
            </a:r>
          </a:p>
        </p:txBody>
      </p:sp>
      <p:sp>
        <p:nvSpPr>
          <p:cNvPr id="19" name="S12_HARDEN_R2C2">
            <a:extLst xmlns:a="http://schemas.openxmlformats.org/drawingml/2006/main">
              <a:ext uri="{FF2B5EF4-FFF2-40B4-BE49-F238E27FC236}">
                <a16:creationId xmlns:a16="http://schemas.microsoft.com/office/drawing/2014/main" id="{E64DEED2-A095-4432-844E-D80E3BED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52825"/>
            <a:ext cx="2571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khó tái định vị/ghi GOT</a:t>
            </a:r>
          </a:p>
        </p:txBody>
      </p:sp>
      <p:sp>
        <p:nvSpPr>
          <p:cNvPr id="20" name="S12_HARDEN_R3C0">
            <a:extLst xmlns:a="http://schemas.openxmlformats.org/drawingml/2006/main">
              <a:ext uri="{FF2B5EF4-FFF2-40B4-BE49-F238E27FC236}">
                <a16:creationId xmlns:a16="http://schemas.microsoft.com/office/drawing/2014/main" id="{B0D1195B-EB46-4669-9E14-90367866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1428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OS</a:t>
            </a:r>
          </a:p>
        </p:txBody>
      </p:sp>
      <p:sp>
        <p:nvSpPr>
          <p:cNvPr id="21" name="S12_HARDEN_R3C1">
            <a:extLst xmlns:a="http://schemas.openxmlformats.org/drawingml/2006/main">
              <a:ext uri="{FF2B5EF4-FFF2-40B4-BE49-F238E27FC236}">
                <a16:creationId xmlns:a16="http://schemas.microsoft.com/office/drawing/2014/main" id="{939C82C4-5D10-45D0-A2F6-AFAE73B7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71950"/>
            <a:ext cx="2381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ASLR · NX/DEP</a:t>
            </a:r>
          </a:p>
        </p:txBody>
      </p:sp>
      <p:sp>
        <p:nvSpPr>
          <p:cNvPr id="22" name="S12_HARDEN_R3C2">
            <a:extLst xmlns:a="http://schemas.openxmlformats.org/drawingml/2006/main">
              <a:ext uri="{FF2B5EF4-FFF2-40B4-BE49-F238E27FC236}">
                <a16:creationId xmlns:a16="http://schemas.microsoft.com/office/drawing/2014/main" id="{12E8DBE4-EBC2-4735-9DE4-B4B5F887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71950"/>
            <a:ext cx="2571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khó dự đoán / chạy code</a:t>
            </a:r>
          </a:p>
        </p:txBody>
      </p:sp>
      <p:sp>
        <p:nvSpPr>
          <p:cNvPr id="23" name="S12_HARDEN_R4C0">
            <a:extLst xmlns:a="http://schemas.openxmlformats.org/drawingml/2006/main">
              <a:ext uri="{FF2B5EF4-FFF2-40B4-BE49-F238E27FC236}">
                <a16:creationId xmlns:a16="http://schemas.microsoft.com/office/drawing/2014/main" id="{01670A1A-2F3A-4CDD-B92E-C0CADFC4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91075"/>
            <a:ext cx="1428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Language</a:t>
            </a:r>
          </a:p>
        </p:txBody>
      </p:sp>
      <p:sp>
        <p:nvSpPr>
          <p:cNvPr id="24" name="S12_HARDEN_R4C1">
            <a:extLst xmlns:a="http://schemas.openxmlformats.org/drawingml/2006/main">
              <a:ext uri="{FF2B5EF4-FFF2-40B4-BE49-F238E27FC236}">
                <a16:creationId xmlns:a16="http://schemas.microsoft.com/office/drawing/2014/main" id="{CEA4168C-4C2A-4992-8E3B-A47151AC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791075"/>
            <a:ext cx="2381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memory-safe runtime</a:t>
            </a:r>
          </a:p>
        </p:txBody>
      </p:sp>
      <p:sp>
        <p:nvSpPr>
          <p:cNvPr id="25" name="S12_HARDEN_R4C2">
            <a:extLst xmlns:a="http://schemas.openxmlformats.org/drawingml/2006/main">
              <a:ext uri="{FF2B5EF4-FFF2-40B4-BE49-F238E27FC236}">
                <a16:creationId xmlns:a16="http://schemas.microsoft.com/office/drawing/2014/main" id="{BE8CC182-CCC5-4F47-AFB5-8C5E5296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791075"/>
            <a:ext cx="2571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loại lớp lỗi phổ biến</a:t>
            </a:r>
          </a:p>
        </p:txBody>
      </p:sp>
      <p:sp>
        <p:nvSpPr>
          <p:cNvPr id="26" name="S12_QA_1">
            <a:extLst xmlns:a="http://schemas.openxmlformats.org/drawingml/2006/main">
              <a:ext uri="{FF2B5EF4-FFF2-40B4-BE49-F238E27FC236}">
                <a16:creationId xmlns:a16="http://schemas.microsoft.com/office/drawing/2014/main" id="{854CD253-5B8F-461C-8FF9-A12534E6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95450"/>
            <a:ext cx="2162175" cy="128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01  Overflow ghi vượt memory; Injection đổi logic lệnh.</a:t>
            </a:r>
          </a:p>
        </p:txBody>
      </p:sp>
      <p:sp>
        <p:nvSpPr>
          <p:cNvPr id="27" name="S12_QA_2">
            <a:extLst xmlns:a="http://schemas.openxmlformats.org/drawingml/2006/main">
              <a:ext uri="{FF2B5EF4-FFF2-40B4-BE49-F238E27FC236}">
                <a16:creationId xmlns:a16="http://schemas.microsoft.com/office/drawing/2014/main" id="{1332EE83-5502-4E38-9D5A-423E1A33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695450"/>
            <a:ext cx="2162175" cy="128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02  HTTP chỉ là vector tới native boundary.</a:t>
            </a:r>
          </a:p>
        </p:txBody>
      </p:sp>
      <p:sp>
        <p:nvSpPr>
          <p:cNvPr id="28" name="S12_QA_3">
            <a:extLst xmlns:a="http://schemas.openxmlformats.org/drawingml/2006/main">
              <a:ext uri="{FF2B5EF4-FFF2-40B4-BE49-F238E27FC236}">
                <a16:creationId xmlns:a16="http://schemas.microsoft.com/office/drawing/2014/main" id="{FBDBB779-5E5E-4F1F-BFBF-DF367C6C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36900"/>
            <a:ext cx="2162175" cy="128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03  Firewall không thấy capacity của stack buffer.</a:t>
            </a:r>
          </a:p>
        </p:txBody>
      </p:sp>
      <p:sp>
        <p:nvSpPr>
          <p:cNvPr id="29" name="S12_QA_4">
            <a:extLst xmlns:a="http://schemas.openxmlformats.org/drawingml/2006/main">
              <a:ext uri="{FF2B5EF4-FFF2-40B4-BE49-F238E27FC236}">
                <a16:creationId xmlns:a16="http://schemas.microsoft.com/office/drawing/2014/main" id="{D37F5C2D-BF74-4FDC-919B-719BE131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136900"/>
            <a:ext cx="2162175" cy="128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04  Bản vá hiệu quả vì chặn trước copy.</a:t>
            </a:r>
          </a:p>
        </p:txBody>
      </p:sp>
      <p:sp>
        <p:nvSpPr>
          <p:cNvPr id="30" name="S12_QA_5">
            <a:extLst xmlns:a="http://schemas.openxmlformats.org/drawingml/2006/main">
              <a:ext uri="{FF2B5EF4-FFF2-40B4-BE49-F238E27FC236}">
                <a16:creationId xmlns:a16="http://schemas.microsoft.com/office/drawing/2014/main" id="{72936A32-061A-475F-A9F4-6A1D5C63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78350"/>
            <a:ext cx="2162175" cy="128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05  Canary/PIE/RELRO/NX là hardening, không root fix.</a:t>
            </a:r>
          </a:p>
        </p:txBody>
      </p:sp>
      <p:sp>
        <p:nvSpPr>
          <p:cNvPr id="31" name="S12_QA_6">
            <a:extLst xmlns:a="http://schemas.openxmlformats.org/drawingml/2006/main">
              <a:ext uri="{FF2B5EF4-FFF2-40B4-BE49-F238E27FC236}">
                <a16:creationId xmlns:a16="http://schemas.microsoft.com/office/drawing/2014/main" id="{AC4BCE08-6774-4626-8F27-3894796E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578350"/>
            <a:ext cx="2162175" cy="128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06  Retest input ngắn, 31 byte, 32+, 64 byte.</a:t>
            </a:r>
          </a:p>
        </p:txBody>
      </p:sp>
      <p:sp>
        <p:nvSpPr>
          <p:cNvPr id="32" name="S12_ORDER_BAR">
            <a:extLst xmlns:a="http://schemas.openxmlformats.org/drawingml/2006/main">
              <a:ext uri="{FF2B5EF4-FFF2-40B4-BE49-F238E27FC236}">
                <a16:creationId xmlns:a16="http://schemas.microsoft.com/office/drawing/2014/main" id="{E9E43858-3419-406D-8382-5CF9B004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762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3" name="S12_ORDER_LABEL">
            <a:extLst xmlns:a="http://schemas.openxmlformats.org/drawingml/2006/main">
              <a:ext uri="{FF2B5EF4-FFF2-40B4-BE49-F238E27FC236}">
                <a16:creationId xmlns:a16="http://schemas.microsoft.com/office/drawing/2014/main" id="{415BB2A4-6412-4595-B910-3EBF5146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638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THỨ TỰ</a:t>
            </a:r>
          </a:p>
        </p:txBody>
      </p:sp>
      <p:sp>
        <p:nvSpPr>
          <p:cNvPr id="34" name="S12_ORDER_BODY">
            <a:extLst xmlns:a="http://schemas.openxmlformats.org/drawingml/2006/main">
              <a:ext uri="{FF2B5EF4-FFF2-40B4-BE49-F238E27FC236}">
                <a16:creationId xmlns:a16="http://schemas.microsoft.com/office/drawing/2014/main" id="{F072987A-ACAD-469B-B316-CF63BA90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57850"/>
            <a:ext cx="4457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Vá code → build hardening → kiểm thử boundary → ghi bằng chứng.</a:t>
            </a:r>
          </a:p>
        </p:txBody>
      </p:sp>
    </p:spTree>
    <p:extLst>
      <p:ext uri="{BB962C8B-B14F-4D97-AF65-F5344CB8AC3E}">
        <p14:creationId xmlns:p14="http://schemas.microsoft.com/office/powerpoint/2010/main" val="7444548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13_EYEBROW">
            <a:extLst xmlns:a="http://schemas.openxmlformats.org/drawingml/2006/main">
              <a:ext uri="{FF2B5EF4-FFF2-40B4-BE49-F238E27FC236}">
                <a16:creationId xmlns:a16="http://schemas.microsoft.com/office/drawing/2014/main" id="{90C1AFB7-A0A5-4AB9-92C0-C2DA39C8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LAB03 / PARAMETER TAMPERING</a:t>
            </a:r>
          </a:p>
        </p:txBody>
      </p:sp>
      <p:sp>
        <p:nvSpPr>
          <p:cNvPr id="2" name="S13_TITLE">
            <a:extLst xmlns:a="http://schemas.openxmlformats.org/drawingml/2006/main">
              <a:ext uri="{FF2B5EF4-FFF2-40B4-BE49-F238E27FC236}">
                <a16:creationId xmlns:a16="http://schemas.microsoft.com/office/drawing/2014/main" id="{E2444FAD-DAC6-4FF6-A5AD-1C987C82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4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Kiểu dữ liệu hợp lệ vẫn có thể trái policy</a:t>
            </a:r>
          </a:p>
        </p:txBody>
      </p:sp>
      <p:sp>
        <p:nvSpPr>
          <p:cNvPr id="3" name="S13_SUBTITLE">
            <a:extLst xmlns:a="http://schemas.openxmlformats.org/drawingml/2006/main">
              <a:ext uri="{FF2B5EF4-FFF2-40B4-BE49-F238E27FC236}">
                <a16:creationId xmlns:a16="http://schemas.microsoft.com/office/drawing/2014/main" id="{5A9E1AE0-283F-42E5-9185-F2C06299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Price, invoice id, user id và role đều do browser kiểm soát cho tới khi server xác minh.</a:t>
            </a:r>
          </a:p>
        </p:txBody>
      </p:sp>
      <p:sp>
        <p:nvSpPr>
          <p:cNvPr id="4" name="S13_TITLE_RULE">
            <a:extLst xmlns:a="http://schemas.openxmlformats.org/drawingml/2006/main">
              <a:ext uri="{FF2B5EF4-FFF2-40B4-BE49-F238E27FC236}">
                <a16:creationId xmlns:a16="http://schemas.microsoft.com/office/drawing/2014/main" id="{C56F2E72-26E6-4EEE-82B6-16ECEAC1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13_FOOTER_RULE">
            <a:extLst xmlns:a="http://schemas.openxmlformats.org/drawingml/2006/main">
              <a:ext uri="{FF2B5EF4-FFF2-40B4-BE49-F238E27FC236}">
                <a16:creationId xmlns:a16="http://schemas.microsoft.com/office/drawing/2014/main" id="{422967A6-573A-4FB9-BE21-CD3C0E62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3_SOURCE">
            <a:extLst xmlns:a="http://schemas.openxmlformats.org/drawingml/2006/main">
              <a:ext uri="{FF2B5EF4-FFF2-40B4-BE49-F238E27FC236}">
                <a16:creationId xmlns:a16="http://schemas.microsoft.com/office/drawing/2014/main" id="{2D1FE38A-0201-4DF5-8227-67AB6750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NGUỒN  Lab03/app.py · services.py · authorization.py</a:t>
            </a:r>
          </a:p>
        </p:txBody>
      </p:sp>
      <p:sp>
        <p:nvSpPr>
          <p:cNvPr id="7" name="S13_NUMBER">
            <a:extLst xmlns:a="http://schemas.openxmlformats.org/drawingml/2006/main">
              <a:ext uri="{FF2B5EF4-FFF2-40B4-BE49-F238E27FC236}">
                <a16:creationId xmlns:a16="http://schemas.microsoft.com/office/drawing/2014/main" id="{03F5383C-4AFF-4821-829B-0A926FCD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8" name="S13_BOUNDARY_ARROW_1">
            <a:extLst xmlns:a="http://schemas.openxmlformats.org/drawingml/2006/main">
              <a:ext uri="{FF2B5EF4-FFF2-40B4-BE49-F238E27FC236}">
                <a16:creationId xmlns:a16="http://schemas.microsoft.com/office/drawing/2014/main" id="{85514B9D-CF1A-4D05-B299-975A968B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526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13_BOUNDARY_ARROW_2">
            <a:extLst xmlns:a="http://schemas.openxmlformats.org/drawingml/2006/main">
              <a:ext uri="{FF2B5EF4-FFF2-40B4-BE49-F238E27FC236}">
                <a16:creationId xmlns:a16="http://schemas.microsoft.com/office/drawing/2014/main" id="{6BC8B068-F5A2-43EA-B7E5-E1034821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526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13_BOUNDARY_ARROW_3">
            <a:extLst xmlns:a="http://schemas.openxmlformats.org/drawingml/2006/main">
              <a:ext uri="{FF2B5EF4-FFF2-40B4-BE49-F238E27FC236}">
                <a16:creationId xmlns:a16="http://schemas.microsoft.com/office/drawing/2014/main" id="{EF3FB0DA-CBCD-431B-B20A-9DE47849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526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13_BOUNDARY_ARROW_4">
            <a:extLst xmlns:a="http://schemas.openxmlformats.org/drawingml/2006/main">
              <a:ext uri="{FF2B5EF4-FFF2-40B4-BE49-F238E27FC236}">
                <a16:creationId xmlns:a16="http://schemas.microsoft.com/office/drawing/2014/main" id="{C9CC985E-7FB6-4460-82E3-2A9AE199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526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13_BOUNDARY_NODE_1">
            <a:extLst xmlns:a="http://schemas.openxmlformats.org/drawingml/2006/main">
              <a:ext uri="{FF2B5EF4-FFF2-40B4-BE49-F238E27FC236}">
                <a16:creationId xmlns:a16="http://schemas.microsoft.com/office/drawing/2014/main" id="{7754136D-6AAF-470E-A78A-F98934B7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1905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FORM / URL /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HIDDEN / COOKIE</a:t>
            </a:r>
          </a:p>
        </p:txBody>
      </p:sp>
      <p:sp>
        <p:nvSpPr>
          <p:cNvPr id="13" name="S13_BOUNDARY_NODE_2">
            <a:extLst xmlns:a="http://schemas.openxmlformats.org/drawingml/2006/main">
              <a:ext uri="{FF2B5EF4-FFF2-40B4-BE49-F238E27FC236}">
                <a16:creationId xmlns:a16="http://schemas.microsoft.com/office/drawing/2014/main" id="{9E693F18-4836-45CD-9CEF-63E50C01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71650"/>
            <a:ext cx="1905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REQUEST</a:t>
            </a:r>
          </a:p>
        </p:txBody>
      </p:sp>
      <p:sp>
        <p:nvSpPr>
          <p:cNvPr id="14" name="S13_BOUNDARY_NODE_3">
            <a:extLst xmlns:a="http://schemas.openxmlformats.org/drawingml/2006/main">
              <a:ext uri="{FF2B5EF4-FFF2-40B4-BE49-F238E27FC236}">
                <a16:creationId xmlns:a16="http://schemas.microsoft.com/office/drawing/2014/main" id="{A92D464E-12E6-4D6C-A599-63A46D09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71650"/>
            <a:ext cx="1905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SERVER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VALIDATION</a:t>
            </a:r>
          </a:p>
        </p:txBody>
      </p:sp>
      <p:sp>
        <p:nvSpPr>
          <p:cNvPr id="15" name="S13_BOUNDARY_NODE_4">
            <a:extLst xmlns:a="http://schemas.openxmlformats.org/drawingml/2006/main">
              <a:ext uri="{FF2B5EF4-FFF2-40B4-BE49-F238E27FC236}">
                <a16:creationId xmlns:a16="http://schemas.microsoft.com/office/drawing/2014/main" id="{16BD7638-C286-4BDE-86D8-1EB161A1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71650"/>
            <a:ext cx="1905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AUTHORIZATION</a:t>
            </a:r>
          </a:p>
        </p:txBody>
      </p:sp>
      <p:sp>
        <p:nvSpPr>
          <p:cNvPr id="16" name="S13_BOUNDARY_NODE_5">
            <a:extLst xmlns:a="http://schemas.openxmlformats.org/drawingml/2006/main">
              <a:ext uri="{FF2B5EF4-FFF2-40B4-BE49-F238E27FC236}">
                <a16:creationId xmlns:a16="http://schemas.microsoft.com/office/drawing/2014/main" id="{C94D6972-4D99-41A2-AADA-D869F010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771650"/>
            <a:ext cx="1905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DB / RESPONSE</a:t>
            </a:r>
          </a:p>
        </p:txBody>
      </p:sp>
      <p:sp>
        <p:nvSpPr>
          <p:cNvPr id="17" name="S13_PARAMS_H0">
            <a:extLst xmlns:a="http://schemas.openxmlformats.org/drawingml/2006/main">
              <a:ext uri="{FF2B5EF4-FFF2-40B4-BE49-F238E27FC236}">
                <a16:creationId xmlns:a16="http://schemas.microsoft.com/office/drawing/2014/main" id="{8B039591-ADB8-4487-95E5-0E5E136B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209550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PARAMETER</a:t>
            </a:r>
          </a:p>
        </p:txBody>
      </p:sp>
      <p:sp>
        <p:nvSpPr>
          <p:cNvPr id="18" name="S13_PARAMS_H1">
            <a:extLst xmlns:a="http://schemas.openxmlformats.org/drawingml/2006/main">
              <a:ext uri="{FF2B5EF4-FFF2-40B4-BE49-F238E27FC236}">
                <a16:creationId xmlns:a16="http://schemas.microsoft.com/office/drawing/2014/main" id="{FE928EE9-1B43-4B77-9B70-01C0B724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81350"/>
            <a:ext cx="304800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HỢP LỆ VỀ KIỂU</a:t>
            </a:r>
          </a:p>
        </p:txBody>
      </p:sp>
      <p:sp>
        <p:nvSpPr>
          <p:cNvPr id="19" name="S13_PARAMS_H2">
            <a:extLst xmlns:a="http://schemas.openxmlformats.org/drawingml/2006/main">
              <a:ext uri="{FF2B5EF4-FFF2-40B4-BE49-F238E27FC236}">
                <a16:creationId xmlns:a16="http://schemas.microsoft.com/office/drawing/2014/main" id="{26B4D676-3015-4FB2-A9D8-52DD69C9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181350"/>
            <a:ext cx="598170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CÂU HỎI POLICY</a:t>
            </a:r>
          </a:p>
        </p:txBody>
      </p:sp>
      <p:sp>
        <p:nvSpPr>
          <p:cNvPr id="20" name="S13_PARAMS_R0C0">
            <a:extLst xmlns:a="http://schemas.openxmlformats.org/drawingml/2006/main">
              <a:ext uri="{FF2B5EF4-FFF2-40B4-BE49-F238E27FC236}">
                <a16:creationId xmlns:a16="http://schemas.microsoft.com/office/drawing/2014/main" id="{C8D9A4E8-D241-4366-82EF-C25BD0DA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57613"/>
            <a:ext cx="209550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price=1</a:t>
            </a:r>
          </a:p>
        </p:txBody>
      </p:sp>
      <p:sp>
        <p:nvSpPr>
          <p:cNvPr id="21" name="S13_PARAMS_R0C1">
            <a:extLst xmlns:a="http://schemas.openxmlformats.org/drawingml/2006/main">
              <a:ext uri="{FF2B5EF4-FFF2-40B4-BE49-F238E27FC236}">
                <a16:creationId xmlns:a16="http://schemas.microsoft.com/office/drawing/2014/main" id="{28E3F986-0A70-44BA-9BFE-3EB98A51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57613"/>
            <a:ext cx="304800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integer</a:t>
            </a:r>
          </a:p>
        </p:txBody>
      </p:sp>
      <p:sp>
        <p:nvSpPr>
          <p:cNvPr id="22" name="S13_PARAMS_R0C2">
            <a:extLst xmlns:a="http://schemas.openxmlformats.org/drawingml/2006/main">
              <a:ext uri="{FF2B5EF4-FFF2-40B4-BE49-F238E27FC236}">
                <a16:creationId xmlns:a16="http://schemas.microsoft.com/office/drawing/2014/main" id="{DBFFB14F-DD3D-48C3-B9DC-CF7911B2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57613"/>
            <a:ext cx="598170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có phải giá từ DB?</a:t>
            </a:r>
          </a:p>
        </p:txBody>
      </p:sp>
      <p:sp>
        <p:nvSpPr>
          <p:cNvPr id="23" name="S13_PARAMS_R1C0">
            <a:extLst xmlns:a="http://schemas.openxmlformats.org/drawingml/2006/main">
              <a:ext uri="{FF2B5EF4-FFF2-40B4-BE49-F238E27FC236}">
                <a16:creationId xmlns:a16="http://schemas.microsoft.com/office/drawing/2014/main" id="{8D9F4C57-E4FC-47F6-9899-E8BBC1B9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209550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id=1002</a:t>
            </a:r>
          </a:p>
        </p:txBody>
      </p:sp>
      <p:sp>
        <p:nvSpPr>
          <p:cNvPr id="24" name="S13_PARAMS_R1C1">
            <a:extLst xmlns:a="http://schemas.openxmlformats.org/drawingml/2006/main">
              <a:ext uri="{FF2B5EF4-FFF2-40B4-BE49-F238E27FC236}">
                <a16:creationId xmlns:a16="http://schemas.microsoft.com/office/drawing/2014/main" id="{867D4F0A-A88F-4671-8878-423774E1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33875"/>
            <a:ext cx="304800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integer</a:t>
            </a:r>
          </a:p>
        </p:txBody>
      </p:sp>
      <p:sp>
        <p:nvSpPr>
          <p:cNvPr id="25" name="S13_PARAMS_R1C2">
            <a:extLst xmlns:a="http://schemas.openxmlformats.org/drawingml/2006/main">
              <a:ext uri="{FF2B5EF4-FFF2-40B4-BE49-F238E27FC236}">
                <a16:creationId xmlns:a16="http://schemas.microsoft.com/office/drawing/2014/main" id="{6E3DE4C2-09FC-42D6-956C-8E142DD4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33875"/>
            <a:ext cx="598170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user có sở hữu invoice?</a:t>
            </a:r>
          </a:p>
        </p:txBody>
      </p:sp>
      <p:sp>
        <p:nvSpPr>
          <p:cNvPr id="26" name="S13_PARAMS_R2C0">
            <a:extLst xmlns:a="http://schemas.openxmlformats.org/drawingml/2006/main">
              <a:ext uri="{FF2B5EF4-FFF2-40B4-BE49-F238E27FC236}">
                <a16:creationId xmlns:a16="http://schemas.microsoft.com/office/drawing/2014/main" id="{A792E258-4D1F-4A9E-9E53-E455DEEF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0138"/>
            <a:ext cx="209550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role=admin</a:t>
            </a:r>
          </a:p>
        </p:txBody>
      </p:sp>
      <p:sp>
        <p:nvSpPr>
          <p:cNvPr id="27" name="S13_PARAMS_R2C1">
            <a:extLst xmlns:a="http://schemas.openxmlformats.org/drawingml/2006/main">
              <a:ext uri="{FF2B5EF4-FFF2-40B4-BE49-F238E27FC236}">
                <a16:creationId xmlns:a16="http://schemas.microsoft.com/office/drawing/2014/main" id="{48772FC6-5DDD-4965-B7ED-4F84936F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910138"/>
            <a:ext cx="304800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enum/string</a:t>
            </a:r>
          </a:p>
        </p:txBody>
      </p:sp>
      <p:sp>
        <p:nvSpPr>
          <p:cNvPr id="28" name="S13_PARAMS_R2C2">
            <a:extLst xmlns:a="http://schemas.openxmlformats.org/drawingml/2006/main">
              <a:ext uri="{FF2B5EF4-FFF2-40B4-BE49-F238E27FC236}">
                <a16:creationId xmlns:a16="http://schemas.microsoft.com/office/drawing/2014/main" id="{9874D0A2-E927-4AD5-ACBC-BCCD83CF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910138"/>
            <a:ext cx="5981700" cy="576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client có quyền đổi role?</a:t>
            </a:r>
          </a:p>
        </p:txBody>
      </p:sp>
      <p:sp>
        <p:nvSpPr>
          <p:cNvPr id="29" name="S13_KEY_BAR">
            <a:extLst xmlns:a="http://schemas.openxmlformats.org/drawingml/2006/main">
              <a:ext uri="{FF2B5EF4-FFF2-40B4-BE49-F238E27FC236}">
                <a16:creationId xmlns:a16="http://schemas.microsoft.com/office/drawing/2014/main" id="{68A747B4-7E25-49BC-8E8B-F807D631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762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0" name="S13_KEY_LABEL">
            <a:extLst xmlns:a="http://schemas.openxmlformats.org/drawingml/2006/main">
              <a:ext uri="{FF2B5EF4-FFF2-40B4-BE49-F238E27FC236}">
                <a16:creationId xmlns:a16="http://schemas.microsoft.com/office/drawing/2014/main" id="{E36C55DD-1F7C-4CBA-B444-4918D607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163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KEY IDEA</a:t>
            </a:r>
          </a:p>
        </p:txBody>
      </p:sp>
      <p:sp>
        <p:nvSpPr>
          <p:cNvPr id="31" name="S13_KEY_BODY">
            <a:extLst xmlns:a="http://schemas.openxmlformats.org/drawingml/2006/main">
              <a:ext uri="{FF2B5EF4-FFF2-40B4-BE49-F238E27FC236}">
                <a16:creationId xmlns:a16="http://schemas.microsoft.com/office/drawing/2014/main" id="{DF4410C5-4A5A-4E95-97FE-70301AC7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753100"/>
            <a:ext cx="920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Hidden field chỉ ẩn khỏi giao diện; nó không trở thành dữ liệu tin cậy.</a:t>
            </a:r>
          </a:p>
        </p:txBody>
      </p:sp>
    </p:spTree>
    <p:extLst>
      <p:ext uri="{BB962C8B-B14F-4D97-AF65-F5344CB8AC3E}">
        <p14:creationId xmlns:p14="http://schemas.microsoft.com/office/powerpoint/2010/main" val="4706378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14_EYEBROW">
            <a:extLst xmlns:a="http://schemas.openxmlformats.org/drawingml/2006/main">
              <a:ext uri="{FF2B5EF4-FFF2-40B4-BE49-F238E27FC236}">
                <a16:creationId xmlns:a16="http://schemas.microsoft.com/office/drawing/2014/main" id="{2F345F5A-06BA-478D-91B9-AF18376A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LAB03 / PARAMETER TAMPERING</a:t>
            </a:r>
          </a:p>
        </p:txBody>
      </p:sp>
      <p:sp>
        <p:nvSpPr>
          <p:cNvPr id="2" name="S14_TITLE">
            <a:extLst xmlns:a="http://schemas.openxmlformats.org/drawingml/2006/main">
              <a:ext uri="{FF2B5EF4-FFF2-40B4-BE49-F238E27FC236}">
                <a16:creationId xmlns:a16="http://schemas.microsoft.com/office/drawing/2014/main" id="{99CF4315-71D1-4001-BE31-ED0B3FA7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4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Giá phải được quyết định ở server</a:t>
            </a:r>
          </a:p>
        </p:txBody>
      </p:sp>
      <p:sp>
        <p:nvSpPr>
          <p:cNvPr id="3" name="S14_SUBTITLE">
            <a:extLst xmlns:a="http://schemas.openxmlformats.org/drawingml/2006/main">
              <a:ext uri="{FF2B5EF4-FFF2-40B4-BE49-F238E27FC236}">
                <a16:creationId xmlns:a16="http://schemas.microsoft.com/office/drawing/2014/main" id="{F43F1E0F-E106-40FF-825A-C241E1B3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Client chỉ gửi product_id và quantity; server đọc price_vnd từ products.</a:t>
            </a:r>
          </a:p>
        </p:txBody>
      </p:sp>
      <p:sp>
        <p:nvSpPr>
          <p:cNvPr id="4" name="S14_TITLE_RULE">
            <a:extLst xmlns:a="http://schemas.openxmlformats.org/drawingml/2006/main">
              <a:ext uri="{FF2B5EF4-FFF2-40B4-BE49-F238E27FC236}">
                <a16:creationId xmlns:a16="http://schemas.microsoft.com/office/drawing/2014/main" id="{0BA8D7CF-16DB-4AE1-B071-B04B50EC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14_FOOTER_RULE">
            <a:extLst xmlns:a="http://schemas.openxmlformats.org/drawingml/2006/main">
              <a:ext uri="{FF2B5EF4-FFF2-40B4-BE49-F238E27FC236}">
                <a16:creationId xmlns:a16="http://schemas.microsoft.com/office/drawing/2014/main" id="{4BD077DA-E006-4E27-9A00-B825F742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4_SOURCE">
            <a:extLst xmlns:a="http://schemas.openxmlformats.org/drawingml/2006/main">
              <a:ext uri="{FF2B5EF4-FFF2-40B4-BE49-F238E27FC236}">
                <a16:creationId xmlns:a16="http://schemas.microsoft.com/office/drawing/2014/main" id="{8F8CAA26-F813-4487-88C6-418FFE89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NGUỒN  Lab03/services.py · seed.py product 5</a:t>
            </a:r>
          </a:p>
        </p:txBody>
      </p:sp>
      <p:sp>
        <p:nvSpPr>
          <p:cNvPr id="7" name="S14_NUMBER">
            <a:extLst xmlns:a="http://schemas.openxmlformats.org/drawingml/2006/main">
              <a:ext uri="{FF2B5EF4-FFF2-40B4-BE49-F238E27FC236}">
                <a16:creationId xmlns:a16="http://schemas.microsoft.com/office/drawing/2014/main" id="{BBF6F6AD-7840-4E35-84F7-3750E4A6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sp>
        <p:nvSpPr>
          <p:cNvPr id="8" name="S14_VULN_ARROW_1">
            <a:extLst xmlns:a="http://schemas.openxmlformats.org/drawingml/2006/main">
              <a:ext uri="{FF2B5EF4-FFF2-40B4-BE49-F238E27FC236}">
                <a16:creationId xmlns:a16="http://schemas.microsoft.com/office/drawing/2014/main" id="{F7C4922C-EB92-4ED3-B4EB-F7CD8C18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0574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14_VULN_ARROW_2">
            <a:extLst xmlns:a="http://schemas.openxmlformats.org/drawingml/2006/main">
              <a:ext uri="{FF2B5EF4-FFF2-40B4-BE49-F238E27FC236}">
                <a16:creationId xmlns:a16="http://schemas.microsoft.com/office/drawing/2014/main" id="{0F6DBAD1-A936-4D84-99A0-B64BB896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574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14_VULN_ARROW_3">
            <a:extLst xmlns:a="http://schemas.openxmlformats.org/drawingml/2006/main">
              <a:ext uri="{FF2B5EF4-FFF2-40B4-BE49-F238E27FC236}">
                <a16:creationId xmlns:a16="http://schemas.microsoft.com/office/drawing/2014/main" id="{2BD6BB56-DFB1-41BC-A27E-3BB81614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0574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14_VULN_NODE_1">
            <a:extLst xmlns:a="http://schemas.openxmlformats.org/drawingml/2006/main">
              <a:ext uri="{FF2B5EF4-FFF2-40B4-BE49-F238E27FC236}">
                <a16:creationId xmlns:a16="http://schemas.microsoft.com/office/drawing/2014/main" id="{C7804A4C-DFBE-4A12-86B0-DA75E3CA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2477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price=1</a:t>
            </a:r>
          </a:p>
        </p:txBody>
      </p:sp>
      <p:sp>
        <p:nvSpPr>
          <p:cNvPr id="12" name="S14_VULN_NODE_2">
            <a:extLst xmlns:a="http://schemas.openxmlformats.org/drawingml/2006/main">
              <a:ext uri="{FF2B5EF4-FFF2-40B4-BE49-F238E27FC236}">
                <a16:creationId xmlns:a16="http://schemas.microsoft.com/office/drawing/2014/main" id="{038E0D4C-F2C6-4E1E-AA36-B8BC95C6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752600"/>
            <a:ext cx="12477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request.form</a:t>
            </a:r>
          </a:p>
        </p:txBody>
      </p:sp>
      <p:sp>
        <p:nvSpPr>
          <p:cNvPr id="13" name="S14_VULN_NODE_3">
            <a:extLst xmlns:a="http://schemas.openxmlformats.org/drawingml/2006/main">
              <a:ext uri="{FF2B5EF4-FFF2-40B4-BE49-F238E27FC236}">
                <a16:creationId xmlns:a16="http://schemas.microsoft.com/office/drawing/2014/main" id="{B656442A-1B6B-45F1-8819-4B643D44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52600"/>
            <a:ext cx="12477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total=1×qty</a:t>
            </a:r>
          </a:p>
        </p:txBody>
      </p:sp>
      <p:sp>
        <p:nvSpPr>
          <p:cNvPr id="14" name="S14_VULN_NODE_4">
            <a:extLst xmlns:a="http://schemas.openxmlformats.org/drawingml/2006/main">
              <a:ext uri="{FF2B5EF4-FFF2-40B4-BE49-F238E27FC236}">
                <a16:creationId xmlns:a16="http://schemas.microsoft.com/office/drawing/2014/main" id="{E63502DF-35E1-4081-9847-0F4C0B8E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752600"/>
            <a:ext cx="12477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order sai</a:t>
            </a:r>
          </a:p>
        </p:txBody>
      </p:sp>
      <p:sp>
        <p:nvSpPr>
          <p:cNvPr id="15" name="S14_SAFE_ARROW_1">
            <a:extLst xmlns:a="http://schemas.openxmlformats.org/drawingml/2006/main">
              <a:ext uri="{FF2B5EF4-FFF2-40B4-BE49-F238E27FC236}">
                <a16:creationId xmlns:a16="http://schemas.microsoft.com/office/drawing/2014/main" id="{5B55008E-9A6A-40BB-AB2E-FC626BF1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1813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B4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14_SAFE_ARROW_2">
            <a:extLst xmlns:a="http://schemas.openxmlformats.org/drawingml/2006/main">
              <a:ext uri="{FF2B5EF4-FFF2-40B4-BE49-F238E27FC236}">
                <a16:creationId xmlns:a16="http://schemas.microsoft.com/office/drawing/2014/main" id="{3BB91323-293B-44DE-A901-22A833FF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813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B4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14_SAFE_ARROW_3">
            <a:extLst xmlns:a="http://schemas.openxmlformats.org/drawingml/2006/main">
              <a:ext uri="{FF2B5EF4-FFF2-40B4-BE49-F238E27FC236}">
                <a16:creationId xmlns:a16="http://schemas.microsoft.com/office/drawing/2014/main" id="{0737CBD8-BB52-4B64-A43B-0E07F37E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1813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B4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14_SAFE_NODE_1">
            <a:extLst xmlns:a="http://schemas.openxmlformats.org/drawingml/2006/main">
              <a:ext uri="{FF2B5EF4-FFF2-40B4-BE49-F238E27FC236}">
                <a16:creationId xmlns:a16="http://schemas.microsoft.com/office/drawing/2014/main" id="{9A060C99-944E-48C9-96A3-3B919F3C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12477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product_id=5</a:t>
            </a:r>
          </a:p>
        </p:txBody>
      </p:sp>
      <p:sp>
        <p:nvSpPr>
          <p:cNvPr id="19" name="S14_SAFE_NODE_2">
            <a:extLst xmlns:a="http://schemas.openxmlformats.org/drawingml/2006/main">
              <a:ext uri="{FF2B5EF4-FFF2-40B4-BE49-F238E27FC236}">
                <a16:creationId xmlns:a16="http://schemas.microsoft.com/office/drawing/2014/main" id="{EE6C6ED0-F102-4330-B69C-52466215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876550"/>
            <a:ext cx="12477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DB price=100000</a:t>
            </a:r>
          </a:p>
        </p:txBody>
      </p:sp>
      <p:sp>
        <p:nvSpPr>
          <p:cNvPr id="20" name="S14_SAFE_NODE_3">
            <a:extLst xmlns:a="http://schemas.openxmlformats.org/drawingml/2006/main">
              <a:ext uri="{FF2B5EF4-FFF2-40B4-BE49-F238E27FC236}">
                <a16:creationId xmlns:a16="http://schemas.microsoft.com/office/drawing/2014/main" id="{FB7226C2-EC83-4CC1-8713-054764FB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76550"/>
            <a:ext cx="12477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total=price×qty</a:t>
            </a:r>
          </a:p>
        </p:txBody>
      </p:sp>
      <p:sp>
        <p:nvSpPr>
          <p:cNvPr id="21" name="S14_SAFE_NODE_4">
            <a:extLst xmlns:a="http://schemas.openxmlformats.org/drawingml/2006/main">
              <a:ext uri="{FF2B5EF4-FFF2-40B4-BE49-F238E27FC236}">
                <a16:creationId xmlns:a16="http://schemas.microsoft.com/office/drawing/2014/main" id="{E49EA537-887D-47CE-ABD2-C855882C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876550"/>
            <a:ext cx="12477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order đúng</a:t>
            </a:r>
          </a:p>
        </p:txBody>
      </p:sp>
      <p:sp>
        <p:nvSpPr>
          <p:cNvPr id="22" name="PH_S14_Lab03_45_checkout_tampered_payload_png_FRAME">
            <a:extLst xmlns:a="http://schemas.openxmlformats.org/drawingml/2006/main">
              <a:ext uri="{FF2B5EF4-FFF2-40B4-BE49-F238E27FC236}">
                <a16:creationId xmlns:a16="http://schemas.microsoft.com/office/drawing/2014/main" id="{3A5CF000-D251-4C4E-B7E5-D569BFBF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24025"/>
            <a:ext cx="45910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5D26"/>
            </a:solidFill>
            <a:prstDash val="solid"/>
          </a:ln>
        </p:spPr>
      </p:sp>
      <p:sp>
        <p:nvSpPr>
          <p:cNvPr id="23" name="PH_S14_Lab03_45_checkout_tampered_payload_png_IMAGE">
            <a:extLst xmlns:a="http://schemas.openxmlformats.org/drawingml/2006/main">
              <a:ext uri="{FF2B5EF4-FFF2-40B4-BE49-F238E27FC236}">
                <a16:creationId xmlns:a16="http://schemas.microsoft.com/office/drawing/2014/main" id="{A9476A3D-9459-4843-9546-C764F2A7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52600"/>
            <a:ext cx="45339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</p:sp>
      <p:sp>
        <p:nvSpPr>
          <p:cNvPr id="24" name="PH_S14_Lab03_45_checkout_tampered_payload_png_ICON">
            <a:extLst xmlns:a="http://schemas.openxmlformats.org/drawingml/2006/main">
              <a:ext uri="{FF2B5EF4-FFF2-40B4-BE49-F238E27FC236}">
                <a16:creationId xmlns:a16="http://schemas.microsoft.com/office/drawing/2014/main" id="{D7124972-3BE0-414C-8E5C-225912C4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954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▣</a:t>
            </a:r>
          </a:p>
        </p:txBody>
      </p:sp>
      <p:sp>
        <p:nvSpPr>
          <p:cNvPr id="25" name="PH_S14_Lab03_45_checkout_tampered_payload_png_INSTRUCTION">
            <a:extLst xmlns:a="http://schemas.openxmlformats.org/drawingml/2006/main">
              <a:ext uri="{FF2B5EF4-FFF2-40B4-BE49-F238E27FC236}">
                <a16:creationId xmlns:a16="http://schemas.microsoft.com/office/drawing/2014/main" id="{B84F0565-608B-4FE9-A1FC-CC579DF9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24050"/>
            <a:ext cx="3695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CHÈN ẢNH THẬT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45_checkout_tampered_payload.png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16:9 · CROP → FILL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XEM GUIDE</a:t>
            </a:r>
          </a:p>
        </p:txBody>
      </p:sp>
      <p:sp>
        <p:nvSpPr>
          <p:cNvPr id="26" name="PH_S14_Lab03_45_checkout_tampered_payload_png_CAPTION">
            <a:extLst xmlns:a="http://schemas.openxmlformats.org/drawingml/2006/main">
              <a:ext uri="{FF2B5EF4-FFF2-40B4-BE49-F238E27FC236}">
                <a16:creationId xmlns:a16="http://schemas.microsoft.com/office/drawing/2014/main" id="{F7177EC0-270C-4E6F-B618-5D0383CD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43325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Payload checkout sau sửa giá</a:t>
            </a:r>
          </a:p>
        </p:txBody>
      </p:sp>
      <p:sp>
        <p:nvSpPr>
          <p:cNvPr id="27" name="S14_CODE">
            <a:extLst xmlns:a="http://schemas.openxmlformats.org/drawingml/2006/main">
              <a:ext uri="{FF2B5EF4-FFF2-40B4-BE49-F238E27FC236}">
                <a16:creationId xmlns:a16="http://schemas.microsoft.com/office/drawing/2014/main" id="{19F52708-F0A2-4CE7-9CFB-24168413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125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  <p:txBody>
          <a:bodyPr xmlns:a="http://schemas.openxmlformats.org/drawingml/2006/main" wrap="square" lIns="133350" tIns="123825" rIns="133350" bIns="1143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// vulnerable: tin request.form["price"]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// secure: SELECT price_vnd FROM products WHERE id = ?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// invariant: total = server_price × quantity</a:t>
            </a:r>
          </a:p>
        </p:txBody>
      </p:sp>
    </p:spTree>
    <p:extLst>
      <p:ext uri="{BB962C8B-B14F-4D97-AF65-F5344CB8AC3E}">
        <p14:creationId xmlns:p14="http://schemas.microsoft.com/office/powerpoint/2010/main" val="18299224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15_EYEBROW">
            <a:extLst xmlns:a="http://schemas.openxmlformats.org/drawingml/2006/main">
              <a:ext uri="{FF2B5EF4-FFF2-40B4-BE49-F238E27FC236}">
                <a16:creationId xmlns:a16="http://schemas.microsoft.com/office/drawing/2014/main" id="{A26EA7E8-83C9-4E2B-92C5-5DAA54C7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LAB03 / PARAMETER TAMPERING</a:t>
            </a:r>
          </a:p>
        </p:txBody>
      </p:sp>
      <p:sp>
        <p:nvSpPr>
          <p:cNvPr id="2" name="S15_TITLE">
            <a:extLst xmlns:a="http://schemas.openxmlformats.org/drawingml/2006/main">
              <a:ext uri="{FF2B5EF4-FFF2-40B4-BE49-F238E27FC236}">
                <a16:creationId xmlns:a16="http://schemas.microsoft.com/office/drawing/2014/main" id="{2F2270F1-1755-45E1-B30A-69483FAC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4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IDOR là thiếu object-level authorization</a:t>
            </a:r>
          </a:p>
        </p:txBody>
      </p:sp>
      <p:sp>
        <p:nvSpPr>
          <p:cNvPr id="3" name="S15_SUBTITLE">
            <a:extLst xmlns:a="http://schemas.openxmlformats.org/drawingml/2006/main">
              <a:ext uri="{FF2B5EF4-FFF2-40B4-BE49-F238E27FC236}">
                <a16:creationId xmlns:a16="http://schemas.microsoft.com/office/drawing/2014/main" id="{F58D4288-A3CA-400C-A202-8FE82D79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Tìm thấy invoice không đồng nghĩa người dùng được phép đọc invoice đó.</a:t>
            </a:r>
          </a:p>
        </p:txBody>
      </p:sp>
      <p:sp>
        <p:nvSpPr>
          <p:cNvPr id="4" name="S15_TITLE_RULE">
            <a:extLst xmlns:a="http://schemas.openxmlformats.org/drawingml/2006/main">
              <a:ext uri="{FF2B5EF4-FFF2-40B4-BE49-F238E27FC236}">
                <a16:creationId xmlns:a16="http://schemas.microsoft.com/office/drawing/2014/main" id="{4E59B72C-D1A8-4EBB-910D-DBCF246D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15_FOOTER_RULE">
            <a:extLst xmlns:a="http://schemas.openxmlformats.org/drawingml/2006/main">
              <a:ext uri="{FF2B5EF4-FFF2-40B4-BE49-F238E27FC236}">
                <a16:creationId xmlns:a16="http://schemas.microsoft.com/office/drawing/2014/main" id="{B6767309-B644-49C1-8A62-181E5C24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5_SOURCE">
            <a:extLst xmlns:a="http://schemas.openxmlformats.org/drawingml/2006/main">
              <a:ext uri="{FF2B5EF4-FFF2-40B4-BE49-F238E27FC236}">
                <a16:creationId xmlns:a16="http://schemas.microsoft.com/office/drawing/2014/main" id="{1FF897C3-FFBC-492E-AC97-9A5BACA9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NGUỒN  Lab03/services.py · authorization.py · seed.py</a:t>
            </a:r>
          </a:p>
        </p:txBody>
      </p:sp>
      <p:sp>
        <p:nvSpPr>
          <p:cNvPr id="7" name="S15_NUMBER">
            <a:extLst xmlns:a="http://schemas.openxmlformats.org/drawingml/2006/main">
              <a:ext uri="{FF2B5EF4-FFF2-40B4-BE49-F238E27FC236}">
                <a16:creationId xmlns:a16="http://schemas.microsoft.com/office/drawing/2014/main" id="{C13B81A4-C6AB-49D0-9990-FF8CE0A1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  <p:sp>
        <p:nvSpPr>
          <p:cNvPr id="8" name="S15_VULN_ARROW_1">
            <a:extLst xmlns:a="http://schemas.openxmlformats.org/drawingml/2006/main">
              <a:ext uri="{FF2B5EF4-FFF2-40B4-BE49-F238E27FC236}">
                <a16:creationId xmlns:a16="http://schemas.microsoft.com/office/drawing/2014/main" id="{4E64322F-038B-4F7E-9913-D1AB809D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0574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15_VULN_ARROW_2">
            <a:extLst xmlns:a="http://schemas.openxmlformats.org/drawingml/2006/main">
              <a:ext uri="{FF2B5EF4-FFF2-40B4-BE49-F238E27FC236}">
                <a16:creationId xmlns:a16="http://schemas.microsoft.com/office/drawing/2014/main" id="{BCAFFC3F-75E7-4FA3-8AE7-0E2E5A00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574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15_VULN_ARROW_3">
            <a:extLst xmlns:a="http://schemas.openxmlformats.org/drawingml/2006/main">
              <a:ext uri="{FF2B5EF4-FFF2-40B4-BE49-F238E27FC236}">
                <a16:creationId xmlns:a16="http://schemas.microsoft.com/office/drawing/2014/main" id="{82EB3857-F9AE-4D08-8E9C-1A163BCE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0574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15_VULN_NODE_1">
            <a:extLst xmlns:a="http://schemas.openxmlformats.org/drawingml/2006/main">
              <a:ext uri="{FF2B5EF4-FFF2-40B4-BE49-F238E27FC236}">
                <a16:creationId xmlns:a16="http://schemas.microsoft.com/office/drawing/2014/main" id="{D3C55A2C-8ABB-47F1-8D8D-260F8056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2477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user_a</a:t>
            </a:r>
          </a:p>
        </p:txBody>
      </p:sp>
      <p:sp>
        <p:nvSpPr>
          <p:cNvPr id="12" name="S15_VULN_NODE_2">
            <a:extLst xmlns:a="http://schemas.openxmlformats.org/drawingml/2006/main">
              <a:ext uri="{FF2B5EF4-FFF2-40B4-BE49-F238E27FC236}">
                <a16:creationId xmlns:a16="http://schemas.microsoft.com/office/drawing/2014/main" id="{1A2CB2DE-A04A-4C30-B4BC-9DC85512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752600"/>
            <a:ext cx="12477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GET id=1002</a:t>
            </a:r>
          </a:p>
        </p:txBody>
      </p:sp>
      <p:sp>
        <p:nvSpPr>
          <p:cNvPr id="13" name="S15_VULN_NODE_3">
            <a:extLst xmlns:a="http://schemas.openxmlformats.org/drawingml/2006/main">
              <a:ext uri="{FF2B5EF4-FFF2-40B4-BE49-F238E27FC236}">
                <a16:creationId xmlns:a16="http://schemas.microsoft.com/office/drawing/2014/main" id="{CFBE8563-24BB-4E40-BBCD-7587912E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52600"/>
            <a:ext cx="12477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SELECT by id</a:t>
            </a:r>
          </a:p>
        </p:txBody>
      </p:sp>
      <p:sp>
        <p:nvSpPr>
          <p:cNvPr id="14" name="S15_VULN_NODE_4">
            <a:extLst xmlns:a="http://schemas.openxmlformats.org/drawingml/2006/main">
              <a:ext uri="{FF2B5EF4-FFF2-40B4-BE49-F238E27FC236}">
                <a16:creationId xmlns:a16="http://schemas.microsoft.com/office/drawing/2014/main" id="{34653A47-5301-420C-BBB6-0B3922CF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752600"/>
            <a:ext cx="12477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invoice user_b</a:t>
            </a:r>
          </a:p>
        </p:txBody>
      </p:sp>
      <p:sp>
        <p:nvSpPr>
          <p:cNvPr id="15" name="S15_SAFE_ARROW_1">
            <a:extLst xmlns:a="http://schemas.openxmlformats.org/drawingml/2006/main">
              <a:ext uri="{FF2B5EF4-FFF2-40B4-BE49-F238E27FC236}">
                <a16:creationId xmlns:a16="http://schemas.microsoft.com/office/drawing/2014/main" id="{E4AE442B-50AE-4776-915E-F2AD5371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1813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B4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15_SAFE_ARROW_2">
            <a:extLst xmlns:a="http://schemas.openxmlformats.org/drawingml/2006/main">
              <a:ext uri="{FF2B5EF4-FFF2-40B4-BE49-F238E27FC236}">
                <a16:creationId xmlns:a16="http://schemas.microsoft.com/office/drawing/2014/main" id="{71956618-2F37-44B4-91B9-4D84D51C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813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B4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15_SAFE_ARROW_3">
            <a:extLst xmlns:a="http://schemas.openxmlformats.org/drawingml/2006/main">
              <a:ext uri="{FF2B5EF4-FFF2-40B4-BE49-F238E27FC236}">
                <a16:creationId xmlns:a16="http://schemas.microsoft.com/office/drawing/2014/main" id="{E7187A06-CCF2-4DEF-B102-34E71A47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1813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B4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15_SAFE_NODE_1">
            <a:extLst xmlns:a="http://schemas.openxmlformats.org/drawingml/2006/main">
              <a:ext uri="{FF2B5EF4-FFF2-40B4-BE49-F238E27FC236}">
                <a16:creationId xmlns:a16="http://schemas.microsoft.com/office/drawing/2014/main" id="{783265F7-C382-48DB-A19F-3970E070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12477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user_a</a:t>
            </a:r>
          </a:p>
        </p:txBody>
      </p:sp>
      <p:sp>
        <p:nvSpPr>
          <p:cNvPr id="19" name="S15_SAFE_NODE_2">
            <a:extLst xmlns:a="http://schemas.openxmlformats.org/drawingml/2006/main">
              <a:ext uri="{FF2B5EF4-FFF2-40B4-BE49-F238E27FC236}">
                <a16:creationId xmlns:a16="http://schemas.microsoft.com/office/drawing/2014/main" id="{3724BB64-51E8-4898-84A2-2EAC456C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876550"/>
            <a:ext cx="12477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GET id=1002</a:t>
            </a:r>
          </a:p>
        </p:txBody>
      </p:sp>
      <p:sp>
        <p:nvSpPr>
          <p:cNvPr id="20" name="S15_SAFE_NODE_3">
            <a:extLst xmlns:a="http://schemas.openxmlformats.org/drawingml/2006/main">
              <a:ext uri="{FF2B5EF4-FFF2-40B4-BE49-F238E27FC236}">
                <a16:creationId xmlns:a16="http://schemas.microsoft.com/office/drawing/2014/main" id="{EBD8366F-2C75-4926-BDC7-71398140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76550"/>
            <a:ext cx="12477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owner/admin?</a:t>
            </a:r>
          </a:p>
        </p:txBody>
      </p:sp>
      <p:sp>
        <p:nvSpPr>
          <p:cNvPr id="21" name="S15_SAFE_NODE_4">
            <a:extLst xmlns:a="http://schemas.openxmlformats.org/drawingml/2006/main">
              <a:ext uri="{FF2B5EF4-FFF2-40B4-BE49-F238E27FC236}">
                <a16:creationId xmlns:a16="http://schemas.microsoft.com/office/drawing/2014/main" id="{CDEFE6C8-E922-4C3E-8480-F86D7655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876550"/>
            <a:ext cx="12477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403</a:t>
            </a:r>
          </a:p>
        </p:txBody>
      </p:sp>
      <p:sp>
        <p:nvSpPr>
          <p:cNvPr id="22" name="PH_S15_Lab03_51_invoice_secure_403_response_png_FRAME">
            <a:extLst xmlns:a="http://schemas.openxmlformats.org/drawingml/2006/main">
              <a:ext uri="{FF2B5EF4-FFF2-40B4-BE49-F238E27FC236}">
                <a16:creationId xmlns:a16="http://schemas.microsoft.com/office/drawing/2014/main" id="{EB9383ED-6705-449C-9002-D76A3883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24025"/>
            <a:ext cx="45910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5D26"/>
            </a:solidFill>
            <a:prstDash val="solid"/>
          </a:ln>
        </p:spPr>
      </p:sp>
      <p:sp>
        <p:nvSpPr>
          <p:cNvPr id="23" name="PH_S15_Lab03_51_invoice_secure_403_response_png_IMAGE">
            <a:extLst xmlns:a="http://schemas.openxmlformats.org/drawingml/2006/main">
              <a:ext uri="{FF2B5EF4-FFF2-40B4-BE49-F238E27FC236}">
                <a16:creationId xmlns:a16="http://schemas.microsoft.com/office/drawing/2014/main" id="{FC757BBA-2380-419E-A563-5E8DFD26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52600"/>
            <a:ext cx="45339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</p:sp>
      <p:sp>
        <p:nvSpPr>
          <p:cNvPr id="24" name="PH_S15_Lab03_51_invoice_secure_403_response_png_ICON">
            <a:extLst xmlns:a="http://schemas.openxmlformats.org/drawingml/2006/main">
              <a:ext uri="{FF2B5EF4-FFF2-40B4-BE49-F238E27FC236}">
                <a16:creationId xmlns:a16="http://schemas.microsoft.com/office/drawing/2014/main" id="{5816CC24-4831-4F9D-BB5B-2E51E902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954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▣</a:t>
            </a:r>
          </a:p>
        </p:txBody>
      </p:sp>
      <p:sp>
        <p:nvSpPr>
          <p:cNvPr id="25" name="PH_S15_Lab03_51_invoice_secure_403_response_png_INSTRUCTION">
            <a:extLst xmlns:a="http://schemas.openxmlformats.org/drawingml/2006/main">
              <a:ext uri="{FF2B5EF4-FFF2-40B4-BE49-F238E27FC236}">
                <a16:creationId xmlns:a16="http://schemas.microsoft.com/office/drawing/2014/main" id="{A5A759EC-10E1-45AE-8F60-0D03280D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24050"/>
            <a:ext cx="3695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CHÈN ẢNH THẬT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51_invoice_secure_403_response.png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16:9 · CROP → FILL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XEM GUIDE</a:t>
            </a:r>
          </a:p>
        </p:txBody>
      </p:sp>
      <p:sp>
        <p:nvSpPr>
          <p:cNvPr id="26" name="PH_S15_Lab03_51_invoice_secure_403_response_png_CAPTION">
            <a:extLst xmlns:a="http://schemas.openxmlformats.org/drawingml/2006/main">
              <a:ext uri="{FF2B5EF4-FFF2-40B4-BE49-F238E27FC236}">
                <a16:creationId xmlns:a16="http://schemas.microsoft.com/office/drawing/2014/main" id="{C9B1FEC7-0F3E-4982-80C6-0C63D1B4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43325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Response secure trả 403 cho invoice khác chủ</a:t>
            </a:r>
          </a:p>
        </p:txBody>
      </p:sp>
      <p:sp>
        <p:nvSpPr>
          <p:cNvPr id="27" name="S15_POLICY_H0">
            <a:extLst xmlns:a="http://schemas.openxmlformats.org/drawingml/2006/main">
              <a:ext uri="{FF2B5EF4-FFF2-40B4-BE49-F238E27FC236}">
                <a16:creationId xmlns:a16="http://schemas.microsoft.com/office/drawing/2014/main" id="{61B96EB5-F211-43C1-96D5-E13DDCE1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33900"/>
            <a:ext cx="1809750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OBJECT</a:t>
            </a:r>
          </a:p>
        </p:txBody>
      </p:sp>
      <p:sp>
        <p:nvSpPr>
          <p:cNvPr id="28" name="S15_POLICY_H1">
            <a:extLst xmlns:a="http://schemas.openxmlformats.org/drawingml/2006/main">
              <a:ext uri="{FF2B5EF4-FFF2-40B4-BE49-F238E27FC236}">
                <a16:creationId xmlns:a16="http://schemas.microsoft.com/office/drawing/2014/main" id="{0E44B2DA-0132-45AA-A41A-51249F2E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33900"/>
            <a:ext cx="2000250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REQUESTER</a:t>
            </a:r>
          </a:p>
        </p:txBody>
      </p:sp>
      <p:sp>
        <p:nvSpPr>
          <p:cNvPr id="29" name="S15_POLICY_H2">
            <a:extLst xmlns:a="http://schemas.openxmlformats.org/drawingml/2006/main">
              <a:ext uri="{FF2B5EF4-FFF2-40B4-BE49-F238E27FC236}">
                <a16:creationId xmlns:a16="http://schemas.microsoft.com/office/drawing/2014/main" id="{7B1FD6A4-8FE6-4288-9408-F6C84CCD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33900"/>
            <a:ext cx="4476750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POLICY</a:t>
            </a:r>
          </a:p>
        </p:txBody>
      </p:sp>
      <p:sp>
        <p:nvSpPr>
          <p:cNvPr id="30" name="S15_POLICY_H3">
            <a:extLst xmlns:a="http://schemas.openxmlformats.org/drawingml/2006/main">
              <a:ext uri="{FF2B5EF4-FFF2-40B4-BE49-F238E27FC236}">
                <a16:creationId xmlns:a16="http://schemas.microsoft.com/office/drawing/2014/main" id="{C8280A35-DE3F-4965-A180-FEE4B936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533900"/>
            <a:ext cx="2838450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RESULT</a:t>
            </a:r>
          </a:p>
        </p:txBody>
      </p:sp>
      <p:sp>
        <p:nvSpPr>
          <p:cNvPr id="31" name="S15_POLICY_R0C0">
            <a:extLst xmlns:a="http://schemas.openxmlformats.org/drawingml/2006/main">
              <a:ext uri="{FF2B5EF4-FFF2-40B4-BE49-F238E27FC236}">
                <a16:creationId xmlns:a16="http://schemas.microsoft.com/office/drawing/2014/main" id="{092DD4B5-5481-411D-B484-8BC572A9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91088"/>
            <a:ext cx="1809750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1001</a:t>
            </a:r>
          </a:p>
        </p:txBody>
      </p:sp>
      <p:sp>
        <p:nvSpPr>
          <p:cNvPr id="32" name="S15_POLICY_R0C1">
            <a:extLst xmlns:a="http://schemas.openxmlformats.org/drawingml/2006/main">
              <a:ext uri="{FF2B5EF4-FFF2-40B4-BE49-F238E27FC236}">
                <a16:creationId xmlns:a16="http://schemas.microsoft.com/office/drawing/2014/main" id="{4308C7E6-4ACE-4064-B5D1-0EFF14E1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91088"/>
            <a:ext cx="2000250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user_a</a:t>
            </a:r>
          </a:p>
        </p:txBody>
      </p:sp>
      <p:sp>
        <p:nvSpPr>
          <p:cNvPr id="33" name="S15_POLICY_R0C2">
            <a:extLst xmlns:a="http://schemas.openxmlformats.org/drawingml/2006/main">
              <a:ext uri="{FF2B5EF4-FFF2-40B4-BE49-F238E27FC236}">
                <a16:creationId xmlns:a16="http://schemas.microsoft.com/office/drawing/2014/main" id="{F11DD4EA-6C5B-4FB9-8DA2-833AADC2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91088"/>
            <a:ext cx="4476750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owner</a:t>
            </a:r>
          </a:p>
        </p:txBody>
      </p:sp>
      <p:sp>
        <p:nvSpPr>
          <p:cNvPr id="34" name="S15_POLICY_R0C3">
            <a:extLst xmlns:a="http://schemas.openxmlformats.org/drawingml/2006/main">
              <a:ext uri="{FF2B5EF4-FFF2-40B4-BE49-F238E27FC236}">
                <a16:creationId xmlns:a16="http://schemas.microsoft.com/office/drawing/2014/main" id="{BB57BF9F-7210-49FC-ACCB-072BB02E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891088"/>
            <a:ext cx="2838450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allow</a:t>
            </a:r>
          </a:p>
        </p:txBody>
      </p:sp>
      <p:sp>
        <p:nvSpPr>
          <p:cNvPr id="35" name="S15_POLICY_R1C0">
            <a:extLst xmlns:a="http://schemas.openxmlformats.org/drawingml/2006/main">
              <a:ext uri="{FF2B5EF4-FFF2-40B4-BE49-F238E27FC236}">
                <a16:creationId xmlns:a16="http://schemas.microsoft.com/office/drawing/2014/main" id="{967DA9A5-B29F-4D70-8A96-EC6E1F59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48275"/>
            <a:ext cx="1809750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1002</a:t>
            </a:r>
          </a:p>
        </p:txBody>
      </p:sp>
      <p:sp>
        <p:nvSpPr>
          <p:cNvPr id="36" name="S15_POLICY_R1C1">
            <a:extLst xmlns:a="http://schemas.openxmlformats.org/drawingml/2006/main">
              <a:ext uri="{FF2B5EF4-FFF2-40B4-BE49-F238E27FC236}">
                <a16:creationId xmlns:a16="http://schemas.microsoft.com/office/drawing/2014/main" id="{5C744E36-B95C-4359-9A11-4E1F5E04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248275"/>
            <a:ext cx="2000250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user_a</a:t>
            </a:r>
          </a:p>
        </p:txBody>
      </p:sp>
      <p:sp>
        <p:nvSpPr>
          <p:cNvPr id="37" name="S15_POLICY_R1C2">
            <a:extLst xmlns:a="http://schemas.openxmlformats.org/drawingml/2006/main">
              <a:ext uri="{FF2B5EF4-FFF2-40B4-BE49-F238E27FC236}">
                <a16:creationId xmlns:a16="http://schemas.microsoft.com/office/drawing/2014/main" id="{470F1585-2801-423B-A45F-22AC050B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48275"/>
            <a:ext cx="4476750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not owner/admin</a:t>
            </a:r>
          </a:p>
        </p:txBody>
      </p:sp>
      <p:sp>
        <p:nvSpPr>
          <p:cNvPr id="38" name="S15_POLICY_R1C3">
            <a:extLst xmlns:a="http://schemas.openxmlformats.org/drawingml/2006/main">
              <a:ext uri="{FF2B5EF4-FFF2-40B4-BE49-F238E27FC236}">
                <a16:creationId xmlns:a16="http://schemas.microsoft.com/office/drawing/2014/main" id="{2B0E907D-60F6-4EE9-AE6F-22B37992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248275"/>
            <a:ext cx="2838450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403</a:t>
            </a:r>
          </a:p>
        </p:txBody>
      </p:sp>
      <p:sp>
        <p:nvSpPr>
          <p:cNvPr id="39" name="S15_POLICY_R2C0">
            <a:extLst xmlns:a="http://schemas.openxmlformats.org/drawingml/2006/main">
              <a:ext uri="{FF2B5EF4-FFF2-40B4-BE49-F238E27FC236}">
                <a16:creationId xmlns:a16="http://schemas.microsoft.com/office/drawing/2014/main" id="{BDBFC94A-4268-4FCA-8A2F-B3C93D11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5463"/>
            <a:ext cx="1809750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1002</a:t>
            </a:r>
          </a:p>
        </p:txBody>
      </p:sp>
      <p:sp>
        <p:nvSpPr>
          <p:cNvPr id="40" name="S15_POLICY_R2C1">
            <a:extLst xmlns:a="http://schemas.openxmlformats.org/drawingml/2006/main">
              <a:ext uri="{FF2B5EF4-FFF2-40B4-BE49-F238E27FC236}">
                <a16:creationId xmlns:a16="http://schemas.microsoft.com/office/drawing/2014/main" id="{35C1B89F-94DF-4391-96A9-D3A9893F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05463"/>
            <a:ext cx="2000250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admin</a:t>
            </a:r>
          </a:p>
        </p:txBody>
      </p:sp>
      <p:sp>
        <p:nvSpPr>
          <p:cNvPr id="41" name="S15_POLICY_R2C2">
            <a:extLst xmlns:a="http://schemas.openxmlformats.org/drawingml/2006/main">
              <a:ext uri="{FF2B5EF4-FFF2-40B4-BE49-F238E27FC236}">
                <a16:creationId xmlns:a16="http://schemas.microsoft.com/office/drawing/2014/main" id="{39B1F4C3-FAE4-4F20-9501-57EEBF8B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605463"/>
            <a:ext cx="4476750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admin</a:t>
            </a:r>
          </a:p>
        </p:txBody>
      </p:sp>
      <p:sp>
        <p:nvSpPr>
          <p:cNvPr id="42" name="S15_POLICY_R2C3">
            <a:extLst xmlns:a="http://schemas.openxmlformats.org/drawingml/2006/main">
              <a:ext uri="{FF2B5EF4-FFF2-40B4-BE49-F238E27FC236}">
                <a16:creationId xmlns:a16="http://schemas.microsoft.com/office/drawing/2014/main" id="{172DC3A6-5ADE-465E-A813-27B9E1B6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605463"/>
            <a:ext cx="2838450" cy="357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allow + audit</a:t>
            </a:r>
          </a:p>
        </p:txBody>
      </p:sp>
    </p:spTree>
    <p:extLst>
      <p:ext uri="{BB962C8B-B14F-4D97-AF65-F5344CB8AC3E}">
        <p14:creationId xmlns:p14="http://schemas.microsoft.com/office/powerpoint/2010/main" val="5895622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16_EYEBROW">
            <a:extLst xmlns:a="http://schemas.openxmlformats.org/drawingml/2006/main">
              <a:ext uri="{FF2B5EF4-FFF2-40B4-BE49-F238E27FC236}">
                <a16:creationId xmlns:a16="http://schemas.microsoft.com/office/drawing/2014/main" id="{67D28DFB-9950-46CE-9304-81EEA400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LAB03 / PARAMETER TAMPERING</a:t>
            </a:r>
          </a:p>
        </p:txBody>
      </p:sp>
      <p:sp>
        <p:nvSpPr>
          <p:cNvPr id="2" name="S16_TITLE">
            <a:extLst xmlns:a="http://schemas.openxmlformats.org/drawingml/2006/main">
              <a:ext uri="{FF2B5EF4-FFF2-40B4-BE49-F238E27FC236}">
                <a16:creationId xmlns:a16="http://schemas.microsoft.com/office/drawing/2014/main" id="{A7572B74-F7FF-4DC8-8225-3B266A6F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4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Mass assignment biến profile thành privilege escalation</a:t>
            </a:r>
          </a:p>
        </p:txBody>
      </p:sp>
      <p:sp>
        <p:nvSpPr>
          <p:cNvPr id="3" name="S16_SUBTITLE">
            <a:extLst xmlns:a="http://schemas.openxmlformats.org/drawingml/2006/main">
              <a:ext uri="{FF2B5EF4-FFF2-40B4-BE49-F238E27FC236}">
                <a16:creationId xmlns:a16="http://schemas.microsoft.com/office/drawing/2014/main" id="{EA97B699-B9D4-4252-872C-B467DEE1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Nếu server bind mọi field, role từ form có thể đi thẳng vào database.</a:t>
            </a:r>
          </a:p>
        </p:txBody>
      </p:sp>
      <p:sp>
        <p:nvSpPr>
          <p:cNvPr id="4" name="S16_TITLE_RULE">
            <a:extLst xmlns:a="http://schemas.openxmlformats.org/drawingml/2006/main">
              <a:ext uri="{FF2B5EF4-FFF2-40B4-BE49-F238E27FC236}">
                <a16:creationId xmlns:a16="http://schemas.microsoft.com/office/drawing/2014/main" id="{49ED4FF3-D728-4885-9DC3-8FC89841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16_FOOTER_RULE">
            <a:extLst xmlns:a="http://schemas.openxmlformats.org/drawingml/2006/main">
              <a:ext uri="{FF2B5EF4-FFF2-40B4-BE49-F238E27FC236}">
                <a16:creationId xmlns:a16="http://schemas.microsoft.com/office/drawing/2014/main" id="{33B71D34-FD35-4E7E-A459-9DAFEB53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6_SOURCE">
            <a:extLst xmlns:a="http://schemas.openxmlformats.org/drawingml/2006/main">
              <a:ext uri="{FF2B5EF4-FFF2-40B4-BE49-F238E27FC236}">
                <a16:creationId xmlns:a16="http://schemas.microsoft.com/office/drawing/2014/main" id="{784D7FEB-23BC-4695-BF8A-124EE3C7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NGUỒN  Lab03/services.py · authorization.py</a:t>
            </a:r>
          </a:p>
        </p:txBody>
      </p:sp>
      <p:sp>
        <p:nvSpPr>
          <p:cNvPr id="7" name="S16_NUMBER">
            <a:extLst xmlns:a="http://schemas.openxmlformats.org/drawingml/2006/main">
              <a:ext uri="{FF2B5EF4-FFF2-40B4-BE49-F238E27FC236}">
                <a16:creationId xmlns:a16="http://schemas.microsoft.com/office/drawing/2014/main" id="{7B6F26C5-21D7-45FD-A20B-6A6D4102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  <p:sp>
        <p:nvSpPr>
          <p:cNvPr id="8" name="S16_VULN">
            <a:extLst xmlns:a="http://schemas.openxmlformats.org/drawingml/2006/main">
              <a:ext uri="{FF2B5EF4-FFF2-40B4-BE49-F238E27FC236}">
                <a16:creationId xmlns:a16="http://schemas.microsoft.com/office/drawing/2014/main" id="{280D9939-0D77-4648-9094-F6704C04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238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9525">
            <a:solidFill>
              <a:srgbClr val="D96C5F"/>
            </a:solidFill>
            <a:prstDash val="solid"/>
          </a:ln>
        </p:spPr>
        <p:txBody>
          <a:bodyPr xmlns:a="http://schemas.openxmlformats.org/drawingml/2006/main" wrap="square" lIns="133350" tIns="123825" rIns="133350" bIns="1143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# vulnerable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email = form["email"]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role  = form["role"]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UPDATE users SET email=?, role=?</a:t>
            </a:r>
          </a:p>
        </p:txBody>
      </p:sp>
      <p:sp>
        <p:nvSpPr>
          <p:cNvPr id="9" name="S16_SAFE">
            <a:extLst xmlns:a="http://schemas.openxmlformats.org/drawingml/2006/main">
              <a:ext uri="{FF2B5EF4-FFF2-40B4-BE49-F238E27FC236}">
                <a16:creationId xmlns:a16="http://schemas.microsoft.com/office/drawing/2014/main" id="{E2F4C8D1-B789-4F62-9656-03BE5E95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52600"/>
            <a:ext cx="56578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9525">
            <a:solidFill>
              <a:srgbClr val="71B48D"/>
            </a:solidFill>
            <a:prstDash val="solid"/>
          </a:ln>
        </p:spPr>
        <p:txBody>
          <a:bodyPr xmlns:a="http://schemas.openxmlformats.org/drawingml/2006/main" wrap="square" lIns="133350" tIns="123825" rIns="133350" bIns="1143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# secure allowlist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allowed = {"email"}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reject role, is_admin, balance, user_id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UPDATE users SET email=? WHERE id=session.user_id</a:t>
            </a:r>
          </a:p>
        </p:txBody>
      </p:sp>
      <p:sp>
        <p:nvSpPr>
          <p:cNvPr id="10" name="S16_FLOW_ARROW_1">
            <a:extLst xmlns:a="http://schemas.openxmlformats.org/drawingml/2006/main">
              <a:ext uri="{FF2B5EF4-FFF2-40B4-BE49-F238E27FC236}">
                <a16:creationId xmlns:a16="http://schemas.microsoft.com/office/drawing/2014/main" id="{BD964E29-7985-4F7D-8E9D-09FFC97B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43434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16_FLOW_ARROW_2">
            <a:extLst xmlns:a="http://schemas.openxmlformats.org/drawingml/2006/main">
              <a:ext uri="{FF2B5EF4-FFF2-40B4-BE49-F238E27FC236}">
                <a16:creationId xmlns:a16="http://schemas.microsoft.com/office/drawing/2014/main" id="{3E167778-8C56-4A74-AC2E-5731CE02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3434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16_FLOW_ARROW_3">
            <a:extLst xmlns:a="http://schemas.openxmlformats.org/drawingml/2006/main">
              <a:ext uri="{FF2B5EF4-FFF2-40B4-BE49-F238E27FC236}">
                <a16:creationId xmlns:a16="http://schemas.microsoft.com/office/drawing/2014/main" id="{5059F6EC-75B4-488D-9A18-7081E5C3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363" y="43434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16_FLOW_NODE_1">
            <a:extLst xmlns:a="http://schemas.openxmlformats.org/drawingml/2006/main">
              <a:ext uri="{FF2B5EF4-FFF2-40B4-BE49-F238E27FC236}">
                <a16:creationId xmlns:a16="http://schemas.microsoft.com/office/drawing/2014/main" id="{DF441CDC-16F4-436C-BD13-2A2EFD8B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985838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role=admin</a:t>
            </a:r>
          </a:p>
        </p:txBody>
      </p:sp>
      <p:sp>
        <p:nvSpPr>
          <p:cNvPr id="14" name="S16_FLOW_NODE_2">
            <a:extLst xmlns:a="http://schemas.openxmlformats.org/drawingml/2006/main">
              <a:ext uri="{FF2B5EF4-FFF2-40B4-BE49-F238E27FC236}">
                <a16:creationId xmlns:a16="http://schemas.microsoft.com/office/drawing/2014/main" id="{ABBDD6EC-C4CD-44A3-837C-65A356F1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288" y="4000500"/>
            <a:ext cx="985838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generic binder</a:t>
            </a:r>
          </a:p>
        </p:txBody>
      </p:sp>
      <p:sp>
        <p:nvSpPr>
          <p:cNvPr id="15" name="S16_FLOW_NODE_3">
            <a:extLst xmlns:a="http://schemas.openxmlformats.org/drawingml/2006/main">
              <a:ext uri="{FF2B5EF4-FFF2-40B4-BE49-F238E27FC236}">
                <a16:creationId xmlns:a16="http://schemas.microsoft.com/office/drawing/2014/main" id="{7390C989-A423-4C79-A5D2-DC6C8B01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000500"/>
            <a:ext cx="985838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users.role</a:t>
            </a:r>
          </a:p>
        </p:txBody>
      </p:sp>
      <p:sp>
        <p:nvSpPr>
          <p:cNvPr id="16" name="S16_FLOW_NODE_4">
            <a:extLst xmlns:a="http://schemas.openxmlformats.org/drawingml/2006/main">
              <a:ext uri="{FF2B5EF4-FFF2-40B4-BE49-F238E27FC236}">
                <a16:creationId xmlns:a16="http://schemas.microsoft.com/office/drawing/2014/main" id="{BB4785AC-1274-47A3-85ED-FFF87CBB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063" y="4000500"/>
            <a:ext cx="985838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privilege ↑</a:t>
            </a:r>
          </a:p>
        </p:txBody>
      </p:sp>
      <p:sp>
        <p:nvSpPr>
          <p:cNvPr id="17" name="S16_FLOW2_ARROW_1">
            <a:extLst xmlns:a="http://schemas.openxmlformats.org/drawingml/2006/main">
              <a:ext uri="{FF2B5EF4-FFF2-40B4-BE49-F238E27FC236}">
                <a16:creationId xmlns:a16="http://schemas.microsoft.com/office/drawing/2014/main" id="{5B804DC6-76C0-49D8-9DB0-8F18F732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963" y="43434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B4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16_FLOW2_ARROW_2">
            <a:extLst xmlns:a="http://schemas.openxmlformats.org/drawingml/2006/main">
              <a:ext uri="{FF2B5EF4-FFF2-40B4-BE49-F238E27FC236}">
                <a16:creationId xmlns:a16="http://schemas.microsoft.com/office/drawing/2014/main" id="{BD4928C6-4E0E-4B7D-85A3-D48868E5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434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B4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16_FLOW2_ARROW_3">
            <a:extLst xmlns:a="http://schemas.openxmlformats.org/drawingml/2006/main">
              <a:ext uri="{FF2B5EF4-FFF2-40B4-BE49-F238E27FC236}">
                <a16:creationId xmlns:a16="http://schemas.microsoft.com/office/drawing/2014/main" id="{A8AA02B2-19D2-4D3F-BB83-DF51985D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1288" y="43434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B4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16_FLOW2_NODE_1">
            <a:extLst xmlns:a="http://schemas.openxmlformats.org/drawingml/2006/main">
              <a:ext uri="{FF2B5EF4-FFF2-40B4-BE49-F238E27FC236}">
                <a16:creationId xmlns:a16="http://schemas.microsoft.com/office/drawing/2014/main" id="{6C7D7C8F-C3A3-4917-B446-47E2C2EA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1090613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email only</a:t>
            </a:r>
          </a:p>
        </p:txBody>
      </p:sp>
      <p:sp>
        <p:nvSpPr>
          <p:cNvPr id="21" name="S16_FLOW2_NODE_2">
            <a:extLst xmlns:a="http://schemas.openxmlformats.org/drawingml/2006/main">
              <a:ext uri="{FF2B5EF4-FFF2-40B4-BE49-F238E27FC236}">
                <a16:creationId xmlns:a16="http://schemas.microsoft.com/office/drawing/2014/main" id="{D9A9635B-4402-4A48-ADD8-B052A374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6663" y="4000500"/>
            <a:ext cx="1090613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allowlist</a:t>
            </a:r>
          </a:p>
        </p:txBody>
      </p:sp>
      <p:sp>
        <p:nvSpPr>
          <p:cNvPr id="22" name="S16_FLOW2_NODE_3">
            <a:extLst xmlns:a="http://schemas.openxmlformats.org/drawingml/2006/main">
              <a:ext uri="{FF2B5EF4-FFF2-40B4-BE49-F238E27FC236}">
                <a16:creationId xmlns:a16="http://schemas.microsoft.com/office/drawing/2014/main" id="{1BC5CABD-F08E-4E3A-8BEB-2D731771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000500"/>
            <a:ext cx="1090613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session id</a:t>
            </a:r>
          </a:p>
        </p:txBody>
      </p:sp>
      <p:sp>
        <p:nvSpPr>
          <p:cNvPr id="23" name="S16_FLOW2_NODE_4">
            <a:extLst xmlns:a="http://schemas.openxmlformats.org/drawingml/2006/main">
              <a:ext uri="{FF2B5EF4-FFF2-40B4-BE49-F238E27FC236}">
                <a16:creationId xmlns:a16="http://schemas.microsoft.com/office/drawing/2014/main" id="{2A972CCA-1362-4DF6-B9BC-10865FAB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7988" y="4000500"/>
            <a:ext cx="1090613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audit</a:t>
            </a:r>
          </a:p>
        </p:txBody>
      </p:sp>
      <p:sp>
        <p:nvSpPr>
          <p:cNvPr id="24" name="S16_AUTH_BAR">
            <a:extLst xmlns:a="http://schemas.openxmlformats.org/drawingml/2006/main">
              <a:ext uri="{FF2B5EF4-FFF2-40B4-BE49-F238E27FC236}">
                <a16:creationId xmlns:a16="http://schemas.microsoft.com/office/drawing/2014/main" id="{189BBF98-40C3-43F8-9394-9779C01C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76850"/>
            <a:ext cx="762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5" name="S16_AUTH_LABEL">
            <a:extLst xmlns:a="http://schemas.openxmlformats.org/drawingml/2006/main">
              <a:ext uri="{FF2B5EF4-FFF2-40B4-BE49-F238E27FC236}">
                <a16:creationId xmlns:a16="http://schemas.microsoft.com/office/drawing/2014/main" id="{6704487C-D57E-4CD7-9597-6FB4E7F7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76850"/>
            <a:ext cx="1638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AUTHN ≠ AUTHZ</a:t>
            </a:r>
          </a:p>
        </p:txBody>
      </p:sp>
      <p:sp>
        <p:nvSpPr>
          <p:cNvPr id="26" name="S16_AUTH_BODY">
            <a:extLst xmlns:a="http://schemas.openxmlformats.org/drawingml/2006/main">
              <a:ext uri="{FF2B5EF4-FFF2-40B4-BE49-F238E27FC236}">
                <a16:creationId xmlns:a16="http://schemas.microsoft.com/office/drawing/2014/main" id="{8E88522A-2897-4A79-95A8-C5CF2F28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76850"/>
            <a:ext cx="9201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Đăng nhập xác định bạn là ai; authorization quyết định bạn được đổi field nào trên object nào.</a:t>
            </a:r>
          </a:p>
        </p:txBody>
      </p:sp>
    </p:spTree>
    <p:extLst>
      <p:ext uri="{BB962C8B-B14F-4D97-AF65-F5344CB8AC3E}">
        <p14:creationId xmlns:p14="http://schemas.microsoft.com/office/powerpoint/2010/main" val="8735580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17_EYEBROW">
            <a:extLst xmlns:a="http://schemas.openxmlformats.org/drawingml/2006/main">
              <a:ext uri="{FF2B5EF4-FFF2-40B4-BE49-F238E27FC236}">
                <a16:creationId xmlns:a16="http://schemas.microsoft.com/office/drawing/2014/main" id="{DD6F162A-E1C2-41F5-854E-129DB2CA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LAB03 / PARAMETER TAMPERING</a:t>
            </a:r>
          </a:p>
        </p:txBody>
      </p:sp>
      <p:sp>
        <p:nvSpPr>
          <p:cNvPr id="2" name="S17_TITLE">
            <a:extLst xmlns:a="http://schemas.openxmlformats.org/drawingml/2006/main">
              <a:ext uri="{FF2B5EF4-FFF2-40B4-BE49-F238E27FC236}">
                <a16:creationId xmlns:a16="http://schemas.microsoft.com/office/drawing/2014/main" id="{78B8107D-5786-4227-BE5F-397E5693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4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Ba tampering — ba kiểm tra authoritative</a:t>
            </a:r>
          </a:p>
        </p:txBody>
      </p:sp>
      <p:sp>
        <p:nvSpPr>
          <p:cNvPr id="3" name="S17_SUBTITLE">
            <a:extLst xmlns:a="http://schemas.openxmlformats.org/drawingml/2006/main">
              <a:ext uri="{FF2B5EF4-FFF2-40B4-BE49-F238E27FC236}">
                <a16:creationId xmlns:a16="http://schemas.microsoft.com/office/drawing/2014/main" id="{642CBE37-3606-4119-8307-618D9E4F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Kiểu/range là cần thiết; policy và ownership mới quyết định an toàn.</a:t>
            </a:r>
          </a:p>
        </p:txBody>
      </p:sp>
      <p:sp>
        <p:nvSpPr>
          <p:cNvPr id="4" name="S17_TITLE_RULE">
            <a:extLst xmlns:a="http://schemas.openxmlformats.org/drawingml/2006/main">
              <a:ext uri="{FF2B5EF4-FFF2-40B4-BE49-F238E27FC236}">
                <a16:creationId xmlns:a16="http://schemas.microsoft.com/office/drawing/2014/main" id="{7FD08ADE-5119-4625-B736-166038DA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17_FOOTER_RULE">
            <a:extLst xmlns:a="http://schemas.openxmlformats.org/drawingml/2006/main">
              <a:ext uri="{FF2B5EF4-FFF2-40B4-BE49-F238E27FC236}">
                <a16:creationId xmlns:a16="http://schemas.microsoft.com/office/drawing/2014/main" id="{1D9FC882-88A8-4F98-8EA0-CA1C797B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7_SOURCE">
            <a:extLst xmlns:a="http://schemas.openxmlformats.org/drawingml/2006/main">
              <a:ext uri="{FF2B5EF4-FFF2-40B4-BE49-F238E27FC236}">
                <a16:creationId xmlns:a16="http://schemas.microsoft.com/office/drawing/2014/main" id="{536972E6-CA43-468C-A5A1-C9A9ADC7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NGUỒN  BaiTapTopic04.docx P248–P263 · report Lab03</a:t>
            </a:r>
          </a:p>
        </p:txBody>
      </p:sp>
      <p:sp>
        <p:nvSpPr>
          <p:cNvPr id="7" name="S17_NUMBER">
            <a:extLst xmlns:a="http://schemas.openxmlformats.org/drawingml/2006/main">
              <a:ext uri="{FF2B5EF4-FFF2-40B4-BE49-F238E27FC236}">
                <a16:creationId xmlns:a16="http://schemas.microsoft.com/office/drawing/2014/main" id="{41C4E9D1-8789-4642-904C-60C1E15C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17</a:t>
            </a:r>
          </a:p>
        </p:txBody>
      </p:sp>
      <p:sp>
        <p:nvSpPr>
          <p:cNvPr id="8" name="S17_MATRIX_H0">
            <a:extLst xmlns:a="http://schemas.openxmlformats.org/drawingml/2006/main">
              <a:ext uri="{FF2B5EF4-FFF2-40B4-BE49-F238E27FC236}">
                <a16:creationId xmlns:a16="http://schemas.microsoft.com/office/drawing/2014/main" id="{CA38E551-D94E-4207-939E-4F1C9AEE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2382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SCENARIO</a:t>
            </a:r>
          </a:p>
        </p:txBody>
      </p:sp>
      <p:sp>
        <p:nvSpPr>
          <p:cNvPr id="9" name="S17_MATRIX_H1">
            <a:extLst xmlns:a="http://schemas.openxmlformats.org/drawingml/2006/main">
              <a:ext uri="{FF2B5EF4-FFF2-40B4-BE49-F238E27FC236}">
                <a16:creationId xmlns:a16="http://schemas.microsoft.com/office/drawing/2014/main" id="{88F3A7BE-01CA-4D10-9532-9340A871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95450"/>
            <a:ext cx="152400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CLIENT SỬA</a:t>
            </a:r>
          </a:p>
        </p:txBody>
      </p:sp>
      <p:sp>
        <p:nvSpPr>
          <p:cNvPr id="10" name="S17_MATRIX_H2">
            <a:extLst xmlns:a="http://schemas.openxmlformats.org/drawingml/2006/main">
              <a:ext uri="{FF2B5EF4-FFF2-40B4-BE49-F238E27FC236}">
                <a16:creationId xmlns:a16="http://schemas.microsoft.com/office/drawing/2014/main" id="{A0836536-70A3-4B88-928E-56A1E9EC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95450"/>
            <a:ext cx="224790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SERVER PHẢI LÀM</a:t>
            </a:r>
          </a:p>
        </p:txBody>
      </p:sp>
      <p:sp>
        <p:nvSpPr>
          <p:cNvPr id="11" name="S17_MATRIX_H3">
            <a:extLst xmlns:a="http://schemas.openxmlformats.org/drawingml/2006/main">
              <a:ext uri="{FF2B5EF4-FFF2-40B4-BE49-F238E27FC236}">
                <a16:creationId xmlns:a16="http://schemas.microsoft.com/office/drawing/2014/main" id="{88FE797B-EBC6-49FD-919F-2A754FC4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695450"/>
            <a:ext cx="14668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SECURE</a:t>
            </a:r>
          </a:p>
        </p:txBody>
      </p:sp>
      <p:sp>
        <p:nvSpPr>
          <p:cNvPr id="12" name="S17_MATRIX_R0C0">
            <a:extLst xmlns:a="http://schemas.openxmlformats.org/drawingml/2006/main">
              <a:ext uri="{FF2B5EF4-FFF2-40B4-BE49-F238E27FC236}">
                <a16:creationId xmlns:a16="http://schemas.microsoft.com/office/drawing/2014/main" id="{04FC6335-1240-4F4A-82A4-5C2F6E03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2188"/>
            <a:ext cx="12382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Price</a:t>
            </a:r>
          </a:p>
        </p:txBody>
      </p:sp>
      <p:sp>
        <p:nvSpPr>
          <p:cNvPr id="13" name="S17_MATRIX_R0C1">
            <a:extLst xmlns:a="http://schemas.openxmlformats.org/drawingml/2006/main">
              <a:ext uri="{FF2B5EF4-FFF2-40B4-BE49-F238E27FC236}">
                <a16:creationId xmlns:a16="http://schemas.microsoft.com/office/drawing/2014/main" id="{65F5998B-176A-4967-9736-1BF5C87D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62188"/>
            <a:ext cx="152400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price=1</a:t>
            </a:r>
          </a:p>
        </p:txBody>
      </p:sp>
      <p:sp>
        <p:nvSpPr>
          <p:cNvPr id="14" name="S17_MATRIX_R0C2">
            <a:extLst xmlns:a="http://schemas.openxmlformats.org/drawingml/2006/main">
              <a:ext uri="{FF2B5EF4-FFF2-40B4-BE49-F238E27FC236}">
                <a16:creationId xmlns:a16="http://schemas.microsoft.com/office/drawing/2014/main" id="{6C4EDF92-83C7-4214-B91C-A6CF0AE9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62188"/>
            <a:ext cx="224790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đọc giá từ DB</a:t>
            </a:r>
          </a:p>
        </p:txBody>
      </p:sp>
      <p:sp>
        <p:nvSpPr>
          <p:cNvPr id="15" name="S17_MATRIX_R0C3">
            <a:extLst xmlns:a="http://schemas.openxmlformats.org/drawingml/2006/main">
              <a:ext uri="{FF2B5EF4-FFF2-40B4-BE49-F238E27FC236}">
                <a16:creationId xmlns:a16="http://schemas.microsoft.com/office/drawing/2014/main" id="{1480C505-A829-4730-981A-1C5BC6F5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262188"/>
            <a:ext cx="14668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server total</a:t>
            </a:r>
          </a:p>
        </p:txBody>
      </p:sp>
      <p:sp>
        <p:nvSpPr>
          <p:cNvPr id="16" name="S17_MATRIX_R1C0">
            <a:extLst xmlns:a="http://schemas.openxmlformats.org/drawingml/2006/main">
              <a:ext uri="{FF2B5EF4-FFF2-40B4-BE49-F238E27FC236}">
                <a16:creationId xmlns:a16="http://schemas.microsoft.com/office/drawing/2014/main" id="{91BC5A38-A3D8-4FD3-B683-40D86598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28925"/>
            <a:ext cx="12382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Invoice</a:t>
            </a:r>
          </a:p>
        </p:txBody>
      </p:sp>
      <p:sp>
        <p:nvSpPr>
          <p:cNvPr id="17" name="S17_MATRIX_R1C1">
            <a:extLst xmlns:a="http://schemas.openxmlformats.org/drawingml/2006/main">
              <a:ext uri="{FF2B5EF4-FFF2-40B4-BE49-F238E27FC236}">
                <a16:creationId xmlns:a16="http://schemas.microsoft.com/office/drawing/2014/main" id="{A7D7F8AF-F302-421F-A5A4-9DFEE3A2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28925"/>
            <a:ext cx="152400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id=1002</a:t>
            </a:r>
          </a:p>
        </p:txBody>
      </p:sp>
      <p:sp>
        <p:nvSpPr>
          <p:cNvPr id="18" name="S17_MATRIX_R1C2">
            <a:extLst xmlns:a="http://schemas.openxmlformats.org/drawingml/2006/main">
              <a:ext uri="{FF2B5EF4-FFF2-40B4-BE49-F238E27FC236}">
                <a16:creationId xmlns:a16="http://schemas.microsoft.com/office/drawing/2014/main" id="{B0C99644-365D-4B7C-9414-8CAF7455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28925"/>
            <a:ext cx="224790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owner-or-admin</a:t>
            </a:r>
          </a:p>
        </p:txBody>
      </p:sp>
      <p:sp>
        <p:nvSpPr>
          <p:cNvPr id="19" name="S17_MATRIX_R1C3">
            <a:extLst xmlns:a="http://schemas.openxmlformats.org/drawingml/2006/main">
              <a:ext uri="{FF2B5EF4-FFF2-40B4-BE49-F238E27FC236}">
                <a16:creationId xmlns:a16="http://schemas.microsoft.com/office/drawing/2014/main" id="{4128B6C0-206F-4221-AABD-BB2EB0D4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28925"/>
            <a:ext cx="14668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403</a:t>
            </a:r>
          </a:p>
        </p:txBody>
      </p:sp>
      <p:sp>
        <p:nvSpPr>
          <p:cNvPr id="20" name="S17_MATRIX_R2C0">
            <a:extLst xmlns:a="http://schemas.openxmlformats.org/drawingml/2006/main">
              <a:ext uri="{FF2B5EF4-FFF2-40B4-BE49-F238E27FC236}">
                <a16:creationId xmlns:a16="http://schemas.microsoft.com/office/drawing/2014/main" id="{4D53CC53-88D3-4833-B72E-32C1AFD0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5663"/>
            <a:ext cx="12382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Profile</a:t>
            </a:r>
          </a:p>
        </p:txBody>
      </p:sp>
      <p:sp>
        <p:nvSpPr>
          <p:cNvPr id="21" name="S17_MATRIX_R2C1">
            <a:extLst xmlns:a="http://schemas.openxmlformats.org/drawingml/2006/main">
              <a:ext uri="{FF2B5EF4-FFF2-40B4-BE49-F238E27FC236}">
                <a16:creationId xmlns:a16="http://schemas.microsoft.com/office/drawing/2014/main" id="{1F29502C-09B6-4E71-8D72-B09DB8C0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95663"/>
            <a:ext cx="152400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role=admin</a:t>
            </a:r>
          </a:p>
        </p:txBody>
      </p:sp>
      <p:sp>
        <p:nvSpPr>
          <p:cNvPr id="22" name="S17_MATRIX_R2C2">
            <a:extLst xmlns:a="http://schemas.openxmlformats.org/drawingml/2006/main">
              <a:ext uri="{FF2B5EF4-FFF2-40B4-BE49-F238E27FC236}">
                <a16:creationId xmlns:a16="http://schemas.microsoft.com/office/drawing/2014/main" id="{AF4507BD-D1DC-4778-B916-B0D6DB25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95663"/>
            <a:ext cx="224790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field allowlist</a:t>
            </a:r>
          </a:p>
        </p:txBody>
      </p:sp>
      <p:sp>
        <p:nvSpPr>
          <p:cNvPr id="23" name="S17_MATRIX_R2C3">
            <a:extLst xmlns:a="http://schemas.openxmlformats.org/drawingml/2006/main">
              <a:ext uri="{FF2B5EF4-FFF2-40B4-BE49-F238E27FC236}">
                <a16:creationId xmlns:a16="http://schemas.microsoft.com/office/drawing/2014/main" id="{A0971FAF-0542-46E7-8970-B51651EA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395663"/>
            <a:ext cx="14668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email only</a:t>
            </a:r>
          </a:p>
        </p:txBody>
      </p:sp>
      <p:sp>
        <p:nvSpPr>
          <p:cNvPr id="24" name="S17_QA_1">
            <a:extLst xmlns:a="http://schemas.openxmlformats.org/drawingml/2006/main">
              <a:ext uri="{FF2B5EF4-FFF2-40B4-BE49-F238E27FC236}">
                <a16:creationId xmlns:a16="http://schemas.microsoft.com/office/drawing/2014/main" id="{D0F8D744-ADDE-4959-B029-CAEFEE5B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695450"/>
            <a:ext cx="2114550" cy="128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01  Không tin giá client vì người dùng kiểm soát request.</a:t>
            </a:r>
          </a:p>
        </p:txBody>
      </p:sp>
      <p:sp>
        <p:nvSpPr>
          <p:cNvPr id="25" name="S17_QA_2">
            <a:extLst xmlns:a="http://schemas.openxmlformats.org/drawingml/2006/main">
              <a:ext uri="{FF2B5EF4-FFF2-40B4-BE49-F238E27FC236}">
                <a16:creationId xmlns:a16="http://schemas.microsoft.com/office/drawing/2014/main" id="{E57FA001-827A-4732-85FC-AFEE4568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695450"/>
            <a:ext cx="2114550" cy="128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02  IDOR thiếu authorization theo object.</a:t>
            </a:r>
          </a:p>
        </p:txBody>
      </p:sp>
      <p:sp>
        <p:nvSpPr>
          <p:cNvPr id="26" name="S17_QA_3">
            <a:extLst xmlns:a="http://schemas.openxmlformats.org/drawingml/2006/main">
              <a:ext uri="{FF2B5EF4-FFF2-40B4-BE49-F238E27FC236}">
                <a16:creationId xmlns:a16="http://schemas.microsoft.com/office/drawing/2014/main" id="{7C6C87A1-9320-4D0B-89AD-FB9F760D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36900"/>
            <a:ext cx="2114550" cy="128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03  Role tampering là privilege escalation.</a:t>
            </a:r>
          </a:p>
        </p:txBody>
      </p:sp>
      <p:sp>
        <p:nvSpPr>
          <p:cNvPr id="27" name="S17_QA_4">
            <a:extLst xmlns:a="http://schemas.openxmlformats.org/drawingml/2006/main">
              <a:ext uri="{FF2B5EF4-FFF2-40B4-BE49-F238E27FC236}">
                <a16:creationId xmlns:a16="http://schemas.microsoft.com/office/drawing/2014/main" id="{3FA37BB8-5158-44F3-8038-B12B58CB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36900"/>
            <a:ext cx="2114550" cy="128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04  Tampering khác SQLi: policy vs query syntax.</a:t>
            </a:r>
          </a:p>
        </p:txBody>
      </p:sp>
      <p:sp>
        <p:nvSpPr>
          <p:cNvPr id="28" name="S17_QA_5">
            <a:extLst xmlns:a="http://schemas.openxmlformats.org/drawingml/2006/main">
              <a:ext uri="{FF2B5EF4-FFF2-40B4-BE49-F238E27FC236}">
                <a16:creationId xmlns:a16="http://schemas.microsoft.com/office/drawing/2014/main" id="{1B495285-C998-40C0-86F4-CE67356A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78350"/>
            <a:ext cx="2114550" cy="128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05  Hidden field không phải security control.</a:t>
            </a:r>
          </a:p>
        </p:txBody>
      </p:sp>
      <p:sp>
        <p:nvSpPr>
          <p:cNvPr id="29" name="S17_QA_6">
            <a:extLst xmlns:a="http://schemas.openxmlformats.org/drawingml/2006/main">
              <a:ext uri="{FF2B5EF4-FFF2-40B4-BE49-F238E27FC236}">
                <a16:creationId xmlns:a16="http://schemas.microsoft.com/office/drawing/2014/main" id="{3053E896-DC10-4333-A24F-748043C9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578350"/>
            <a:ext cx="2114550" cy="128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06  Audit: ai · object · field · before/after · result.</a:t>
            </a:r>
          </a:p>
        </p:txBody>
      </p:sp>
      <p:sp>
        <p:nvSpPr>
          <p:cNvPr id="30" name="S17_CONTROLS_BAR">
            <a:extLst xmlns:a="http://schemas.openxmlformats.org/drawingml/2006/main">
              <a:ext uri="{FF2B5EF4-FFF2-40B4-BE49-F238E27FC236}">
                <a16:creationId xmlns:a16="http://schemas.microsoft.com/office/drawing/2014/main" id="{885B483F-9073-434A-AD26-5BD14CB4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762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1" name="S17_CONTROLS_LABEL">
            <a:extLst xmlns:a="http://schemas.openxmlformats.org/drawingml/2006/main">
              <a:ext uri="{FF2B5EF4-FFF2-40B4-BE49-F238E27FC236}">
                <a16:creationId xmlns:a16="http://schemas.microsoft.com/office/drawing/2014/main" id="{4A3E2D51-EBDF-4422-9B4E-58E9C16B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BẮT BUỘC</a:t>
            </a:r>
          </a:p>
        </p:txBody>
      </p:sp>
      <p:sp>
        <p:nvSpPr>
          <p:cNvPr id="32" name="S17_CONTROLS_BODY">
            <a:extLst xmlns:a="http://schemas.openxmlformats.org/drawingml/2006/main">
              <a:ext uri="{FF2B5EF4-FFF2-40B4-BE49-F238E27FC236}">
                <a16:creationId xmlns:a16="http://schemas.microsoft.com/office/drawing/2014/main" id="{9D8D54CA-BBF3-40C3-B3A0-F4154593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48200"/>
            <a:ext cx="6286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Session identity · server price · object ownership · field allowlist · deny-by-default · audit.</a:t>
            </a:r>
          </a:p>
        </p:txBody>
      </p:sp>
    </p:spTree>
    <p:extLst>
      <p:ext uri="{BB962C8B-B14F-4D97-AF65-F5344CB8AC3E}">
        <p14:creationId xmlns:p14="http://schemas.microsoft.com/office/powerpoint/2010/main" val="129951817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18_EYEBROW">
            <a:extLst xmlns:a="http://schemas.openxmlformats.org/drawingml/2006/main">
              <a:ext uri="{FF2B5EF4-FFF2-40B4-BE49-F238E27FC236}">
                <a16:creationId xmlns:a16="http://schemas.microsoft.com/office/drawing/2014/main" id="{E67D156E-7825-49B5-BB98-9894A812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LAB04 / CSRF</a:t>
            </a:r>
          </a:p>
        </p:txBody>
      </p:sp>
      <p:sp>
        <p:nvSpPr>
          <p:cNvPr id="2" name="S18_TITLE">
            <a:extLst xmlns:a="http://schemas.openxmlformats.org/drawingml/2006/main">
              <a:ext uri="{FF2B5EF4-FFF2-40B4-BE49-F238E27FC236}">
                <a16:creationId xmlns:a16="http://schemas.microsoft.com/office/drawing/2014/main" id="{0B6B11A5-459B-4C7E-BFAF-550BBC09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4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CSRF lợi dụng credential browser tự gửi</a:t>
            </a:r>
          </a:p>
        </p:txBody>
      </p:sp>
      <p:sp>
        <p:nvSpPr>
          <p:cNvPr id="3" name="S18_SUBTITLE">
            <a:extLst xmlns:a="http://schemas.openxmlformats.org/drawingml/2006/main">
              <a:ext uri="{FF2B5EF4-FFF2-40B4-BE49-F238E27FC236}">
                <a16:creationId xmlns:a16="http://schemas.microsoft.com/office/drawing/2014/main" id="{DC744E1C-B1D7-4AC1-8CAD-55D141EE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Attacker không cần biết mật khẩu; chỉ cần khiến victim phát sinh state-changing request.</a:t>
            </a:r>
          </a:p>
        </p:txBody>
      </p:sp>
      <p:sp>
        <p:nvSpPr>
          <p:cNvPr id="4" name="S18_TITLE_RULE">
            <a:extLst xmlns:a="http://schemas.openxmlformats.org/drawingml/2006/main">
              <a:ext uri="{FF2B5EF4-FFF2-40B4-BE49-F238E27FC236}">
                <a16:creationId xmlns:a16="http://schemas.microsoft.com/office/drawing/2014/main" id="{9281F3E9-77DC-417B-874B-9BB6B5F9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18_FOOTER_RULE">
            <a:extLst xmlns:a="http://schemas.openxmlformats.org/drawingml/2006/main">
              <a:ext uri="{FF2B5EF4-FFF2-40B4-BE49-F238E27FC236}">
                <a16:creationId xmlns:a16="http://schemas.microsoft.com/office/drawing/2014/main" id="{6C8857DF-2342-4143-87FD-8EAA7531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8_SOURCE">
            <a:extLst xmlns:a="http://schemas.openxmlformats.org/drawingml/2006/main">
              <a:ext uri="{FF2B5EF4-FFF2-40B4-BE49-F238E27FC236}">
                <a16:creationId xmlns:a16="http://schemas.microsoft.com/office/drawing/2014/main" id="{EEF0EAA7-1E05-4D53-B888-2DDE3C3A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NGUỒN  Lab04/victim_app.py · attacker_app.py</a:t>
            </a:r>
          </a:p>
        </p:txBody>
      </p:sp>
      <p:sp>
        <p:nvSpPr>
          <p:cNvPr id="7" name="S18_NUMBER">
            <a:extLst xmlns:a="http://schemas.openxmlformats.org/drawingml/2006/main">
              <a:ext uri="{FF2B5EF4-FFF2-40B4-BE49-F238E27FC236}">
                <a16:creationId xmlns:a16="http://schemas.microsoft.com/office/drawing/2014/main" id="{96F7FFFD-2B70-49F3-ABFD-DAE06A55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  <p:sp>
        <p:nvSpPr>
          <p:cNvPr id="8" name="S18_TRIANGLE_ARROW_1">
            <a:extLst xmlns:a="http://schemas.openxmlformats.org/drawingml/2006/main">
              <a:ext uri="{FF2B5EF4-FFF2-40B4-BE49-F238E27FC236}">
                <a16:creationId xmlns:a16="http://schemas.microsoft.com/office/drawing/2014/main" id="{F3950DF0-6FBD-4684-8E31-A42B98B4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225742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18_TRIANGLE_ARROW_2">
            <a:extLst xmlns:a="http://schemas.openxmlformats.org/drawingml/2006/main">
              <a:ext uri="{FF2B5EF4-FFF2-40B4-BE49-F238E27FC236}">
                <a16:creationId xmlns:a16="http://schemas.microsoft.com/office/drawing/2014/main" id="{683B67D0-4532-484B-8398-356E829E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250" y="225742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18_TRIANGLE_NODE_1">
            <a:extLst xmlns:a="http://schemas.openxmlformats.org/drawingml/2006/main">
              <a:ext uri="{FF2B5EF4-FFF2-40B4-BE49-F238E27FC236}">
                <a16:creationId xmlns:a16="http://schemas.microsoft.com/office/drawing/2014/main" id="{D70F6220-573E-41C4-B361-C2B08758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09750"/>
            <a:ext cx="2717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ATTACKER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:9004</a:t>
            </a:r>
          </a:p>
        </p:txBody>
      </p:sp>
      <p:sp>
        <p:nvSpPr>
          <p:cNvPr id="11" name="S18_TRIANGLE_NODE_2">
            <a:extLst xmlns:a="http://schemas.openxmlformats.org/drawingml/2006/main">
              <a:ext uri="{FF2B5EF4-FFF2-40B4-BE49-F238E27FC236}">
                <a16:creationId xmlns:a16="http://schemas.microsoft.com/office/drawing/2014/main" id="{66B9C815-6022-41AA-ABC4-F33CA598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100" y="1809750"/>
            <a:ext cx="2717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VICTIM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BROWSER</a:t>
            </a:r>
          </a:p>
        </p:txBody>
      </p:sp>
      <p:sp>
        <p:nvSpPr>
          <p:cNvPr id="12" name="S18_TRIANGLE_NODE_3">
            <a:extLst xmlns:a="http://schemas.openxmlformats.org/drawingml/2006/main">
              <a:ext uri="{FF2B5EF4-FFF2-40B4-BE49-F238E27FC236}">
                <a16:creationId xmlns:a16="http://schemas.microsoft.com/office/drawing/2014/main" id="{A027464C-DB16-45FA-B075-15BB42F5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950" y="1809750"/>
            <a:ext cx="2717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TARGET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:5004</a:t>
            </a:r>
          </a:p>
        </p:txBody>
      </p:sp>
      <p:sp>
        <p:nvSpPr>
          <p:cNvPr id="13" name="S18_COND_H0">
            <a:extLst xmlns:a="http://schemas.openxmlformats.org/drawingml/2006/main">
              <a:ext uri="{FF2B5EF4-FFF2-40B4-BE49-F238E27FC236}">
                <a16:creationId xmlns:a16="http://schemas.microsoft.com/office/drawing/2014/main" id="{F3B1B9EA-46E4-4BC9-AC4B-64E07E33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ĐIỀU KIỆN</a:t>
            </a:r>
          </a:p>
        </p:txBody>
      </p:sp>
      <p:sp>
        <p:nvSpPr>
          <p:cNvPr id="14" name="S18_COND_H1">
            <a:extLst xmlns:a="http://schemas.openxmlformats.org/drawingml/2006/main">
              <a:ext uri="{FF2B5EF4-FFF2-40B4-BE49-F238E27FC236}">
                <a16:creationId xmlns:a16="http://schemas.microsoft.com/office/drawing/2014/main" id="{5F42449E-5423-4C8F-93C2-0424993F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9090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CÓ TRONG LAB</a:t>
            </a:r>
          </a:p>
        </p:txBody>
      </p:sp>
      <p:sp>
        <p:nvSpPr>
          <p:cNvPr id="15" name="S18_COND_H2">
            <a:extLst xmlns:a="http://schemas.openxmlformats.org/drawingml/2006/main">
              <a:ext uri="{FF2B5EF4-FFF2-40B4-BE49-F238E27FC236}">
                <a16:creationId xmlns:a16="http://schemas.microsoft.com/office/drawing/2014/main" id="{C913BBF6-9B9E-42D7-8652-6E9091D0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90900"/>
            <a:ext cx="5791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Ý NGHĨA</a:t>
            </a:r>
          </a:p>
        </p:txBody>
      </p:sp>
      <p:sp>
        <p:nvSpPr>
          <p:cNvPr id="16" name="S18_COND_R0C0">
            <a:extLst xmlns:a="http://schemas.openxmlformats.org/drawingml/2006/main">
              <a:ext uri="{FF2B5EF4-FFF2-40B4-BE49-F238E27FC236}">
                <a16:creationId xmlns:a16="http://schemas.microsoft.com/office/drawing/2014/main" id="{74B90BA4-7862-4840-94DC-4FC4ABD8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862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Session sống</a:t>
            </a:r>
          </a:p>
        </p:txBody>
      </p:sp>
      <p:sp>
        <p:nvSpPr>
          <p:cNvPr id="17" name="S18_COND_R0C1">
            <a:extLst xmlns:a="http://schemas.openxmlformats.org/drawingml/2006/main">
              <a:ext uri="{FF2B5EF4-FFF2-40B4-BE49-F238E27FC236}">
                <a16:creationId xmlns:a16="http://schemas.microsoft.com/office/drawing/2014/main" id="{84B6FAD9-07DD-44E8-BA74-7D2C540F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8620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cookie victim</a:t>
            </a:r>
          </a:p>
        </p:txBody>
      </p:sp>
      <p:sp>
        <p:nvSpPr>
          <p:cNvPr id="18" name="S18_COND_R0C2">
            <a:extLst xmlns:a="http://schemas.openxmlformats.org/drawingml/2006/main">
              <a:ext uri="{FF2B5EF4-FFF2-40B4-BE49-F238E27FC236}">
                <a16:creationId xmlns:a16="http://schemas.microsoft.com/office/drawing/2014/main" id="{A7A78292-C087-4527-B03E-99984A6A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86200"/>
            <a:ext cx="5791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browser có credential</a:t>
            </a:r>
          </a:p>
        </p:txBody>
      </p:sp>
      <p:sp>
        <p:nvSpPr>
          <p:cNvPr id="19" name="S18_COND_R1C0">
            <a:extLst xmlns:a="http://schemas.openxmlformats.org/drawingml/2006/main">
              <a:ext uri="{FF2B5EF4-FFF2-40B4-BE49-F238E27FC236}">
                <a16:creationId xmlns:a16="http://schemas.microsoft.com/office/drawing/2014/main" id="{7D7DE098-CC10-4D49-9A64-3015733B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State change</a:t>
            </a:r>
          </a:p>
        </p:txBody>
      </p:sp>
      <p:sp>
        <p:nvSpPr>
          <p:cNvPr id="20" name="S18_COND_R1C1">
            <a:extLst xmlns:a="http://schemas.openxmlformats.org/drawingml/2006/main">
              <a:ext uri="{FF2B5EF4-FFF2-40B4-BE49-F238E27FC236}">
                <a16:creationId xmlns:a16="http://schemas.microsoft.com/office/drawing/2014/main" id="{541BAE8F-78F0-4DC5-BCA4-D3291169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38150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đổi email</a:t>
            </a:r>
          </a:p>
        </p:txBody>
      </p:sp>
      <p:sp>
        <p:nvSpPr>
          <p:cNvPr id="21" name="S18_COND_R1C2">
            <a:extLst xmlns:a="http://schemas.openxmlformats.org/drawingml/2006/main">
              <a:ext uri="{FF2B5EF4-FFF2-40B4-BE49-F238E27FC236}">
                <a16:creationId xmlns:a16="http://schemas.microsoft.com/office/drawing/2014/main" id="{CD0C0E0C-1A6E-4289-A34C-876A9A79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81500"/>
            <a:ext cx="5791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tác động tài khoản</a:t>
            </a:r>
          </a:p>
        </p:txBody>
      </p:sp>
      <p:sp>
        <p:nvSpPr>
          <p:cNvPr id="22" name="S18_COND_R2C0">
            <a:extLst xmlns:a="http://schemas.openxmlformats.org/drawingml/2006/main">
              <a:ext uri="{FF2B5EF4-FFF2-40B4-BE49-F238E27FC236}">
                <a16:creationId xmlns:a16="http://schemas.microsoft.com/office/drawing/2014/main" id="{114E5A1D-1455-4F73-80F6-2B69ACA0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Thiếu token</a:t>
            </a:r>
          </a:p>
        </p:txBody>
      </p:sp>
      <p:sp>
        <p:nvSpPr>
          <p:cNvPr id="23" name="S18_COND_R2C1">
            <a:extLst xmlns:a="http://schemas.openxmlformats.org/drawingml/2006/main">
              <a:ext uri="{FF2B5EF4-FFF2-40B4-BE49-F238E27FC236}">
                <a16:creationId xmlns:a16="http://schemas.microsoft.com/office/drawing/2014/main" id="{894D8D94-2890-4197-89D2-54833604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7680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vulnerable route</a:t>
            </a:r>
          </a:p>
        </p:txBody>
      </p:sp>
      <p:sp>
        <p:nvSpPr>
          <p:cNvPr id="24" name="S18_COND_R2C2">
            <a:extLst xmlns:a="http://schemas.openxmlformats.org/drawingml/2006/main">
              <a:ext uri="{FF2B5EF4-FFF2-40B4-BE49-F238E27FC236}">
                <a16:creationId xmlns:a16="http://schemas.microsoft.com/office/drawing/2014/main" id="{13C4A4EC-1D8F-4AA8-8822-62BB8E81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876800"/>
            <a:ext cx="5791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không ràng buộc intent</a:t>
            </a:r>
          </a:p>
        </p:txBody>
      </p:sp>
      <p:sp>
        <p:nvSpPr>
          <p:cNvPr id="25" name="S18_COND_R3C0">
            <a:extLst xmlns:a="http://schemas.openxmlformats.org/drawingml/2006/main">
              <a:ext uri="{FF2B5EF4-FFF2-40B4-BE49-F238E27FC236}">
                <a16:creationId xmlns:a16="http://schemas.microsoft.com/office/drawing/2014/main" id="{8558FFF7-C61D-4A54-89B6-3A13D98E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21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Cookie tự gửi</a:t>
            </a:r>
          </a:p>
        </p:txBody>
      </p:sp>
      <p:sp>
        <p:nvSpPr>
          <p:cNvPr id="26" name="S18_COND_R3C1">
            <a:extLst xmlns:a="http://schemas.openxmlformats.org/drawingml/2006/main">
              <a:ext uri="{FF2B5EF4-FFF2-40B4-BE49-F238E27FC236}">
                <a16:creationId xmlns:a16="http://schemas.microsoft.com/office/drawing/2014/main" id="{2D0FA0B3-D945-4229-8F28-3ADB9C50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37210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same target origin</a:t>
            </a:r>
          </a:p>
        </p:txBody>
      </p:sp>
      <p:sp>
        <p:nvSpPr>
          <p:cNvPr id="27" name="S18_COND_R3C2">
            <a:extLst xmlns:a="http://schemas.openxmlformats.org/drawingml/2006/main">
              <a:ext uri="{FF2B5EF4-FFF2-40B4-BE49-F238E27FC236}">
                <a16:creationId xmlns:a16="http://schemas.microsoft.com/office/drawing/2014/main" id="{59EB2CA1-404E-47CE-ADFA-4BA47288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372100"/>
            <a:ext cx="5791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attacker không cần mật khẩu</a:t>
            </a:r>
          </a:p>
        </p:txBody>
      </p:sp>
    </p:spTree>
    <p:extLst>
      <p:ext uri="{BB962C8B-B14F-4D97-AF65-F5344CB8AC3E}">
        <p14:creationId xmlns:p14="http://schemas.microsoft.com/office/powerpoint/2010/main" val="13408789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19_EYEBROW">
            <a:extLst xmlns:a="http://schemas.openxmlformats.org/drawingml/2006/main">
              <a:ext uri="{FF2B5EF4-FFF2-40B4-BE49-F238E27FC236}">
                <a16:creationId xmlns:a16="http://schemas.microsoft.com/office/drawing/2014/main" id="{BC8A1FBC-6AF3-4711-8D87-12DB49B6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LAB04 / CSRF</a:t>
            </a:r>
          </a:p>
        </p:txBody>
      </p:sp>
      <p:sp>
        <p:nvSpPr>
          <p:cNvPr id="2" name="S19_TITLE">
            <a:extLst xmlns:a="http://schemas.openxmlformats.org/drawingml/2006/main">
              <a:ext uri="{FF2B5EF4-FFF2-40B4-BE49-F238E27FC236}">
                <a16:creationId xmlns:a16="http://schemas.microsoft.com/office/drawing/2014/main" id="{88391B98-D2CF-4585-A0CB-377677E1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4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SOP không ngăn request được gửi</a:t>
            </a:r>
          </a:p>
        </p:txBody>
      </p:sp>
      <p:sp>
        <p:nvSpPr>
          <p:cNvPr id="3" name="S19_SUBTITLE">
            <a:extLst xmlns:a="http://schemas.openxmlformats.org/drawingml/2006/main">
              <a:ext uri="{FF2B5EF4-FFF2-40B4-BE49-F238E27FC236}">
                <a16:creationId xmlns:a16="http://schemas.microsoft.com/office/drawing/2014/main" id="{4FDDABA7-457E-4FCC-A130-D0CD6331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Browser có thể chặn attacker đọc response nhưng vẫn gửi form cùng cookie target.</a:t>
            </a:r>
          </a:p>
        </p:txBody>
      </p:sp>
      <p:sp>
        <p:nvSpPr>
          <p:cNvPr id="4" name="S19_TITLE_RULE">
            <a:extLst xmlns:a="http://schemas.openxmlformats.org/drawingml/2006/main">
              <a:ext uri="{FF2B5EF4-FFF2-40B4-BE49-F238E27FC236}">
                <a16:creationId xmlns:a16="http://schemas.microsoft.com/office/drawing/2014/main" id="{121E6CC9-3631-4D82-8748-6C022D73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19_FOOTER_RULE">
            <a:extLst xmlns:a="http://schemas.openxmlformats.org/drawingml/2006/main">
              <a:ext uri="{FF2B5EF4-FFF2-40B4-BE49-F238E27FC236}">
                <a16:creationId xmlns:a16="http://schemas.microsoft.com/office/drawing/2014/main" id="{A66D1BE5-C80D-4611-80A8-3D5E9AAE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9_SOURCE">
            <a:extLst xmlns:a="http://schemas.openxmlformats.org/drawingml/2006/main">
              <a:ext uri="{FF2B5EF4-FFF2-40B4-BE49-F238E27FC236}">
                <a16:creationId xmlns:a16="http://schemas.microsoft.com/office/drawing/2014/main" id="{3C1188A6-2A56-4E16-97E6-93035E45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NGUỒN  Lab04/attacker_templates · victim_app.py</a:t>
            </a:r>
          </a:p>
        </p:txBody>
      </p:sp>
      <p:sp>
        <p:nvSpPr>
          <p:cNvPr id="7" name="S19_NUMBER">
            <a:extLst xmlns:a="http://schemas.openxmlformats.org/drawingml/2006/main">
              <a:ext uri="{FF2B5EF4-FFF2-40B4-BE49-F238E27FC236}">
                <a16:creationId xmlns:a16="http://schemas.microsoft.com/office/drawing/2014/main" id="{7FAEE63A-0F9F-4251-AB1F-8E08EFBA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19</a:t>
            </a:r>
          </a:p>
        </p:txBody>
      </p:sp>
      <p:sp>
        <p:nvSpPr>
          <p:cNvPr id="8" name="S19_FLOW_ARROW_1">
            <a:extLst xmlns:a="http://schemas.openxmlformats.org/drawingml/2006/main">
              <a:ext uri="{FF2B5EF4-FFF2-40B4-BE49-F238E27FC236}">
                <a16:creationId xmlns:a16="http://schemas.microsoft.com/office/drawing/2014/main" id="{B86A86FC-10DE-4E86-9DAB-29AB4411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365" y="213360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19_FLOW_ARROW_2">
            <a:extLst xmlns:a="http://schemas.openxmlformats.org/drawingml/2006/main">
              <a:ext uri="{FF2B5EF4-FFF2-40B4-BE49-F238E27FC236}">
                <a16:creationId xmlns:a16="http://schemas.microsoft.com/office/drawing/2014/main" id="{FEC334A2-395E-4676-BAA3-4A6C7A13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2780" y="213360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19_FLOW_ARROW_3">
            <a:extLst xmlns:a="http://schemas.openxmlformats.org/drawingml/2006/main">
              <a:ext uri="{FF2B5EF4-FFF2-40B4-BE49-F238E27FC236}">
                <a16:creationId xmlns:a16="http://schemas.microsoft.com/office/drawing/2014/main" id="{0D431E7A-8C42-4595-BB15-6C5CAFD8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195" y="213360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19_FLOW_ARROW_4">
            <a:extLst xmlns:a="http://schemas.openxmlformats.org/drawingml/2006/main">
              <a:ext uri="{FF2B5EF4-FFF2-40B4-BE49-F238E27FC236}">
                <a16:creationId xmlns:a16="http://schemas.microsoft.com/office/drawing/2014/main" id="{9AE74100-B872-41FD-98B9-AEFA5665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3610" y="213360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19_FLOW_NODE_1">
            <a:extLst xmlns:a="http://schemas.openxmlformats.org/drawingml/2006/main">
              <a:ext uri="{FF2B5EF4-FFF2-40B4-BE49-F238E27FC236}">
                <a16:creationId xmlns:a16="http://schemas.microsoft.com/office/drawing/2014/main" id="{C9FF4659-6E32-46CD-889D-A6ABB837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19634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Victim login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:5004</a:t>
            </a:r>
          </a:p>
        </p:txBody>
      </p:sp>
      <p:sp>
        <p:nvSpPr>
          <p:cNvPr id="13" name="S19_FLOW_NODE_2">
            <a:extLst xmlns:a="http://schemas.openxmlformats.org/drawingml/2006/main">
              <a:ext uri="{FF2B5EF4-FFF2-40B4-BE49-F238E27FC236}">
                <a16:creationId xmlns:a16="http://schemas.microsoft.com/office/drawing/2014/main" id="{78151A0C-6FEA-4B15-AF4B-D6666110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815" y="1752600"/>
            <a:ext cx="119634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Open attacker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:9004</a:t>
            </a:r>
          </a:p>
        </p:txBody>
      </p:sp>
      <p:sp>
        <p:nvSpPr>
          <p:cNvPr id="14" name="S19_FLOW_NODE_3">
            <a:extLst xmlns:a="http://schemas.openxmlformats.org/drawingml/2006/main">
              <a:ext uri="{FF2B5EF4-FFF2-40B4-BE49-F238E27FC236}">
                <a16:creationId xmlns:a16="http://schemas.microsoft.com/office/drawing/2014/main" id="{33385C15-541E-4559-B88F-93EBD67C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230" y="1752600"/>
            <a:ext cx="119634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Manual POST</a:t>
            </a:r>
          </a:p>
        </p:txBody>
      </p:sp>
      <p:sp>
        <p:nvSpPr>
          <p:cNvPr id="15" name="S19_FLOW_NODE_4">
            <a:extLst xmlns:a="http://schemas.openxmlformats.org/drawingml/2006/main">
              <a:ext uri="{FF2B5EF4-FFF2-40B4-BE49-F238E27FC236}">
                <a16:creationId xmlns:a16="http://schemas.microsoft.com/office/drawing/2014/main" id="{9D9C377B-7190-466B-8B9D-D48F7669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645" y="1752600"/>
            <a:ext cx="119634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Cookie target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auto-attached</a:t>
            </a:r>
          </a:p>
        </p:txBody>
      </p:sp>
      <p:sp>
        <p:nvSpPr>
          <p:cNvPr id="16" name="S19_FLOW_NODE_5">
            <a:extLst xmlns:a="http://schemas.openxmlformats.org/drawingml/2006/main">
              <a:ext uri="{FF2B5EF4-FFF2-40B4-BE49-F238E27FC236}">
                <a16:creationId xmlns:a16="http://schemas.microsoft.com/office/drawing/2014/main" id="{9BFE7989-FAFC-47DE-86AB-D281E649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060" y="1752600"/>
            <a:ext cx="119634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Email đổi</a:t>
            </a:r>
          </a:p>
        </p:txBody>
      </p:sp>
      <p:sp>
        <p:nvSpPr>
          <p:cNvPr id="17" name="PH_S19_Lab04_08_email_after_csrf_png_FRAME">
            <a:extLst xmlns:a="http://schemas.openxmlformats.org/drawingml/2006/main">
              <a:ext uri="{FF2B5EF4-FFF2-40B4-BE49-F238E27FC236}">
                <a16:creationId xmlns:a16="http://schemas.microsoft.com/office/drawing/2014/main" id="{A0CF562A-057A-4FF0-A5F4-A5EBCFA6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724025"/>
            <a:ext cx="39624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5D26"/>
            </a:solidFill>
            <a:prstDash val="solid"/>
          </a:ln>
        </p:spPr>
      </p:sp>
      <p:sp>
        <p:nvSpPr>
          <p:cNvPr id="18" name="PH_S19_Lab04_08_email_after_csrf_png_IMAGE">
            <a:extLst xmlns:a="http://schemas.openxmlformats.org/drawingml/2006/main">
              <a:ext uri="{FF2B5EF4-FFF2-40B4-BE49-F238E27FC236}">
                <a16:creationId xmlns:a16="http://schemas.microsoft.com/office/drawing/2014/main" id="{32830FE6-A605-4566-9DCF-A730C24E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3905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</p:sp>
      <p:sp>
        <p:nvSpPr>
          <p:cNvPr id="19" name="PH_S19_Lab04_08_email_after_csrf_png_ICON">
            <a:extLst xmlns:a="http://schemas.openxmlformats.org/drawingml/2006/main">
              <a:ext uri="{FF2B5EF4-FFF2-40B4-BE49-F238E27FC236}">
                <a16:creationId xmlns:a16="http://schemas.microsoft.com/office/drawing/2014/main" id="{A35CE082-7DA4-4B72-AEF3-41BA9FAC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954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▣</a:t>
            </a:r>
          </a:p>
        </p:txBody>
      </p:sp>
      <p:sp>
        <p:nvSpPr>
          <p:cNvPr id="20" name="PH_S19_Lab04_08_email_after_csrf_png_INSTRUCTION">
            <a:extLst xmlns:a="http://schemas.openxmlformats.org/drawingml/2006/main">
              <a:ext uri="{FF2B5EF4-FFF2-40B4-BE49-F238E27FC236}">
                <a16:creationId xmlns:a16="http://schemas.microsoft.com/office/drawing/2014/main" id="{51983743-8D97-4539-88AE-A57B78BD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24050"/>
            <a:ext cx="30670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CHÈN ẢNH THẬT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08_email_after_csrf.png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16:9 · CROP → FILL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XEM GUIDE</a:t>
            </a:r>
          </a:p>
        </p:txBody>
      </p:sp>
      <p:sp>
        <p:nvSpPr>
          <p:cNvPr id="21" name="PH_S19_Lab04_08_email_after_csrf_png_CAPTION">
            <a:extLst xmlns:a="http://schemas.openxmlformats.org/drawingml/2006/main">
              <a:ext uri="{FF2B5EF4-FFF2-40B4-BE49-F238E27FC236}">
                <a16:creationId xmlns:a16="http://schemas.microsoft.com/office/drawing/2014/main" id="{3CC864B1-7FCB-47FF-AEB8-C38EF2F9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24275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Email victim sau request CSRF</a:t>
            </a:r>
          </a:p>
        </p:txBody>
      </p:sp>
      <p:sp>
        <p:nvSpPr>
          <p:cNvPr id="22" name="S19_FORM">
            <a:extLst xmlns:a="http://schemas.openxmlformats.org/drawingml/2006/main">
              <a:ext uri="{FF2B5EF4-FFF2-40B4-BE49-F238E27FC236}">
                <a16:creationId xmlns:a16="http://schemas.microsoft.com/office/drawing/2014/main" id="{9C00CB52-57FE-4082-A7A1-8096002C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68580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9525">
            <a:solidFill>
              <a:srgbClr val="D96C5F"/>
            </a:solidFill>
            <a:prstDash val="solid"/>
          </a:ln>
        </p:spPr>
        <p:txBody>
          <a:bodyPr xmlns:a="http://schemas.openxmlformats.org/drawingml/2006/main" wrap="square" lIns="133350" tIns="123825" rIns="133350" bIns="1143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&lt;form method="POST"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      action="http://127.0.0.1:5004/vulnerable/change-email"&gt;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  &lt;input name="email" value="demo_changed@lab.local"&gt;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  &lt;button&gt;Gửi form&lt;/button&gt;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&lt;/form&gt;</a:t>
            </a:r>
          </a:p>
        </p:txBody>
      </p:sp>
      <p:sp>
        <p:nvSpPr>
          <p:cNvPr id="23" name="S19_SOP_BAR">
            <a:extLst xmlns:a="http://schemas.openxmlformats.org/drawingml/2006/main">
              <a:ext uri="{FF2B5EF4-FFF2-40B4-BE49-F238E27FC236}">
                <a16:creationId xmlns:a16="http://schemas.microsoft.com/office/drawing/2014/main" id="{4A10DAE0-B796-4F82-848D-7B875521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14850"/>
            <a:ext cx="762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4" name="S19_SOP_LABEL">
            <a:extLst xmlns:a="http://schemas.openxmlformats.org/drawingml/2006/main">
              <a:ext uri="{FF2B5EF4-FFF2-40B4-BE49-F238E27FC236}">
                <a16:creationId xmlns:a16="http://schemas.microsoft.com/office/drawing/2014/main" id="{C6CE1EDC-A19A-4230-B8D6-813EC2B9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339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SOP</a:t>
            </a:r>
          </a:p>
        </p:txBody>
      </p:sp>
      <p:sp>
        <p:nvSpPr>
          <p:cNvPr id="25" name="S19_SOP_BODY">
            <a:extLst xmlns:a="http://schemas.openxmlformats.org/drawingml/2006/main">
              <a:ext uri="{FF2B5EF4-FFF2-40B4-BE49-F238E27FC236}">
                <a16:creationId xmlns:a16="http://schemas.microsoft.com/office/drawing/2014/main" id="{B64D5303-02BC-470D-B348-F579348C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38700"/>
            <a:ext cx="3714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Không cho attacker đọc response ≠ không cho browser gửi request. Phòng thủ phải xác minh intent tại target.</a:t>
            </a:r>
          </a:p>
        </p:txBody>
      </p:sp>
    </p:spTree>
    <p:extLst>
      <p:ext uri="{BB962C8B-B14F-4D97-AF65-F5344CB8AC3E}">
        <p14:creationId xmlns:p14="http://schemas.microsoft.com/office/powerpoint/2010/main" val="175679739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20_EYEBROW">
            <a:extLst xmlns:a="http://schemas.openxmlformats.org/drawingml/2006/main">
              <a:ext uri="{FF2B5EF4-FFF2-40B4-BE49-F238E27FC236}">
                <a16:creationId xmlns:a16="http://schemas.microsoft.com/office/drawing/2014/main" id="{C5CD1E7D-E582-49A5-B8F8-4E071D04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LAB04 / CSRF</a:t>
            </a:r>
          </a:p>
        </p:txBody>
      </p:sp>
      <p:sp>
        <p:nvSpPr>
          <p:cNvPr id="2" name="S20_TITLE">
            <a:extLst xmlns:a="http://schemas.openxmlformats.org/drawingml/2006/main">
              <a:ext uri="{FF2B5EF4-FFF2-40B4-BE49-F238E27FC236}">
                <a16:creationId xmlns:a16="http://schemas.microsoft.com/office/drawing/2014/main" id="{84149B1F-B08F-44EC-B337-0FCE0AC7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4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Request hợp lệ về HTTP nhưng thiếu bằng chứng intent</a:t>
            </a:r>
          </a:p>
        </p:txBody>
      </p:sp>
      <p:sp>
        <p:nvSpPr>
          <p:cNvPr id="3" name="S20_SUBTITLE">
            <a:extLst xmlns:a="http://schemas.openxmlformats.org/drawingml/2006/main">
              <a:ext uri="{FF2B5EF4-FFF2-40B4-BE49-F238E27FC236}">
                <a16:creationId xmlns:a16="http://schemas.microsoft.com/office/drawing/2014/main" id="{640EB3C5-FF4B-41F9-A616-E257D9F5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Cookie có mặt; token thiếu; Origin/Referer không thuộc allowlist — vulnerable route vẫn chấp nhận.</a:t>
            </a:r>
          </a:p>
        </p:txBody>
      </p:sp>
      <p:sp>
        <p:nvSpPr>
          <p:cNvPr id="4" name="S20_TITLE_RULE">
            <a:extLst xmlns:a="http://schemas.openxmlformats.org/drawingml/2006/main">
              <a:ext uri="{FF2B5EF4-FFF2-40B4-BE49-F238E27FC236}">
                <a16:creationId xmlns:a16="http://schemas.microsoft.com/office/drawing/2014/main" id="{19DCEA33-AF3A-45F7-AD62-8B8BB9EA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20_FOOTER_RULE">
            <a:extLst xmlns:a="http://schemas.openxmlformats.org/drawingml/2006/main">
              <a:ext uri="{FF2B5EF4-FFF2-40B4-BE49-F238E27FC236}">
                <a16:creationId xmlns:a16="http://schemas.microsoft.com/office/drawing/2014/main" id="{6CBA67F7-9FD4-4B04-84C1-E1B9B615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20_SOURCE">
            <a:extLst xmlns:a="http://schemas.openxmlformats.org/drawingml/2006/main">
              <a:ext uri="{FF2B5EF4-FFF2-40B4-BE49-F238E27FC236}">
                <a16:creationId xmlns:a16="http://schemas.microsoft.com/office/drawing/2014/main" id="{E4A35295-2CFD-47DF-936B-F1C17FDD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NGUỒN  Lab04/victim_app.py · csrf_service.py · origin_service.py</a:t>
            </a:r>
          </a:p>
        </p:txBody>
      </p:sp>
      <p:sp>
        <p:nvSpPr>
          <p:cNvPr id="7" name="S20_NUMBER">
            <a:extLst xmlns:a="http://schemas.openxmlformats.org/drawingml/2006/main">
              <a:ext uri="{FF2B5EF4-FFF2-40B4-BE49-F238E27FC236}">
                <a16:creationId xmlns:a16="http://schemas.microsoft.com/office/drawing/2014/main" id="{AF08F16F-B756-4D26-94DE-4969CB31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  <p:sp>
        <p:nvSpPr>
          <p:cNvPr id="8" name="S20_REQUEST">
            <a:extLst xmlns:a="http://schemas.openxmlformats.org/drawingml/2006/main">
              <a:ext uri="{FF2B5EF4-FFF2-40B4-BE49-F238E27FC236}">
                <a16:creationId xmlns:a16="http://schemas.microsoft.com/office/drawing/2014/main" id="{1873DF08-8513-41B9-80BB-F79E9A3F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61912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9525">
            <a:solidFill>
              <a:srgbClr val="D96C5F"/>
            </a:solidFill>
            <a:prstDash val="solid"/>
          </a:ln>
        </p:spPr>
        <p:txBody>
          <a:bodyPr xmlns:a="http://schemas.openxmlformats.org/drawingml/2006/main" wrap="square" lIns="133350" tIns="123825" rIns="133350" bIns="1143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POST /vulnerable/change-email HTTP/1.1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Host: 127.0.0.1:5004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Content-Type: application/x-www-form-urlencoded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Cookie: victim_session=...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Origin: http://127.0.0.1:9004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email=demo_changed%40lab.local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# csrf_token: MISSING</a:t>
            </a:r>
          </a:p>
        </p:txBody>
      </p:sp>
      <p:sp>
        <p:nvSpPr>
          <p:cNvPr id="9" name="S20_CHECKS_H0">
            <a:extLst xmlns:a="http://schemas.openxmlformats.org/drawingml/2006/main">
              <a:ext uri="{FF2B5EF4-FFF2-40B4-BE49-F238E27FC236}">
                <a16:creationId xmlns:a16="http://schemas.microsoft.com/office/drawing/2014/main" id="{CBE095DA-277E-4584-8A51-1C3B9790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52600"/>
            <a:ext cx="161925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TÍN HIỆU</a:t>
            </a:r>
          </a:p>
        </p:txBody>
      </p:sp>
      <p:sp>
        <p:nvSpPr>
          <p:cNvPr id="10" name="S20_CHECKS_H1">
            <a:extLst xmlns:a="http://schemas.openxmlformats.org/drawingml/2006/main">
              <a:ext uri="{FF2B5EF4-FFF2-40B4-BE49-F238E27FC236}">
                <a16:creationId xmlns:a16="http://schemas.microsoft.com/office/drawing/2014/main" id="{E8852267-10CD-4A7E-A1BA-681597FD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52600"/>
            <a:ext cx="142875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VULNERABLE</a:t>
            </a:r>
          </a:p>
        </p:txBody>
      </p:sp>
      <p:sp>
        <p:nvSpPr>
          <p:cNvPr id="11" name="S20_CHECKS_H2">
            <a:extLst xmlns:a="http://schemas.openxmlformats.org/drawingml/2006/main">
              <a:ext uri="{FF2B5EF4-FFF2-40B4-BE49-F238E27FC236}">
                <a16:creationId xmlns:a16="http://schemas.microsoft.com/office/drawing/2014/main" id="{FB4D8A92-C546-455E-ABB8-A74CEE73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752600"/>
            <a:ext cx="158115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SECURE</a:t>
            </a:r>
          </a:p>
        </p:txBody>
      </p:sp>
      <p:sp>
        <p:nvSpPr>
          <p:cNvPr id="12" name="S20_CHECKS_R0C0">
            <a:extLst xmlns:a="http://schemas.openxmlformats.org/drawingml/2006/main">
              <a:ext uri="{FF2B5EF4-FFF2-40B4-BE49-F238E27FC236}">
                <a16:creationId xmlns:a16="http://schemas.microsoft.com/office/drawing/2014/main" id="{696E3DE0-174E-438B-83C4-0DB033D8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39340"/>
            <a:ext cx="161925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Session cookie</a:t>
            </a:r>
          </a:p>
        </p:txBody>
      </p:sp>
      <p:sp>
        <p:nvSpPr>
          <p:cNvPr id="13" name="S20_CHECKS_R0C1">
            <a:extLst xmlns:a="http://schemas.openxmlformats.org/drawingml/2006/main">
              <a:ext uri="{FF2B5EF4-FFF2-40B4-BE49-F238E27FC236}">
                <a16:creationId xmlns:a16="http://schemas.microsoft.com/office/drawing/2014/main" id="{54FAB46A-A8A7-4E3A-A005-C58D41A4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39340"/>
            <a:ext cx="142875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tin là đủ</a:t>
            </a:r>
          </a:p>
        </p:txBody>
      </p:sp>
      <p:sp>
        <p:nvSpPr>
          <p:cNvPr id="14" name="S20_CHECKS_R0C2">
            <a:extLst xmlns:a="http://schemas.openxmlformats.org/drawingml/2006/main">
              <a:ext uri="{FF2B5EF4-FFF2-40B4-BE49-F238E27FC236}">
                <a16:creationId xmlns:a16="http://schemas.microsoft.com/office/drawing/2014/main" id="{DF421141-7B8C-4E35-9E96-41302F44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339340"/>
            <a:ext cx="158115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chỉ xác thực user</a:t>
            </a:r>
          </a:p>
        </p:txBody>
      </p:sp>
      <p:sp>
        <p:nvSpPr>
          <p:cNvPr id="15" name="S20_CHECKS_R1C0">
            <a:extLst xmlns:a="http://schemas.openxmlformats.org/drawingml/2006/main">
              <a:ext uri="{FF2B5EF4-FFF2-40B4-BE49-F238E27FC236}">
                <a16:creationId xmlns:a16="http://schemas.microsoft.com/office/drawing/2014/main" id="{D2416B3E-ABC8-41AA-9A9D-EAB6636B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26080"/>
            <a:ext cx="161925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CSRF token</a:t>
            </a:r>
          </a:p>
        </p:txBody>
      </p:sp>
      <p:sp>
        <p:nvSpPr>
          <p:cNvPr id="16" name="S20_CHECKS_R1C1">
            <a:extLst xmlns:a="http://schemas.openxmlformats.org/drawingml/2006/main">
              <a:ext uri="{FF2B5EF4-FFF2-40B4-BE49-F238E27FC236}">
                <a16:creationId xmlns:a16="http://schemas.microsoft.com/office/drawing/2014/main" id="{121708F0-ACAC-4F34-81CE-13A9DD57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26080"/>
            <a:ext cx="142875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không kiểm</a:t>
            </a:r>
          </a:p>
        </p:txBody>
      </p:sp>
      <p:sp>
        <p:nvSpPr>
          <p:cNvPr id="17" name="S20_CHECKS_R1C2">
            <a:extLst xmlns:a="http://schemas.openxmlformats.org/drawingml/2006/main">
              <a:ext uri="{FF2B5EF4-FFF2-40B4-BE49-F238E27FC236}">
                <a16:creationId xmlns:a16="http://schemas.microsoft.com/office/drawing/2014/main" id="{580983E5-02E9-4A8A-A7C3-E45CDA09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926080"/>
            <a:ext cx="158115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session-bound + compare</a:t>
            </a:r>
          </a:p>
        </p:txBody>
      </p:sp>
      <p:sp>
        <p:nvSpPr>
          <p:cNvPr id="18" name="S20_CHECKS_R2C0">
            <a:extLst xmlns:a="http://schemas.openxmlformats.org/drawingml/2006/main">
              <a:ext uri="{FF2B5EF4-FFF2-40B4-BE49-F238E27FC236}">
                <a16:creationId xmlns:a16="http://schemas.microsoft.com/office/drawing/2014/main" id="{4EC9D5C2-3EAF-45F4-B7A8-D7547FB0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12820"/>
            <a:ext cx="161925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Origin/Referer</a:t>
            </a:r>
          </a:p>
        </p:txBody>
      </p:sp>
      <p:sp>
        <p:nvSpPr>
          <p:cNvPr id="19" name="S20_CHECKS_R2C1">
            <a:extLst xmlns:a="http://schemas.openxmlformats.org/drawingml/2006/main">
              <a:ext uri="{FF2B5EF4-FFF2-40B4-BE49-F238E27FC236}">
                <a16:creationId xmlns:a16="http://schemas.microsoft.com/office/drawing/2014/main" id="{69C36B01-0C9F-4690-8E1A-C91DBCBF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12820"/>
            <a:ext cx="142875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bỏ qua</a:t>
            </a:r>
          </a:p>
        </p:txBody>
      </p:sp>
      <p:sp>
        <p:nvSpPr>
          <p:cNvPr id="20" name="S20_CHECKS_R2C2">
            <a:extLst xmlns:a="http://schemas.openxmlformats.org/drawingml/2006/main">
              <a:ext uri="{FF2B5EF4-FFF2-40B4-BE49-F238E27FC236}">
                <a16:creationId xmlns:a16="http://schemas.microsoft.com/office/drawing/2014/main" id="{4660C864-3752-4A58-8E53-4D835E7C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512820"/>
            <a:ext cx="158115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exact allowlist</a:t>
            </a:r>
          </a:p>
        </p:txBody>
      </p:sp>
      <p:sp>
        <p:nvSpPr>
          <p:cNvPr id="21" name="S20_CHECKS_R3C0">
            <a:extLst xmlns:a="http://schemas.openxmlformats.org/drawingml/2006/main">
              <a:ext uri="{FF2B5EF4-FFF2-40B4-BE49-F238E27FC236}">
                <a16:creationId xmlns:a16="http://schemas.microsoft.com/office/drawing/2014/main" id="{3C40AA22-C1DE-4E6B-A348-1C83A79F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99560"/>
            <a:ext cx="161925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Method</a:t>
            </a:r>
          </a:p>
        </p:txBody>
      </p:sp>
      <p:sp>
        <p:nvSpPr>
          <p:cNvPr id="22" name="S20_CHECKS_R3C1">
            <a:extLst xmlns:a="http://schemas.openxmlformats.org/drawingml/2006/main">
              <a:ext uri="{FF2B5EF4-FFF2-40B4-BE49-F238E27FC236}">
                <a16:creationId xmlns:a16="http://schemas.microsoft.com/office/drawing/2014/main" id="{DE4CC0BF-0EB6-4735-BB5F-C6F0F6E4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99560"/>
            <a:ext cx="142875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POST</a:t>
            </a:r>
          </a:p>
        </p:txBody>
      </p:sp>
      <p:sp>
        <p:nvSpPr>
          <p:cNvPr id="23" name="S20_CHECKS_R3C2">
            <a:extLst xmlns:a="http://schemas.openxmlformats.org/drawingml/2006/main">
              <a:ext uri="{FF2B5EF4-FFF2-40B4-BE49-F238E27FC236}">
                <a16:creationId xmlns:a16="http://schemas.microsoft.com/office/drawing/2014/main" id="{4B771DAB-B2EE-4B69-8960-66669B35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099560"/>
            <a:ext cx="1581150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POST + policy</a:t>
            </a:r>
          </a:p>
        </p:txBody>
      </p:sp>
      <p:sp>
        <p:nvSpPr>
          <p:cNvPr id="24" name="S20_DECISION_BAR">
            <a:extLst xmlns:a="http://schemas.openxmlformats.org/drawingml/2006/main">
              <a:ext uri="{FF2B5EF4-FFF2-40B4-BE49-F238E27FC236}">
                <a16:creationId xmlns:a16="http://schemas.microsoft.com/office/drawing/2014/main" id="{B2586115-746F-4299-9009-DD6BF4BF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05400"/>
            <a:ext cx="762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5" name="S20_DECISION_LABEL">
            <a:extLst xmlns:a="http://schemas.openxmlformats.org/drawingml/2006/main">
              <a:ext uri="{FF2B5EF4-FFF2-40B4-BE49-F238E27FC236}">
                <a16:creationId xmlns:a16="http://schemas.microsoft.com/office/drawing/2014/main" id="{62164C90-7D84-41EB-9A87-EAEA78AE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05400"/>
            <a:ext cx="1638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DECISION</a:t>
            </a:r>
          </a:p>
        </p:txBody>
      </p:sp>
      <p:sp>
        <p:nvSpPr>
          <p:cNvPr id="26" name="S20_DECISION_BODY">
            <a:extLst xmlns:a="http://schemas.openxmlformats.org/drawingml/2006/main">
              <a:ext uri="{FF2B5EF4-FFF2-40B4-BE49-F238E27FC236}">
                <a16:creationId xmlns:a16="http://schemas.microsoft.com/office/drawing/2014/main" id="{00DD50B1-850D-4D6C-9D77-12DEB90D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105400"/>
            <a:ext cx="9201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Credential trả lời “ai”; CSRF defense trả lời “request này có phản ánh ý định của chính user hay không?”.</a:t>
            </a:r>
          </a:p>
        </p:txBody>
      </p:sp>
    </p:spTree>
    <p:extLst>
      <p:ext uri="{BB962C8B-B14F-4D97-AF65-F5344CB8AC3E}">
        <p14:creationId xmlns:p14="http://schemas.microsoft.com/office/powerpoint/2010/main" val="118626681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S21_EYEBROW">
            <a:extLst xmlns:a="http://schemas.openxmlformats.org/drawingml/2006/main">
              <a:ext uri="{FF2B5EF4-FFF2-40B4-BE49-F238E27FC236}">
                <a16:creationId xmlns:a16="http://schemas.microsoft.com/office/drawing/2014/main" id="{3F581D14-33FE-4EE0-BCCC-583B09B5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LAB04 / CSRF</a:t>
            </a:r>
          </a:p>
        </p:txBody>
      </p:sp>
      <p:sp>
        <p:nvSpPr>
          <p:cNvPr id="2" name="S21_TITLE">
            <a:extLst xmlns:a="http://schemas.openxmlformats.org/drawingml/2006/main">
              <a:ext uri="{FF2B5EF4-FFF2-40B4-BE49-F238E27FC236}">
                <a16:creationId xmlns:a16="http://schemas.microsoft.com/office/drawing/2014/main" id="{4D53AF98-CD37-47C3-9856-AF645AAC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4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Secure route buộc request gắn với session và origin</a:t>
            </a:r>
          </a:p>
        </p:txBody>
      </p:sp>
      <p:sp>
        <p:nvSpPr>
          <p:cNvPr id="3" name="S21_SUBTITLE">
            <a:extLst xmlns:a="http://schemas.openxmlformats.org/drawingml/2006/main">
              <a:ext uri="{FF2B5EF4-FFF2-40B4-BE49-F238E27FC236}">
                <a16:creationId xmlns:a16="http://schemas.microsoft.com/office/drawing/2014/main" id="{99D038ED-F66F-45EB-9594-165F071B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Token mạnh theo session + Origin/Referer exact + SameSite + re-auth cho hành động nhạy cảm.</a:t>
            </a:r>
          </a:p>
        </p:txBody>
      </p:sp>
      <p:sp>
        <p:nvSpPr>
          <p:cNvPr id="4" name="S21_TITLE_RULE">
            <a:extLst xmlns:a="http://schemas.openxmlformats.org/drawingml/2006/main">
              <a:ext uri="{FF2B5EF4-FFF2-40B4-BE49-F238E27FC236}">
                <a16:creationId xmlns:a16="http://schemas.microsoft.com/office/drawing/2014/main" id="{3BF89958-A177-4431-B646-CCAB9683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21_FOOTER_RULE">
            <a:extLst xmlns:a="http://schemas.openxmlformats.org/drawingml/2006/main">
              <a:ext uri="{FF2B5EF4-FFF2-40B4-BE49-F238E27FC236}">
                <a16:creationId xmlns:a16="http://schemas.microsoft.com/office/drawing/2014/main" id="{F61D01DB-8555-40BE-A4A5-E329409A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21_SOURCE">
            <a:extLst xmlns:a="http://schemas.openxmlformats.org/drawingml/2006/main">
              <a:ext uri="{FF2B5EF4-FFF2-40B4-BE49-F238E27FC236}">
                <a16:creationId xmlns:a16="http://schemas.microsoft.com/office/drawing/2014/main" id="{37E72090-9E79-4577-8221-D476ED0C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NGUỒN  Lab04/csrf_service.py · origin_service.py · config.py</a:t>
            </a:r>
          </a:p>
        </p:txBody>
      </p:sp>
      <p:sp>
        <p:nvSpPr>
          <p:cNvPr id="7" name="S21_NUMBER">
            <a:extLst xmlns:a="http://schemas.openxmlformats.org/drawingml/2006/main">
              <a:ext uri="{FF2B5EF4-FFF2-40B4-BE49-F238E27FC236}">
                <a16:creationId xmlns:a16="http://schemas.microsoft.com/office/drawing/2014/main" id="{62B3CE77-F553-45B2-A945-DE9DB48D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21</a:t>
            </a:r>
          </a:p>
        </p:txBody>
      </p:sp>
      <p:sp>
        <p:nvSpPr>
          <p:cNvPr id="8" name="S21_SECURE_ARROW_1">
            <a:extLst xmlns:a="http://schemas.openxmlformats.org/drawingml/2006/main">
              <a:ext uri="{FF2B5EF4-FFF2-40B4-BE49-F238E27FC236}">
                <a16:creationId xmlns:a16="http://schemas.microsoft.com/office/drawing/2014/main" id="{0CAF04FC-6386-4F73-B012-B240B3C3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562" y="2114550"/>
            <a:ext cx="1428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B4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21_SECURE_ARROW_2">
            <a:extLst xmlns:a="http://schemas.openxmlformats.org/drawingml/2006/main">
              <a:ext uri="{FF2B5EF4-FFF2-40B4-BE49-F238E27FC236}">
                <a16:creationId xmlns:a16="http://schemas.microsoft.com/office/drawing/2014/main" id="{F4B26CF6-98DA-445E-B8E6-55A08939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0" y="2114550"/>
            <a:ext cx="1428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B4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21_SECURE_ARROW_3">
            <a:extLst xmlns:a="http://schemas.openxmlformats.org/drawingml/2006/main">
              <a:ext uri="{FF2B5EF4-FFF2-40B4-BE49-F238E27FC236}">
                <a16:creationId xmlns:a16="http://schemas.microsoft.com/office/drawing/2014/main" id="{A8923441-F738-4C5A-8879-3F2F74AD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7638" y="2114550"/>
            <a:ext cx="1428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B4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21_SECURE_ARROW_4">
            <a:extLst xmlns:a="http://schemas.openxmlformats.org/drawingml/2006/main">
              <a:ext uri="{FF2B5EF4-FFF2-40B4-BE49-F238E27FC236}">
                <a16:creationId xmlns:a16="http://schemas.microsoft.com/office/drawing/2014/main" id="{854B4E66-836F-42E3-9F5B-19B92A52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675" y="2114550"/>
            <a:ext cx="1428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B4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21_SECURE_ARROW_5">
            <a:extLst xmlns:a="http://schemas.openxmlformats.org/drawingml/2006/main">
              <a:ext uri="{FF2B5EF4-FFF2-40B4-BE49-F238E27FC236}">
                <a16:creationId xmlns:a16="http://schemas.microsoft.com/office/drawing/2014/main" id="{EAC9FFF0-A6AE-4515-AE7A-9BFADFAE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5713" y="2114550"/>
            <a:ext cx="1428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B4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21_SECURE_NODE_1">
            <a:extLst xmlns:a="http://schemas.openxmlformats.org/drawingml/2006/main">
              <a:ext uri="{FF2B5EF4-FFF2-40B4-BE49-F238E27FC236}">
                <a16:creationId xmlns:a16="http://schemas.microsoft.com/office/drawing/2014/main" id="{8E1739DE-0F33-464C-8790-F4ACBF9E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0080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GET form</a:t>
            </a:r>
          </a:p>
        </p:txBody>
      </p:sp>
      <p:sp>
        <p:nvSpPr>
          <p:cNvPr id="14" name="S21_SECURE_NODE_2">
            <a:extLst xmlns:a="http://schemas.openxmlformats.org/drawingml/2006/main">
              <a:ext uri="{FF2B5EF4-FFF2-40B4-BE49-F238E27FC236}">
                <a16:creationId xmlns:a16="http://schemas.microsoft.com/office/drawing/2014/main" id="{0A980B65-8771-4B86-AFF1-B17B770B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437" y="1752600"/>
            <a:ext cx="10080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token_urlsafe(32)</a:t>
            </a:r>
          </a:p>
        </p:txBody>
      </p:sp>
      <p:sp>
        <p:nvSpPr>
          <p:cNvPr id="15" name="S21_SECURE_NODE_3">
            <a:extLst xmlns:a="http://schemas.openxmlformats.org/drawingml/2006/main">
              <a:ext uri="{FF2B5EF4-FFF2-40B4-BE49-F238E27FC236}">
                <a16:creationId xmlns:a16="http://schemas.microsoft.com/office/drawing/2014/main" id="{6BF5E03C-9E6E-4D3E-AAFA-DEF608F5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1475" y="1752600"/>
            <a:ext cx="10080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POST + token</a:t>
            </a:r>
          </a:p>
        </p:txBody>
      </p:sp>
      <p:sp>
        <p:nvSpPr>
          <p:cNvPr id="16" name="S21_SECURE_NODE_4">
            <a:extLst xmlns:a="http://schemas.openxmlformats.org/drawingml/2006/main">
              <a:ext uri="{FF2B5EF4-FFF2-40B4-BE49-F238E27FC236}">
                <a16:creationId xmlns:a16="http://schemas.microsoft.com/office/drawing/2014/main" id="{3682103A-B993-4A40-95B0-85981CBC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513" y="1752600"/>
            <a:ext cx="10080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Origin exact</a:t>
            </a:r>
          </a:p>
        </p:txBody>
      </p:sp>
      <p:sp>
        <p:nvSpPr>
          <p:cNvPr id="17" name="S21_SECURE_NODE_5">
            <a:extLst xmlns:a="http://schemas.openxmlformats.org/drawingml/2006/main">
              <a:ext uri="{FF2B5EF4-FFF2-40B4-BE49-F238E27FC236}">
                <a16:creationId xmlns:a16="http://schemas.microsoft.com/office/drawing/2014/main" id="{49FF49F5-4756-4FBA-94FE-A28B6D0F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9550" y="1752600"/>
            <a:ext cx="10080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compare_digest</a:t>
            </a:r>
          </a:p>
        </p:txBody>
      </p:sp>
      <p:sp>
        <p:nvSpPr>
          <p:cNvPr id="18" name="S21_SECURE_NODE_6">
            <a:extLst xmlns:a="http://schemas.openxmlformats.org/drawingml/2006/main">
              <a:ext uri="{FF2B5EF4-FFF2-40B4-BE49-F238E27FC236}">
                <a16:creationId xmlns:a16="http://schemas.microsoft.com/office/drawing/2014/main" id="{EFDA8BB7-6A95-4FB0-ADDE-A1870FDA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588" y="1752600"/>
            <a:ext cx="10080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ALLOW / 403</a:t>
            </a:r>
          </a:p>
        </p:txBody>
      </p:sp>
      <p:sp>
        <p:nvSpPr>
          <p:cNvPr id="19" name="PH_S21_Lab04_13_secure_missing_token_403_png_FRAME">
            <a:extLst xmlns:a="http://schemas.openxmlformats.org/drawingml/2006/main">
              <a:ext uri="{FF2B5EF4-FFF2-40B4-BE49-F238E27FC236}">
                <a16:creationId xmlns:a16="http://schemas.microsoft.com/office/drawing/2014/main" id="{A7C34F9C-0342-456D-913F-AC718CFE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724025"/>
            <a:ext cx="3886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5D26"/>
            </a:solidFill>
            <a:prstDash val="solid"/>
          </a:ln>
        </p:spPr>
      </p:sp>
      <p:sp>
        <p:nvSpPr>
          <p:cNvPr id="20" name="PH_S21_Lab04_13_secure_missing_token_403_png_IMAGE">
            <a:extLst xmlns:a="http://schemas.openxmlformats.org/drawingml/2006/main">
              <a:ext uri="{FF2B5EF4-FFF2-40B4-BE49-F238E27FC236}">
                <a16:creationId xmlns:a16="http://schemas.microsoft.com/office/drawing/2014/main" id="{CE47B7F4-FC38-4C64-919A-BA625005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52600"/>
            <a:ext cx="38290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</p:sp>
      <p:sp>
        <p:nvSpPr>
          <p:cNvPr id="21" name="PH_S21_Lab04_13_secure_missing_token_403_png_ICON">
            <a:extLst xmlns:a="http://schemas.openxmlformats.org/drawingml/2006/main">
              <a:ext uri="{FF2B5EF4-FFF2-40B4-BE49-F238E27FC236}">
                <a16:creationId xmlns:a16="http://schemas.microsoft.com/office/drawing/2014/main" id="{BF2EA8C5-0A9F-46AE-AF5D-EA4EEEE3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954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▣</a:t>
            </a:r>
          </a:p>
        </p:txBody>
      </p:sp>
      <p:sp>
        <p:nvSpPr>
          <p:cNvPr id="22" name="PH_S21_Lab04_13_secure_missing_token_403_png_INSTRUCTION">
            <a:extLst xmlns:a="http://schemas.openxmlformats.org/drawingml/2006/main">
              <a:ext uri="{FF2B5EF4-FFF2-40B4-BE49-F238E27FC236}">
                <a16:creationId xmlns:a16="http://schemas.microsoft.com/office/drawing/2014/main" id="{2F3ADBC6-87D0-4341-92A1-5D8EA828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24050"/>
            <a:ext cx="29908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CHÈN ẢNH THẬT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13_secure_missing_token_403.png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16:9 · CROP → FILL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XEM GUIDE</a:t>
            </a:r>
          </a:p>
        </p:txBody>
      </p:sp>
      <p:sp>
        <p:nvSpPr>
          <p:cNvPr id="23" name="PH_S21_Lab04_13_secure_missing_token_403_png_CAPTION">
            <a:extLst xmlns:a="http://schemas.openxmlformats.org/drawingml/2006/main">
              <a:ext uri="{FF2B5EF4-FFF2-40B4-BE49-F238E27FC236}">
                <a16:creationId xmlns:a16="http://schemas.microsoft.com/office/drawing/2014/main" id="{9689ECA1-99A0-4BE7-8A10-D66289DD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67125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Response 403 khi thiếu CSRF token</a:t>
            </a:r>
          </a:p>
        </p:txBody>
      </p:sp>
      <p:sp>
        <p:nvSpPr>
          <p:cNvPr id="24" name="S21_LAYERS_H0">
            <a:extLst xmlns:a="http://schemas.openxmlformats.org/drawingml/2006/main">
              <a:ext uri="{FF2B5EF4-FFF2-40B4-BE49-F238E27FC236}">
                <a16:creationId xmlns:a16="http://schemas.microsoft.com/office/drawing/2014/main" id="{55C84418-AFEF-4AF9-AEAC-AF77FD9C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15240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LỚP</a:t>
            </a:r>
          </a:p>
        </p:txBody>
      </p:sp>
      <p:sp>
        <p:nvSpPr>
          <p:cNvPr id="25" name="S21_LAYERS_H1">
            <a:extLst xmlns:a="http://schemas.openxmlformats.org/drawingml/2006/main">
              <a:ext uri="{FF2B5EF4-FFF2-40B4-BE49-F238E27FC236}">
                <a16:creationId xmlns:a16="http://schemas.microsoft.com/office/drawing/2014/main" id="{F1F9E622-3354-4904-8B4B-81C12BE0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05150"/>
            <a:ext cx="28575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VAI TRÒ</a:t>
            </a:r>
          </a:p>
        </p:txBody>
      </p:sp>
      <p:sp>
        <p:nvSpPr>
          <p:cNvPr id="26" name="S21_LAYERS_H2">
            <a:extLst xmlns:a="http://schemas.openxmlformats.org/drawingml/2006/main">
              <a:ext uri="{FF2B5EF4-FFF2-40B4-BE49-F238E27FC236}">
                <a16:creationId xmlns:a16="http://schemas.microsoft.com/office/drawing/2014/main" id="{D7C88227-3C9D-4D47-8491-3434BDA8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05150"/>
            <a:ext cx="257175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KHÔNG THAY THẾ</a:t>
            </a:r>
          </a:p>
        </p:txBody>
      </p:sp>
      <p:sp>
        <p:nvSpPr>
          <p:cNvPr id="27" name="S21_LAYERS_R0C0">
            <a:extLst xmlns:a="http://schemas.openxmlformats.org/drawingml/2006/main">
              <a:ext uri="{FF2B5EF4-FFF2-40B4-BE49-F238E27FC236}">
                <a16:creationId xmlns:a16="http://schemas.microsoft.com/office/drawing/2014/main" id="{0F64249F-6584-4399-A35E-81CDB440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49980"/>
            <a:ext cx="15240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Token</a:t>
            </a:r>
          </a:p>
        </p:txBody>
      </p:sp>
      <p:sp>
        <p:nvSpPr>
          <p:cNvPr id="28" name="S21_LAYERS_R0C1">
            <a:extLst xmlns:a="http://schemas.openxmlformats.org/drawingml/2006/main">
              <a:ext uri="{FF2B5EF4-FFF2-40B4-BE49-F238E27FC236}">
                <a16:creationId xmlns:a16="http://schemas.microsoft.com/office/drawing/2014/main" id="{AA8D5B45-E31E-452A-9902-613B9469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649980"/>
            <a:ext cx="28575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ràng buộc intent/session</a:t>
            </a:r>
          </a:p>
        </p:txBody>
      </p:sp>
      <p:sp>
        <p:nvSpPr>
          <p:cNvPr id="29" name="S21_LAYERS_R0C2">
            <a:extLst xmlns:a="http://schemas.openxmlformats.org/drawingml/2006/main">
              <a:ext uri="{FF2B5EF4-FFF2-40B4-BE49-F238E27FC236}">
                <a16:creationId xmlns:a16="http://schemas.microsoft.com/office/drawing/2014/main" id="{9E5BA86B-52B3-4158-8084-B3F898F1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49980"/>
            <a:ext cx="257175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authn</a:t>
            </a:r>
          </a:p>
        </p:txBody>
      </p:sp>
      <p:sp>
        <p:nvSpPr>
          <p:cNvPr id="30" name="S21_LAYERS_R1C0">
            <a:extLst xmlns:a="http://schemas.openxmlformats.org/drawingml/2006/main">
              <a:ext uri="{FF2B5EF4-FFF2-40B4-BE49-F238E27FC236}">
                <a16:creationId xmlns:a16="http://schemas.microsoft.com/office/drawing/2014/main" id="{9BDF8D02-1FD0-460D-ADE5-F8E9B2B6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4810"/>
            <a:ext cx="15240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Origin/Referer</a:t>
            </a:r>
          </a:p>
        </p:txBody>
      </p:sp>
      <p:sp>
        <p:nvSpPr>
          <p:cNvPr id="31" name="S21_LAYERS_R1C1">
            <a:extLst xmlns:a="http://schemas.openxmlformats.org/drawingml/2006/main">
              <a:ext uri="{FF2B5EF4-FFF2-40B4-BE49-F238E27FC236}">
                <a16:creationId xmlns:a16="http://schemas.microsoft.com/office/drawing/2014/main" id="{4C22AE27-2D47-4EE1-BED8-799F587F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194810"/>
            <a:ext cx="28575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xác minh nguồn</a:t>
            </a:r>
          </a:p>
        </p:txBody>
      </p:sp>
      <p:sp>
        <p:nvSpPr>
          <p:cNvPr id="32" name="S21_LAYERS_R1C2">
            <a:extLst xmlns:a="http://schemas.openxmlformats.org/drawingml/2006/main">
              <a:ext uri="{FF2B5EF4-FFF2-40B4-BE49-F238E27FC236}">
                <a16:creationId xmlns:a16="http://schemas.microsoft.com/office/drawing/2014/main" id="{5D4DD437-B0AC-498A-AE1E-46922190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94810"/>
            <a:ext cx="257175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token</a:t>
            </a:r>
          </a:p>
        </p:txBody>
      </p:sp>
      <p:sp>
        <p:nvSpPr>
          <p:cNvPr id="33" name="S21_LAYERS_R2C0">
            <a:extLst xmlns:a="http://schemas.openxmlformats.org/drawingml/2006/main">
              <a:ext uri="{FF2B5EF4-FFF2-40B4-BE49-F238E27FC236}">
                <a16:creationId xmlns:a16="http://schemas.microsoft.com/office/drawing/2014/main" id="{E311E91A-A6F5-4759-80AB-E24FA317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39640"/>
            <a:ext cx="15240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SameSite</a:t>
            </a:r>
          </a:p>
        </p:txBody>
      </p:sp>
      <p:sp>
        <p:nvSpPr>
          <p:cNvPr id="34" name="S21_LAYERS_R2C1">
            <a:extLst xmlns:a="http://schemas.openxmlformats.org/drawingml/2006/main">
              <a:ext uri="{FF2B5EF4-FFF2-40B4-BE49-F238E27FC236}">
                <a16:creationId xmlns:a16="http://schemas.microsoft.com/office/drawing/2014/main" id="{13952204-C660-49C6-8A86-22E8C33E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739640"/>
            <a:ext cx="28575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giảm cookie cross-site</a:t>
            </a:r>
          </a:p>
        </p:txBody>
      </p:sp>
      <p:sp>
        <p:nvSpPr>
          <p:cNvPr id="35" name="S21_LAYERS_R2C2">
            <a:extLst xmlns:a="http://schemas.openxmlformats.org/drawingml/2006/main">
              <a:ext uri="{FF2B5EF4-FFF2-40B4-BE49-F238E27FC236}">
                <a16:creationId xmlns:a16="http://schemas.microsoft.com/office/drawing/2014/main" id="{FD82ED26-03DE-4A00-AA0F-167100E4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739640"/>
            <a:ext cx="257175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server check</a:t>
            </a:r>
          </a:p>
        </p:txBody>
      </p:sp>
      <p:sp>
        <p:nvSpPr>
          <p:cNvPr id="36" name="S21_LAYERS_R3C0">
            <a:extLst xmlns:a="http://schemas.openxmlformats.org/drawingml/2006/main">
              <a:ext uri="{FF2B5EF4-FFF2-40B4-BE49-F238E27FC236}">
                <a16:creationId xmlns:a16="http://schemas.microsoft.com/office/drawing/2014/main" id="{6FAD4AC7-02D7-4B18-8F88-E350EC5A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4470"/>
            <a:ext cx="15240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Re-auth</a:t>
            </a:r>
          </a:p>
        </p:txBody>
      </p:sp>
      <p:sp>
        <p:nvSpPr>
          <p:cNvPr id="37" name="S21_LAYERS_R3C1">
            <a:extLst xmlns:a="http://schemas.openxmlformats.org/drawingml/2006/main">
              <a:ext uri="{FF2B5EF4-FFF2-40B4-BE49-F238E27FC236}">
                <a16:creationId xmlns:a16="http://schemas.microsoft.com/office/drawing/2014/main" id="{F8922704-A4FA-4120-B275-100D7B7B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284470"/>
            <a:ext cx="28575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step-up hành động nhạy cảm</a:t>
            </a:r>
          </a:p>
        </p:txBody>
      </p:sp>
      <p:sp>
        <p:nvSpPr>
          <p:cNvPr id="38" name="S21_LAYERS_R3C2">
            <a:extLst xmlns:a="http://schemas.openxmlformats.org/drawingml/2006/main">
              <a:ext uri="{FF2B5EF4-FFF2-40B4-BE49-F238E27FC236}">
                <a16:creationId xmlns:a16="http://schemas.microsoft.com/office/drawing/2014/main" id="{0A2888EE-AA2D-4D98-ADBE-547A5D0F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284470"/>
            <a:ext cx="257175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mọi request</a:t>
            </a:r>
          </a:p>
        </p:txBody>
      </p:sp>
      <p:sp>
        <p:nvSpPr>
          <p:cNvPr id="39" name="S21_NOTE_BAR">
            <a:extLst xmlns:a="http://schemas.openxmlformats.org/drawingml/2006/main">
              <a:ext uri="{FF2B5EF4-FFF2-40B4-BE49-F238E27FC236}">
                <a16:creationId xmlns:a16="http://schemas.microsoft.com/office/drawing/2014/main" id="{CE9FFA50-0DF8-4CD2-A2C1-CE4915D3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76750"/>
            <a:ext cx="762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0" name="S21_NOTE_LABEL">
            <a:extLst xmlns:a="http://schemas.openxmlformats.org/drawingml/2006/main">
              <a:ext uri="{FF2B5EF4-FFF2-40B4-BE49-F238E27FC236}">
                <a16:creationId xmlns:a16="http://schemas.microsoft.com/office/drawing/2014/main" id="{5E3A60F2-29BA-41DC-8F13-9FA7D895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95800"/>
            <a:ext cx="3638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ROTATE + DENY</a:t>
            </a:r>
          </a:p>
        </p:txBody>
      </p:sp>
      <p:sp>
        <p:nvSpPr>
          <p:cNvPr id="41" name="S21_NOTE_BODY">
            <a:extLst xmlns:a="http://schemas.openxmlformats.org/drawingml/2006/main">
              <a:ext uri="{FF2B5EF4-FFF2-40B4-BE49-F238E27FC236}">
                <a16:creationId xmlns:a16="http://schemas.microsoft.com/office/drawing/2014/main" id="{9D671EDF-7C1C-4F34-87BA-FEC76240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00600"/>
            <a:ext cx="3638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Token sai/thiếu hoặc origin không hợp lệ → 403; không cập nhật email.</a:t>
            </a:r>
          </a:p>
        </p:txBody>
      </p:sp>
    </p:spTree>
    <p:extLst>
      <p:ext uri="{BB962C8B-B14F-4D97-AF65-F5344CB8AC3E}">
        <p14:creationId xmlns:p14="http://schemas.microsoft.com/office/powerpoint/2010/main" val="149787057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22_EYEBROW">
            <a:extLst xmlns:a="http://schemas.openxmlformats.org/drawingml/2006/main">
              <a:ext uri="{FF2B5EF4-FFF2-40B4-BE49-F238E27FC236}">
                <a16:creationId xmlns:a16="http://schemas.microsoft.com/office/drawing/2014/main" id="{7DACCE6A-F44F-48BB-8CA9-EAB5FFF4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LAB04 / CSRF</a:t>
            </a:r>
          </a:p>
        </p:txBody>
      </p:sp>
      <p:sp>
        <p:nvSpPr>
          <p:cNvPr id="2" name="S22_TITLE">
            <a:extLst xmlns:a="http://schemas.openxmlformats.org/drawingml/2006/main">
              <a:ext uri="{FF2B5EF4-FFF2-40B4-BE49-F238E27FC236}">
                <a16:creationId xmlns:a16="http://schemas.microsoft.com/office/drawing/2014/main" id="{3E3730B8-D9EC-43E0-B226-66489937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4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So sánh request và trả lời báo cáo</a:t>
            </a:r>
          </a:p>
        </p:txBody>
      </p:sp>
      <p:sp>
        <p:nvSpPr>
          <p:cNvPr id="3" name="S22_SUBTITLE">
            <a:extLst xmlns:a="http://schemas.openxmlformats.org/drawingml/2006/main">
              <a:ext uri="{FF2B5EF4-FFF2-40B4-BE49-F238E27FC236}">
                <a16:creationId xmlns:a16="http://schemas.microsoft.com/office/drawing/2014/main" id="{910114E4-DEB6-4286-A2CF-70891F53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Chỉ secure request có đồng thời session, token đúng và origin hợp lệ.</a:t>
            </a:r>
          </a:p>
        </p:txBody>
      </p:sp>
      <p:sp>
        <p:nvSpPr>
          <p:cNvPr id="4" name="S22_TITLE_RULE">
            <a:extLst xmlns:a="http://schemas.openxmlformats.org/drawingml/2006/main">
              <a:ext uri="{FF2B5EF4-FFF2-40B4-BE49-F238E27FC236}">
                <a16:creationId xmlns:a16="http://schemas.microsoft.com/office/drawing/2014/main" id="{A3D94755-A6E6-455B-B503-A5FFC714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22_FOOTER_RULE">
            <a:extLst xmlns:a="http://schemas.openxmlformats.org/drawingml/2006/main">
              <a:ext uri="{FF2B5EF4-FFF2-40B4-BE49-F238E27FC236}">
                <a16:creationId xmlns:a16="http://schemas.microsoft.com/office/drawing/2014/main" id="{E21D1F33-6EE6-4F99-B325-1CCBDFCC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22_SOURCE">
            <a:extLst xmlns:a="http://schemas.openxmlformats.org/drawingml/2006/main">
              <a:ext uri="{FF2B5EF4-FFF2-40B4-BE49-F238E27FC236}">
                <a16:creationId xmlns:a16="http://schemas.microsoft.com/office/drawing/2014/main" id="{B0C7B63B-5019-426C-A4A3-6675F206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NGUỒN  BaiTapTopic04.docx P302–P328 · report Lab04</a:t>
            </a:r>
          </a:p>
        </p:txBody>
      </p:sp>
      <p:sp>
        <p:nvSpPr>
          <p:cNvPr id="7" name="S22_NUMBER">
            <a:extLst xmlns:a="http://schemas.openxmlformats.org/drawingml/2006/main">
              <a:ext uri="{FF2B5EF4-FFF2-40B4-BE49-F238E27FC236}">
                <a16:creationId xmlns:a16="http://schemas.microsoft.com/office/drawing/2014/main" id="{AE8D6541-4CC7-422F-83BF-D3202FF7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22</a:t>
            </a:r>
          </a:p>
        </p:txBody>
      </p:sp>
      <p:sp>
        <p:nvSpPr>
          <p:cNvPr id="8" name="S22_MATRIX_H0">
            <a:extLst xmlns:a="http://schemas.openxmlformats.org/drawingml/2006/main">
              <a:ext uri="{FF2B5EF4-FFF2-40B4-BE49-F238E27FC236}">
                <a16:creationId xmlns:a16="http://schemas.microsoft.com/office/drawing/2014/main" id="{5E0DF413-2A8A-44C4-807F-28F03B22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8097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REQUEST</a:t>
            </a:r>
          </a:p>
        </p:txBody>
      </p:sp>
      <p:sp>
        <p:nvSpPr>
          <p:cNvPr id="9" name="S22_MATRIX_H1">
            <a:extLst xmlns:a="http://schemas.openxmlformats.org/drawingml/2006/main">
              <a:ext uri="{FF2B5EF4-FFF2-40B4-BE49-F238E27FC236}">
                <a16:creationId xmlns:a16="http://schemas.microsoft.com/office/drawing/2014/main" id="{75FD4FBF-D91B-43D8-83D1-1A3FFC34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95450"/>
            <a:ext cx="95250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COOKIE</a:t>
            </a:r>
          </a:p>
        </p:txBody>
      </p:sp>
      <p:sp>
        <p:nvSpPr>
          <p:cNvPr id="10" name="S22_MATRIX_H2">
            <a:extLst xmlns:a="http://schemas.openxmlformats.org/drawingml/2006/main">
              <a:ext uri="{FF2B5EF4-FFF2-40B4-BE49-F238E27FC236}">
                <a16:creationId xmlns:a16="http://schemas.microsoft.com/office/drawing/2014/main" id="{1F2F6691-8B0A-4B8D-AC2A-71DCB06E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95450"/>
            <a:ext cx="95250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TOKEN</a:t>
            </a:r>
          </a:p>
        </p:txBody>
      </p:sp>
      <p:sp>
        <p:nvSpPr>
          <p:cNvPr id="11" name="S22_MATRIX_H3">
            <a:extLst xmlns:a="http://schemas.openxmlformats.org/drawingml/2006/main">
              <a:ext uri="{FF2B5EF4-FFF2-40B4-BE49-F238E27FC236}">
                <a16:creationId xmlns:a16="http://schemas.microsoft.com/office/drawing/2014/main" id="{3CA7827F-D47B-4AE5-8331-458339B1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95450"/>
            <a:ext cx="133350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ORIGIN</a:t>
            </a:r>
          </a:p>
        </p:txBody>
      </p:sp>
      <p:sp>
        <p:nvSpPr>
          <p:cNvPr id="12" name="S22_MATRIX_H4">
            <a:extLst xmlns:a="http://schemas.openxmlformats.org/drawingml/2006/main">
              <a:ext uri="{FF2B5EF4-FFF2-40B4-BE49-F238E27FC236}">
                <a16:creationId xmlns:a16="http://schemas.microsoft.com/office/drawing/2014/main" id="{7DF3850D-9A19-4D50-BE33-5EA21C08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695450"/>
            <a:ext cx="14287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RESULT</a:t>
            </a:r>
          </a:p>
        </p:txBody>
      </p:sp>
      <p:sp>
        <p:nvSpPr>
          <p:cNvPr id="13" name="S22_MATRIX_R0C0">
            <a:extLst xmlns:a="http://schemas.openxmlformats.org/drawingml/2006/main">
              <a:ext uri="{FF2B5EF4-FFF2-40B4-BE49-F238E27FC236}">
                <a16:creationId xmlns:a16="http://schemas.microsoft.com/office/drawing/2014/main" id="{D7CA7726-2211-4154-8594-6E4BE050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2188"/>
            <a:ext cx="18097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Victim form</a:t>
            </a:r>
          </a:p>
        </p:txBody>
      </p:sp>
      <p:sp>
        <p:nvSpPr>
          <p:cNvPr id="14" name="S22_MATRIX_R0C1">
            <a:extLst xmlns:a="http://schemas.openxmlformats.org/drawingml/2006/main">
              <a:ext uri="{FF2B5EF4-FFF2-40B4-BE49-F238E27FC236}">
                <a16:creationId xmlns:a16="http://schemas.microsoft.com/office/drawing/2014/main" id="{B0BF820E-3D56-4C49-9FE7-74E234B8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62188"/>
            <a:ext cx="95250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có</a:t>
            </a:r>
          </a:p>
        </p:txBody>
      </p:sp>
      <p:sp>
        <p:nvSpPr>
          <p:cNvPr id="15" name="S22_MATRIX_R0C2">
            <a:extLst xmlns:a="http://schemas.openxmlformats.org/drawingml/2006/main">
              <a:ext uri="{FF2B5EF4-FFF2-40B4-BE49-F238E27FC236}">
                <a16:creationId xmlns:a16="http://schemas.microsoft.com/office/drawing/2014/main" id="{6AA9A603-A6EF-420E-84B4-076C91AE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62188"/>
            <a:ext cx="95250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đúng</a:t>
            </a:r>
          </a:p>
        </p:txBody>
      </p:sp>
      <p:sp>
        <p:nvSpPr>
          <p:cNvPr id="16" name="S22_MATRIX_R0C3">
            <a:extLst xmlns:a="http://schemas.openxmlformats.org/drawingml/2006/main">
              <a:ext uri="{FF2B5EF4-FFF2-40B4-BE49-F238E27FC236}">
                <a16:creationId xmlns:a16="http://schemas.microsoft.com/office/drawing/2014/main" id="{38FBFAB9-937F-4251-8E6F-1463FB83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62188"/>
            <a:ext cx="133350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allowed</a:t>
            </a:r>
          </a:p>
        </p:txBody>
      </p:sp>
      <p:sp>
        <p:nvSpPr>
          <p:cNvPr id="17" name="S22_MATRIX_R0C4">
            <a:extLst xmlns:a="http://schemas.openxmlformats.org/drawingml/2006/main">
              <a:ext uri="{FF2B5EF4-FFF2-40B4-BE49-F238E27FC236}">
                <a16:creationId xmlns:a16="http://schemas.microsoft.com/office/drawing/2014/main" id="{7F0CE3C9-328D-42EE-B0B1-6E272558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62188"/>
            <a:ext cx="14287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200</a:t>
            </a:r>
          </a:p>
        </p:txBody>
      </p:sp>
      <p:sp>
        <p:nvSpPr>
          <p:cNvPr id="18" name="S22_MATRIX_R1C0">
            <a:extLst xmlns:a="http://schemas.openxmlformats.org/drawingml/2006/main">
              <a:ext uri="{FF2B5EF4-FFF2-40B4-BE49-F238E27FC236}">
                <a16:creationId xmlns:a16="http://schemas.microsoft.com/office/drawing/2014/main" id="{7B2EB159-C0FF-4690-8629-96E92CDE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28925"/>
            <a:ext cx="18097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Attacker → vulnerable</a:t>
            </a:r>
          </a:p>
        </p:txBody>
      </p:sp>
      <p:sp>
        <p:nvSpPr>
          <p:cNvPr id="19" name="S22_MATRIX_R1C1">
            <a:extLst xmlns:a="http://schemas.openxmlformats.org/drawingml/2006/main">
              <a:ext uri="{FF2B5EF4-FFF2-40B4-BE49-F238E27FC236}">
                <a16:creationId xmlns:a16="http://schemas.microsoft.com/office/drawing/2014/main" id="{CB2F0630-E790-44BB-9192-75346F2F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28925"/>
            <a:ext cx="95250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có</a:t>
            </a:r>
          </a:p>
        </p:txBody>
      </p:sp>
      <p:sp>
        <p:nvSpPr>
          <p:cNvPr id="20" name="S22_MATRIX_R1C2">
            <a:extLst xmlns:a="http://schemas.openxmlformats.org/drawingml/2006/main">
              <a:ext uri="{FF2B5EF4-FFF2-40B4-BE49-F238E27FC236}">
                <a16:creationId xmlns:a16="http://schemas.microsoft.com/office/drawing/2014/main" id="{7123636F-1427-48CA-9888-80C4E647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28925"/>
            <a:ext cx="95250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thiếu</a:t>
            </a:r>
          </a:p>
        </p:txBody>
      </p:sp>
      <p:sp>
        <p:nvSpPr>
          <p:cNvPr id="21" name="S22_MATRIX_R1C3">
            <a:extLst xmlns:a="http://schemas.openxmlformats.org/drawingml/2006/main">
              <a:ext uri="{FF2B5EF4-FFF2-40B4-BE49-F238E27FC236}">
                <a16:creationId xmlns:a16="http://schemas.microsoft.com/office/drawing/2014/main" id="{56D2C232-1FA7-40C2-8FA0-70FB4BAB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28925"/>
            <a:ext cx="133350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attacker</a:t>
            </a:r>
          </a:p>
        </p:txBody>
      </p:sp>
      <p:sp>
        <p:nvSpPr>
          <p:cNvPr id="22" name="S22_MATRIX_R1C4">
            <a:extLst xmlns:a="http://schemas.openxmlformats.org/drawingml/2006/main">
              <a:ext uri="{FF2B5EF4-FFF2-40B4-BE49-F238E27FC236}">
                <a16:creationId xmlns:a16="http://schemas.microsoft.com/office/drawing/2014/main" id="{CA03AE24-8E10-46EC-A098-86A5C55C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28925"/>
            <a:ext cx="14287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email đổi</a:t>
            </a:r>
          </a:p>
        </p:txBody>
      </p:sp>
      <p:sp>
        <p:nvSpPr>
          <p:cNvPr id="23" name="S22_MATRIX_R2C0">
            <a:extLst xmlns:a="http://schemas.openxmlformats.org/drawingml/2006/main">
              <a:ext uri="{FF2B5EF4-FFF2-40B4-BE49-F238E27FC236}">
                <a16:creationId xmlns:a16="http://schemas.microsoft.com/office/drawing/2014/main" id="{90479059-EAD7-435D-A9E5-BD651574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5663"/>
            <a:ext cx="18097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Attacker → secure</a:t>
            </a:r>
          </a:p>
        </p:txBody>
      </p:sp>
      <p:sp>
        <p:nvSpPr>
          <p:cNvPr id="24" name="S22_MATRIX_R2C1">
            <a:extLst xmlns:a="http://schemas.openxmlformats.org/drawingml/2006/main">
              <a:ext uri="{FF2B5EF4-FFF2-40B4-BE49-F238E27FC236}">
                <a16:creationId xmlns:a16="http://schemas.microsoft.com/office/drawing/2014/main" id="{71A2A924-1567-4989-BF91-1710CE3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95663"/>
            <a:ext cx="95250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có</a:t>
            </a:r>
          </a:p>
        </p:txBody>
      </p:sp>
      <p:sp>
        <p:nvSpPr>
          <p:cNvPr id="25" name="S22_MATRIX_R2C2">
            <a:extLst xmlns:a="http://schemas.openxmlformats.org/drawingml/2006/main">
              <a:ext uri="{FF2B5EF4-FFF2-40B4-BE49-F238E27FC236}">
                <a16:creationId xmlns:a16="http://schemas.microsoft.com/office/drawing/2014/main" id="{84234AF3-88C6-47AC-98E4-868DE320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95663"/>
            <a:ext cx="95250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thiếu</a:t>
            </a:r>
          </a:p>
        </p:txBody>
      </p:sp>
      <p:sp>
        <p:nvSpPr>
          <p:cNvPr id="26" name="S22_MATRIX_R2C3">
            <a:extLst xmlns:a="http://schemas.openxmlformats.org/drawingml/2006/main">
              <a:ext uri="{FF2B5EF4-FFF2-40B4-BE49-F238E27FC236}">
                <a16:creationId xmlns:a16="http://schemas.microsoft.com/office/drawing/2014/main" id="{ED25B5AC-E926-4D33-A904-1483480F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95663"/>
            <a:ext cx="133350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attacker</a:t>
            </a:r>
          </a:p>
        </p:txBody>
      </p:sp>
      <p:sp>
        <p:nvSpPr>
          <p:cNvPr id="27" name="S22_MATRIX_R2C4">
            <a:extLst xmlns:a="http://schemas.openxmlformats.org/drawingml/2006/main">
              <a:ext uri="{FF2B5EF4-FFF2-40B4-BE49-F238E27FC236}">
                <a16:creationId xmlns:a16="http://schemas.microsoft.com/office/drawing/2014/main" id="{C2E1FEF7-BE22-436E-B58E-460F25FD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95663"/>
            <a:ext cx="1428750" cy="566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403</a:t>
            </a:r>
          </a:p>
        </p:txBody>
      </p:sp>
      <p:sp>
        <p:nvSpPr>
          <p:cNvPr id="28" name="S22_QA_1">
            <a:extLst xmlns:a="http://schemas.openxmlformats.org/drawingml/2006/main">
              <a:ext uri="{FF2B5EF4-FFF2-40B4-BE49-F238E27FC236}">
                <a16:creationId xmlns:a16="http://schemas.microsoft.com/office/drawing/2014/main" id="{8A465C84-7722-4896-82EB-B1EC5C00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695450"/>
            <a:ext cx="2114550" cy="128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01  Browser tự gửi cookie theo target origin.</a:t>
            </a:r>
          </a:p>
        </p:txBody>
      </p:sp>
      <p:sp>
        <p:nvSpPr>
          <p:cNvPr id="29" name="S22_QA_2">
            <a:extLst xmlns:a="http://schemas.openxmlformats.org/drawingml/2006/main">
              <a:ext uri="{FF2B5EF4-FFF2-40B4-BE49-F238E27FC236}">
                <a16:creationId xmlns:a16="http://schemas.microsoft.com/office/drawing/2014/main" id="{9F78241A-3316-4AA7-9C6C-EA30B164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695450"/>
            <a:ext cx="2114550" cy="128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02  Attacker không cần biết mật khẩu.</a:t>
            </a:r>
          </a:p>
        </p:txBody>
      </p:sp>
      <p:sp>
        <p:nvSpPr>
          <p:cNvPr id="30" name="S22_QA_3">
            <a:extLst xmlns:a="http://schemas.openxmlformats.org/drawingml/2006/main">
              <a:ext uri="{FF2B5EF4-FFF2-40B4-BE49-F238E27FC236}">
                <a16:creationId xmlns:a16="http://schemas.microsoft.com/office/drawing/2014/main" id="{2C7F9347-0EAF-4252-8E5D-8BF835B1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36900"/>
            <a:ext cx="2114550" cy="128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03  CSRF thường không cần đọc response.</a:t>
            </a:r>
          </a:p>
        </p:txBody>
      </p:sp>
      <p:sp>
        <p:nvSpPr>
          <p:cNvPr id="31" name="S22_QA_4">
            <a:extLst xmlns:a="http://schemas.openxmlformats.org/drawingml/2006/main">
              <a:ext uri="{FF2B5EF4-FFF2-40B4-BE49-F238E27FC236}">
                <a16:creationId xmlns:a16="http://schemas.microsoft.com/office/drawing/2014/main" id="{36C132F4-ED51-4BDE-BB01-D63E9091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36900"/>
            <a:ext cx="2114550" cy="128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04  CSRF gửi request; XSS chạy script trong origin.</a:t>
            </a:r>
          </a:p>
        </p:txBody>
      </p:sp>
      <p:sp>
        <p:nvSpPr>
          <p:cNvPr id="32" name="S22_QA_5">
            <a:extLst xmlns:a="http://schemas.openxmlformats.org/drawingml/2006/main">
              <a:ext uri="{FF2B5EF4-FFF2-40B4-BE49-F238E27FC236}">
                <a16:creationId xmlns:a16="http://schemas.microsoft.com/office/drawing/2014/main" id="{91C6916F-FABD-4443-AABB-03589977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78350"/>
            <a:ext cx="2114550" cy="128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05  GET không được làm state change.</a:t>
            </a:r>
          </a:p>
        </p:txBody>
      </p:sp>
      <p:sp>
        <p:nvSpPr>
          <p:cNvPr id="33" name="S22_QA_6">
            <a:extLst xmlns:a="http://schemas.openxmlformats.org/drawingml/2006/main">
              <a:ext uri="{FF2B5EF4-FFF2-40B4-BE49-F238E27FC236}">
                <a16:creationId xmlns:a16="http://schemas.microsoft.com/office/drawing/2014/main" id="{794DFED9-D05D-4A6A-8292-39BBC83B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578350"/>
            <a:ext cx="2114550" cy="128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06  Evidence: before/after · POST · 403 · unchanged state.</a:t>
            </a:r>
          </a:p>
        </p:txBody>
      </p:sp>
      <p:sp>
        <p:nvSpPr>
          <p:cNvPr id="34" name="S22_PATCH_BAR">
            <a:extLst xmlns:a="http://schemas.openxmlformats.org/drawingml/2006/main">
              <a:ext uri="{FF2B5EF4-FFF2-40B4-BE49-F238E27FC236}">
                <a16:creationId xmlns:a16="http://schemas.microsoft.com/office/drawing/2014/main" id="{4E5C7EF4-3EDF-465A-8CB6-E17445F1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762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5" name="S22_PATCH_LABEL">
            <a:extLst xmlns:a="http://schemas.openxmlformats.org/drawingml/2006/main">
              <a:ext uri="{FF2B5EF4-FFF2-40B4-BE49-F238E27FC236}">
                <a16:creationId xmlns:a16="http://schemas.microsoft.com/office/drawing/2014/main" id="{0B47B992-72BB-455B-9555-28BF37C5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PATCH</a:t>
            </a:r>
          </a:p>
        </p:txBody>
      </p:sp>
      <p:sp>
        <p:nvSpPr>
          <p:cNvPr id="36" name="S22_PATCH_BODY">
            <a:extLst xmlns:a="http://schemas.openxmlformats.org/drawingml/2006/main">
              <a:ext uri="{FF2B5EF4-FFF2-40B4-BE49-F238E27FC236}">
                <a16:creationId xmlns:a16="http://schemas.microsoft.com/office/drawing/2014/main" id="{CD72D987-8741-46FA-A630-254457FA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628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POST-only · session token · exact Origin/Referer · SameSite · re-auth · audit.</a:t>
            </a:r>
          </a:p>
        </p:txBody>
      </p:sp>
    </p:spTree>
    <p:extLst>
      <p:ext uri="{BB962C8B-B14F-4D97-AF65-F5344CB8AC3E}">
        <p14:creationId xmlns:p14="http://schemas.microsoft.com/office/powerpoint/2010/main" val="91797179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23_EYEBROW">
            <a:extLst xmlns:a="http://schemas.openxmlformats.org/drawingml/2006/main">
              <a:ext uri="{FF2B5EF4-FFF2-40B4-BE49-F238E27FC236}">
                <a16:creationId xmlns:a16="http://schemas.microsoft.com/office/drawing/2014/main" id="{BA6EA910-32C0-4EAC-B43E-CBF1AE18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LAB05 / SQL INJECTION</a:t>
            </a:r>
          </a:p>
        </p:txBody>
      </p:sp>
      <p:sp>
        <p:nvSpPr>
          <p:cNvPr id="2" name="S23_TITLE">
            <a:extLst xmlns:a="http://schemas.openxmlformats.org/drawingml/2006/main">
              <a:ext uri="{FF2B5EF4-FFF2-40B4-BE49-F238E27FC236}">
                <a16:creationId xmlns:a16="http://schemas.microsoft.com/office/drawing/2014/main" id="{727C304E-C6F1-4A33-94AF-AD4E4716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4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Lỗi xuất hiện trước SQL parser</a:t>
            </a:r>
          </a:p>
        </p:txBody>
      </p:sp>
      <p:sp>
        <p:nvSpPr>
          <p:cNvPr id="3" name="S23_SUBTITLE">
            <a:extLst xmlns:a="http://schemas.openxmlformats.org/drawingml/2006/main">
              <a:ext uri="{FF2B5EF4-FFF2-40B4-BE49-F238E27FC236}">
                <a16:creationId xmlns:a16="http://schemas.microsoft.com/office/drawing/2014/main" id="{CB74283C-499D-4160-B485-C9472732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Nối chuỗi trộn code và data; parser nhận một câu lệnh có logic khác với ý định ban đầu.</a:t>
            </a:r>
          </a:p>
        </p:txBody>
      </p:sp>
      <p:sp>
        <p:nvSpPr>
          <p:cNvPr id="4" name="S23_TITLE_RULE">
            <a:extLst xmlns:a="http://schemas.openxmlformats.org/drawingml/2006/main">
              <a:ext uri="{FF2B5EF4-FFF2-40B4-BE49-F238E27FC236}">
                <a16:creationId xmlns:a16="http://schemas.microsoft.com/office/drawing/2014/main" id="{28E51C63-0BD7-4DBA-A004-E98C149D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23_FOOTER_RULE">
            <a:extLst xmlns:a="http://schemas.openxmlformats.org/drawingml/2006/main">
              <a:ext uri="{FF2B5EF4-FFF2-40B4-BE49-F238E27FC236}">
                <a16:creationId xmlns:a16="http://schemas.microsoft.com/office/drawing/2014/main" id="{C7F6FB56-3254-4082-B3BB-6EAF29AD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23_SOURCE">
            <a:extLst xmlns:a="http://schemas.openxmlformats.org/drawingml/2006/main">
              <a:ext uri="{FF2B5EF4-FFF2-40B4-BE49-F238E27FC236}">
                <a16:creationId xmlns:a16="http://schemas.microsoft.com/office/drawing/2014/main" id="{076E8BEE-2D92-4E83-A5F0-FF047DB4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NGUỒN  Lab05/vulnerable_queries.py · secure_queries.py</a:t>
            </a:r>
          </a:p>
        </p:txBody>
      </p:sp>
      <p:sp>
        <p:nvSpPr>
          <p:cNvPr id="7" name="S23_NUMBER">
            <a:extLst xmlns:a="http://schemas.openxmlformats.org/drawingml/2006/main">
              <a:ext uri="{FF2B5EF4-FFF2-40B4-BE49-F238E27FC236}">
                <a16:creationId xmlns:a16="http://schemas.microsoft.com/office/drawing/2014/main" id="{01B77069-D314-4C04-B1E2-69CEEFDC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23</a:t>
            </a:r>
          </a:p>
        </p:txBody>
      </p:sp>
      <p:sp>
        <p:nvSpPr>
          <p:cNvPr id="8" name="S23_FLOW_ARROW_1">
            <a:extLst xmlns:a="http://schemas.openxmlformats.org/drawingml/2006/main">
              <a:ext uri="{FF2B5EF4-FFF2-40B4-BE49-F238E27FC236}">
                <a16:creationId xmlns:a16="http://schemas.microsoft.com/office/drawing/2014/main" id="{DC77BCB8-642A-42E4-ABA8-339C3663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0027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23_FLOW_ARROW_2">
            <a:extLst xmlns:a="http://schemas.openxmlformats.org/drawingml/2006/main">
              <a:ext uri="{FF2B5EF4-FFF2-40B4-BE49-F238E27FC236}">
                <a16:creationId xmlns:a16="http://schemas.microsoft.com/office/drawing/2014/main" id="{6FA77B53-4666-4C7B-9CF0-E7023312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0027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23_FLOW_ARROW_3">
            <a:extLst xmlns:a="http://schemas.openxmlformats.org/drawingml/2006/main">
              <a:ext uri="{FF2B5EF4-FFF2-40B4-BE49-F238E27FC236}">
                <a16:creationId xmlns:a16="http://schemas.microsoft.com/office/drawing/2014/main" id="{9707DE98-42D6-44DB-802D-B865F132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0027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23_FLOW_ARROW_4">
            <a:extLst xmlns:a="http://schemas.openxmlformats.org/drawingml/2006/main">
              <a:ext uri="{FF2B5EF4-FFF2-40B4-BE49-F238E27FC236}">
                <a16:creationId xmlns:a16="http://schemas.microsoft.com/office/drawing/2014/main" id="{8F934D8A-D4B6-46D3-B7E6-CDB7F8E8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0027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23_FLOW_NODE_1">
            <a:extLst xmlns:a="http://schemas.openxmlformats.org/drawingml/2006/main">
              <a:ext uri="{FF2B5EF4-FFF2-40B4-BE49-F238E27FC236}">
                <a16:creationId xmlns:a16="http://schemas.microsoft.com/office/drawing/2014/main" id="{859871A9-C6F0-4023-8E2C-63C2F944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905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INPUT</a:t>
            </a:r>
          </a:p>
        </p:txBody>
      </p:sp>
      <p:sp>
        <p:nvSpPr>
          <p:cNvPr id="13" name="S23_FLOW_NODE_2">
            <a:extLst xmlns:a="http://schemas.openxmlformats.org/drawingml/2006/main">
              <a:ext uri="{FF2B5EF4-FFF2-40B4-BE49-F238E27FC236}">
                <a16:creationId xmlns:a16="http://schemas.microsoft.com/office/drawing/2014/main" id="{DE7A2115-91F9-4D48-8354-5D7FB0A1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90700"/>
            <a:ext cx="1905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STRING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CONCAT</a:t>
            </a:r>
          </a:p>
        </p:txBody>
      </p:sp>
      <p:sp>
        <p:nvSpPr>
          <p:cNvPr id="14" name="S23_FLOW_NODE_3">
            <a:extLst xmlns:a="http://schemas.openxmlformats.org/drawingml/2006/main">
              <a:ext uri="{FF2B5EF4-FFF2-40B4-BE49-F238E27FC236}">
                <a16:creationId xmlns:a16="http://schemas.microsoft.com/office/drawing/2014/main" id="{6A64D9E6-E4DC-4165-9248-AC23B345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90700"/>
            <a:ext cx="1905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SQL TEXT</a:t>
            </a:r>
          </a:p>
        </p:txBody>
      </p:sp>
      <p:sp>
        <p:nvSpPr>
          <p:cNvPr id="15" name="S23_FLOW_NODE_4">
            <a:extLst xmlns:a="http://schemas.openxmlformats.org/drawingml/2006/main">
              <a:ext uri="{FF2B5EF4-FFF2-40B4-BE49-F238E27FC236}">
                <a16:creationId xmlns:a16="http://schemas.microsoft.com/office/drawing/2014/main" id="{8B70E158-66E5-43D8-A7BC-5D8ED072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90700"/>
            <a:ext cx="1905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PARSER</a:t>
            </a:r>
          </a:p>
        </p:txBody>
      </p:sp>
      <p:sp>
        <p:nvSpPr>
          <p:cNvPr id="16" name="S23_FLOW_NODE_5">
            <a:extLst xmlns:a="http://schemas.openxmlformats.org/drawingml/2006/main">
              <a:ext uri="{FF2B5EF4-FFF2-40B4-BE49-F238E27FC236}">
                <a16:creationId xmlns:a16="http://schemas.microsoft.com/office/drawing/2014/main" id="{BD8BE130-7E96-4BF4-92D8-69996961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790700"/>
            <a:ext cx="1905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CHANGED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RESULT</a:t>
            </a:r>
          </a:p>
        </p:txBody>
      </p:sp>
      <p:sp>
        <p:nvSpPr>
          <p:cNvPr id="17" name="S23_SPLIT_LEFT">
            <a:extLst xmlns:a="http://schemas.openxmlformats.org/drawingml/2006/main">
              <a:ext uri="{FF2B5EF4-FFF2-40B4-BE49-F238E27FC236}">
                <a16:creationId xmlns:a16="http://schemas.microsoft.com/office/drawing/2014/main" id="{070D4B64-039E-43C0-8374-686B44AB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5448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D96C5F"/>
            </a:solidFill>
            <a:prstDash val="solid"/>
          </a:ln>
        </p:spPr>
        <p:txBody>
          <a:bodyPr xmlns:a="http://schemas.openxmlformats.org/drawingml/2006/main" wrap="square" lIns="133350" tIns="114300" rIns="1333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CONCATENATION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sql = "... username='" + username + "'"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Giá trị có thể đóng quote và thêm cú pháp SQL.</a:t>
            </a:r>
          </a:p>
        </p:txBody>
      </p:sp>
      <p:sp>
        <p:nvSpPr>
          <p:cNvPr id="18" name="S23_SPLIT_RIGHT">
            <a:extLst xmlns:a="http://schemas.openxmlformats.org/drawingml/2006/main">
              <a:ext uri="{FF2B5EF4-FFF2-40B4-BE49-F238E27FC236}">
                <a16:creationId xmlns:a16="http://schemas.microsoft.com/office/drawing/2014/main" id="{6DE44320-8B22-452E-849F-72D86494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38500"/>
            <a:ext cx="5448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71B48D"/>
            </a:solidFill>
            <a:prstDash val="solid"/>
          </a:ln>
        </p:spPr>
        <p:txBody>
          <a:bodyPr xmlns:a="http://schemas.openxmlformats.org/drawingml/2006/main" wrap="square" lIns="133350" tIns="114300" rIns="1333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PARAMETER BINDING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sql = "... username = ?"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execute(sql, [username])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Cấu trúc query cố định; value giữ vai trò data.</a:t>
            </a:r>
          </a:p>
        </p:txBody>
      </p:sp>
    </p:spTree>
    <p:extLst>
      <p:ext uri="{BB962C8B-B14F-4D97-AF65-F5344CB8AC3E}">
        <p14:creationId xmlns:p14="http://schemas.microsoft.com/office/powerpoint/2010/main" val="210414390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24_EYEBROW">
            <a:extLst xmlns:a="http://schemas.openxmlformats.org/drawingml/2006/main">
              <a:ext uri="{FF2B5EF4-FFF2-40B4-BE49-F238E27FC236}">
                <a16:creationId xmlns:a16="http://schemas.microsoft.com/office/drawing/2014/main" id="{31AF17A5-D2AF-4DB4-BFBB-775652F9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LAB05 / SQL INJECTION</a:t>
            </a:r>
          </a:p>
        </p:txBody>
      </p:sp>
      <p:sp>
        <p:nvSpPr>
          <p:cNvPr id="2" name="S24_TITLE">
            <a:extLst xmlns:a="http://schemas.openxmlformats.org/drawingml/2006/main">
              <a:ext uri="{FF2B5EF4-FFF2-40B4-BE49-F238E27FC236}">
                <a16:creationId xmlns:a16="http://schemas.microsoft.com/office/drawing/2014/main" id="{3FAC471D-C8D8-4D6C-AE80-ACDB3D84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4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Một comment thay đổi logic xác thực</a:t>
            </a:r>
          </a:p>
        </p:txBody>
      </p:sp>
      <p:sp>
        <p:nvSpPr>
          <p:cNvPr id="3" name="S24_SUBTITLE">
            <a:extLst xmlns:a="http://schemas.openxmlformats.org/drawingml/2006/main">
              <a:ext uri="{FF2B5EF4-FFF2-40B4-BE49-F238E27FC236}">
                <a16:creationId xmlns:a16="http://schemas.microsoft.com/office/drawing/2014/main" id="{70331379-4389-4EEA-879D-1F8D6EE0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Payload local cố định chỉ dùng để chứng minh authentication bypass trong database demo.</a:t>
            </a:r>
          </a:p>
        </p:txBody>
      </p:sp>
      <p:sp>
        <p:nvSpPr>
          <p:cNvPr id="4" name="S24_TITLE_RULE">
            <a:extLst xmlns:a="http://schemas.openxmlformats.org/drawingml/2006/main">
              <a:ext uri="{FF2B5EF4-FFF2-40B4-BE49-F238E27FC236}">
                <a16:creationId xmlns:a16="http://schemas.microsoft.com/office/drawing/2014/main" id="{96E96F5C-DC08-43C3-9DC4-ECFD3D3A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24_FOOTER_RULE">
            <a:extLst xmlns:a="http://schemas.openxmlformats.org/drawingml/2006/main">
              <a:ext uri="{FF2B5EF4-FFF2-40B4-BE49-F238E27FC236}">
                <a16:creationId xmlns:a16="http://schemas.microsoft.com/office/drawing/2014/main" id="{9E9BC640-BB10-4762-A2CD-5B9EC03D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24_SOURCE">
            <a:extLst xmlns:a="http://schemas.openxmlformats.org/drawingml/2006/main">
              <a:ext uri="{FF2B5EF4-FFF2-40B4-BE49-F238E27FC236}">
                <a16:creationId xmlns:a16="http://schemas.microsoft.com/office/drawing/2014/main" id="{1B4CD71E-872D-4E27-8B2B-E62004CB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NGUỒN  Lab05/config.py · auth_service.py · vulnerable_queries.py</a:t>
            </a:r>
          </a:p>
        </p:txBody>
      </p:sp>
      <p:sp>
        <p:nvSpPr>
          <p:cNvPr id="7" name="S24_NUMBER">
            <a:extLst xmlns:a="http://schemas.openxmlformats.org/drawingml/2006/main">
              <a:ext uri="{FF2B5EF4-FFF2-40B4-BE49-F238E27FC236}">
                <a16:creationId xmlns:a16="http://schemas.microsoft.com/office/drawing/2014/main" id="{5C437A70-4887-4811-8BE7-A9C43FAF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24</a:t>
            </a:r>
          </a:p>
        </p:txBody>
      </p:sp>
      <p:sp>
        <p:nvSpPr>
          <p:cNvPr id="8" name="S24_QUERY">
            <a:extLst xmlns:a="http://schemas.openxmlformats.org/drawingml/2006/main">
              <a:ext uri="{FF2B5EF4-FFF2-40B4-BE49-F238E27FC236}">
                <a16:creationId xmlns:a16="http://schemas.microsoft.com/office/drawing/2014/main" id="{5FAC42B2-CC88-4AE7-99BB-7128695B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63817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9525">
            <a:solidFill>
              <a:srgbClr val="D96C5F"/>
            </a:solidFill>
            <a:prstDash val="solid"/>
          </a:ln>
        </p:spPr>
        <p:txBody>
          <a:bodyPr xmlns:a="http://schemas.openxmlformats.org/drawingml/2006/main" wrap="square" lIns="133350" tIns="123825" rIns="133350" bIns="1143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INPUT: admin_lab' --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BEFORE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WHERE username = '&lt;input&gt;' AND password = '&lt;hash&gt;'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AFTER CONCATENATION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WHERE username = 'admin_lab' -- ' AND password = '...'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Phần kiểm tra password trở thành comment.</a:t>
            </a:r>
          </a:p>
        </p:txBody>
      </p:sp>
      <p:sp>
        <p:nvSpPr>
          <p:cNvPr id="9" name="PH_S24_Lab05_42_login_bypass_response_png_FRAME">
            <a:extLst xmlns:a="http://schemas.openxmlformats.org/drawingml/2006/main">
              <a:ext uri="{FF2B5EF4-FFF2-40B4-BE49-F238E27FC236}">
                <a16:creationId xmlns:a16="http://schemas.microsoft.com/office/drawing/2014/main" id="{D52C1EB4-0AA3-4480-861B-7233EF23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24025"/>
            <a:ext cx="44958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5D26"/>
            </a:solidFill>
            <a:prstDash val="solid"/>
          </a:ln>
        </p:spPr>
      </p:sp>
      <p:sp>
        <p:nvSpPr>
          <p:cNvPr id="10" name="PH_S24_Lab05_42_login_bypass_response_png_IMAGE">
            <a:extLst xmlns:a="http://schemas.openxmlformats.org/drawingml/2006/main">
              <a:ext uri="{FF2B5EF4-FFF2-40B4-BE49-F238E27FC236}">
                <a16:creationId xmlns:a16="http://schemas.microsoft.com/office/drawing/2014/main" id="{F707262D-1451-4829-8ED1-626C204C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52600"/>
            <a:ext cx="44386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</p:sp>
      <p:sp>
        <p:nvSpPr>
          <p:cNvPr id="11" name="PH_S24_Lab05_42_login_bypass_response_png_ICON">
            <a:extLst xmlns:a="http://schemas.openxmlformats.org/drawingml/2006/main">
              <a:ext uri="{FF2B5EF4-FFF2-40B4-BE49-F238E27FC236}">
                <a16:creationId xmlns:a16="http://schemas.microsoft.com/office/drawing/2014/main" id="{F659B0FA-070C-4F18-9ACB-66132AE0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954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▣</a:t>
            </a:r>
          </a:p>
        </p:txBody>
      </p:sp>
      <p:sp>
        <p:nvSpPr>
          <p:cNvPr id="12" name="PH_S24_Lab05_42_login_bypass_response_png_INSTRUCTION">
            <a:extLst xmlns:a="http://schemas.openxmlformats.org/drawingml/2006/main">
              <a:ext uri="{FF2B5EF4-FFF2-40B4-BE49-F238E27FC236}">
                <a16:creationId xmlns:a16="http://schemas.microsoft.com/office/drawing/2014/main" id="{6C51DF54-68FC-4C3E-9F76-9D5E48DF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6004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CHÈN ẢNH THẬT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42_login_bypass_response.png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16:9 · CROP → FILL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XEM GUIDE</a:t>
            </a:r>
          </a:p>
        </p:txBody>
      </p:sp>
      <p:sp>
        <p:nvSpPr>
          <p:cNvPr id="13" name="PH_S24_Lab05_42_login_bypass_response_png_CAPTION">
            <a:extLst xmlns:a="http://schemas.openxmlformats.org/drawingml/2006/main">
              <a:ext uri="{FF2B5EF4-FFF2-40B4-BE49-F238E27FC236}">
                <a16:creationId xmlns:a16="http://schemas.microsoft.com/office/drawing/2014/main" id="{4A9C7674-16DE-4E5B-8FD4-89D96E8F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43325"/>
            <a:ext cx="443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Response vulnerable authentication bypass</a:t>
            </a:r>
          </a:p>
        </p:txBody>
      </p:sp>
      <p:sp>
        <p:nvSpPr>
          <p:cNvPr id="14" name="S24_SCOPE_BAR">
            <a:extLst xmlns:a="http://schemas.openxmlformats.org/drawingml/2006/main">
              <a:ext uri="{FF2B5EF4-FFF2-40B4-BE49-F238E27FC236}">
                <a16:creationId xmlns:a16="http://schemas.microsoft.com/office/drawing/2014/main" id="{E6DBDC97-7F6F-4C40-B24A-D1E1302C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762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5" name="S24_SCOPE_LABEL">
            <a:extLst xmlns:a="http://schemas.openxmlformats.org/drawingml/2006/main">
              <a:ext uri="{FF2B5EF4-FFF2-40B4-BE49-F238E27FC236}">
                <a16:creationId xmlns:a16="http://schemas.microsoft.com/office/drawing/2014/main" id="{0071E608-60EF-4ACF-9800-C549B71F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SAFE LAB SCOPE</a:t>
            </a:r>
          </a:p>
        </p:txBody>
      </p:sp>
      <p:sp>
        <p:nvSpPr>
          <p:cNvPr id="16" name="S24_SCOPE_BODY">
            <a:extLst xmlns:a="http://schemas.openxmlformats.org/drawingml/2006/main">
              <a:ext uri="{FF2B5EF4-FFF2-40B4-BE49-F238E27FC236}">
                <a16:creationId xmlns:a16="http://schemas.microsoft.com/office/drawing/2014/main" id="{B7ED6CF0-C969-44CB-8B38-CBF14354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143500"/>
            <a:ext cx="4457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Chỉ SELECT/auth bypass trên SQLite local. Không DROP, DELETE, phá dữ liệu, trích xuất ngoài dataset lab hoặc thử website thật.</a:t>
            </a:r>
          </a:p>
        </p:txBody>
      </p:sp>
      <p:sp>
        <p:nvSpPr>
          <p:cNvPr id="17" name="S24_CAUSE_BAR">
            <a:extLst xmlns:a="http://schemas.openxmlformats.org/drawingml/2006/main">
              <a:ext uri="{FF2B5EF4-FFF2-40B4-BE49-F238E27FC236}">
                <a16:creationId xmlns:a16="http://schemas.microsoft.com/office/drawing/2014/main" id="{A707DBCE-2BE5-4A4B-8183-97B9B079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52950"/>
            <a:ext cx="762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8" name="S24_CAUSE_LABEL">
            <a:extLst xmlns:a="http://schemas.openxmlformats.org/drawingml/2006/main">
              <a:ext uri="{FF2B5EF4-FFF2-40B4-BE49-F238E27FC236}">
                <a16:creationId xmlns:a16="http://schemas.microsoft.com/office/drawing/2014/main" id="{6AE4B11E-4ABE-4065-BD3C-A0428FCC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572000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D96C5F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D96C5F"/>
                </a:solidFill>
                <a:latin typeface="Consolas"/>
                <a:ea typeface="Consolas"/>
                <a:cs typeface="Consolas"/>
              </a:rPr>
              <a:t>ROOT CAUSE</a:t>
            </a:r>
          </a:p>
        </p:txBody>
      </p:sp>
      <p:sp>
        <p:nvSpPr>
          <p:cNvPr id="19" name="S24_CAUSE_BODY">
            <a:extLst xmlns:a="http://schemas.openxmlformats.org/drawingml/2006/main">
              <a:ext uri="{FF2B5EF4-FFF2-40B4-BE49-F238E27FC236}">
                <a16:creationId xmlns:a16="http://schemas.microsoft.com/office/drawing/2014/main" id="{65DEB400-6A8E-4732-A4ED-98FEF1B6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876800"/>
            <a:ext cx="42481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Mật khẩu hash không cứu được query đã bị đổi logic trước khi so sánh credential.</a:t>
            </a:r>
          </a:p>
        </p:txBody>
      </p:sp>
    </p:spTree>
    <p:extLst>
      <p:ext uri="{BB962C8B-B14F-4D97-AF65-F5344CB8AC3E}">
        <p14:creationId xmlns:p14="http://schemas.microsoft.com/office/powerpoint/2010/main" val="8600350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25_EYEBROW">
            <a:extLst xmlns:a="http://schemas.openxmlformats.org/drawingml/2006/main">
              <a:ext uri="{FF2B5EF4-FFF2-40B4-BE49-F238E27FC236}">
                <a16:creationId xmlns:a16="http://schemas.microsoft.com/office/drawing/2014/main" id="{DD541E11-E2EF-4192-B442-00779CB9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LAB05 / SQL INJECTION</a:t>
            </a:r>
          </a:p>
        </p:txBody>
      </p:sp>
      <p:sp>
        <p:nvSpPr>
          <p:cNvPr id="2" name="S25_TITLE">
            <a:extLst xmlns:a="http://schemas.openxmlformats.org/drawingml/2006/main">
              <a:ext uri="{FF2B5EF4-FFF2-40B4-BE49-F238E27FC236}">
                <a16:creationId xmlns:a16="http://schemas.microsoft.com/office/drawing/2014/main" id="{881E0117-76A4-41DE-A7CA-8B6555A7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4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Search injection mở rộng result set</a:t>
            </a:r>
          </a:p>
        </p:txBody>
      </p:sp>
      <p:sp>
        <p:nvSpPr>
          <p:cNvPr id="3" name="S25_SUBTITLE">
            <a:extLst xmlns:a="http://schemas.openxmlformats.org/drawingml/2006/main">
              <a:ext uri="{FF2B5EF4-FFF2-40B4-BE49-F238E27FC236}">
                <a16:creationId xmlns:a16="http://schemas.microsoft.com/office/drawing/2014/main" id="{A20D38FC-1DD6-49F4-A069-81B5E827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Cùng cơ chế nối chuỗi; hậu quả lần này là điều kiện WHERE luôn đúng.</a:t>
            </a:r>
          </a:p>
        </p:txBody>
      </p:sp>
      <p:sp>
        <p:nvSpPr>
          <p:cNvPr id="4" name="S25_TITLE_RULE">
            <a:extLst xmlns:a="http://schemas.openxmlformats.org/drawingml/2006/main">
              <a:ext uri="{FF2B5EF4-FFF2-40B4-BE49-F238E27FC236}">
                <a16:creationId xmlns:a16="http://schemas.microsoft.com/office/drawing/2014/main" id="{A4F85B40-ADFB-426E-AA76-C6A0435D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25_FOOTER_RULE">
            <a:extLst xmlns:a="http://schemas.openxmlformats.org/drawingml/2006/main">
              <a:ext uri="{FF2B5EF4-FFF2-40B4-BE49-F238E27FC236}">
                <a16:creationId xmlns:a16="http://schemas.microsoft.com/office/drawing/2014/main" id="{4ADDA64D-0A27-49B9-A227-7F97217A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25_SOURCE">
            <a:extLst xmlns:a="http://schemas.openxmlformats.org/drawingml/2006/main">
              <a:ext uri="{FF2B5EF4-FFF2-40B4-BE49-F238E27FC236}">
                <a16:creationId xmlns:a16="http://schemas.microsoft.com/office/drawing/2014/main" id="{610F5A94-65DD-480B-8E2C-BCFC5199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NGUỒN  Lab05/config.py · vulnerable_queries.vulnerable_search</a:t>
            </a:r>
          </a:p>
        </p:txBody>
      </p:sp>
      <p:sp>
        <p:nvSpPr>
          <p:cNvPr id="7" name="S25_NUMBER">
            <a:extLst xmlns:a="http://schemas.openxmlformats.org/drawingml/2006/main">
              <a:ext uri="{FF2B5EF4-FFF2-40B4-BE49-F238E27FC236}">
                <a16:creationId xmlns:a16="http://schemas.microsoft.com/office/drawing/2014/main" id="{5A55F8D3-BFAF-429D-8EB4-DEDC169B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25</a:t>
            </a:r>
          </a:p>
        </p:txBody>
      </p:sp>
      <p:sp>
        <p:nvSpPr>
          <p:cNvPr id="8" name="S25_NORMAL_ARROW_1">
            <a:extLst xmlns:a="http://schemas.openxmlformats.org/drawingml/2006/main">
              <a:ext uri="{FF2B5EF4-FFF2-40B4-BE49-F238E27FC236}">
                <a16:creationId xmlns:a16="http://schemas.microsoft.com/office/drawing/2014/main" id="{588E935E-4969-49DE-B5F6-1D1921C1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050" y="20764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B4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25_NORMAL_ARROW_2">
            <a:extLst xmlns:a="http://schemas.openxmlformats.org/drawingml/2006/main">
              <a:ext uri="{FF2B5EF4-FFF2-40B4-BE49-F238E27FC236}">
                <a16:creationId xmlns:a16="http://schemas.microsoft.com/office/drawing/2014/main" id="{EA3F1B68-B94C-4385-86EB-F4990488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5400" y="20764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B4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25_NORMAL_NODE_1">
            <a:extLst xmlns:a="http://schemas.openxmlformats.org/drawingml/2006/main">
              <a:ext uri="{FF2B5EF4-FFF2-40B4-BE49-F238E27FC236}">
                <a16:creationId xmlns:a16="http://schemas.microsoft.com/office/drawing/2014/main" id="{78BA71E7-E250-4EB3-A26E-8B380252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38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USB</a:t>
            </a:r>
          </a:p>
        </p:txBody>
      </p:sp>
      <p:sp>
        <p:nvSpPr>
          <p:cNvPr id="11" name="S25_NORMAL_NODE_2">
            <a:extLst xmlns:a="http://schemas.openxmlformats.org/drawingml/2006/main">
              <a:ext uri="{FF2B5EF4-FFF2-40B4-BE49-F238E27FC236}">
                <a16:creationId xmlns:a16="http://schemas.microsoft.com/office/drawing/2014/main" id="{3F0C3CCA-2F25-4169-A6FF-14176ADA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750" y="1752600"/>
            <a:ext cx="138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LIKE '%USB%'</a:t>
            </a:r>
          </a:p>
        </p:txBody>
      </p:sp>
      <p:sp>
        <p:nvSpPr>
          <p:cNvPr id="12" name="S25_NORMAL_NODE_3">
            <a:extLst xmlns:a="http://schemas.openxmlformats.org/drawingml/2006/main">
              <a:ext uri="{FF2B5EF4-FFF2-40B4-BE49-F238E27FC236}">
                <a16:creationId xmlns:a16="http://schemas.microsoft.com/office/drawing/2014/main" id="{88665DBE-0E90-4C0D-8489-F115737E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100" y="1752600"/>
            <a:ext cx="138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matching rows</a:t>
            </a:r>
          </a:p>
        </p:txBody>
      </p:sp>
      <p:sp>
        <p:nvSpPr>
          <p:cNvPr id="13" name="S25_ATTACK_ARROW_1">
            <a:extLst xmlns:a="http://schemas.openxmlformats.org/drawingml/2006/main">
              <a:ext uri="{FF2B5EF4-FFF2-40B4-BE49-F238E27FC236}">
                <a16:creationId xmlns:a16="http://schemas.microsoft.com/office/drawing/2014/main" id="{DDF9A28E-2C50-485D-89D4-1B60947B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20764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25_ATTACK_ARROW_2">
            <a:extLst xmlns:a="http://schemas.openxmlformats.org/drawingml/2006/main">
              <a:ext uri="{FF2B5EF4-FFF2-40B4-BE49-F238E27FC236}">
                <a16:creationId xmlns:a16="http://schemas.microsoft.com/office/drawing/2014/main" id="{CD614BB8-62D2-4D6D-8AA7-C5B54052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600" y="20764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25_ATTACK_NODE_1">
            <a:extLst xmlns:a="http://schemas.openxmlformats.org/drawingml/2006/main">
              <a:ext uri="{FF2B5EF4-FFF2-40B4-BE49-F238E27FC236}">
                <a16:creationId xmlns:a16="http://schemas.microsoft.com/office/drawing/2014/main" id="{9CAFCB69-C305-438F-BFC5-CEE136E6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52600"/>
            <a:ext cx="138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%' OR 1=1 -- </a:t>
            </a:r>
          </a:p>
        </p:txBody>
      </p:sp>
      <p:sp>
        <p:nvSpPr>
          <p:cNvPr id="16" name="S25_ATTACK_NODE_2">
            <a:extLst xmlns:a="http://schemas.openxmlformats.org/drawingml/2006/main">
              <a:ext uri="{FF2B5EF4-FFF2-40B4-BE49-F238E27FC236}">
                <a16:creationId xmlns:a16="http://schemas.microsoft.com/office/drawing/2014/main" id="{B360DD4E-DA2B-42C0-9770-1F72F025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9950" y="1752600"/>
            <a:ext cx="138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concatenated SQL</a:t>
            </a:r>
          </a:p>
        </p:txBody>
      </p:sp>
      <p:sp>
        <p:nvSpPr>
          <p:cNvPr id="17" name="S25_ATTACK_NODE_3">
            <a:extLst xmlns:a="http://schemas.openxmlformats.org/drawingml/2006/main">
              <a:ext uri="{FF2B5EF4-FFF2-40B4-BE49-F238E27FC236}">
                <a16:creationId xmlns:a16="http://schemas.microsoft.com/office/drawing/2014/main" id="{4E852E78-FD4D-4FF2-9218-3D8C4060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300" y="1752600"/>
            <a:ext cx="138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all rows</a:t>
            </a:r>
          </a:p>
        </p:txBody>
      </p:sp>
      <p:sp>
        <p:nvSpPr>
          <p:cNvPr id="18" name="S25_SQL">
            <a:extLst xmlns:a="http://schemas.openxmlformats.org/drawingml/2006/main">
              <a:ext uri="{FF2B5EF4-FFF2-40B4-BE49-F238E27FC236}">
                <a16:creationId xmlns:a16="http://schemas.microsoft.com/office/drawing/2014/main" id="{897EE5E6-6319-4612-B09B-F207F3CA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11125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9525">
            <a:solidFill>
              <a:srgbClr val="D96C5F"/>
            </a:solidFill>
            <a:prstDash val="solid"/>
          </a:ln>
        </p:spPr>
        <p:txBody>
          <a:bodyPr xmlns:a="http://schemas.openxmlformats.org/drawingml/2006/main" wrap="square" lIns="133350" tIns="123825" rIns="133350" bIns="1143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# vulnerable_search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query = "SELECT ... FROM products WHERE name LIKE '%" + term + "%'"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# payload local cố định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%' OR 1=1 --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# parser nhìn thấy điều kiện OR 1=1</a:t>
            </a:r>
          </a:p>
        </p:txBody>
      </p:sp>
      <p:sp>
        <p:nvSpPr>
          <p:cNvPr id="19" name="S25_EVIDENCE_H0">
            <a:extLst xmlns:a="http://schemas.openxmlformats.org/drawingml/2006/main">
              <a:ext uri="{FF2B5EF4-FFF2-40B4-BE49-F238E27FC236}">
                <a16:creationId xmlns:a16="http://schemas.microsoft.com/office/drawing/2014/main" id="{1B2F1E54-C9D4-4F44-98B7-A64A98AC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BASELINE</a:t>
            </a:r>
          </a:p>
        </p:txBody>
      </p:sp>
      <p:sp>
        <p:nvSpPr>
          <p:cNvPr id="20" name="S25_EVIDENCE_H1">
            <a:extLst xmlns:a="http://schemas.openxmlformats.org/drawingml/2006/main">
              <a:ext uri="{FF2B5EF4-FFF2-40B4-BE49-F238E27FC236}">
                <a16:creationId xmlns:a16="http://schemas.microsoft.com/office/drawing/2014/main" id="{119E46B3-449E-420D-888A-657392AC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4673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INJECTION</a:t>
            </a:r>
          </a:p>
        </p:txBody>
      </p:sp>
      <p:sp>
        <p:nvSpPr>
          <p:cNvPr id="21" name="S25_EVIDENCE_H2">
            <a:extLst xmlns:a="http://schemas.openxmlformats.org/drawingml/2006/main">
              <a:ext uri="{FF2B5EF4-FFF2-40B4-BE49-F238E27FC236}">
                <a16:creationId xmlns:a16="http://schemas.microsoft.com/office/drawing/2014/main" id="{150A1492-3180-4EFF-92DE-78329EF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467350"/>
            <a:ext cx="417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ĐƯỢC PHÉP</a:t>
            </a:r>
          </a:p>
        </p:txBody>
      </p:sp>
      <p:sp>
        <p:nvSpPr>
          <p:cNvPr id="22" name="S25_EVIDENCE_R0C0">
            <a:extLst xmlns:a="http://schemas.openxmlformats.org/drawingml/2006/main">
              <a:ext uri="{FF2B5EF4-FFF2-40B4-BE49-F238E27FC236}">
                <a16:creationId xmlns:a16="http://schemas.microsoft.com/office/drawing/2014/main" id="{EEEAC411-FF0C-4F3D-A042-A79075DB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USB</a:t>
            </a:r>
          </a:p>
        </p:txBody>
      </p:sp>
      <p:sp>
        <p:nvSpPr>
          <p:cNvPr id="23" name="S25_EVIDENCE_R0C1">
            <a:extLst xmlns:a="http://schemas.openxmlformats.org/drawingml/2006/main">
              <a:ext uri="{FF2B5EF4-FFF2-40B4-BE49-F238E27FC236}">
                <a16:creationId xmlns:a16="http://schemas.microsoft.com/office/drawing/2014/main" id="{18EC42A7-73BE-4CA4-A60F-6C2CAC7E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2930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expanded result set</a:t>
            </a:r>
          </a:p>
        </p:txBody>
      </p:sp>
      <p:sp>
        <p:nvSpPr>
          <p:cNvPr id="24" name="S25_EVIDENCE_R0C2">
            <a:extLst xmlns:a="http://schemas.openxmlformats.org/drawingml/2006/main">
              <a:ext uri="{FF2B5EF4-FFF2-40B4-BE49-F238E27FC236}">
                <a16:creationId xmlns:a16="http://schemas.microsoft.com/office/drawing/2014/main" id="{EA43F064-5B73-4D48-A567-E9CAA481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829300"/>
            <a:ext cx="417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SELECT-only local</a:t>
            </a:r>
          </a:p>
        </p:txBody>
      </p:sp>
    </p:spTree>
    <p:extLst>
      <p:ext uri="{BB962C8B-B14F-4D97-AF65-F5344CB8AC3E}">
        <p14:creationId xmlns:p14="http://schemas.microsoft.com/office/powerpoint/2010/main" val="150863159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26_EYEBROW">
            <a:extLst xmlns:a="http://schemas.openxmlformats.org/drawingml/2006/main">
              <a:ext uri="{FF2B5EF4-FFF2-40B4-BE49-F238E27FC236}">
                <a16:creationId xmlns:a16="http://schemas.microsoft.com/office/drawing/2014/main" id="{31EBB4E7-510D-44EB-B77D-E7D95EAE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LAB05 / SQL INJECTION</a:t>
            </a:r>
          </a:p>
        </p:txBody>
      </p:sp>
      <p:sp>
        <p:nvSpPr>
          <p:cNvPr id="2" name="S26_TITLE">
            <a:extLst xmlns:a="http://schemas.openxmlformats.org/drawingml/2006/main">
              <a:ext uri="{FF2B5EF4-FFF2-40B4-BE49-F238E27FC236}">
                <a16:creationId xmlns:a16="http://schemas.microsoft.com/office/drawing/2014/main" id="{6963D8BD-18D9-49A7-843C-9FFDC539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4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Prepared statement giữ code và data tách rời</a:t>
            </a:r>
          </a:p>
        </p:txBody>
      </p:sp>
      <p:sp>
        <p:nvSpPr>
          <p:cNvPr id="3" name="S26_SUBTITLE">
            <a:extLst xmlns:a="http://schemas.openxmlformats.org/drawingml/2006/main">
              <a:ext uri="{FF2B5EF4-FFF2-40B4-BE49-F238E27FC236}">
                <a16:creationId xmlns:a16="http://schemas.microsoft.com/office/drawing/2014/main" id="{1C7A688B-877C-4946-87EC-43C17747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Cùng payload được bind như username literal và bị từ chối.</a:t>
            </a:r>
          </a:p>
        </p:txBody>
      </p:sp>
      <p:sp>
        <p:nvSpPr>
          <p:cNvPr id="4" name="S26_TITLE_RULE">
            <a:extLst xmlns:a="http://schemas.openxmlformats.org/drawingml/2006/main">
              <a:ext uri="{FF2B5EF4-FFF2-40B4-BE49-F238E27FC236}">
                <a16:creationId xmlns:a16="http://schemas.microsoft.com/office/drawing/2014/main" id="{14759805-148B-4FFF-B8C8-EEEE0059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26_FOOTER_RULE">
            <a:extLst xmlns:a="http://schemas.openxmlformats.org/drawingml/2006/main">
              <a:ext uri="{FF2B5EF4-FFF2-40B4-BE49-F238E27FC236}">
                <a16:creationId xmlns:a16="http://schemas.microsoft.com/office/drawing/2014/main" id="{DB3ECAE8-9460-43E0-8C50-69DF7809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26_SOURCE">
            <a:extLst xmlns:a="http://schemas.openxmlformats.org/drawingml/2006/main">
              <a:ext uri="{FF2B5EF4-FFF2-40B4-BE49-F238E27FC236}">
                <a16:creationId xmlns:a16="http://schemas.microsoft.com/office/drawing/2014/main" id="{E14D67A9-4041-4F03-9C78-28FE2341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NGUỒN  Lab05/secure_queries.py · auth_service.py · seed.py</a:t>
            </a:r>
          </a:p>
        </p:txBody>
      </p:sp>
      <p:sp>
        <p:nvSpPr>
          <p:cNvPr id="7" name="S26_NUMBER">
            <a:extLst xmlns:a="http://schemas.openxmlformats.org/drawingml/2006/main">
              <a:ext uri="{FF2B5EF4-FFF2-40B4-BE49-F238E27FC236}">
                <a16:creationId xmlns:a16="http://schemas.microsoft.com/office/drawing/2014/main" id="{A49343FA-8E5A-41FC-9FFE-DDE43952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26</a:t>
            </a:r>
          </a:p>
        </p:txBody>
      </p:sp>
      <p:sp>
        <p:nvSpPr>
          <p:cNvPr id="8" name="S26_CODE">
            <a:extLst xmlns:a="http://schemas.openxmlformats.org/drawingml/2006/main">
              <a:ext uri="{FF2B5EF4-FFF2-40B4-BE49-F238E27FC236}">
                <a16:creationId xmlns:a16="http://schemas.microsoft.com/office/drawing/2014/main" id="{91A59C84-4F91-4973-AE13-4ADECE11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62865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9525">
            <a:solidFill>
              <a:srgbClr val="71B48D"/>
            </a:solidFill>
            <a:prstDash val="solid"/>
          </a:ln>
        </p:spPr>
        <p:txBody>
          <a:bodyPr xmlns:a="http://schemas.openxmlformats.org/drawingml/2006/main" wrap="square" lIns="133350" tIns="123825" rIns="133350" bIns="1143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sql = "SELECT id, username, password_hash, role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       FROM users WHERE username = ?"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row = conn.execute(sql, (username,)).fetchone()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# password: pbkdf2:sha256:600000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# subprocess / shell không tham gia query</a:t>
            </a:r>
          </a:p>
        </p:txBody>
      </p:sp>
      <p:sp>
        <p:nvSpPr>
          <p:cNvPr id="9" name="PH_S26_Lab05_43_secure_login_same_payload_png_FRAME">
            <a:extLst xmlns:a="http://schemas.openxmlformats.org/drawingml/2006/main">
              <a:ext uri="{FF2B5EF4-FFF2-40B4-BE49-F238E27FC236}">
                <a16:creationId xmlns:a16="http://schemas.microsoft.com/office/drawing/2014/main" id="{4D976251-8341-4765-9D75-ED2DEDBC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724025"/>
            <a:ext cx="45339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5D26"/>
            </a:solidFill>
            <a:prstDash val="solid"/>
          </a:ln>
        </p:spPr>
      </p:sp>
      <p:sp>
        <p:nvSpPr>
          <p:cNvPr id="10" name="PH_S26_Lab05_43_secure_login_same_payload_png_IMAGE">
            <a:extLst xmlns:a="http://schemas.openxmlformats.org/drawingml/2006/main">
              <a:ext uri="{FF2B5EF4-FFF2-40B4-BE49-F238E27FC236}">
                <a16:creationId xmlns:a16="http://schemas.microsoft.com/office/drawing/2014/main" id="{1FCF576F-F2EB-4868-B627-B8026921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52600"/>
            <a:ext cx="4476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</p:sp>
      <p:sp>
        <p:nvSpPr>
          <p:cNvPr id="11" name="PH_S26_Lab05_43_secure_login_same_payload_png_ICON">
            <a:extLst xmlns:a="http://schemas.openxmlformats.org/drawingml/2006/main">
              <a:ext uri="{FF2B5EF4-FFF2-40B4-BE49-F238E27FC236}">
                <a16:creationId xmlns:a16="http://schemas.microsoft.com/office/drawing/2014/main" id="{499DEC31-DCBB-47EF-A3D2-B1B072B7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954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▣</a:t>
            </a:r>
          </a:p>
        </p:txBody>
      </p:sp>
      <p:sp>
        <p:nvSpPr>
          <p:cNvPr id="12" name="PH_S26_Lab05_43_secure_login_same_payload_png_INSTRUCTION">
            <a:extLst xmlns:a="http://schemas.openxmlformats.org/drawingml/2006/main">
              <a:ext uri="{FF2B5EF4-FFF2-40B4-BE49-F238E27FC236}">
                <a16:creationId xmlns:a16="http://schemas.microsoft.com/office/drawing/2014/main" id="{B0935AA1-17C4-44FE-BA95-FD26FF21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24050"/>
            <a:ext cx="36385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CHÈN ẢNH THẬT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43_secure_login_same_payload.png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16:9 · CROP → FILL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XEM GUIDE</a:t>
            </a:r>
          </a:p>
        </p:txBody>
      </p:sp>
      <p:sp>
        <p:nvSpPr>
          <p:cNvPr id="13" name="PH_S26_Lab05_43_secure_login_same_payload_png_CAPTION">
            <a:extLst xmlns:a="http://schemas.openxmlformats.org/drawingml/2006/main">
              <a:ext uri="{FF2B5EF4-FFF2-40B4-BE49-F238E27FC236}">
                <a16:creationId xmlns:a16="http://schemas.microsoft.com/office/drawing/2014/main" id="{DB65FE87-B9EC-410B-B8E2-AB9BC479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433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Secure login từ chối cùng payload</a:t>
            </a:r>
          </a:p>
        </p:txBody>
      </p:sp>
      <p:sp>
        <p:nvSpPr>
          <p:cNvPr id="14" name="S26_LAYERS_H0">
            <a:extLst xmlns:a="http://schemas.openxmlformats.org/drawingml/2006/main">
              <a:ext uri="{FF2B5EF4-FFF2-40B4-BE49-F238E27FC236}">
                <a16:creationId xmlns:a16="http://schemas.microsoft.com/office/drawing/2014/main" id="{A42DF18B-1587-4EA8-AC6A-FCD0E2FA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24765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LỚP</a:t>
            </a:r>
          </a:p>
        </p:txBody>
      </p:sp>
      <p:sp>
        <p:nvSpPr>
          <p:cNvPr id="15" name="S26_LAYERS_H1">
            <a:extLst xmlns:a="http://schemas.openxmlformats.org/drawingml/2006/main">
              <a:ext uri="{FF2B5EF4-FFF2-40B4-BE49-F238E27FC236}">
                <a16:creationId xmlns:a16="http://schemas.microsoft.com/office/drawing/2014/main" id="{2E252FAB-B3AD-41FF-A283-737ACA39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48200"/>
            <a:ext cx="86487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VAI TRÒ</a:t>
            </a:r>
          </a:p>
        </p:txBody>
      </p:sp>
      <p:sp>
        <p:nvSpPr>
          <p:cNvPr id="16" name="S26_LAYERS_R0C0">
            <a:extLst xmlns:a="http://schemas.openxmlformats.org/drawingml/2006/main">
              <a:ext uri="{FF2B5EF4-FFF2-40B4-BE49-F238E27FC236}">
                <a16:creationId xmlns:a16="http://schemas.microsoft.com/office/drawing/2014/main" id="{B955EA06-93C6-4880-8FFD-759926BC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8710"/>
            <a:ext cx="24765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Parameter binding</a:t>
            </a:r>
          </a:p>
        </p:txBody>
      </p:sp>
      <p:sp>
        <p:nvSpPr>
          <p:cNvPr id="17" name="S26_LAYERS_R0C1">
            <a:extLst xmlns:a="http://schemas.openxmlformats.org/drawingml/2006/main">
              <a:ext uri="{FF2B5EF4-FFF2-40B4-BE49-F238E27FC236}">
                <a16:creationId xmlns:a16="http://schemas.microsoft.com/office/drawing/2014/main" id="{CCBD4FB8-17B7-4EA2-8993-C6620D0A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18710"/>
            <a:ext cx="86487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root fix: cấu trúc SQL cố định</a:t>
            </a:r>
          </a:p>
        </p:txBody>
      </p:sp>
      <p:sp>
        <p:nvSpPr>
          <p:cNvPr id="18" name="S26_LAYERS_R1C0">
            <a:extLst xmlns:a="http://schemas.openxmlformats.org/drawingml/2006/main">
              <a:ext uri="{FF2B5EF4-FFF2-40B4-BE49-F238E27FC236}">
                <a16:creationId xmlns:a16="http://schemas.microsoft.com/office/drawing/2014/main" id="{9F98E5C6-295E-4CBD-BB70-E04931C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89220"/>
            <a:ext cx="24765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PBKDF2</a:t>
            </a:r>
          </a:p>
        </p:txBody>
      </p:sp>
      <p:sp>
        <p:nvSpPr>
          <p:cNvPr id="19" name="S26_LAYERS_R1C1">
            <a:extLst xmlns:a="http://schemas.openxmlformats.org/drawingml/2006/main">
              <a:ext uri="{FF2B5EF4-FFF2-40B4-BE49-F238E27FC236}">
                <a16:creationId xmlns:a16="http://schemas.microsoft.com/office/drawing/2014/main" id="{AE483C00-D639-4605-8868-468F720B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189220"/>
            <a:ext cx="86487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bảo vệ mật khẩu lưu trữ</a:t>
            </a:r>
          </a:p>
        </p:txBody>
      </p:sp>
      <p:sp>
        <p:nvSpPr>
          <p:cNvPr id="20" name="S26_LAYERS_R2C0">
            <a:extLst xmlns:a="http://schemas.openxmlformats.org/drawingml/2006/main">
              <a:ext uri="{FF2B5EF4-FFF2-40B4-BE49-F238E27FC236}">
                <a16:creationId xmlns:a16="http://schemas.microsoft.com/office/drawing/2014/main" id="{8427B6C5-4E9D-4B97-A487-3D3E91E4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59730"/>
            <a:ext cx="24765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Generic error</a:t>
            </a:r>
          </a:p>
        </p:txBody>
      </p:sp>
      <p:sp>
        <p:nvSpPr>
          <p:cNvPr id="21" name="S26_LAYERS_R2C1">
            <a:extLst xmlns:a="http://schemas.openxmlformats.org/drawingml/2006/main">
              <a:ext uri="{FF2B5EF4-FFF2-40B4-BE49-F238E27FC236}">
                <a16:creationId xmlns:a16="http://schemas.microsoft.com/office/drawing/2014/main" id="{4F1CB5F2-A28D-419C-97E6-48C2D247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459730"/>
            <a:ext cx="86487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không lộ schema/query</a:t>
            </a:r>
          </a:p>
        </p:txBody>
      </p:sp>
      <p:sp>
        <p:nvSpPr>
          <p:cNvPr id="22" name="S26_LAYERS_R3C0">
            <a:extLst xmlns:a="http://schemas.openxmlformats.org/drawingml/2006/main">
              <a:ext uri="{FF2B5EF4-FFF2-40B4-BE49-F238E27FC236}">
                <a16:creationId xmlns:a16="http://schemas.microsoft.com/office/drawing/2014/main" id="{F655E564-0351-43A5-BFAC-0EDC83A8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0240"/>
            <a:ext cx="24765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Least privilege</a:t>
            </a:r>
          </a:p>
        </p:txBody>
      </p:sp>
      <p:sp>
        <p:nvSpPr>
          <p:cNvPr id="23" name="S26_LAYERS_R3C1">
            <a:extLst xmlns:a="http://schemas.openxmlformats.org/drawingml/2006/main">
              <a:ext uri="{FF2B5EF4-FFF2-40B4-BE49-F238E27FC236}">
                <a16:creationId xmlns:a16="http://schemas.microsoft.com/office/drawing/2014/main" id="{B931A93F-5D8C-406A-9677-E99C0AED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730240"/>
            <a:ext cx="86487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giảm blast radius</a:t>
            </a:r>
          </a:p>
        </p:txBody>
      </p:sp>
    </p:spTree>
    <p:extLst>
      <p:ext uri="{BB962C8B-B14F-4D97-AF65-F5344CB8AC3E}">
        <p14:creationId xmlns:p14="http://schemas.microsoft.com/office/powerpoint/2010/main" val="94435549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27_EYEBROW">
            <a:extLst xmlns:a="http://schemas.openxmlformats.org/drawingml/2006/main">
              <a:ext uri="{FF2B5EF4-FFF2-40B4-BE49-F238E27FC236}">
                <a16:creationId xmlns:a16="http://schemas.microsoft.com/office/drawing/2014/main" id="{39A1A84B-5FCE-434F-B93B-7456CB35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LAB05 / SQL INJECTION</a:t>
            </a:r>
          </a:p>
        </p:txBody>
      </p:sp>
      <p:sp>
        <p:nvSpPr>
          <p:cNvPr id="2" name="S27_TITLE">
            <a:extLst xmlns:a="http://schemas.openxmlformats.org/drawingml/2006/main">
              <a:ext uri="{FF2B5EF4-FFF2-40B4-BE49-F238E27FC236}">
                <a16:creationId xmlns:a16="http://schemas.microsoft.com/office/drawing/2014/main" id="{2F62004C-62CC-4659-B8D4-97D8AE7F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4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Defense in depth bắt đầu bằng query parameterized</a:t>
            </a:r>
          </a:p>
        </p:txBody>
      </p:sp>
      <p:sp>
        <p:nvSpPr>
          <p:cNvPr id="3" name="S27_SUBTITLE">
            <a:extLst xmlns:a="http://schemas.openxmlformats.org/drawingml/2006/main">
              <a:ext uri="{FF2B5EF4-FFF2-40B4-BE49-F238E27FC236}">
                <a16:creationId xmlns:a16="http://schemas.microsoft.com/office/drawing/2014/main" id="{28A55643-7668-4CD2-B1E1-8C78F378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WAF, validation và logging hữu ích; không lớp nào sửa query nối chuỗi.</a:t>
            </a:r>
          </a:p>
        </p:txBody>
      </p:sp>
      <p:sp>
        <p:nvSpPr>
          <p:cNvPr id="4" name="S27_TITLE_RULE">
            <a:extLst xmlns:a="http://schemas.openxmlformats.org/drawingml/2006/main">
              <a:ext uri="{FF2B5EF4-FFF2-40B4-BE49-F238E27FC236}">
                <a16:creationId xmlns:a16="http://schemas.microsoft.com/office/drawing/2014/main" id="{382A9862-B25B-4C4A-A11C-CFD4A12F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27_FOOTER_RULE">
            <a:extLst xmlns:a="http://schemas.openxmlformats.org/drawingml/2006/main">
              <a:ext uri="{FF2B5EF4-FFF2-40B4-BE49-F238E27FC236}">
                <a16:creationId xmlns:a16="http://schemas.microsoft.com/office/drawing/2014/main" id="{CFC23B47-05DF-4F6C-B5DF-6A805CA0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27_SOURCE">
            <a:extLst xmlns:a="http://schemas.openxmlformats.org/drawingml/2006/main">
              <a:ext uri="{FF2B5EF4-FFF2-40B4-BE49-F238E27FC236}">
                <a16:creationId xmlns:a16="http://schemas.microsoft.com/office/drawing/2014/main" id="{52B3066C-42C1-4795-B502-7F9028F1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NGUỒN  BaiTapTopic04.docx P395–P415 · report Lab05</a:t>
            </a:r>
          </a:p>
        </p:txBody>
      </p:sp>
      <p:sp>
        <p:nvSpPr>
          <p:cNvPr id="7" name="S27_NUMBER">
            <a:extLst xmlns:a="http://schemas.openxmlformats.org/drawingml/2006/main">
              <a:ext uri="{FF2B5EF4-FFF2-40B4-BE49-F238E27FC236}">
                <a16:creationId xmlns:a16="http://schemas.microsoft.com/office/drawing/2014/main" id="{2EE5A89E-AB2B-4EDF-8A6F-1BC46F27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27</a:t>
            </a:r>
          </a:p>
        </p:txBody>
      </p:sp>
      <p:sp>
        <p:nvSpPr>
          <p:cNvPr id="8" name="S27_LAYERS_ARROW_1">
            <a:extLst xmlns:a="http://schemas.openxmlformats.org/drawingml/2006/main">
              <a:ext uri="{FF2B5EF4-FFF2-40B4-BE49-F238E27FC236}">
                <a16:creationId xmlns:a16="http://schemas.microsoft.com/office/drawing/2014/main" id="{22977E53-F6AD-4E42-878B-D5E6CEFC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600" y="2085975"/>
            <a:ext cx="1619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27_LAYERS_ARROW_2">
            <a:extLst xmlns:a="http://schemas.openxmlformats.org/drawingml/2006/main">
              <a:ext uri="{FF2B5EF4-FFF2-40B4-BE49-F238E27FC236}">
                <a16:creationId xmlns:a16="http://schemas.microsoft.com/office/drawing/2014/main" id="{3C5683D8-5209-4D39-AFC3-52656752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725" y="2085975"/>
            <a:ext cx="1619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27_LAYERS_ARROW_3">
            <a:extLst xmlns:a="http://schemas.openxmlformats.org/drawingml/2006/main">
              <a:ext uri="{FF2B5EF4-FFF2-40B4-BE49-F238E27FC236}">
                <a16:creationId xmlns:a16="http://schemas.microsoft.com/office/drawing/2014/main" id="{6F49B801-BA76-4437-BA0A-8759203C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85975"/>
            <a:ext cx="1619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27_LAYERS_ARROW_4">
            <a:extLst xmlns:a="http://schemas.openxmlformats.org/drawingml/2006/main">
              <a:ext uri="{FF2B5EF4-FFF2-40B4-BE49-F238E27FC236}">
                <a16:creationId xmlns:a16="http://schemas.microsoft.com/office/drawing/2014/main" id="{4FB25557-E4E7-4A22-8050-BC018F50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975" y="2085975"/>
            <a:ext cx="1619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27_LAYERS_ARROW_5">
            <a:extLst xmlns:a="http://schemas.openxmlformats.org/drawingml/2006/main">
              <a:ext uri="{FF2B5EF4-FFF2-40B4-BE49-F238E27FC236}">
                <a16:creationId xmlns:a16="http://schemas.microsoft.com/office/drawing/2014/main" id="{A605CF30-C10C-4DA2-A1FF-0E0D225A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2085975"/>
            <a:ext cx="1619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27_LAYERS_NODE_1">
            <a:extLst xmlns:a="http://schemas.openxmlformats.org/drawingml/2006/main">
              <a:ext uri="{FF2B5EF4-FFF2-40B4-BE49-F238E27FC236}">
                <a16:creationId xmlns:a16="http://schemas.microsoft.com/office/drawing/2014/main" id="{00FCE904-A98F-4073-BBFC-4F35DCFD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6795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TYPE / RANGE</a:t>
            </a:r>
          </a:p>
        </p:txBody>
      </p:sp>
      <p:sp>
        <p:nvSpPr>
          <p:cNvPr id="14" name="S27_LAYERS_NODE_2">
            <a:extLst xmlns:a="http://schemas.openxmlformats.org/drawingml/2006/main">
              <a:ext uri="{FF2B5EF4-FFF2-40B4-BE49-F238E27FC236}">
                <a16:creationId xmlns:a16="http://schemas.microsoft.com/office/drawing/2014/main" id="{FD6B6C98-EDF0-48C9-BE37-B263DCB1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525" y="1714500"/>
            <a:ext cx="16795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PARAMETERIZED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QUERY</a:t>
            </a:r>
          </a:p>
        </p:txBody>
      </p:sp>
      <p:sp>
        <p:nvSpPr>
          <p:cNvPr id="15" name="S27_LAYERS_NODE_3">
            <a:extLst xmlns:a="http://schemas.openxmlformats.org/drawingml/2006/main">
              <a:ext uri="{FF2B5EF4-FFF2-40B4-BE49-F238E27FC236}">
                <a16:creationId xmlns:a16="http://schemas.microsoft.com/office/drawing/2014/main" id="{E9A608AD-3C55-4AA5-B173-25EEF50E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1714500"/>
            <a:ext cx="16795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LEAST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PRIVILEGE</a:t>
            </a:r>
          </a:p>
        </p:txBody>
      </p:sp>
      <p:sp>
        <p:nvSpPr>
          <p:cNvPr id="16" name="S27_LAYERS_NODE_4">
            <a:extLst xmlns:a="http://schemas.openxmlformats.org/drawingml/2006/main">
              <a:ext uri="{FF2B5EF4-FFF2-40B4-BE49-F238E27FC236}">
                <a16:creationId xmlns:a16="http://schemas.microsoft.com/office/drawing/2014/main" id="{041C66B8-E014-456B-B751-48D20FBE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714500"/>
            <a:ext cx="16795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GENERIC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ERROR</a:t>
            </a:r>
          </a:p>
        </p:txBody>
      </p:sp>
      <p:sp>
        <p:nvSpPr>
          <p:cNvPr id="17" name="S27_LAYERS_NODE_5">
            <a:extLst xmlns:a="http://schemas.openxmlformats.org/drawingml/2006/main">
              <a:ext uri="{FF2B5EF4-FFF2-40B4-BE49-F238E27FC236}">
                <a16:creationId xmlns:a16="http://schemas.microsoft.com/office/drawing/2014/main" id="{C284084B-46D8-46A6-B7C4-8BB8FC3E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714500"/>
            <a:ext cx="16795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LOG / MONITOR</a:t>
            </a:r>
          </a:p>
        </p:txBody>
      </p:sp>
      <p:sp>
        <p:nvSpPr>
          <p:cNvPr id="18" name="S27_LAYERS_NODE_6">
            <a:extLst xmlns:a="http://schemas.openxmlformats.org/drawingml/2006/main">
              <a:ext uri="{FF2B5EF4-FFF2-40B4-BE49-F238E27FC236}">
                <a16:creationId xmlns:a16="http://schemas.microsoft.com/office/drawing/2014/main" id="{B469DF73-EE0C-4B50-903C-562D783E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9025" y="1714500"/>
            <a:ext cx="16795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WAF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SUPPORT</a:t>
            </a:r>
          </a:p>
        </p:txBody>
      </p:sp>
      <p:sp>
        <p:nvSpPr>
          <p:cNvPr id="19" name="S27_QA_1">
            <a:extLst xmlns:a="http://schemas.openxmlformats.org/drawingml/2006/main">
              <a:ext uri="{FF2B5EF4-FFF2-40B4-BE49-F238E27FC236}">
                <a16:creationId xmlns:a16="http://schemas.microsoft.com/office/drawing/2014/main" id="{79D6443D-DA62-4E6F-8FAC-01CEE41D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3543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01  Lỗi ở tầng xây query, trước parser.</a:t>
            </a:r>
          </a:p>
        </p:txBody>
      </p:sp>
      <p:sp>
        <p:nvSpPr>
          <p:cNvPr id="20" name="S27_QA_2">
            <a:extLst xmlns:a="http://schemas.openxmlformats.org/drawingml/2006/main">
              <a:ext uri="{FF2B5EF4-FFF2-40B4-BE49-F238E27FC236}">
                <a16:creationId xmlns:a16="http://schemas.microsoft.com/office/drawing/2014/main" id="{8B492309-994C-46A2-8644-D376266F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05150"/>
            <a:ext cx="3543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02  Escaping thủ công phụ thuộc dialect và ngữ cảnh.</a:t>
            </a:r>
          </a:p>
        </p:txBody>
      </p:sp>
      <p:sp>
        <p:nvSpPr>
          <p:cNvPr id="21" name="S27_QA_3">
            <a:extLst xmlns:a="http://schemas.openxmlformats.org/drawingml/2006/main">
              <a:ext uri="{FF2B5EF4-FFF2-40B4-BE49-F238E27FC236}">
                <a16:creationId xmlns:a16="http://schemas.microsoft.com/office/drawing/2014/main" id="{31A189F2-B44A-4A1E-A888-A00C779E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76700"/>
            <a:ext cx="3543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03  Prepared statement cố định SQL, bind data riêng.</a:t>
            </a:r>
          </a:p>
        </p:txBody>
      </p:sp>
      <p:sp>
        <p:nvSpPr>
          <p:cNvPr id="22" name="S27_QA_4">
            <a:extLst xmlns:a="http://schemas.openxmlformats.org/drawingml/2006/main">
              <a:ext uri="{FF2B5EF4-FFF2-40B4-BE49-F238E27FC236}">
                <a16:creationId xmlns:a16="http://schemas.microsoft.com/office/drawing/2014/main" id="{4BD0D411-C9C7-4A89-827A-264A9030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76700"/>
            <a:ext cx="3543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04  ORM vẫn lỗi khi dùng raw/concat query.</a:t>
            </a:r>
          </a:p>
        </p:txBody>
      </p:sp>
      <p:sp>
        <p:nvSpPr>
          <p:cNvPr id="23" name="S27_QA_5">
            <a:extLst xmlns:a="http://schemas.openxmlformats.org/drawingml/2006/main">
              <a:ext uri="{FF2B5EF4-FFF2-40B4-BE49-F238E27FC236}">
                <a16:creationId xmlns:a16="http://schemas.microsoft.com/office/drawing/2014/main" id="{BB1CEEF4-8BAE-4653-9026-FA165138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3543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05  Lỗi chi tiết làm tăng khả năng dò schema.</a:t>
            </a:r>
          </a:p>
        </p:txBody>
      </p:sp>
      <p:sp>
        <p:nvSpPr>
          <p:cNvPr id="24" name="S27_QA_6">
            <a:extLst xmlns:a="http://schemas.openxmlformats.org/drawingml/2006/main">
              <a:ext uri="{FF2B5EF4-FFF2-40B4-BE49-F238E27FC236}">
                <a16:creationId xmlns:a16="http://schemas.microsoft.com/office/drawing/2014/main" id="{DC7BFC0C-1126-48A8-99A5-7858012D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48250"/>
            <a:ext cx="3543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06  Retest login + search bằng cùng payload.</a:t>
            </a:r>
          </a:p>
        </p:txBody>
      </p:sp>
      <p:sp>
        <p:nvSpPr>
          <p:cNvPr id="25" name="S27_ANSWER_BAR">
            <a:extLst xmlns:a="http://schemas.openxmlformats.org/drawingml/2006/main">
              <a:ext uri="{FF2B5EF4-FFF2-40B4-BE49-F238E27FC236}">
                <a16:creationId xmlns:a16="http://schemas.microsoft.com/office/drawing/2014/main" id="{24EC9AE8-80C4-4B8A-97E8-EB188619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762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6" name="S27_ANSWER_LABEL">
            <a:extLst xmlns:a="http://schemas.openxmlformats.org/drawingml/2006/main">
              <a:ext uri="{FF2B5EF4-FFF2-40B4-BE49-F238E27FC236}">
                <a16:creationId xmlns:a16="http://schemas.microsoft.com/office/drawing/2014/main" id="{B6ED16F2-92E3-4798-A52F-6FB3F0E6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24200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KẾT LUẬN</a:t>
            </a:r>
          </a:p>
        </p:txBody>
      </p:sp>
      <p:sp>
        <p:nvSpPr>
          <p:cNvPr id="27" name="S27_ANSWER_BODY">
            <a:extLst xmlns:a="http://schemas.openxmlformats.org/drawingml/2006/main">
              <a:ext uri="{FF2B5EF4-FFF2-40B4-BE49-F238E27FC236}">
                <a16:creationId xmlns:a16="http://schemas.microsoft.com/office/drawing/2014/main" id="{D16DB327-BB2A-4DA0-85D3-D1C31F18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29000"/>
            <a:ext cx="33909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Root fix = parameter binding. PBKDF2, least privilege, generic errors, monitoring và WAF chỉ giảm hậu quả hoặc tăng phát hiện.</a:t>
            </a:r>
          </a:p>
        </p:txBody>
      </p:sp>
    </p:spTree>
    <p:extLst>
      <p:ext uri="{BB962C8B-B14F-4D97-AF65-F5344CB8AC3E}">
        <p14:creationId xmlns:p14="http://schemas.microsoft.com/office/powerpoint/2010/main" val="830381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28_EYEBROW">
            <a:extLst xmlns:a="http://schemas.openxmlformats.org/drawingml/2006/main">
              <a:ext uri="{FF2B5EF4-FFF2-40B4-BE49-F238E27FC236}">
                <a16:creationId xmlns:a16="http://schemas.microsoft.com/office/drawing/2014/main" id="{0C5E656D-3C84-4B99-ABD9-331CF80E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LAB06 / COOKIE POISONING</a:t>
            </a:r>
          </a:p>
        </p:txBody>
      </p:sp>
      <p:sp>
        <p:nvSpPr>
          <p:cNvPr id="2" name="S28_TITLE">
            <a:extLst xmlns:a="http://schemas.openxmlformats.org/drawingml/2006/main">
              <a:ext uri="{FF2B5EF4-FFF2-40B4-BE49-F238E27FC236}">
                <a16:creationId xmlns:a16="http://schemas.microsoft.com/office/drawing/2014/main" id="{5B060FE0-F968-4BE9-9507-8D3BFD81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4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Cookie vận chuyển state — không tạo niềm tin</a:t>
            </a:r>
          </a:p>
        </p:txBody>
      </p:sp>
      <p:sp>
        <p:nvSpPr>
          <p:cNvPr id="3" name="S28_SUBTITLE">
            <a:extLst xmlns:a="http://schemas.openxmlformats.org/drawingml/2006/main">
              <a:ext uri="{FF2B5EF4-FFF2-40B4-BE49-F238E27FC236}">
                <a16:creationId xmlns:a16="http://schemas.microsoft.com/office/drawing/2014/main" id="{5A5078A9-75B5-4637-BBBC-3611E62C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Mọi byte trong cookie quay lại từ client; server phải xác minh integrity và quyền.</a:t>
            </a:r>
          </a:p>
        </p:txBody>
      </p:sp>
      <p:sp>
        <p:nvSpPr>
          <p:cNvPr id="4" name="S28_TITLE_RULE">
            <a:extLst xmlns:a="http://schemas.openxmlformats.org/drawingml/2006/main">
              <a:ext uri="{FF2B5EF4-FFF2-40B4-BE49-F238E27FC236}">
                <a16:creationId xmlns:a16="http://schemas.microsoft.com/office/drawing/2014/main" id="{653A3A27-7836-451B-B7F7-B7FB5BB3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28_FOOTER_RULE">
            <a:extLst xmlns:a="http://schemas.openxmlformats.org/drawingml/2006/main">
              <a:ext uri="{FF2B5EF4-FFF2-40B4-BE49-F238E27FC236}">
                <a16:creationId xmlns:a16="http://schemas.microsoft.com/office/drawing/2014/main" id="{5118B73B-1800-47AB-8439-76115BA0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28_SOURCE">
            <a:extLst xmlns:a="http://schemas.openxmlformats.org/drawingml/2006/main">
              <a:ext uri="{FF2B5EF4-FFF2-40B4-BE49-F238E27FC236}">
                <a16:creationId xmlns:a16="http://schemas.microsoft.com/office/drawing/2014/main" id="{7D481F24-CBF3-481A-84CA-585D0FA2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NGUỒN  Lab06/app.py · cookie_service.py · seed.py</a:t>
            </a:r>
          </a:p>
        </p:txBody>
      </p:sp>
      <p:sp>
        <p:nvSpPr>
          <p:cNvPr id="7" name="S28_NUMBER">
            <a:extLst xmlns:a="http://schemas.openxmlformats.org/drawingml/2006/main">
              <a:ext uri="{FF2B5EF4-FFF2-40B4-BE49-F238E27FC236}">
                <a16:creationId xmlns:a16="http://schemas.microsoft.com/office/drawing/2014/main" id="{FB9CA9E6-32FD-44F2-A858-A6DEADDB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28</a:t>
            </a:r>
          </a:p>
        </p:txBody>
      </p:sp>
      <p:sp>
        <p:nvSpPr>
          <p:cNvPr id="8" name="S28_LOOP_ARROW_1">
            <a:extLst xmlns:a="http://schemas.openxmlformats.org/drawingml/2006/main">
              <a:ext uri="{FF2B5EF4-FFF2-40B4-BE49-F238E27FC236}">
                <a16:creationId xmlns:a16="http://schemas.microsoft.com/office/drawing/2014/main" id="{29FFB5B0-566C-4103-A69D-00F41068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288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28_LOOP_ARROW_2">
            <a:extLst xmlns:a="http://schemas.openxmlformats.org/drawingml/2006/main">
              <a:ext uri="{FF2B5EF4-FFF2-40B4-BE49-F238E27FC236}">
                <a16:creationId xmlns:a16="http://schemas.microsoft.com/office/drawing/2014/main" id="{9EB6AFD3-5E72-4493-A84D-C7550C2F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288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28_LOOP_ARROW_3">
            <a:extLst xmlns:a="http://schemas.openxmlformats.org/drawingml/2006/main">
              <a:ext uri="{FF2B5EF4-FFF2-40B4-BE49-F238E27FC236}">
                <a16:creationId xmlns:a16="http://schemas.microsoft.com/office/drawing/2014/main" id="{9BDAC463-0609-4E9A-9D44-F13809C1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288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28_LOOP_ARROW_4">
            <a:extLst xmlns:a="http://schemas.openxmlformats.org/drawingml/2006/main">
              <a:ext uri="{FF2B5EF4-FFF2-40B4-BE49-F238E27FC236}">
                <a16:creationId xmlns:a16="http://schemas.microsoft.com/office/drawing/2014/main" id="{43C43C45-3D13-4328-84F7-62FB54DA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288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28_LOOP_NODE_1">
            <a:extLst xmlns:a="http://schemas.openxmlformats.org/drawingml/2006/main">
              <a:ext uri="{FF2B5EF4-FFF2-40B4-BE49-F238E27FC236}">
                <a16:creationId xmlns:a16="http://schemas.microsoft.com/office/drawing/2014/main" id="{423926B7-72EC-462F-8AE6-014373BA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SERVER SETS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role=user</a:t>
            </a:r>
          </a:p>
        </p:txBody>
      </p:sp>
      <p:sp>
        <p:nvSpPr>
          <p:cNvPr id="13" name="S28_LOOP_NODE_2">
            <a:extLst xmlns:a="http://schemas.openxmlformats.org/drawingml/2006/main">
              <a:ext uri="{FF2B5EF4-FFF2-40B4-BE49-F238E27FC236}">
                <a16:creationId xmlns:a16="http://schemas.microsoft.com/office/drawing/2014/main" id="{CDEC6E2F-237F-41CA-829F-71D7C174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907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BROWSER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STORES</a:t>
            </a:r>
          </a:p>
        </p:txBody>
      </p:sp>
      <p:sp>
        <p:nvSpPr>
          <p:cNvPr id="14" name="S28_LOOP_NODE_3">
            <a:extLst xmlns:a="http://schemas.openxmlformats.org/drawingml/2006/main">
              <a:ext uri="{FF2B5EF4-FFF2-40B4-BE49-F238E27FC236}">
                <a16:creationId xmlns:a16="http://schemas.microsoft.com/office/drawing/2014/main" id="{5A018B6B-44A7-4642-A762-FE967760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907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USER EDITS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role=admin</a:t>
            </a:r>
          </a:p>
        </p:txBody>
      </p:sp>
      <p:sp>
        <p:nvSpPr>
          <p:cNvPr id="15" name="S28_LOOP_NODE_4">
            <a:extLst xmlns:a="http://schemas.openxmlformats.org/drawingml/2006/main">
              <a:ext uri="{FF2B5EF4-FFF2-40B4-BE49-F238E27FC236}">
                <a16:creationId xmlns:a16="http://schemas.microsoft.com/office/drawing/2014/main" id="{BD4BEB49-BB4A-4F63-9AB1-1902524D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907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BROWSER SENDS</a:t>
            </a:r>
          </a:p>
        </p:txBody>
      </p:sp>
      <p:sp>
        <p:nvSpPr>
          <p:cNvPr id="16" name="S28_LOOP_NODE_5">
            <a:extLst xmlns:a="http://schemas.openxmlformats.org/drawingml/2006/main">
              <a:ext uri="{FF2B5EF4-FFF2-40B4-BE49-F238E27FC236}">
                <a16:creationId xmlns:a16="http://schemas.microsoft.com/office/drawing/2014/main" id="{D6465F3B-AB6E-4514-B1B3-9B9ABBFF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790700"/>
            <a:ext cx="1905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SERVER TRUSTS</a:t>
            </a:r>
          </a:p>
        </p:txBody>
      </p:sp>
      <p:sp>
        <p:nvSpPr>
          <p:cNvPr id="17" name="S28_DIFF_LEFT">
            <a:extLst xmlns:a="http://schemas.openxmlformats.org/drawingml/2006/main">
              <a:ext uri="{FF2B5EF4-FFF2-40B4-BE49-F238E27FC236}">
                <a16:creationId xmlns:a16="http://schemas.microsoft.com/office/drawing/2014/main" id="{81CF5CF9-8A46-430A-B302-DC3C52C9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54483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D96C5F"/>
            </a:solidFill>
            <a:prstDash val="solid"/>
          </a:ln>
        </p:spPr>
        <p:txBody>
          <a:bodyPr xmlns:a="http://schemas.openxmlformats.org/drawingml/2006/main" wrap="square" lIns="133350" tIns="114300" rIns="1333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COOKIE POISONING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Chính client sửa nội dung cookie để thay đổi quyết định server.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Ví dụ: role=user → admin.</a:t>
            </a:r>
          </a:p>
        </p:txBody>
      </p:sp>
      <p:sp>
        <p:nvSpPr>
          <p:cNvPr id="18" name="S28_DIFF_RIGHT">
            <a:extLst xmlns:a="http://schemas.openxmlformats.org/drawingml/2006/main">
              <a:ext uri="{FF2B5EF4-FFF2-40B4-BE49-F238E27FC236}">
                <a16:creationId xmlns:a16="http://schemas.microsoft.com/office/drawing/2014/main" id="{69A1AD83-DCB3-4514-B5A4-47409792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33750"/>
            <a:ext cx="54483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71B48D"/>
            </a:solidFill>
            <a:prstDash val="solid"/>
          </a:ln>
        </p:spPr>
        <p:txBody>
          <a:bodyPr xmlns:a="http://schemas.openxmlformats.org/drawingml/2006/main" wrap="square" lIns="133350" tIns="114300" rIns="13335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SESSION HIJACKING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Kẻ tấn công lấy token/session hợp lệ của người khác.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Khác về tài sản bị tấn công và control cần dùng.</a:t>
            </a:r>
          </a:p>
        </p:txBody>
      </p:sp>
    </p:spTree>
    <p:extLst>
      <p:ext uri="{BB962C8B-B14F-4D97-AF65-F5344CB8AC3E}">
        <p14:creationId xmlns:p14="http://schemas.microsoft.com/office/powerpoint/2010/main" val="54930616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29_EYEBROW">
            <a:extLst xmlns:a="http://schemas.openxmlformats.org/drawingml/2006/main">
              <a:ext uri="{FF2B5EF4-FFF2-40B4-BE49-F238E27FC236}">
                <a16:creationId xmlns:a16="http://schemas.microsoft.com/office/drawing/2014/main" id="{DB3613EB-F7EA-4F23-80C3-B4541A69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LAB06 / COOKIE POISONING</a:t>
            </a:r>
          </a:p>
        </p:txBody>
      </p:sp>
      <p:sp>
        <p:nvSpPr>
          <p:cNvPr id="2" name="S29_TITLE">
            <a:extLst xmlns:a="http://schemas.openxmlformats.org/drawingml/2006/main">
              <a:ext uri="{FF2B5EF4-FFF2-40B4-BE49-F238E27FC236}">
                <a16:creationId xmlns:a16="http://schemas.microsoft.com/office/drawing/2014/main" id="{D472743D-729D-41A2-BF3D-B362AAC2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4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Plain cookie: sửa một value, đổi một quyết định</a:t>
            </a:r>
          </a:p>
        </p:txBody>
      </p:sp>
      <p:sp>
        <p:nvSpPr>
          <p:cNvPr id="3" name="S29_SUBTITLE">
            <a:extLst xmlns:a="http://schemas.openxmlformats.org/drawingml/2006/main">
              <a:ext uri="{FF2B5EF4-FFF2-40B4-BE49-F238E27FC236}">
                <a16:creationId xmlns:a16="http://schemas.microsoft.com/office/drawing/2014/main" id="{E2D80760-7E1A-4299-94AD-E3E1F51E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DevTools cho thấy Name/Value/Domain/Path/HttpOnly/Secure/SameSite và điểm server tin sai.</a:t>
            </a:r>
          </a:p>
        </p:txBody>
      </p:sp>
      <p:sp>
        <p:nvSpPr>
          <p:cNvPr id="4" name="S29_TITLE_RULE">
            <a:extLst xmlns:a="http://schemas.openxmlformats.org/drawingml/2006/main">
              <a:ext uri="{FF2B5EF4-FFF2-40B4-BE49-F238E27FC236}">
                <a16:creationId xmlns:a16="http://schemas.microsoft.com/office/drawing/2014/main" id="{F41B242E-2285-4E7E-AA81-9AFEFD15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29_FOOTER_RULE">
            <a:extLst xmlns:a="http://schemas.openxmlformats.org/drawingml/2006/main">
              <a:ext uri="{FF2B5EF4-FFF2-40B4-BE49-F238E27FC236}">
                <a16:creationId xmlns:a16="http://schemas.microsoft.com/office/drawing/2014/main" id="{4C3E0635-4185-49B9-A98C-29CF8610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29_SOURCE">
            <a:extLst xmlns:a="http://schemas.openxmlformats.org/drawingml/2006/main">
              <a:ext uri="{FF2B5EF4-FFF2-40B4-BE49-F238E27FC236}">
                <a16:creationId xmlns:a16="http://schemas.microsoft.com/office/drawing/2014/main" id="{385A77CE-BEBC-456B-B332-F631AE50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NGUỒN  Lab06/app.py plain routes · config.py</a:t>
            </a:r>
          </a:p>
        </p:txBody>
      </p:sp>
      <p:sp>
        <p:nvSpPr>
          <p:cNvPr id="7" name="S29_NUMBER">
            <a:extLst xmlns:a="http://schemas.openxmlformats.org/drawingml/2006/main">
              <a:ext uri="{FF2B5EF4-FFF2-40B4-BE49-F238E27FC236}">
                <a16:creationId xmlns:a16="http://schemas.microsoft.com/office/drawing/2014/main" id="{B5A36CE5-F78A-44E3-AC09-D3267C20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29</a:t>
            </a:r>
          </a:p>
        </p:txBody>
      </p:sp>
      <p:sp>
        <p:nvSpPr>
          <p:cNvPr id="8" name="PH_S29_Lab06_51_plain_cookie_modified_application_png_FRAME">
            <a:extLst xmlns:a="http://schemas.openxmlformats.org/drawingml/2006/main">
              <a:ext uri="{FF2B5EF4-FFF2-40B4-BE49-F238E27FC236}">
                <a16:creationId xmlns:a16="http://schemas.microsoft.com/office/drawing/2014/main" id="{7AA440CA-A5A5-4610-B98F-0E22E009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724025"/>
            <a:ext cx="539115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5D26"/>
            </a:solidFill>
            <a:prstDash val="solid"/>
          </a:ln>
        </p:spPr>
      </p:sp>
      <p:sp>
        <p:nvSpPr>
          <p:cNvPr id="9" name="PH_S29_Lab06_51_plain_cookie_modified_application_png_IMAGE">
            <a:extLst xmlns:a="http://schemas.openxmlformats.org/drawingml/2006/main">
              <a:ext uri="{FF2B5EF4-FFF2-40B4-BE49-F238E27FC236}">
                <a16:creationId xmlns:a16="http://schemas.microsoft.com/office/drawing/2014/main" id="{91BB3724-B3A7-4069-8941-E355AAE2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3340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</p:sp>
      <p:sp>
        <p:nvSpPr>
          <p:cNvPr id="10" name="PH_S29_Lab06_51_plain_cookie_modified_application_png_ICON">
            <a:extLst xmlns:a="http://schemas.openxmlformats.org/drawingml/2006/main">
              <a:ext uri="{FF2B5EF4-FFF2-40B4-BE49-F238E27FC236}">
                <a16:creationId xmlns:a16="http://schemas.microsoft.com/office/drawing/2014/main" id="{7DCAC5EF-CEBD-4027-9379-91FBE482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▣</a:t>
            </a:r>
          </a:p>
        </p:txBody>
      </p:sp>
      <p:sp>
        <p:nvSpPr>
          <p:cNvPr id="11" name="PH_S29_Lab06_51_plain_cookie_modified_application_png_INSTRUCTION">
            <a:extLst xmlns:a="http://schemas.openxmlformats.org/drawingml/2006/main">
              <a:ext uri="{FF2B5EF4-FFF2-40B4-BE49-F238E27FC236}">
                <a16:creationId xmlns:a16="http://schemas.microsoft.com/office/drawing/2014/main" id="{506AD1F4-8EF4-4F9C-86B6-38875475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24050"/>
            <a:ext cx="44958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CHÈN ẢNH THẬT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51_plain_cookie_modified_application.png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16:9 · CROP → FILL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XEM GUIDE</a:t>
            </a:r>
          </a:p>
        </p:txBody>
      </p:sp>
      <p:sp>
        <p:nvSpPr>
          <p:cNvPr id="12" name="PH_S29_Lab06_51_plain_cookie_modified_application_png_CAPTION">
            <a:extLst xmlns:a="http://schemas.openxmlformats.org/drawingml/2006/main">
              <a:ext uri="{FF2B5EF4-FFF2-40B4-BE49-F238E27FC236}">
                <a16:creationId xmlns:a16="http://schemas.microsoft.com/office/drawing/2014/main" id="{5287EF86-13FB-40AD-90B9-C36F74E9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2432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Sửa role cookie bằng DevTools</a:t>
            </a:r>
          </a:p>
        </p:txBody>
      </p:sp>
      <p:sp>
        <p:nvSpPr>
          <p:cNvPr id="13" name="S29_STEPS_ARROW_1">
            <a:extLst xmlns:a="http://schemas.openxmlformats.org/drawingml/2006/main">
              <a:ext uri="{FF2B5EF4-FFF2-40B4-BE49-F238E27FC236}">
                <a16:creationId xmlns:a16="http://schemas.microsoft.com/office/drawing/2014/main" id="{3E2EB419-9C8D-44BD-B103-248EA5AB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988" y="2114550"/>
            <a:ext cx="114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29_STEPS_ARROW_2">
            <a:extLst xmlns:a="http://schemas.openxmlformats.org/drawingml/2006/main">
              <a:ext uri="{FF2B5EF4-FFF2-40B4-BE49-F238E27FC236}">
                <a16:creationId xmlns:a16="http://schemas.microsoft.com/office/drawing/2014/main" id="{3C00F892-5186-4E75-9581-AD198914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025" y="2114550"/>
            <a:ext cx="114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29_STEPS_ARROW_3">
            <a:extLst xmlns:a="http://schemas.openxmlformats.org/drawingml/2006/main">
              <a:ext uri="{FF2B5EF4-FFF2-40B4-BE49-F238E27FC236}">
                <a16:creationId xmlns:a16="http://schemas.microsoft.com/office/drawing/2014/main" id="{AD8E5155-A5B4-40C9-9902-E6EEAD71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2063" y="2114550"/>
            <a:ext cx="114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29_STEPS_ARROW_4">
            <a:extLst xmlns:a="http://schemas.openxmlformats.org/drawingml/2006/main">
              <a:ext uri="{FF2B5EF4-FFF2-40B4-BE49-F238E27FC236}">
                <a16:creationId xmlns:a16="http://schemas.microsoft.com/office/drawing/2014/main" id="{ABC58E27-B7D6-4BC1-AB49-01953065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2114550"/>
            <a:ext cx="114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29_STEPS_ARROW_5">
            <a:extLst xmlns:a="http://schemas.openxmlformats.org/drawingml/2006/main">
              <a:ext uri="{FF2B5EF4-FFF2-40B4-BE49-F238E27FC236}">
                <a16:creationId xmlns:a16="http://schemas.microsoft.com/office/drawing/2014/main" id="{B1E56169-FDD2-4D41-BF19-2EEAE6BE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2138" y="2114550"/>
            <a:ext cx="114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29_STEPS_NODE_1">
            <a:extLst xmlns:a="http://schemas.openxmlformats.org/drawingml/2006/main">
              <a:ext uri="{FF2B5EF4-FFF2-40B4-BE49-F238E27FC236}">
                <a16:creationId xmlns:a16="http://schemas.microsoft.com/office/drawing/2014/main" id="{58ECAA53-A7EC-43A8-8E4D-4B6E3110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7921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LOGIN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student</a:t>
            </a:r>
          </a:p>
        </p:txBody>
      </p:sp>
      <p:sp>
        <p:nvSpPr>
          <p:cNvPr id="19" name="S29_STEPS_NODE_2">
            <a:extLst xmlns:a="http://schemas.openxmlformats.org/drawingml/2006/main">
              <a:ext uri="{FF2B5EF4-FFF2-40B4-BE49-F238E27FC236}">
                <a16:creationId xmlns:a16="http://schemas.microsoft.com/office/drawing/2014/main" id="{5CA26387-8D95-4AD9-B33B-1D10C156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288" y="1752600"/>
            <a:ext cx="7921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APPLICATION</a:t>
            </a:r>
          </a:p>
        </p:txBody>
      </p:sp>
      <p:sp>
        <p:nvSpPr>
          <p:cNvPr id="20" name="S29_STEPS_NODE_3">
            <a:extLst xmlns:a="http://schemas.openxmlformats.org/drawingml/2006/main">
              <a:ext uri="{FF2B5EF4-FFF2-40B4-BE49-F238E27FC236}">
                <a16:creationId xmlns:a16="http://schemas.microsoft.com/office/drawing/2014/main" id="{1F945B9D-2C22-4450-8386-A362DC3F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1325" y="1752600"/>
            <a:ext cx="7921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lab06_role</a:t>
            </a:r>
          </a:p>
        </p:txBody>
      </p:sp>
      <p:sp>
        <p:nvSpPr>
          <p:cNvPr id="21" name="S29_STEPS_NODE_4">
            <a:extLst xmlns:a="http://schemas.openxmlformats.org/drawingml/2006/main">
              <a:ext uri="{FF2B5EF4-FFF2-40B4-BE49-F238E27FC236}">
                <a16:creationId xmlns:a16="http://schemas.microsoft.com/office/drawing/2014/main" id="{14A18F48-4370-4603-974B-D4F7E25E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1752600"/>
            <a:ext cx="7921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user→admin</a:t>
            </a:r>
          </a:p>
        </p:txBody>
      </p:sp>
      <p:sp>
        <p:nvSpPr>
          <p:cNvPr id="22" name="S29_STEPS_NODE_5">
            <a:extLst xmlns:a="http://schemas.openxmlformats.org/drawingml/2006/main">
              <a:ext uri="{FF2B5EF4-FFF2-40B4-BE49-F238E27FC236}">
                <a16:creationId xmlns:a16="http://schemas.microsoft.com/office/drawing/2014/main" id="{0D5D1713-BA48-4DF6-AFDB-CD9DF496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1400" y="1752600"/>
            <a:ext cx="7921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RELOAD</a:t>
            </a:r>
          </a:p>
        </p:txBody>
      </p:sp>
      <p:sp>
        <p:nvSpPr>
          <p:cNvPr id="23" name="S29_STEPS_NODE_6">
            <a:extLst xmlns:a="http://schemas.openxmlformats.org/drawingml/2006/main">
              <a:ext uri="{FF2B5EF4-FFF2-40B4-BE49-F238E27FC236}">
                <a16:creationId xmlns:a16="http://schemas.microsoft.com/office/drawing/2014/main" id="{3579DFC0-14FA-4718-916E-D227E55E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6438" y="1752600"/>
            <a:ext cx="7921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ADMIN</a:t>
            </a:r>
          </a:p>
        </p:txBody>
      </p:sp>
      <p:sp>
        <p:nvSpPr>
          <p:cNvPr id="24" name="S29_FLAGS_H0">
            <a:extLst xmlns:a="http://schemas.openxmlformats.org/drawingml/2006/main">
              <a:ext uri="{FF2B5EF4-FFF2-40B4-BE49-F238E27FC236}">
                <a16:creationId xmlns:a16="http://schemas.microsoft.com/office/drawing/2014/main" id="{C4E9A206-62AA-4873-AD82-D5FB249E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1238250" cy="490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FLAG</a:t>
            </a:r>
          </a:p>
        </p:txBody>
      </p:sp>
      <p:sp>
        <p:nvSpPr>
          <p:cNvPr id="25" name="S29_FLAGS_H1">
            <a:extLst xmlns:a="http://schemas.openxmlformats.org/drawingml/2006/main">
              <a:ext uri="{FF2B5EF4-FFF2-40B4-BE49-F238E27FC236}">
                <a16:creationId xmlns:a16="http://schemas.microsoft.com/office/drawing/2014/main" id="{5AF815E3-F87D-409E-A91A-67317F9E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67050"/>
            <a:ext cx="1952625" cy="490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BẢO VỆ</a:t>
            </a:r>
          </a:p>
        </p:txBody>
      </p:sp>
      <p:sp>
        <p:nvSpPr>
          <p:cNvPr id="26" name="S29_FLAGS_H2">
            <a:extLst xmlns:a="http://schemas.openxmlformats.org/drawingml/2006/main">
              <a:ext uri="{FF2B5EF4-FFF2-40B4-BE49-F238E27FC236}">
                <a16:creationId xmlns:a16="http://schemas.microsoft.com/office/drawing/2014/main" id="{F6F6EEDF-BBDB-4726-9FE6-255B5BC0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67050"/>
            <a:ext cx="2276475" cy="490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KHÔNG BẢO VỆ</a:t>
            </a:r>
          </a:p>
        </p:txBody>
      </p:sp>
      <p:sp>
        <p:nvSpPr>
          <p:cNvPr id="27" name="S29_FLAGS_R0C0">
            <a:extLst xmlns:a="http://schemas.openxmlformats.org/drawingml/2006/main">
              <a:ext uri="{FF2B5EF4-FFF2-40B4-BE49-F238E27FC236}">
                <a16:creationId xmlns:a16="http://schemas.microsoft.com/office/drawing/2014/main" id="{5E3473FC-B558-4249-B0D9-09B536E8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57588"/>
            <a:ext cx="1238250" cy="490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HttpOnly</a:t>
            </a:r>
          </a:p>
        </p:txBody>
      </p:sp>
      <p:sp>
        <p:nvSpPr>
          <p:cNvPr id="28" name="S29_FLAGS_R0C1">
            <a:extLst xmlns:a="http://schemas.openxmlformats.org/drawingml/2006/main">
              <a:ext uri="{FF2B5EF4-FFF2-40B4-BE49-F238E27FC236}">
                <a16:creationId xmlns:a16="http://schemas.microsoft.com/office/drawing/2014/main" id="{55B16C5B-2C70-4F7A-8B73-38D99B34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57588"/>
            <a:ext cx="1952625" cy="490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JS đọc cookie</a:t>
            </a:r>
          </a:p>
        </p:txBody>
      </p:sp>
      <p:sp>
        <p:nvSpPr>
          <p:cNvPr id="29" name="S29_FLAGS_R0C2">
            <a:extLst xmlns:a="http://schemas.openxmlformats.org/drawingml/2006/main">
              <a:ext uri="{FF2B5EF4-FFF2-40B4-BE49-F238E27FC236}">
                <a16:creationId xmlns:a16="http://schemas.microsoft.com/office/drawing/2014/main" id="{322CEE66-C987-4AA4-8E60-974595C2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57588"/>
            <a:ext cx="2276475" cy="490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server tin role</a:t>
            </a:r>
          </a:p>
        </p:txBody>
      </p:sp>
      <p:sp>
        <p:nvSpPr>
          <p:cNvPr id="30" name="S29_FLAGS_R1C0">
            <a:extLst xmlns:a="http://schemas.openxmlformats.org/drawingml/2006/main">
              <a:ext uri="{FF2B5EF4-FFF2-40B4-BE49-F238E27FC236}">
                <a16:creationId xmlns:a16="http://schemas.microsoft.com/office/drawing/2014/main" id="{E8E0B847-EDAA-4803-9CA8-C9760B12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1238250" cy="490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Secure</a:t>
            </a:r>
          </a:p>
        </p:txBody>
      </p:sp>
      <p:sp>
        <p:nvSpPr>
          <p:cNvPr id="31" name="S29_FLAGS_R1C1">
            <a:extLst xmlns:a="http://schemas.openxmlformats.org/drawingml/2006/main">
              <a:ext uri="{FF2B5EF4-FFF2-40B4-BE49-F238E27FC236}">
                <a16:creationId xmlns:a16="http://schemas.microsoft.com/office/drawing/2014/main" id="{737098EE-F5F7-4FF9-BE64-A0634997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48125"/>
            <a:ext cx="1952625" cy="490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HTTP transport</a:t>
            </a:r>
          </a:p>
        </p:txBody>
      </p:sp>
      <p:sp>
        <p:nvSpPr>
          <p:cNvPr id="32" name="S29_FLAGS_R1C2">
            <a:extLst xmlns:a="http://schemas.openxmlformats.org/drawingml/2006/main">
              <a:ext uri="{FF2B5EF4-FFF2-40B4-BE49-F238E27FC236}">
                <a16:creationId xmlns:a16="http://schemas.microsoft.com/office/drawing/2014/main" id="{562D73B8-1DE6-440F-A2A4-84A61F0C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48125"/>
            <a:ext cx="2276475" cy="490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authorization</a:t>
            </a:r>
          </a:p>
        </p:txBody>
      </p:sp>
      <p:sp>
        <p:nvSpPr>
          <p:cNvPr id="33" name="S29_FLAGS_R2C0">
            <a:extLst xmlns:a="http://schemas.openxmlformats.org/drawingml/2006/main">
              <a:ext uri="{FF2B5EF4-FFF2-40B4-BE49-F238E27FC236}">
                <a16:creationId xmlns:a16="http://schemas.microsoft.com/office/drawing/2014/main" id="{1B1C7375-3482-46D2-996D-13606D15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8663"/>
            <a:ext cx="1238250" cy="490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SameSite</a:t>
            </a:r>
          </a:p>
        </p:txBody>
      </p:sp>
      <p:sp>
        <p:nvSpPr>
          <p:cNvPr id="34" name="S29_FLAGS_R2C1">
            <a:extLst xmlns:a="http://schemas.openxmlformats.org/drawingml/2006/main">
              <a:ext uri="{FF2B5EF4-FFF2-40B4-BE49-F238E27FC236}">
                <a16:creationId xmlns:a16="http://schemas.microsoft.com/office/drawing/2014/main" id="{24E15AA7-B8C6-4DB2-8AE4-56F84797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38663"/>
            <a:ext cx="1952625" cy="490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cross-site send</a:t>
            </a:r>
          </a:p>
        </p:txBody>
      </p:sp>
      <p:sp>
        <p:nvSpPr>
          <p:cNvPr id="35" name="S29_FLAGS_R2C2">
            <a:extLst xmlns:a="http://schemas.openxmlformats.org/drawingml/2006/main">
              <a:ext uri="{FF2B5EF4-FFF2-40B4-BE49-F238E27FC236}">
                <a16:creationId xmlns:a16="http://schemas.microsoft.com/office/drawing/2014/main" id="{9A0EEED7-8D4C-4CB1-B9E0-9FE390BB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538663"/>
            <a:ext cx="2276475" cy="4905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client edit</a:t>
            </a:r>
          </a:p>
        </p:txBody>
      </p:sp>
      <p:sp>
        <p:nvSpPr>
          <p:cNvPr id="36" name="S29_PRIVACY_BAR">
            <a:extLst xmlns:a="http://schemas.openxmlformats.org/drawingml/2006/main">
              <a:ext uri="{FF2B5EF4-FFF2-40B4-BE49-F238E27FC236}">
                <a16:creationId xmlns:a16="http://schemas.microsoft.com/office/drawing/2014/main" id="{65BB5761-5D1C-4809-81EC-33EC0D61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762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7" name="S29_PRIVACY_LABEL">
            <a:extLst xmlns:a="http://schemas.openxmlformats.org/drawingml/2006/main">
              <a:ext uri="{FF2B5EF4-FFF2-40B4-BE49-F238E27FC236}">
                <a16:creationId xmlns:a16="http://schemas.microsoft.com/office/drawing/2014/main" id="{FD00F606-7590-4471-83F0-FB83F8E7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57800"/>
            <a:ext cx="1638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ẢNH BẰNG CHỨNG</a:t>
            </a:r>
          </a:p>
        </p:txBody>
      </p:sp>
      <p:sp>
        <p:nvSpPr>
          <p:cNvPr id="38" name="S29_PRIVACY_BODY">
            <a:extLst xmlns:a="http://schemas.openxmlformats.org/drawingml/2006/main">
              <a:ext uri="{FF2B5EF4-FFF2-40B4-BE49-F238E27FC236}">
                <a16:creationId xmlns:a16="http://schemas.microsoft.com/office/drawing/2014/main" id="{96470CB7-FD85-4D23-AB6A-E7C3F332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57800"/>
            <a:ext cx="920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Che token/session dài; chỉ giữ origin, cookie name, value, path/flags và kết quả quyền cần thiết.</a:t>
            </a:r>
          </a:p>
        </p:txBody>
      </p:sp>
    </p:spTree>
    <p:extLst>
      <p:ext uri="{BB962C8B-B14F-4D97-AF65-F5344CB8AC3E}">
        <p14:creationId xmlns:p14="http://schemas.microsoft.com/office/powerpoint/2010/main" val="31129533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30_EYEBROW">
            <a:extLst xmlns:a="http://schemas.openxmlformats.org/drawingml/2006/main">
              <a:ext uri="{FF2B5EF4-FFF2-40B4-BE49-F238E27FC236}">
                <a16:creationId xmlns:a16="http://schemas.microsoft.com/office/drawing/2014/main" id="{4D200E15-EA38-46F3-9D0A-58A2D1C8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LAB06 / COOKIE POISONING</a:t>
            </a:r>
          </a:p>
        </p:txBody>
      </p:sp>
      <p:sp>
        <p:nvSpPr>
          <p:cNvPr id="2" name="S30_TITLE">
            <a:extLst xmlns:a="http://schemas.openxmlformats.org/drawingml/2006/main">
              <a:ext uri="{FF2B5EF4-FFF2-40B4-BE49-F238E27FC236}">
                <a16:creationId xmlns:a16="http://schemas.microsoft.com/office/drawing/2014/main" id="{6B5AEB5D-F2E6-4167-8138-70D33C62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4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Encoding, signing và encryption giải quyết khác nhau</a:t>
            </a:r>
          </a:p>
        </p:txBody>
      </p:sp>
      <p:sp>
        <p:nvSpPr>
          <p:cNvPr id="3" name="S30_SUBTITLE">
            <a:extLst xmlns:a="http://schemas.openxmlformats.org/drawingml/2006/main">
              <a:ext uri="{FF2B5EF4-FFF2-40B4-BE49-F238E27FC236}">
                <a16:creationId xmlns:a16="http://schemas.microsoft.com/office/drawing/2014/main" id="{636B7C31-D490-4FC6-808F-5DF99E25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Base64 chỉ đổi biểu diễn; signature thêm integrity; encryption thêm confidentiality + integrity.</a:t>
            </a:r>
          </a:p>
        </p:txBody>
      </p:sp>
      <p:sp>
        <p:nvSpPr>
          <p:cNvPr id="4" name="S30_TITLE_RULE">
            <a:extLst xmlns:a="http://schemas.openxmlformats.org/drawingml/2006/main">
              <a:ext uri="{FF2B5EF4-FFF2-40B4-BE49-F238E27FC236}">
                <a16:creationId xmlns:a16="http://schemas.microsoft.com/office/drawing/2014/main" id="{1F9FAEC4-F960-40DE-B7B2-C11BFBCA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30_FOOTER_RULE">
            <a:extLst xmlns:a="http://schemas.openxmlformats.org/drawingml/2006/main">
              <a:ext uri="{FF2B5EF4-FFF2-40B4-BE49-F238E27FC236}">
                <a16:creationId xmlns:a16="http://schemas.microsoft.com/office/drawing/2014/main" id="{CD44A47B-33AA-4EB7-8583-74BF07E5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30_SOURCE">
            <a:extLst xmlns:a="http://schemas.openxmlformats.org/drawingml/2006/main">
              <a:ext uri="{FF2B5EF4-FFF2-40B4-BE49-F238E27FC236}">
                <a16:creationId xmlns:a16="http://schemas.microsoft.com/office/drawing/2014/main" id="{21404D56-5C0F-442F-B968-1F150A75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NGUỒN  Lab06/base64_cookie_service.py · signed/encrypted services</a:t>
            </a:r>
          </a:p>
        </p:txBody>
      </p:sp>
      <p:sp>
        <p:nvSpPr>
          <p:cNvPr id="7" name="S30_NUMBER">
            <a:extLst xmlns:a="http://schemas.openxmlformats.org/drawingml/2006/main">
              <a:ext uri="{FF2B5EF4-FFF2-40B4-BE49-F238E27FC236}">
                <a16:creationId xmlns:a16="http://schemas.microsoft.com/office/drawing/2014/main" id="{B20DDD0D-D14F-40E2-B2C1-678618A3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30</a:t>
            </a:r>
          </a:p>
        </p:txBody>
      </p:sp>
      <p:sp>
        <p:nvSpPr>
          <p:cNvPr id="8" name="S30_B64_ARROW_1">
            <a:extLst xmlns:a="http://schemas.openxmlformats.org/drawingml/2006/main">
              <a:ext uri="{FF2B5EF4-FFF2-40B4-BE49-F238E27FC236}">
                <a16:creationId xmlns:a16="http://schemas.microsoft.com/office/drawing/2014/main" id="{271A89B2-31CD-49F3-B67F-E16BDEF5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145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30_B64_ARROW_2">
            <a:extLst xmlns:a="http://schemas.openxmlformats.org/drawingml/2006/main">
              <a:ext uri="{FF2B5EF4-FFF2-40B4-BE49-F238E27FC236}">
                <a16:creationId xmlns:a16="http://schemas.microsoft.com/office/drawing/2014/main" id="{230AD1BB-B136-408B-A0AA-E49129FF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145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30_B64_ARROW_3">
            <a:extLst xmlns:a="http://schemas.openxmlformats.org/drawingml/2006/main">
              <a:ext uri="{FF2B5EF4-FFF2-40B4-BE49-F238E27FC236}">
                <a16:creationId xmlns:a16="http://schemas.microsoft.com/office/drawing/2014/main" id="{FC82F589-26AF-454E-94EB-45B3C251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145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30_B64_ARROW_4">
            <a:extLst xmlns:a="http://schemas.openxmlformats.org/drawingml/2006/main">
              <a:ext uri="{FF2B5EF4-FFF2-40B4-BE49-F238E27FC236}">
                <a16:creationId xmlns:a16="http://schemas.microsoft.com/office/drawing/2014/main" id="{A6DE653E-4CE9-4CF7-BE5C-31579A01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145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30_B64_NODE_1">
            <a:extLst xmlns:a="http://schemas.openxmlformats.org/drawingml/2006/main">
              <a:ext uri="{FF2B5EF4-FFF2-40B4-BE49-F238E27FC236}">
                <a16:creationId xmlns:a16="http://schemas.microsoft.com/office/drawing/2014/main" id="{06F78672-922D-4B13-84CB-BA9CFBAB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905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JSON</a:t>
            </a:r>
          </a:p>
        </p:txBody>
      </p:sp>
      <p:sp>
        <p:nvSpPr>
          <p:cNvPr id="13" name="S30_B64_NODE_2">
            <a:extLst xmlns:a="http://schemas.openxmlformats.org/drawingml/2006/main">
              <a:ext uri="{FF2B5EF4-FFF2-40B4-BE49-F238E27FC236}">
                <a16:creationId xmlns:a16="http://schemas.microsoft.com/office/drawing/2014/main" id="{5FCD37AE-54D0-4BA9-BBF6-DA943D5A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52600"/>
            <a:ext cx="1905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Base64 encode</a:t>
            </a:r>
          </a:p>
        </p:txBody>
      </p:sp>
      <p:sp>
        <p:nvSpPr>
          <p:cNvPr id="14" name="S30_B64_NODE_3">
            <a:extLst xmlns:a="http://schemas.openxmlformats.org/drawingml/2006/main">
              <a:ext uri="{FF2B5EF4-FFF2-40B4-BE49-F238E27FC236}">
                <a16:creationId xmlns:a16="http://schemas.microsoft.com/office/drawing/2014/main" id="{F7FBE33D-B409-4E8B-BCDE-760CB177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52600"/>
            <a:ext cx="1905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CLIENT EDIT</a:t>
            </a:r>
          </a:p>
        </p:txBody>
      </p:sp>
      <p:sp>
        <p:nvSpPr>
          <p:cNvPr id="15" name="S30_B64_NODE_4">
            <a:extLst xmlns:a="http://schemas.openxmlformats.org/drawingml/2006/main">
              <a:ext uri="{FF2B5EF4-FFF2-40B4-BE49-F238E27FC236}">
                <a16:creationId xmlns:a16="http://schemas.microsoft.com/office/drawing/2014/main" id="{1265FFB2-8D44-4CB5-935D-CF323958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52600"/>
            <a:ext cx="1905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Base64 encode</a:t>
            </a:r>
          </a:p>
        </p:txBody>
      </p:sp>
      <p:sp>
        <p:nvSpPr>
          <p:cNvPr id="16" name="S30_B64_NODE_5">
            <a:extLst xmlns:a="http://schemas.openxmlformats.org/drawingml/2006/main">
              <a:ext uri="{FF2B5EF4-FFF2-40B4-BE49-F238E27FC236}">
                <a16:creationId xmlns:a16="http://schemas.microsoft.com/office/drawing/2014/main" id="{99AF3855-6659-49CF-B9AF-CBF306E3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752600"/>
            <a:ext cx="1905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SERVER DECODES</a:t>
            </a:r>
          </a:p>
        </p:txBody>
      </p:sp>
      <p:sp>
        <p:nvSpPr>
          <p:cNvPr id="17" name="S30_COMPARE_H0">
            <a:extLst xmlns:a="http://schemas.openxmlformats.org/drawingml/2006/main">
              <a:ext uri="{FF2B5EF4-FFF2-40B4-BE49-F238E27FC236}">
                <a16:creationId xmlns:a16="http://schemas.microsoft.com/office/drawing/2014/main" id="{2868F34E-286C-40AC-B89C-38069F68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180975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CƠ CHẾ</a:t>
            </a:r>
          </a:p>
        </p:txBody>
      </p:sp>
      <p:sp>
        <p:nvSpPr>
          <p:cNvPr id="18" name="S30_COMPARE_H1">
            <a:extLst xmlns:a="http://schemas.openxmlformats.org/drawingml/2006/main">
              <a:ext uri="{FF2B5EF4-FFF2-40B4-BE49-F238E27FC236}">
                <a16:creationId xmlns:a16="http://schemas.microsoft.com/office/drawing/2014/main" id="{34393484-D597-4714-88EF-1A8A99FF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143250"/>
            <a:ext cx="257175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CONFIDENTIALITY</a:t>
            </a:r>
          </a:p>
        </p:txBody>
      </p:sp>
      <p:sp>
        <p:nvSpPr>
          <p:cNvPr id="19" name="S30_COMPARE_H2">
            <a:extLst xmlns:a="http://schemas.openxmlformats.org/drawingml/2006/main">
              <a:ext uri="{FF2B5EF4-FFF2-40B4-BE49-F238E27FC236}">
                <a16:creationId xmlns:a16="http://schemas.microsoft.com/office/drawing/2014/main" id="{E68CE0B5-9EA5-4EB2-A07C-8E52B27F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43250"/>
            <a:ext cx="238125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INTEGRITY</a:t>
            </a:r>
          </a:p>
        </p:txBody>
      </p:sp>
      <p:sp>
        <p:nvSpPr>
          <p:cNvPr id="20" name="S30_COMPARE_H3">
            <a:extLst xmlns:a="http://schemas.openxmlformats.org/drawingml/2006/main">
              <a:ext uri="{FF2B5EF4-FFF2-40B4-BE49-F238E27FC236}">
                <a16:creationId xmlns:a16="http://schemas.microsoft.com/office/drawing/2014/main" id="{942E59E0-94D8-4EE1-B158-90216F0E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43250"/>
            <a:ext cx="436245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CLIENT THẤY/SỬA</a:t>
            </a:r>
          </a:p>
        </p:txBody>
      </p:sp>
      <p:sp>
        <p:nvSpPr>
          <p:cNvPr id="21" name="S30_COMPARE_R0C0">
            <a:extLst xmlns:a="http://schemas.openxmlformats.org/drawingml/2006/main">
              <a:ext uri="{FF2B5EF4-FFF2-40B4-BE49-F238E27FC236}">
                <a16:creationId xmlns:a16="http://schemas.microsoft.com/office/drawing/2014/main" id="{1FC8F943-76A1-45C6-B081-28D0DE23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88080"/>
            <a:ext cx="180975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Plain</a:t>
            </a:r>
          </a:p>
        </p:txBody>
      </p:sp>
      <p:sp>
        <p:nvSpPr>
          <p:cNvPr id="22" name="S30_COMPARE_R0C1">
            <a:extLst xmlns:a="http://schemas.openxmlformats.org/drawingml/2006/main">
              <a:ext uri="{FF2B5EF4-FFF2-40B4-BE49-F238E27FC236}">
                <a16:creationId xmlns:a16="http://schemas.microsoft.com/office/drawing/2014/main" id="{40B6AEC7-FC62-447C-BECA-3F109CBA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88080"/>
            <a:ext cx="257175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không</a:t>
            </a:r>
          </a:p>
        </p:txBody>
      </p:sp>
      <p:sp>
        <p:nvSpPr>
          <p:cNvPr id="23" name="S30_COMPARE_R0C2">
            <a:extLst xmlns:a="http://schemas.openxmlformats.org/drawingml/2006/main">
              <a:ext uri="{FF2B5EF4-FFF2-40B4-BE49-F238E27FC236}">
                <a16:creationId xmlns:a16="http://schemas.microsoft.com/office/drawing/2014/main" id="{90208412-AA1F-44AF-A454-632FAF0C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88080"/>
            <a:ext cx="238125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không</a:t>
            </a:r>
          </a:p>
        </p:txBody>
      </p:sp>
      <p:sp>
        <p:nvSpPr>
          <p:cNvPr id="24" name="S30_COMPARE_R0C3">
            <a:extLst xmlns:a="http://schemas.openxmlformats.org/drawingml/2006/main">
              <a:ext uri="{FF2B5EF4-FFF2-40B4-BE49-F238E27FC236}">
                <a16:creationId xmlns:a16="http://schemas.microsoft.com/office/drawing/2014/main" id="{D6394686-0EDD-435B-842B-CEE2E735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88080"/>
            <a:ext cx="436245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thấy + sửa</a:t>
            </a:r>
          </a:p>
        </p:txBody>
      </p:sp>
      <p:sp>
        <p:nvSpPr>
          <p:cNvPr id="25" name="S30_COMPARE_R1C0">
            <a:extLst xmlns:a="http://schemas.openxmlformats.org/drawingml/2006/main">
              <a:ext uri="{FF2B5EF4-FFF2-40B4-BE49-F238E27FC236}">
                <a16:creationId xmlns:a16="http://schemas.microsoft.com/office/drawing/2014/main" id="{117B0F7E-9513-4C3E-AF5E-AE624018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32910"/>
            <a:ext cx="180975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Base64</a:t>
            </a:r>
          </a:p>
        </p:txBody>
      </p:sp>
      <p:sp>
        <p:nvSpPr>
          <p:cNvPr id="26" name="S30_COMPARE_R1C1">
            <a:extLst xmlns:a="http://schemas.openxmlformats.org/drawingml/2006/main">
              <a:ext uri="{FF2B5EF4-FFF2-40B4-BE49-F238E27FC236}">
                <a16:creationId xmlns:a16="http://schemas.microsoft.com/office/drawing/2014/main" id="{40A66CCC-5065-4F43-ACB9-16BAFE6F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232910"/>
            <a:ext cx="257175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không</a:t>
            </a:r>
          </a:p>
        </p:txBody>
      </p:sp>
      <p:sp>
        <p:nvSpPr>
          <p:cNvPr id="27" name="S30_COMPARE_R1C2">
            <a:extLst xmlns:a="http://schemas.openxmlformats.org/drawingml/2006/main">
              <a:ext uri="{FF2B5EF4-FFF2-40B4-BE49-F238E27FC236}">
                <a16:creationId xmlns:a16="http://schemas.microsoft.com/office/drawing/2014/main" id="{BA24D704-5FED-415B-A77F-D852E97F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32910"/>
            <a:ext cx="238125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không</a:t>
            </a:r>
          </a:p>
        </p:txBody>
      </p:sp>
      <p:sp>
        <p:nvSpPr>
          <p:cNvPr id="28" name="S30_COMPARE_R1C3">
            <a:extLst xmlns:a="http://schemas.openxmlformats.org/drawingml/2006/main">
              <a:ext uri="{FF2B5EF4-FFF2-40B4-BE49-F238E27FC236}">
                <a16:creationId xmlns:a16="http://schemas.microsoft.com/office/drawing/2014/main" id="{1A351FCC-C6C8-461F-9E81-73D2184E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32910"/>
            <a:ext cx="436245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decode + sửa</a:t>
            </a:r>
          </a:p>
        </p:txBody>
      </p:sp>
      <p:sp>
        <p:nvSpPr>
          <p:cNvPr id="29" name="S30_COMPARE_R2C0">
            <a:extLst xmlns:a="http://schemas.openxmlformats.org/drawingml/2006/main">
              <a:ext uri="{FF2B5EF4-FFF2-40B4-BE49-F238E27FC236}">
                <a16:creationId xmlns:a16="http://schemas.microsoft.com/office/drawing/2014/main" id="{19321247-7B57-475A-9A71-3AA8B72A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77740"/>
            <a:ext cx="180975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Signed</a:t>
            </a:r>
          </a:p>
        </p:txBody>
      </p:sp>
      <p:sp>
        <p:nvSpPr>
          <p:cNvPr id="30" name="S30_COMPARE_R2C1">
            <a:extLst xmlns:a="http://schemas.openxmlformats.org/drawingml/2006/main">
              <a:ext uri="{FF2B5EF4-FFF2-40B4-BE49-F238E27FC236}">
                <a16:creationId xmlns:a16="http://schemas.microsoft.com/office/drawing/2014/main" id="{84F60895-4746-4DCE-B81F-67207C88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77740"/>
            <a:ext cx="257175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không</a:t>
            </a:r>
          </a:p>
        </p:txBody>
      </p:sp>
      <p:sp>
        <p:nvSpPr>
          <p:cNvPr id="31" name="S30_COMPARE_R2C2">
            <a:extLst xmlns:a="http://schemas.openxmlformats.org/drawingml/2006/main">
              <a:ext uri="{FF2B5EF4-FFF2-40B4-BE49-F238E27FC236}">
                <a16:creationId xmlns:a16="http://schemas.microsoft.com/office/drawing/2014/main" id="{379F094A-3EC8-4B35-BC8A-FD4BB05A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777740"/>
            <a:ext cx="238125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có</a:t>
            </a:r>
          </a:p>
        </p:txBody>
      </p:sp>
      <p:sp>
        <p:nvSpPr>
          <p:cNvPr id="32" name="S30_COMPARE_R2C3">
            <a:extLst xmlns:a="http://schemas.openxmlformats.org/drawingml/2006/main">
              <a:ext uri="{FF2B5EF4-FFF2-40B4-BE49-F238E27FC236}">
                <a16:creationId xmlns:a16="http://schemas.microsoft.com/office/drawing/2014/main" id="{0BADEA8D-9580-4E19-90EE-9CE6A450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777740"/>
            <a:ext cx="436245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thấy; sửa bị phát hiện</a:t>
            </a:r>
          </a:p>
        </p:txBody>
      </p:sp>
      <p:sp>
        <p:nvSpPr>
          <p:cNvPr id="33" name="S30_COMPARE_R3C0">
            <a:extLst xmlns:a="http://schemas.openxmlformats.org/drawingml/2006/main">
              <a:ext uri="{FF2B5EF4-FFF2-40B4-BE49-F238E27FC236}">
                <a16:creationId xmlns:a16="http://schemas.microsoft.com/office/drawing/2014/main" id="{E40C4AB8-B37C-4394-99C6-F3F443AB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22570"/>
            <a:ext cx="180975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Encrypted</a:t>
            </a:r>
          </a:p>
        </p:txBody>
      </p:sp>
      <p:sp>
        <p:nvSpPr>
          <p:cNvPr id="34" name="S30_COMPARE_R3C1">
            <a:extLst xmlns:a="http://schemas.openxmlformats.org/drawingml/2006/main">
              <a:ext uri="{FF2B5EF4-FFF2-40B4-BE49-F238E27FC236}">
                <a16:creationId xmlns:a16="http://schemas.microsoft.com/office/drawing/2014/main" id="{0691E78D-D220-4CC5-B9A6-929C06F2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22570"/>
            <a:ext cx="257175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có</a:t>
            </a:r>
          </a:p>
        </p:txBody>
      </p:sp>
      <p:sp>
        <p:nvSpPr>
          <p:cNvPr id="35" name="S30_COMPARE_R3C2">
            <a:extLst xmlns:a="http://schemas.openxmlformats.org/drawingml/2006/main">
              <a:ext uri="{FF2B5EF4-FFF2-40B4-BE49-F238E27FC236}">
                <a16:creationId xmlns:a16="http://schemas.microsoft.com/office/drawing/2014/main" id="{A8528D10-8EBA-4EBA-919F-C22A3B59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322570"/>
            <a:ext cx="238125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có</a:t>
            </a:r>
          </a:p>
        </p:txBody>
      </p:sp>
      <p:sp>
        <p:nvSpPr>
          <p:cNvPr id="36" name="S30_COMPARE_R3C3">
            <a:extLst xmlns:a="http://schemas.openxmlformats.org/drawingml/2006/main">
              <a:ext uri="{FF2B5EF4-FFF2-40B4-BE49-F238E27FC236}">
                <a16:creationId xmlns:a16="http://schemas.microsoft.com/office/drawing/2014/main" id="{092D2DB8-0414-47E1-B7CA-C8C954C1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322570"/>
            <a:ext cx="436245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không đọc/sửa hợp lệ</a:t>
            </a:r>
          </a:p>
        </p:txBody>
      </p:sp>
    </p:spTree>
    <p:extLst>
      <p:ext uri="{BB962C8B-B14F-4D97-AF65-F5344CB8AC3E}">
        <p14:creationId xmlns:p14="http://schemas.microsoft.com/office/powerpoint/2010/main" val="96513205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S31_EYEBROW">
            <a:extLst xmlns:a="http://schemas.openxmlformats.org/drawingml/2006/main">
              <a:ext uri="{FF2B5EF4-FFF2-40B4-BE49-F238E27FC236}">
                <a16:creationId xmlns:a16="http://schemas.microsoft.com/office/drawing/2014/main" id="{F65C7DDE-FEA1-4434-BD50-5D5B1C3E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LAB06 / COOKIE POISONING</a:t>
            </a:r>
          </a:p>
        </p:txBody>
      </p:sp>
      <p:sp>
        <p:nvSpPr>
          <p:cNvPr id="2" name="S31_TITLE">
            <a:extLst xmlns:a="http://schemas.openxmlformats.org/drawingml/2006/main">
              <a:ext uri="{FF2B5EF4-FFF2-40B4-BE49-F238E27FC236}">
                <a16:creationId xmlns:a16="http://schemas.microsoft.com/office/drawing/2014/main" id="{54D10A56-82A4-4EC4-AD5E-0D60BA8A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4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Server session giữ quyền ở phía authoritative</a:t>
            </a:r>
          </a:p>
        </p:txBody>
      </p:sp>
      <p:sp>
        <p:nvSpPr>
          <p:cNvPr id="3" name="S31_SUBTITLE">
            <a:extLst xmlns:a="http://schemas.openxmlformats.org/drawingml/2006/main">
              <a:ext uri="{FF2B5EF4-FFF2-40B4-BE49-F238E27FC236}">
                <a16:creationId xmlns:a16="http://schemas.microsoft.com/office/drawing/2014/main" id="{B79B7BF4-1959-438D-9488-960BC5FE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Browser chỉ giữ opaque ID; mỗi request lookup active/expiry/revocation rồi lấy role từ DB.</a:t>
            </a:r>
          </a:p>
        </p:txBody>
      </p:sp>
      <p:sp>
        <p:nvSpPr>
          <p:cNvPr id="4" name="S31_TITLE_RULE">
            <a:extLst xmlns:a="http://schemas.openxmlformats.org/drawingml/2006/main">
              <a:ext uri="{FF2B5EF4-FFF2-40B4-BE49-F238E27FC236}">
                <a16:creationId xmlns:a16="http://schemas.microsoft.com/office/drawing/2014/main" id="{F9AC003C-371F-44E6-A7C4-DFF64968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31_FOOTER_RULE">
            <a:extLst xmlns:a="http://schemas.openxmlformats.org/drawingml/2006/main">
              <a:ext uri="{FF2B5EF4-FFF2-40B4-BE49-F238E27FC236}">
                <a16:creationId xmlns:a16="http://schemas.microsoft.com/office/drawing/2014/main" id="{E5EC5169-BA25-4923-91D9-2547B6ED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31_SOURCE">
            <a:extLst xmlns:a="http://schemas.openxmlformats.org/drawingml/2006/main">
              <a:ext uri="{FF2B5EF4-FFF2-40B4-BE49-F238E27FC236}">
                <a16:creationId xmlns:a16="http://schemas.microsoft.com/office/drawing/2014/main" id="{7FB5650B-4689-4D7B-92D0-3C4B4FF6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NGUỒN  Lab06/server_session_service.py · authorization_service.py</a:t>
            </a:r>
          </a:p>
        </p:txBody>
      </p:sp>
      <p:sp>
        <p:nvSpPr>
          <p:cNvPr id="7" name="S31_NUMBER">
            <a:extLst xmlns:a="http://schemas.openxmlformats.org/drawingml/2006/main">
              <a:ext uri="{FF2B5EF4-FFF2-40B4-BE49-F238E27FC236}">
                <a16:creationId xmlns:a16="http://schemas.microsoft.com/office/drawing/2014/main" id="{7C97C8EA-8A93-4ABF-8A17-7EE2CE57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31</a:t>
            </a:r>
          </a:p>
        </p:txBody>
      </p:sp>
      <p:sp>
        <p:nvSpPr>
          <p:cNvPr id="8" name="S31_SESSION_ARROW_1">
            <a:extLst xmlns:a="http://schemas.openxmlformats.org/drawingml/2006/main">
              <a:ext uri="{FF2B5EF4-FFF2-40B4-BE49-F238E27FC236}">
                <a16:creationId xmlns:a16="http://schemas.microsoft.com/office/drawing/2014/main" id="{587C13EA-3BE1-421B-BC42-71348330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562" y="2114550"/>
            <a:ext cx="1428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B4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31_SESSION_ARROW_2">
            <a:extLst xmlns:a="http://schemas.openxmlformats.org/drawingml/2006/main">
              <a:ext uri="{FF2B5EF4-FFF2-40B4-BE49-F238E27FC236}">
                <a16:creationId xmlns:a16="http://schemas.microsoft.com/office/drawing/2014/main" id="{4C5383DB-5021-458F-9226-234C0210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0" y="2114550"/>
            <a:ext cx="1428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B4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31_SESSION_ARROW_3">
            <a:extLst xmlns:a="http://schemas.openxmlformats.org/drawingml/2006/main">
              <a:ext uri="{FF2B5EF4-FFF2-40B4-BE49-F238E27FC236}">
                <a16:creationId xmlns:a16="http://schemas.microsoft.com/office/drawing/2014/main" id="{0E628507-B50F-4230-AEC5-7BC0B761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7638" y="2114550"/>
            <a:ext cx="1428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B4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31_SESSION_ARROW_4">
            <a:extLst xmlns:a="http://schemas.openxmlformats.org/drawingml/2006/main">
              <a:ext uri="{FF2B5EF4-FFF2-40B4-BE49-F238E27FC236}">
                <a16:creationId xmlns:a16="http://schemas.microsoft.com/office/drawing/2014/main" id="{27543590-99CA-4AED-AACD-BECEEB47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675" y="2114550"/>
            <a:ext cx="1428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B4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31_SESSION_ARROW_5">
            <a:extLst xmlns:a="http://schemas.openxmlformats.org/drawingml/2006/main">
              <a:ext uri="{FF2B5EF4-FFF2-40B4-BE49-F238E27FC236}">
                <a16:creationId xmlns:a16="http://schemas.microsoft.com/office/drawing/2014/main" id="{11AE23D3-1E23-4FEF-A5EE-23316C1B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5713" y="2114550"/>
            <a:ext cx="1428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1B4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31_SESSION_NODE_1">
            <a:extLst xmlns:a="http://schemas.openxmlformats.org/drawingml/2006/main">
              <a:ext uri="{FF2B5EF4-FFF2-40B4-BE49-F238E27FC236}">
                <a16:creationId xmlns:a16="http://schemas.microsoft.com/office/drawing/2014/main" id="{B131C260-7F62-4CEF-BD77-A18DD594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0080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opaque ID</a:t>
            </a:r>
          </a:p>
        </p:txBody>
      </p:sp>
      <p:sp>
        <p:nvSpPr>
          <p:cNvPr id="14" name="S31_SESSION_NODE_2">
            <a:extLst xmlns:a="http://schemas.openxmlformats.org/drawingml/2006/main">
              <a:ext uri="{FF2B5EF4-FFF2-40B4-BE49-F238E27FC236}">
                <a16:creationId xmlns:a16="http://schemas.microsoft.com/office/drawing/2014/main" id="{7A75EDBB-8E75-46CA-864A-316A7937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437" y="1752600"/>
            <a:ext cx="10080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hash lookup</a:t>
            </a:r>
          </a:p>
        </p:txBody>
      </p:sp>
      <p:sp>
        <p:nvSpPr>
          <p:cNvPr id="15" name="S31_SESSION_NODE_3">
            <a:extLst xmlns:a="http://schemas.openxmlformats.org/drawingml/2006/main">
              <a:ext uri="{FF2B5EF4-FFF2-40B4-BE49-F238E27FC236}">
                <a16:creationId xmlns:a16="http://schemas.microsoft.com/office/drawing/2014/main" id="{68764606-65AE-468D-9628-3CF2350B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1475" y="1752600"/>
            <a:ext cx="10080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active + expiry</a:t>
            </a:r>
          </a:p>
        </p:txBody>
      </p:sp>
      <p:sp>
        <p:nvSpPr>
          <p:cNvPr id="16" name="S31_SESSION_NODE_4">
            <a:extLst xmlns:a="http://schemas.openxmlformats.org/drawingml/2006/main">
              <a:ext uri="{FF2B5EF4-FFF2-40B4-BE49-F238E27FC236}">
                <a16:creationId xmlns:a16="http://schemas.microsoft.com/office/drawing/2014/main" id="{8BB0E6E2-F6CA-432D-AE87-922DB791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513" y="1752600"/>
            <a:ext cx="10080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DB role</a:t>
            </a:r>
          </a:p>
        </p:txBody>
      </p:sp>
      <p:sp>
        <p:nvSpPr>
          <p:cNvPr id="17" name="S31_SESSION_NODE_5">
            <a:extLst xmlns:a="http://schemas.openxmlformats.org/drawingml/2006/main">
              <a:ext uri="{FF2B5EF4-FFF2-40B4-BE49-F238E27FC236}">
                <a16:creationId xmlns:a16="http://schemas.microsoft.com/office/drawing/2014/main" id="{2217E0CF-BEB0-47F4-A0CD-BE3CCE2B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9550" y="1752600"/>
            <a:ext cx="10080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authorize</a:t>
            </a:r>
          </a:p>
        </p:txBody>
      </p:sp>
      <p:sp>
        <p:nvSpPr>
          <p:cNvPr id="18" name="S31_SESSION_NODE_6">
            <a:extLst xmlns:a="http://schemas.openxmlformats.org/drawingml/2006/main">
              <a:ext uri="{FF2B5EF4-FFF2-40B4-BE49-F238E27FC236}">
                <a16:creationId xmlns:a16="http://schemas.microsoft.com/office/drawing/2014/main" id="{51783942-7D6C-4C2F-A0B6-449D92EC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588" y="1752600"/>
            <a:ext cx="1008063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57150" rIns="6667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allow / deny</a:t>
            </a:r>
          </a:p>
        </p:txBody>
      </p:sp>
      <p:sp>
        <p:nvSpPr>
          <p:cNvPr id="19" name="PH_S31_Lab06_56_signed_cookie_rejected_response_png_FRAME">
            <a:extLst xmlns:a="http://schemas.openxmlformats.org/drawingml/2006/main">
              <a:ext uri="{FF2B5EF4-FFF2-40B4-BE49-F238E27FC236}">
                <a16:creationId xmlns:a16="http://schemas.microsoft.com/office/drawing/2014/main" id="{65F62B51-FA13-440A-BBC9-4C68E8B5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724025"/>
            <a:ext cx="3886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5D26"/>
            </a:solidFill>
            <a:prstDash val="solid"/>
          </a:ln>
        </p:spPr>
      </p:sp>
      <p:sp>
        <p:nvSpPr>
          <p:cNvPr id="20" name="PH_S31_Lab06_56_signed_cookie_rejected_response_png_IMAGE">
            <a:extLst xmlns:a="http://schemas.openxmlformats.org/drawingml/2006/main">
              <a:ext uri="{FF2B5EF4-FFF2-40B4-BE49-F238E27FC236}">
                <a16:creationId xmlns:a16="http://schemas.microsoft.com/office/drawing/2014/main" id="{F5DC93FD-8256-4104-9B73-0E624615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52600"/>
            <a:ext cx="38290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</p:sp>
      <p:sp>
        <p:nvSpPr>
          <p:cNvPr id="21" name="PH_S31_Lab06_56_signed_cookie_rejected_response_png_ICON">
            <a:extLst xmlns:a="http://schemas.openxmlformats.org/drawingml/2006/main">
              <a:ext uri="{FF2B5EF4-FFF2-40B4-BE49-F238E27FC236}">
                <a16:creationId xmlns:a16="http://schemas.microsoft.com/office/drawing/2014/main" id="{5609EE47-9AE4-4F38-9A40-77B52498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954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▣</a:t>
            </a:r>
          </a:p>
        </p:txBody>
      </p:sp>
      <p:sp>
        <p:nvSpPr>
          <p:cNvPr id="22" name="PH_S31_Lab06_56_signed_cookie_rejected_response_png_INSTRUCTION">
            <a:extLst xmlns:a="http://schemas.openxmlformats.org/drawingml/2006/main">
              <a:ext uri="{FF2B5EF4-FFF2-40B4-BE49-F238E27FC236}">
                <a16:creationId xmlns:a16="http://schemas.microsoft.com/office/drawing/2014/main" id="{4C877334-E295-48A9-B5D4-69A26A6C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24050"/>
            <a:ext cx="29908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CHÈN ẢNH THẬT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56_signed_cookie_rejected_response.png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16:9 · CROP → FILL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F0ECE5"/>
                </a:solidFill>
                <a:latin typeface="Consolas"/>
                <a:ea typeface="Consolas"/>
                <a:cs typeface="Consolas"/>
              </a:rPr>
              <a:t>XEM GUIDE</a:t>
            </a:r>
          </a:p>
        </p:txBody>
      </p:sp>
      <p:sp>
        <p:nvSpPr>
          <p:cNvPr id="23" name="PH_S31_Lab06_56_signed_cookie_rejected_response_png_CAPTION">
            <a:extLst xmlns:a="http://schemas.openxmlformats.org/drawingml/2006/main">
              <a:ext uri="{FF2B5EF4-FFF2-40B4-BE49-F238E27FC236}">
                <a16:creationId xmlns:a16="http://schemas.microsoft.com/office/drawing/2014/main" id="{630E00DC-D85A-4516-B6DE-AF096B93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67125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Response secure từ chối signed cookie sửa</a:t>
            </a:r>
          </a:p>
        </p:txBody>
      </p:sp>
      <p:sp>
        <p:nvSpPr>
          <p:cNvPr id="24" name="S31_CONTROL_H0">
            <a:extLst xmlns:a="http://schemas.openxmlformats.org/drawingml/2006/main">
              <a:ext uri="{FF2B5EF4-FFF2-40B4-BE49-F238E27FC236}">
                <a16:creationId xmlns:a16="http://schemas.microsoft.com/office/drawing/2014/main" id="{77D94E4A-5FFB-43AD-97FD-388DE316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15240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SỰ KIỆN</a:t>
            </a:r>
          </a:p>
        </p:txBody>
      </p:sp>
      <p:sp>
        <p:nvSpPr>
          <p:cNvPr id="25" name="S31_CONTROL_H1">
            <a:extLst xmlns:a="http://schemas.openxmlformats.org/drawingml/2006/main">
              <a:ext uri="{FF2B5EF4-FFF2-40B4-BE49-F238E27FC236}">
                <a16:creationId xmlns:a16="http://schemas.microsoft.com/office/drawing/2014/main" id="{2F07996F-8219-4398-8AFA-D1DADACB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05150"/>
            <a:ext cx="26670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SERVER ACTION</a:t>
            </a:r>
          </a:p>
        </p:txBody>
      </p:sp>
      <p:sp>
        <p:nvSpPr>
          <p:cNvPr id="26" name="S31_CONTROL_H2">
            <a:extLst xmlns:a="http://schemas.openxmlformats.org/drawingml/2006/main">
              <a:ext uri="{FF2B5EF4-FFF2-40B4-BE49-F238E27FC236}">
                <a16:creationId xmlns:a16="http://schemas.microsoft.com/office/drawing/2014/main" id="{28EAAD62-ADDC-417F-BDCD-A3A6B3DF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05150"/>
            <a:ext cx="276225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HIỆU QUẢ</a:t>
            </a:r>
          </a:p>
        </p:txBody>
      </p:sp>
      <p:sp>
        <p:nvSpPr>
          <p:cNvPr id="27" name="S31_CONTROL_R0C0">
            <a:extLst xmlns:a="http://schemas.openxmlformats.org/drawingml/2006/main">
              <a:ext uri="{FF2B5EF4-FFF2-40B4-BE49-F238E27FC236}">
                <a16:creationId xmlns:a16="http://schemas.microsoft.com/office/drawing/2014/main" id="{2EB3C0DE-9B53-44DF-B959-E1CB090F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49980"/>
            <a:ext cx="15240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Login</a:t>
            </a:r>
          </a:p>
        </p:txBody>
      </p:sp>
      <p:sp>
        <p:nvSpPr>
          <p:cNvPr id="28" name="S31_CONTROL_R0C1">
            <a:extLst xmlns:a="http://schemas.openxmlformats.org/drawingml/2006/main">
              <a:ext uri="{FF2B5EF4-FFF2-40B4-BE49-F238E27FC236}">
                <a16:creationId xmlns:a16="http://schemas.microsoft.com/office/drawing/2014/main" id="{798AD01E-6C95-4726-86D8-167CD203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649980"/>
            <a:ext cx="26670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rotate ID</a:t>
            </a:r>
          </a:p>
        </p:txBody>
      </p:sp>
      <p:sp>
        <p:nvSpPr>
          <p:cNvPr id="29" name="S31_CONTROL_R0C2">
            <a:extLst xmlns:a="http://schemas.openxmlformats.org/drawingml/2006/main">
              <a:ext uri="{FF2B5EF4-FFF2-40B4-BE49-F238E27FC236}">
                <a16:creationId xmlns:a16="http://schemas.microsoft.com/office/drawing/2014/main" id="{1CDA4256-AF2E-4EAD-B853-ECCADA25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49980"/>
            <a:ext cx="276225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chống fixation</a:t>
            </a:r>
          </a:p>
        </p:txBody>
      </p:sp>
      <p:sp>
        <p:nvSpPr>
          <p:cNvPr id="30" name="S31_CONTROL_R1C0">
            <a:extLst xmlns:a="http://schemas.openxmlformats.org/drawingml/2006/main">
              <a:ext uri="{FF2B5EF4-FFF2-40B4-BE49-F238E27FC236}">
                <a16:creationId xmlns:a16="http://schemas.microsoft.com/office/drawing/2014/main" id="{CAEA9663-DED5-4A33-9F2D-7A465817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4810"/>
            <a:ext cx="15240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Request</a:t>
            </a:r>
          </a:p>
        </p:txBody>
      </p:sp>
      <p:sp>
        <p:nvSpPr>
          <p:cNvPr id="31" name="S31_CONTROL_R1C1">
            <a:extLst xmlns:a="http://schemas.openxmlformats.org/drawingml/2006/main">
              <a:ext uri="{FF2B5EF4-FFF2-40B4-BE49-F238E27FC236}">
                <a16:creationId xmlns:a16="http://schemas.microsoft.com/office/drawing/2014/main" id="{D6C80862-80DB-4E88-A850-39D4FC1E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194810"/>
            <a:ext cx="26670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DB role + authz</a:t>
            </a:r>
          </a:p>
        </p:txBody>
      </p:sp>
      <p:sp>
        <p:nvSpPr>
          <p:cNvPr id="32" name="S31_CONTROL_R1C2">
            <a:extLst xmlns:a="http://schemas.openxmlformats.org/drawingml/2006/main">
              <a:ext uri="{FF2B5EF4-FFF2-40B4-BE49-F238E27FC236}">
                <a16:creationId xmlns:a16="http://schemas.microsoft.com/office/drawing/2014/main" id="{8BD1511D-0405-40CF-A6F1-04617367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94810"/>
            <a:ext cx="276225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không tin client role</a:t>
            </a:r>
          </a:p>
        </p:txBody>
      </p:sp>
      <p:sp>
        <p:nvSpPr>
          <p:cNvPr id="33" name="S31_CONTROL_R2C0">
            <a:extLst xmlns:a="http://schemas.openxmlformats.org/drawingml/2006/main">
              <a:ext uri="{FF2B5EF4-FFF2-40B4-BE49-F238E27FC236}">
                <a16:creationId xmlns:a16="http://schemas.microsoft.com/office/drawing/2014/main" id="{09B8CA72-FE5A-40FD-A40C-215C1021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39640"/>
            <a:ext cx="15240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Logout</a:t>
            </a:r>
          </a:p>
        </p:txBody>
      </p:sp>
      <p:sp>
        <p:nvSpPr>
          <p:cNvPr id="34" name="S31_CONTROL_R2C1">
            <a:extLst xmlns:a="http://schemas.openxmlformats.org/drawingml/2006/main">
              <a:ext uri="{FF2B5EF4-FFF2-40B4-BE49-F238E27FC236}">
                <a16:creationId xmlns:a16="http://schemas.microsoft.com/office/drawing/2014/main" id="{CAAE35DD-4F3B-4B5D-9D4F-B9AABD6A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739640"/>
            <a:ext cx="26670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revoke session</a:t>
            </a:r>
          </a:p>
        </p:txBody>
      </p:sp>
      <p:sp>
        <p:nvSpPr>
          <p:cNvPr id="35" name="S31_CONTROL_R2C2">
            <a:extLst xmlns:a="http://schemas.openxmlformats.org/drawingml/2006/main">
              <a:ext uri="{FF2B5EF4-FFF2-40B4-BE49-F238E27FC236}">
                <a16:creationId xmlns:a16="http://schemas.microsoft.com/office/drawing/2014/main" id="{69F2148F-A7C4-4838-85A6-7CC29CB5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739640"/>
            <a:ext cx="276225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token cũ vô hiệu</a:t>
            </a:r>
          </a:p>
        </p:txBody>
      </p:sp>
      <p:sp>
        <p:nvSpPr>
          <p:cNvPr id="36" name="S31_CONTROL_R3C0">
            <a:extLst xmlns:a="http://schemas.openxmlformats.org/drawingml/2006/main">
              <a:ext uri="{FF2B5EF4-FFF2-40B4-BE49-F238E27FC236}">
                <a16:creationId xmlns:a16="http://schemas.microsoft.com/office/drawing/2014/main" id="{724C4C42-E00B-48A8-9B1F-A044DCA0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4470"/>
            <a:ext cx="15240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Tamper signed</a:t>
            </a:r>
          </a:p>
        </p:txBody>
      </p:sp>
      <p:sp>
        <p:nvSpPr>
          <p:cNvPr id="37" name="S31_CONTROL_R3C1">
            <a:extLst xmlns:a="http://schemas.openxmlformats.org/drawingml/2006/main">
              <a:ext uri="{FF2B5EF4-FFF2-40B4-BE49-F238E27FC236}">
                <a16:creationId xmlns:a16="http://schemas.microsoft.com/office/drawing/2014/main" id="{416F566E-B9CA-4019-8F1B-F55A78F3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284470"/>
            <a:ext cx="266700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BadData → reject</a:t>
            </a:r>
          </a:p>
        </p:txBody>
      </p:sp>
      <p:sp>
        <p:nvSpPr>
          <p:cNvPr id="38" name="S31_CONTROL_R3C2">
            <a:extLst xmlns:a="http://schemas.openxmlformats.org/drawingml/2006/main">
              <a:ext uri="{FF2B5EF4-FFF2-40B4-BE49-F238E27FC236}">
                <a16:creationId xmlns:a16="http://schemas.microsoft.com/office/drawing/2014/main" id="{64385DAB-3BE0-4462-83C7-6843AE34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284470"/>
            <a:ext cx="2762250" cy="54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integrity fail closed</a:t>
            </a:r>
          </a:p>
        </p:txBody>
      </p:sp>
      <p:sp>
        <p:nvSpPr>
          <p:cNvPr id="39" name="S31_FLAGS_BAR">
            <a:extLst xmlns:a="http://schemas.openxmlformats.org/drawingml/2006/main">
              <a:ext uri="{FF2B5EF4-FFF2-40B4-BE49-F238E27FC236}">
                <a16:creationId xmlns:a16="http://schemas.microsoft.com/office/drawing/2014/main" id="{3CDD78BE-97D3-40D8-BB20-71EDA9AE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76750"/>
            <a:ext cx="762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0" name="S31_FLAGS_LABEL">
            <a:extLst xmlns:a="http://schemas.openxmlformats.org/drawingml/2006/main">
              <a:ext uri="{FF2B5EF4-FFF2-40B4-BE49-F238E27FC236}">
                <a16:creationId xmlns:a16="http://schemas.microsoft.com/office/drawing/2014/main" id="{C92AEF20-31A1-4C3F-9F03-DE114D36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95800"/>
            <a:ext cx="3638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COOKIE FLAGS</a:t>
            </a:r>
          </a:p>
        </p:txBody>
      </p:sp>
      <p:sp>
        <p:nvSpPr>
          <p:cNvPr id="41" name="S31_FLAGS_BODY">
            <a:extLst xmlns:a="http://schemas.openxmlformats.org/drawingml/2006/main">
              <a:ext uri="{FF2B5EF4-FFF2-40B4-BE49-F238E27FC236}">
                <a16:creationId xmlns:a16="http://schemas.microsoft.com/office/drawing/2014/main" id="{EBF2318E-43BB-41BB-A4DE-90AC42A5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00600"/>
            <a:ext cx="3638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HttpOnly · Secure khi HTTPS · SameSite=Lax · Path=/ — lớp bổ sung cho token, không thay server-side authz.</a:t>
            </a:r>
          </a:p>
        </p:txBody>
      </p:sp>
    </p:spTree>
    <p:extLst>
      <p:ext uri="{BB962C8B-B14F-4D97-AF65-F5344CB8AC3E}">
        <p14:creationId xmlns:p14="http://schemas.microsoft.com/office/powerpoint/2010/main" val="190988203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S32_EYEBROW">
            <a:extLst xmlns:a="http://schemas.openxmlformats.org/drawingml/2006/main">
              <a:ext uri="{FF2B5EF4-FFF2-40B4-BE49-F238E27FC236}">
                <a16:creationId xmlns:a16="http://schemas.microsoft.com/office/drawing/2014/main" id="{8E74D60D-B385-48A5-AD92-2DD60656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LAB06 / COOKIE POISONING</a:t>
            </a:r>
          </a:p>
        </p:txBody>
      </p:sp>
      <p:sp>
        <p:nvSpPr>
          <p:cNvPr id="2" name="S32_TITLE">
            <a:extLst xmlns:a="http://schemas.openxmlformats.org/drawingml/2006/main">
              <a:ext uri="{FF2B5EF4-FFF2-40B4-BE49-F238E27FC236}">
                <a16:creationId xmlns:a16="http://schemas.microsoft.com/office/drawing/2014/main" id="{13F51791-367B-4904-B018-0C53480B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1114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Chọn state model theo thuộc tính cần bảo vệ</a:t>
            </a:r>
          </a:p>
        </p:txBody>
      </p:sp>
      <p:sp>
        <p:nvSpPr>
          <p:cNvPr id="3" name="S32_SUBTITLE">
            <a:extLst xmlns:a="http://schemas.openxmlformats.org/drawingml/2006/main">
              <a:ext uri="{FF2B5EF4-FFF2-40B4-BE49-F238E27FC236}">
                <a16:creationId xmlns:a16="http://schemas.microsoft.com/office/drawing/2014/main" id="{8F501413-A24E-4B8E-9F70-2AFA623D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57275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Authorization nhạy cảm vẫn phải được quyết định ở server.</a:t>
            </a:r>
          </a:p>
        </p:txBody>
      </p:sp>
      <p:sp>
        <p:nvSpPr>
          <p:cNvPr id="4" name="S32_TITLE_RULE">
            <a:extLst xmlns:a="http://schemas.openxmlformats.org/drawingml/2006/main">
              <a:ext uri="{FF2B5EF4-FFF2-40B4-BE49-F238E27FC236}">
                <a16:creationId xmlns:a16="http://schemas.microsoft.com/office/drawing/2014/main" id="{755D6C8F-6197-4649-8EA9-C79F479A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32_FOOTER_RULE">
            <a:extLst xmlns:a="http://schemas.openxmlformats.org/drawingml/2006/main">
              <a:ext uri="{FF2B5EF4-FFF2-40B4-BE49-F238E27FC236}">
                <a16:creationId xmlns:a16="http://schemas.microsoft.com/office/drawing/2014/main" id="{4115DF3E-BB29-4DB3-8DE6-AFDA73F3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50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32_SOURCE">
            <a:extLst xmlns:a="http://schemas.openxmlformats.org/drawingml/2006/main">
              <a:ext uri="{FF2B5EF4-FFF2-40B4-BE49-F238E27FC236}">
                <a16:creationId xmlns:a16="http://schemas.microsoft.com/office/drawing/2014/main" id="{C9EF984B-AC95-4903-820E-A6503A25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NGUỒN  BaiTapTopic04.docx P487–P511 · report Lab06</a:t>
            </a:r>
          </a:p>
        </p:txBody>
      </p:sp>
      <p:sp>
        <p:nvSpPr>
          <p:cNvPr id="7" name="S32_NUMBER">
            <a:extLst xmlns:a="http://schemas.openxmlformats.org/drawingml/2006/main">
              <a:ext uri="{FF2B5EF4-FFF2-40B4-BE49-F238E27FC236}">
                <a16:creationId xmlns:a16="http://schemas.microsoft.com/office/drawing/2014/main" id="{26ED6936-E9B3-4A64-AECF-551DC14D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888880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888880"/>
                </a:solidFill>
                <a:latin typeface="Consolas"/>
                <a:ea typeface="Consolas"/>
                <a:cs typeface="Consolas"/>
              </a:rPr>
              <a:t>32</a:t>
            </a:r>
          </a:p>
        </p:txBody>
      </p:sp>
      <p:sp>
        <p:nvSpPr>
          <p:cNvPr id="8" name="S32_MATRIX_H0">
            <a:extLst xmlns:a="http://schemas.openxmlformats.org/drawingml/2006/main">
              <a:ext uri="{FF2B5EF4-FFF2-40B4-BE49-F238E27FC236}">
                <a16:creationId xmlns:a16="http://schemas.microsoft.com/office/drawing/2014/main" id="{D2FEE864-597A-4D1A-9B25-A3FF27C4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61925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MODEL</a:t>
            </a:r>
          </a:p>
        </p:txBody>
      </p:sp>
      <p:sp>
        <p:nvSpPr>
          <p:cNvPr id="9" name="S32_MATRIX_H1">
            <a:extLst xmlns:a="http://schemas.openxmlformats.org/drawingml/2006/main">
              <a:ext uri="{FF2B5EF4-FFF2-40B4-BE49-F238E27FC236}">
                <a16:creationId xmlns:a16="http://schemas.microsoft.com/office/drawing/2014/main" id="{CD0A0CC9-509B-487B-8623-AAB3E5B6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695450"/>
            <a:ext cx="66675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C</a:t>
            </a:r>
          </a:p>
        </p:txBody>
      </p:sp>
      <p:sp>
        <p:nvSpPr>
          <p:cNvPr id="10" name="S32_MATRIX_H2">
            <a:extLst xmlns:a="http://schemas.openxmlformats.org/drawingml/2006/main">
              <a:ext uri="{FF2B5EF4-FFF2-40B4-BE49-F238E27FC236}">
                <a16:creationId xmlns:a16="http://schemas.microsoft.com/office/drawing/2014/main" id="{B154926E-1CBA-46BA-BA1F-2AFD10E2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95450"/>
            <a:ext cx="66675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I</a:t>
            </a:r>
          </a:p>
        </p:txBody>
      </p:sp>
      <p:sp>
        <p:nvSpPr>
          <p:cNvPr id="11" name="S32_MATRIX_H3">
            <a:extLst xmlns:a="http://schemas.openxmlformats.org/drawingml/2006/main">
              <a:ext uri="{FF2B5EF4-FFF2-40B4-BE49-F238E27FC236}">
                <a16:creationId xmlns:a16="http://schemas.microsoft.com/office/drawing/2014/main" id="{D6E18D93-B260-4FC3-BF10-C2432016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95450"/>
            <a:ext cx="152400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REVOCABLE</a:t>
            </a:r>
          </a:p>
        </p:txBody>
      </p:sp>
      <p:sp>
        <p:nvSpPr>
          <p:cNvPr id="12" name="S32_MATRIX_H4">
            <a:extLst xmlns:a="http://schemas.openxmlformats.org/drawingml/2006/main">
              <a:ext uri="{FF2B5EF4-FFF2-40B4-BE49-F238E27FC236}">
                <a16:creationId xmlns:a16="http://schemas.microsoft.com/office/drawing/2014/main" id="{B0413AF8-B07D-4FFB-8CD8-438436D9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95450"/>
            <a:ext cx="209550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26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DÙNG CHO ROLE?</a:t>
            </a:r>
          </a:p>
        </p:txBody>
      </p:sp>
      <p:sp>
        <p:nvSpPr>
          <p:cNvPr id="13" name="S32_MATRIX_R0C0">
            <a:extLst xmlns:a="http://schemas.openxmlformats.org/drawingml/2006/main">
              <a:ext uri="{FF2B5EF4-FFF2-40B4-BE49-F238E27FC236}">
                <a16:creationId xmlns:a16="http://schemas.microsoft.com/office/drawing/2014/main" id="{92E4A4EF-0DA1-452F-9E1F-1A837C47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54250"/>
            <a:ext cx="161925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Plain</a:t>
            </a:r>
          </a:p>
        </p:txBody>
      </p:sp>
      <p:sp>
        <p:nvSpPr>
          <p:cNvPr id="14" name="S32_MATRIX_R0C1">
            <a:extLst xmlns:a="http://schemas.openxmlformats.org/drawingml/2006/main">
              <a:ext uri="{FF2B5EF4-FFF2-40B4-BE49-F238E27FC236}">
                <a16:creationId xmlns:a16="http://schemas.microsoft.com/office/drawing/2014/main" id="{0F4B3D8A-9EF8-4021-BAAF-DA0A78EC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254250"/>
            <a:ext cx="66675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—</a:t>
            </a:r>
          </a:p>
        </p:txBody>
      </p:sp>
      <p:sp>
        <p:nvSpPr>
          <p:cNvPr id="15" name="S32_MATRIX_R0C2">
            <a:extLst xmlns:a="http://schemas.openxmlformats.org/drawingml/2006/main">
              <a:ext uri="{FF2B5EF4-FFF2-40B4-BE49-F238E27FC236}">
                <a16:creationId xmlns:a16="http://schemas.microsoft.com/office/drawing/2014/main" id="{F8F5DD75-D19B-4D1C-8033-A5D118E5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254250"/>
            <a:ext cx="66675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—</a:t>
            </a:r>
          </a:p>
        </p:txBody>
      </p:sp>
      <p:sp>
        <p:nvSpPr>
          <p:cNvPr id="16" name="S32_MATRIX_R0C3">
            <a:extLst xmlns:a="http://schemas.openxmlformats.org/drawingml/2006/main">
              <a:ext uri="{FF2B5EF4-FFF2-40B4-BE49-F238E27FC236}">
                <a16:creationId xmlns:a16="http://schemas.microsoft.com/office/drawing/2014/main" id="{ECDFDCA9-FFCE-4A17-B101-3157C8DE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54250"/>
            <a:ext cx="152400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—</a:t>
            </a:r>
          </a:p>
        </p:txBody>
      </p:sp>
      <p:sp>
        <p:nvSpPr>
          <p:cNvPr id="17" name="S32_MATRIX_R0C4">
            <a:extLst xmlns:a="http://schemas.openxmlformats.org/drawingml/2006/main">
              <a:ext uri="{FF2B5EF4-FFF2-40B4-BE49-F238E27FC236}">
                <a16:creationId xmlns:a16="http://schemas.microsoft.com/office/drawing/2014/main" id="{118EDE38-6B60-48CC-86F7-EFC3A7E8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54250"/>
            <a:ext cx="209550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không</a:t>
            </a:r>
          </a:p>
        </p:txBody>
      </p:sp>
      <p:sp>
        <p:nvSpPr>
          <p:cNvPr id="18" name="S32_MATRIX_R1C0">
            <a:extLst xmlns:a="http://schemas.openxmlformats.org/drawingml/2006/main">
              <a:ext uri="{FF2B5EF4-FFF2-40B4-BE49-F238E27FC236}">
                <a16:creationId xmlns:a16="http://schemas.microsoft.com/office/drawing/2014/main" id="{E5549371-8103-4322-A2A9-D33B7189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13050"/>
            <a:ext cx="161925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Base64</a:t>
            </a:r>
          </a:p>
        </p:txBody>
      </p:sp>
      <p:sp>
        <p:nvSpPr>
          <p:cNvPr id="19" name="S32_MATRIX_R1C1">
            <a:extLst xmlns:a="http://schemas.openxmlformats.org/drawingml/2006/main">
              <a:ext uri="{FF2B5EF4-FFF2-40B4-BE49-F238E27FC236}">
                <a16:creationId xmlns:a16="http://schemas.microsoft.com/office/drawing/2014/main" id="{F6BA0263-E74F-4917-980F-885F055D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813050"/>
            <a:ext cx="66675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—</a:t>
            </a:r>
          </a:p>
        </p:txBody>
      </p:sp>
      <p:sp>
        <p:nvSpPr>
          <p:cNvPr id="20" name="S32_MATRIX_R1C2">
            <a:extLst xmlns:a="http://schemas.openxmlformats.org/drawingml/2006/main">
              <a:ext uri="{FF2B5EF4-FFF2-40B4-BE49-F238E27FC236}">
                <a16:creationId xmlns:a16="http://schemas.microsoft.com/office/drawing/2014/main" id="{54985778-03E0-4B09-842F-A2B1187B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13050"/>
            <a:ext cx="66675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—</a:t>
            </a:r>
          </a:p>
        </p:txBody>
      </p:sp>
      <p:sp>
        <p:nvSpPr>
          <p:cNvPr id="21" name="S32_MATRIX_R1C3">
            <a:extLst xmlns:a="http://schemas.openxmlformats.org/drawingml/2006/main">
              <a:ext uri="{FF2B5EF4-FFF2-40B4-BE49-F238E27FC236}">
                <a16:creationId xmlns:a16="http://schemas.microsoft.com/office/drawing/2014/main" id="{32F87F40-C0DE-456B-9607-8FF9C351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13050"/>
            <a:ext cx="152400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—</a:t>
            </a:r>
          </a:p>
        </p:txBody>
      </p:sp>
      <p:sp>
        <p:nvSpPr>
          <p:cNvPr id="22" name="S32_MATRIX_R1C4">
            <a:extLst xmlns:a="http://schemas.openxmlformats.org/drawingml/2006/main">
              <a:ext uri="{FF2B5EF4-FFF2-40B4-BE49-F238E27FC236}">
                <a16:creationId xmlns:a16="http://schemas.microsoft.com/office/drawing/2014/main" id="{24B92CD3-B3AC-407F-993F-873A2B4F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13050"/>
            <a:ext cx="209550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không</a:t>
            </a:r>
          </a:p>
        </p:txBody>
      </p:sp>
      <p:sp>
        <p:nvSpPr>
          <p:cNvPr id="23" name="S32_MATRIX_R2C0">
            <a:extLst xmlns:a="http://schemas.openxmlformats.org/drawingml/2006/main">
              <a:ext uri="{FF2B5EF4-FFF2-40B4-BE49-F238E27FC236}">
                <a16:creationId xmlns:a16="http://schemas.microsoft.com/office/drawing/2014/main" id="{DFED8E9F-FC2A-418B-8C8D-27ED853B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161925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Signed</a:t>
            </a:r>
          </a:p>
        </p:txBody>
      </p:sp>
      <p:sp>
        <p:nvSpPr>
          <p:cNvPr id="24" name="S32_MATRIX_R2C1">
            <a:extLst xmlns:a="http://schemas.openxmlformats.org/drawingml/2006/main">
              <a:ext uri="{FF2B5EF4-FFF2-40B4-BE49-F238E27FC236}">
                <a16:creationId xmlns:a16="http://schemas.microsoft.com/office/drawing/2014/main" id="{742BA1D4-0D92-4BC9-A7A1-9D165B66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371850"/>
            <a:ext cx="66675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—</a:t>
            </a:r>
          </a:p>
        </p:txBody>
      </p:sp>
      <p:sp>
        <p:nvSpPr>
          <p:cNvPr id="25" name="S32_MATRIX_R2C2">
            <a:extLst xmlns:a="http://schemas.openxmlformats.org/drawingml/2006/main">
              <a:ext uri="{FF2B5EF4-FFF2-40B4-BE49-F238E27FC236}">
                <a16:creationId xmlns:a16="http://schemas.microsoft.com/office/drawing/2014/main" id="{09AEA872-A8C9-421F-BFF6-9399E3FC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71850"/>
            <a:ext cx="66675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✓</a:t>
            </a:r>
          </a:p>
        </p:txBody>
      </p:sp>
      <p:sp>
        <p:nvSpPr>
          <p:cNvPr id="26" name="S32_MATRIX_R2C3">
            <a:extLst xmlns:a="http://schemas.openxmlformats.org/drawingml/2006/main">
              <a:ext uri="{FF2B5EF4-FFF2-40B4-BE49-F238E27FC236}">
                <a16:creationId xmlns:a16="http://schemas.microsoft.com/office/drawing/2014/main" id="{229A6F30-4D22-4E68-A0BA-082808BB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71850"/>
            <a:ext cx="152400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khó</a:t>
            </a:r>
          </a:p>
        </p:txBody>
      </p:sp>
      <p:sp>
        <p:nvSpPr>
          <p:cNvPr id="27" name="S32_MATRIX_R2C4">
            <a:extLst xmlns:a="http://schemas.openxmlformats.org/drawingml/2006/main">
              <a:ext uri="{FF2B5EF4-FFF2-40B4-BE49-F238E27FC236}">
                <a16:creationId xmlns:a16="http://schemas.microsoft.com/office/drawing/2014/main" id="{C8F4549C-F469-4E14-9B53-F004792C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71850"/>
            <a:ext cx="209550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vẫn cần server authz</a:t>
            </a:r>
          </a:p>
        </p:txBody>
      </p:sp>
      <p:sp>
        <p:nvSpPr>
          <p:cNvPr id="28" name="S32_MATRIX_R3C0">
            <a:extLst xmlns:a="http://schemas.openxmlformats.org/drawingml/2006/main">
              <a:ext uri="{FF2B5EF4-FFF2-40B4-BE49-F238E27FC236}">
                <a16:creationId xmlns:a16="http://schemas.microsoft.com/office/drawing/2014/main" id="{4B5BB2E3-1BFA-487B-B144-40A112FB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30650"/>
            <a:ext cx="161925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Encrypted</a:t>
            </a:r>
          </a:p>
        </p:txBody>
      </p:sp>
      <p:sp>
        <p:nvSpPr>
          <p:cNvPr id="29" name="S32_MATRIX_R3C1">
            <a:extLst xmlns:a="http://schemas.openxmlformats.org/drawingml/2006/main">
              <a:ext uri="{FF2B5EF4-FFF2-40B4-BE49-F238E27FC236}">
                <a16:creationId xmlns:a16="http://schemas.microsoft.com/office/drawing/2014/main" id="{91897E09-FFB4-4A11-9DCC-5484906A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30650"/>
            <a:ext cx="66675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✓</a:t>
            </a:r>
          </a:p>
        </p:txBody>
      </p:sp>
      <p:sp>
        <p:nvSpPr>
          <p:cNvPr id="30" name="S32_MATRIX_R3C2">
            <a:extLst xmlns:a="http://schemas.openxmlformats.org/drawingml/2006/main">
              <a:ext uri="{FF2B5EF4-FFF2-40B4-BE49-F238E27FC236}">
                <a16:creationId xmlns:a16="http://schemas.microsoft.com/office/drawing/2014/main" id="{97C46633-367C-4DBF-9361-9300570A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30650"/>
            <a:ext cx="66675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✓</a:t>
            </a:r>
          </a:p>
        </p:txBody>
      </p:sp>
      <p:sp>
        <p:nvSpPr>
          <p:cNvPr id="31" name="S32_MATRIX_R3C3">
            <a:extLst xmlns:a="http://schemas.openxmlformats.org/drawingml/2006/main">
              <a:ext uri="{FF2B5EF4-FFF2-40B4-BE49-F238E27FC236}">
                <a16:creationId xmlns:a16="http://schemas.microsoft.com/office/drawing/2014/main" id="{322A84DE-933B-4FB6-BA60-73F4AF40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930650"/>
            <a:ext cx="152400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khó</a:t>
            </a:r>
          </a:p>
        </p:txBody>
      </p:sp>
      <p:sp>
        <p:nvSpPr>
          <p:cNvPr id="32" name="S32_MATRIX_R3C4">
            <a:extLst xmlns:a="http://schemas.openxmlformats.org/drawingml/2006/main">
              <a:ext uri="{FF2B5EF4-FFF2-40B4-BE49-F238E27FC236}">
                <a16:creationId xmlns:a16="http://schemas.microsoft.com/office/drawing/2014/main" id="{253F2064-DB1C-473B-A403-AC8AE21F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30650"/>
            <a:ext cx="209550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0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vẫn cần server authz</a:t>
            </a:r>
          </a:p>
        </p:txBody>
      </p:sp>
      <p:sp>
        <p:nvSpPr>
          <p:cNvPr id="33" name="S32_MATRIX_R4C0">
            <a:extLst xmlns:a="http://schemas.openxmlformats.org/drawingml/2006/main">
              <a:ext uri="{FF2B5EF4-FFF2-40B4-BE49-F238E27FC236}">
                <a16:creationId xmlns:a16="http://schemas.microsoft.com/office/drawing/2014/main" id="{C790E3E4-1D0C-4154-9094-6124D934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89450"/>
            <a:ext cx="161925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Server session</a:t>
            </a:r>
          </a:p>
        </p:txBody>
      </p:sp>
      <p:sp>
        <p:nvSpPr>
          <p:cNvPr id="34" name="S32_MATRIX_R4C1">
            <a:extLst xmlns:a="http://schemas.openxmlformats.org/drawingml/2006/main">
              <a:ext uri="{FF2B5EF4-FFF2-40B4-BE49-F238E27FC236}">
                <a16:creationId xmlns:a16="http://schemas.microsoft.com/office/drawing/2014/main" id="{C7D11E71-769B-416D-9BD0-254B3EF2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89450"/>
            <a:ext cx="66675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✓</a:t>
            </a:r>
          </a:p>
        </p:txBody>
      </p:sp>
      <p:sp>
        <p:nvSpPr>
          <p:cNvPr id="35" name="S32_MATRIX_R4C2">
            <a:extLst xmlns:a="http://schemas.openxmlformats.org/drawingml/2006/main">
              <a:ext uri="{FF2B5EF4-FFF2-40B4-BE49-F238E27FC236}">
                <a16:creationId xmlns:a16="http://schemas.microsoft.com/office/drawing/2014/main" id="{42006BA4-6A7A-4C54-9354-655D0126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489450"/>
            <a:ext cx="66675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✓</a:t>
            </a:r>
          </a:p>
        </p:txBody>
      </p:sp>
      <p:sp>
        <p:nvSpPr>
          <p:cNvPr id="36" name="S32_MATRIX_R4C3">
            <a:extLst xmlns:a="http://schemas.openxmlformats.org/drawingml/2006/main">
              <a:ext uri="{FF2B5EF4-FFF2-40B4-BE49-F238E27FC236}">
                <a16:creationId xmlns:a16="http://schemas.microsoft.com/office/drawing/2014/main" id="{9BFE1AA1-0C55-4B43-8B12-89560C60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89450"/>
            <a:ext cx="152400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✓</a:t>
            </a:r>
          </a:p>
        </p:txBody>
      </p:sp>
      <p:sp>
        <p:nvSpPr>
          <p:cNvPr id="37" name="S32_MATRIX_R4C4">
            <a:extLst xmlns:a="http://schemas.openxmlformats.org/drawingml/2006/main">
              <a:ext uri="{FF2B5EF4-FFF2-40B4-BE49-F238E27FC236}">
                <a16:creationId xmlns:a16="http://schemas.microsoft.com/office/drawing/2014/main" id="{5C26ECBF-7358-429A-8E4F-63AFE867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489450"/>
            <a:ext cx="209550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66675" tIns="19050" rIns="66675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888880"/>
                </a:solidFill>
                <a:latin typeface="Bahnschrift"/>
                <a:ea typeface="Bahnschrift"/>
                <a:cs typeface="Bahnschrift"/>
              </a:rPr>
              <a:t>khuyến nghị</a:t>
            </a:r>
          </a:p>
        </p:txBody>
      </p:sp>
      <p:sp>
        <p:nvSpPr>
          <p:cNvPr id="38" name="S32_QA_1">
            <a:extLst xmlns:a="http://schemas.openxmlformats.org/drawingml/2006/main">
              <a:ext uri="{FF2B5EF4-FFF2-40B4-BE49-F238E27FC236}">
                <a16:creationId xmlns:a16="http://schemas.microsoft.com/office/drawing/2014/main" id="{FB8C1465-EDFF-47D7-B7DE-132E69A4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95450"/>
            <a:ext cx="2066925" cy="128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01  Cookie là client-controlled input.</a:t>
            </a:r>
          </a:p>
        </p:txBody>
      </p:sp>
      <p:sp>
        <p:nvSpPr>
          <p:cNvPr id="39" name="S32_QA_2">
            <a:extLst xmlns:a="http://schemas.openxmlformats.org/drawingml/2006/main">
              <a:ext uri="{FF2B5EF4-FFF2-40B4-BE49-F238E27FC236}">
                <a16:creationId xmlns:a16="http://schemas.microsoft.com/office/drawing/2014/main" id="{D93381CE-F3F3-48AD-AE6C-74BE133A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695450"/>
            <a:ext cx="2066925" cy="128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02  Poisoning sửa state; hijacking lấy token.</a:t>
            </a:r>
          </a:p>
        </p:txBody>
      </p:sp>
      <p:sp>
        <p:nvSpPr>
          <p:cNvPr id="40" name="S32_QA_3">
            <a:extLst xmlns:a="http://schemas.openxmlformats.org/drawingml/2006/main">
              <a:ext uri="{FF2B5EF4-FFF2-40B4-BE49-F238E27FC236}">
                <a16:creationId xmlns:a16="http://schemas.microsoft.com/office/drawing/2014/main" id="{662C4A36-BBC2-4BB5-979C-531E47F3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36900"/>
            <a:ext cx="2066925" cy="128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03  Base64 là encoding, không encryption.</a:t>
            </a:r>
          </a:p>
        </p:txBody>
      </p:sp>
      <p:sp>
        <p:nvSpPr>
          <p:cNvPr id="41" name="S32_QA_4">
            <a:extLst xmlns:a="http://schemas.openxmlformats.org/drawingml/2006/main">
              <a:ext uri="{FF2B5EF4-FFF2-40B4-BE49-F238E27FC236}">
                <a16:creationId xmlns:a16="http://schemas.microsoft.com/office/drawing/2014/main" id="{70430754-03E4-4A99-834B-B3D4BB00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136900"/>
            <a:ext cx="2066925" cy="128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04  Signed cookie phát hiện sửa đổi.</a:t>
            </a:r>
          </a:p>
        </p:txBody>
      </p:sp>
      <p:sp>
        <p:nvSpPr>
          <p:cNvPr id="42" name="S32_QA_5">
            <a:extLst xmlns:a="http://schemas.openxmlformats.org/drawingml/2006/main">
              <a:ext uri="{FF2B5EF4-FFF2-40B4-BE49-F238E27FC236}">
                <a16:creationId xmlns:a16="http://schemas.microsoft.com/office/drawing/2014/main" id="{836073D2-F009-417A-992B-EADB75C2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78350"/>
            <a:ext cx="2066925" cy="128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505048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05  Flags không thay authorization.</a:t>
            </a:r>
          </a:p>
        </p:txBody>
      </p:sp>
      <p:sp>
        <p:nvSpPr>
          <p:cNvPr id="43" name="S32_QA_6">
            <a:extLst xmlns:a="http://schemas.openxmlformats.org/drawingml/2006/main">
              <a:ext uri="{FF2B5EF4-FFF2-40B4-BE49-F238E27FC236}">
                <a16:creationId xmlns:a16="http://schemas.microsoft.com/office/drawing/2014/main" id="{DB81B867-38CC-4FCC-8B81-5237F6E3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578350"/>
            <a:ext cx="2066925" cy="128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18"/>
          </a:solidFill>
          <a:ln xmlns:a="http://schemas.openxmlformats.org/drawingml/2006/main" w="9525">
            <a:solidFill>
              <a:srgbClr val="E85D26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06  Server session hỗ trợ rotate + revoke.</a:t>
            </a:r>
          </a:p>
        </p:txBody>
      </p:sp>
      <p:sp>
        <p:nvSpPr>
          <p:cNvPr id="44" name="S32_RULE_BAR">
            <a:extLst xmlns:a="http://schemas.openxmlformats.org/drawingml/2006/main">
              <a:ext uri="{FF2B5EF4-FFF2-40B4-BE49-F238E27FC236}">
                <a16:creationId xmlns:a16="http://schemas.microsoft.com/office/drawing/2014/main" id="{A8E8EE79-8CD3-4E17-A392-52D45DA3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762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5" name="S32_RULE_LABEL">
            <a:extLst xmlns:a="http://schemas.openxmlformats.org/drawingml/2006/main">
              <a:ext uri="{FF2B5EF4-FFF2-40B4-BE49-F238E27FC236}">
                <a16:creationId xmlns:a16="http://schemas.microsoft.com/office/drawing/2014/main" id="{E3803904-3E09-4503-8293-1D041BA4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E85D2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E85D26"/>
                </a:solidFill>
                <a:latin typeface="Consolas"/>
                <a:ea typeface="Consolas"/>
                <a:cs typeface="Consolas"/>
              </a:rPr>
              <a:t>RULE</a:t>
            </a:r>
          </a:p>
        </p:txBody>
      </p:sp>
      <p:sp>
        <p:nvSpPr>
          <p:cNvPr id="46" name="S32_RULE_BODY">
            <a:extLst xmlns:a="http://schemas.openxmlformats.org/drawingml/2006/main">
              <a:ext uri="{FF2B5EF4-FFF2-40B4-BE49-F238E27FC236}">
                <a16:creationId xmlns:a16="http://schemas.microsoft.com/office/drawing/2014/main" id="{0BEBD86E-98D2-40B1-BC3C-BD8BFD6A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391150"/>
            <a:ext cx="4648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>
                <a:solidFill>
                  <a:srgbClr val="F0ECE5"/>
                </a:solidFill>
                <a:latin typeface="Bahnschrift"/>
                <a:ea typeface="Bahnschrift"/>
                <a:cs typeface="Bahnschrift"/>
              </a:rPr>
              <a:t>Không lưu role, is_admin, balance hoặc permission như dữ liệu authoritative ở client.</a:t>
            </a:r>
          </a:p>
        </p:txBody>
      </p:sp>
    </p:spTree>
    <p:extLst>
      <p:ext uri="{BB962C8B-B14F-4D97-AF65-F5344CB8AC3E}">
        <p14:creationId xmlns:p14="http://schemas.microsoft.com/office/powerpoint/2010/main" val="46446250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E85D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33_FOOTER_RULE">
            <a:extLst xmlns:a="http://schemas.openxmlformats.org/drawingml/2006/main">
              <a:ext uri="{FF2B5EF4-FFF2-40B4-BE49-F238E27FC236}">
                <a16:creationId xmlns:a16="http://schemas.microsoft.com/office/drawing/2014/main" id="{C7042D5C-B708-4959-8D6A-B602B30D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33_SOURCE">
            <a:extLst xmlns:a="http://schemas.openxmlformats.org/drawingml/2006/main">
              <a:ext uri="{FF2B5EF4-FFF2-40B4-BE49-F238E27FC236}">
                <a16:creationId xmlns:a16="http://schemas.microsoft.com/office/drawing/2014/main" id="{B4955805-8A72-40FB-A27E-CDEE8CE4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NGUỒN  BaiTapTopic04.docx P527–P534 · Lab01–Lab06</a:t>
            </a:r>
          </a:p>
        </p:txBody>
      </p:sp>
      <p:sp>
        <p:nvSpPr>
          <p:cNvPr id="3" name="S33_NUMBER">
            <a:extLst xmlns:a="http://schemas.openxmlformats.org/drawingml/2006/main">
              <a:ext uri="{FF2B5EF4-FFF2-40B4-BE49-F238E27FC236}">
                <a16:creationId xmlns:a16="http://schemas.microsoft.com/office/drawing/2014/main" id="{7299915D-B5FF-47EF-A556-09D8E520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33</a:t>
            </a:r>
          </a:p>
        </p:txBody>
      </p:sp>
      <p:sp>
        <p:nvSpPr>
          <p:cNvPr id="4" name="S33_KICKER">
            <a:extLst xmlns:a="http://schemas.openxmlformats.org/drawingml/2006/main">
              <a:ext uri="{FF2B5EF4-FFF2-40B4-BE49-F238E27FC236}">
                <a16:creationId xmlns:a16="http://schemas.microsoft.com/office/drawing/2014/main" id="{FC88E2BC-843E-4EE7-B873-267F8D6D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SECURITY CYCLE / ROOT-CAUSE FIRST</a:t>
            </a:r>
          </a:p>
        </p:txBody>
      </p:sp>
      <p:sp>
        <p:nvSpPr>
          <p:cNvPr id="5" name="S33_TITLE">
            <a:extLst xmlns:a="http://schemas.openxmlformats.org/drawingml/2006/main">
              <a:ext uri="{FF2B5EF4-FFF2-40B4-BE49-F238E27FC236}">
                <a16:creationId xmlns:a16="http://schemas.microsoft.com/office/drawing/2014/main" id="{EBC8A931-3AF9-40D1-9BE0-F74F45A6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1144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4050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THEO DẤU DỮ LIỆU.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050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4050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VÁ ĐÚNG ĐIỂM GÃY.</a:t>
            </a:r>
          </a:p>
        </p:txBody>
      </p:sp>
      <p:sp>
        <p:nvSpPr>
          <p:cNvPr id="6" name="S33_STEP_1">
            <a:extLst xmlns:a="http://schemas.openxmlformats.org/drawingml/2006/main">
              <a:ext uri="{FF2B5EF4-FFF2-40B4-BE49-F238E27FC236}">
                <a16:creationId xmlns:a16="http://schemas.microsoft.com/office/drawing/2014/main" id="{76D8FE67-CE6B-4DC7-96DD-9550626E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133350" tIns="11430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1 NHẬN DIỆN</a:t>
            </a:r>
          </a:p>
        </p:txBody>
      </p:sp>
      <p:sp>
        <p:nvSpPr>
          <p:cNvPr id="7" name="S33_STEP_2">
            <a:extLst xmlns:a="http://schemas.openxmlformats.org/drawingml/2006/main">
              <a:ext uri="{FF2B5EF4-FFF2-40B4-BE49-F238E27FC236}">
                <a16:creationId xmlns:a16="http://schemas.microsoft.com/office/drawing/2014/main" id="{C1FB2DF8-21FB-4B37-AAB1-693C22DB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479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133350" tIns="11430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2 KHAI THÁC LOCAL</a:t>
            </a:r>
          </a:p>
        </p:txBody>
      </p:sp>
      <p:sp>
        <p:nvSpPr>
          <p:cNvPr id="8" name="S33_STEP_3">
            <a:extLst xmlns:a="http://schemas.openxmlformats.org/drawingml/2006/main">
              <a:ext uri="{FF2B5EF4-FFF2-40B4-BE49-F238E27FC236}">
                <a16:creationId xmlns:a16="http://schemas.microsoft.com/office/drawing/2014/main" id="{25E4004A-5595-49B4-8FB6-10CA245B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133350" tIns="11430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3 QUAN SÁT</a:t>
            </a:r>
          </a:p>
        </p:txBody>
      </p:sp>
      <p:sp>
        <p:nvSpPr>
          <p:cNvPr id="9" name="S33_STEP_4">
            <a:extLst xmlns:a="http://schemas.openxmlformats.org/drawingml/2006/main">
              <a:ext uri="{FF2B5EF4-FFF2-40B4-BE49-F238E27FC236}">
                <a16:creationId xmlns:a16="http://schemas.microsoft.com/office/drawing/2014/main" id="{418B5344-CE81-4684-A9E7-2E4E8238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133350" tIns="11430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4 PHÂN TÍCH</a:t>
            </a:r>
          </a:p>
        </p:txBody>
      </p:sp>
      <p:sp>
        <p:nvSpPr>
          <p:cNvPr id="10" name="S33_STEP_5">
            <a:extLst xmlns:a="http://schemas.openxmlformats.org/drawingml/2006/main">
              <a:ext uri="{FF2B5EF4-FFF2-40B4-BE49-F238E27FC236}">
                <a16:creationId xmlns:a16="http://schemas.microsoft.com/office/drawing/2014/main" id="{004987AD-99E8-4E1D-A30A-38842232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133350" tIns="11430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5 ĐÁNH GIÁ</a:t>
            </a:r>
          </a:p>
        </p:txBody>
      </p:sp>
      <p:sp>
        <p:nvSpPr>
          <p:cNvPr id="11" name="S33_STEP_6">
            <a:extLst xmlns:a="http://schemas.openxmlformats.org/drawingml/2006/main">
              <a:ext uri="{FF2B5EF4-FFF2-40B4-BE49-F238E27FC236}">
                <a16:creationId xmlns:a16="http://schemas.microsoft.com/office/drawing/2014/main" id="{A097051A-6034-4B11-A795-6BFA3896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623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133350" tIns="11430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6 VÁ</a:t>
            </a:r>
          </a:p>
        </p:txBody>
      </p:sp>
      <p:sp>
        <p:nvSpPr>
          <p:cNvPr id="12" name="S33_STEP_7">
            <a:extLst xmlns:a="http://schemas.openxmlformats.org/drawingml/2006/main">
              <a:ext uri="{FF2B5EF4-FFF2-40B4-BE49-F238E27FC236}">
                <a16:creationId xmlns:a16="http://schemas.microsoft.com/office/drawing/2014/main" id="{21F4E762-4F21-4026-956E-E9E9A74A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623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133350" tIns="11430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111111"/>
                </a:solidFill>
                <a:latin typeface="Bahnschrift"/>
                <a:ea typeface="Bahnschrift"/>
                <a:cs typeface="Bahnschrift"/>
              </a:rPr>
              <a:t>7 RETEST</a:t>
            </a:r>
          </a:p>
        </p:txBody>
      </p:sp>
      <p:sp>
        <p:nvSpPr>
          <p:cNvPr id="13" name="S33_RULES">
            <a:extLst xmlns:a="http://schemas.openxmlformats.org/drawingml/2006/main">
              <a:ext uri="{FF2B5EF4-FFF2-40B4-BE49-F238E27FC236}">
                <a16:creationId xmlns:a16="http://schemas.microsoft.com/office/drawing/2014/main" id="{3EB8B257-9B3F-4264-BED7-713D54AE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XSS → SAFE OUTPUT/SINK   /   BUFFER → BOUNDED COPY   /   TAMPERING → SERVER POLICY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CSRF → INTENT PROOF   /   SQLi → PARAMETER BINDING   /   COOKIE → SERVER AUTHORIZATION</a:t>
            </a:r>
          </a:p>
        </p:txBody>
      </p:sp>
      <p:sp>
        <p:nvSpPr>
          <p:cNvPr id="14" name="S33_CLOSE">
            <a:extLst xmlns:a="http://schemas.openxmlformats.org/drawingml/2006/main">
              <a:ext uri="{FF2B5EF4-FFF2-40B4-BE49-F238E27FC236}">
                <a16:creationId xmlns:a16="http://schemas.microsoft.com/office/drawing/2014/main" id="{49E83AE0-E768-4BAD-A94A-8785F8EB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674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11111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CLIENT-CONTROLLED UNTIL THE SERVER PROVES OTHERWISE.</a:t>
            </a:r>
          </a:p>
        </p:txBody>
      </p:sp>
    </p:spTree>
    <p:extLst>
      <p:ext uri="{BB962C8B-B14F-4D97-AF65-F5344CB8AC3E}">
        <p14:creationId xmlns:p14="http://schemas.microsoft.com/office/powerpoint/2010/main" val="17645186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2026-07-18T14:28:31.2640000Z</dcterms:created>
  <dcterms:modified xsi:type="dcterms:W3CDTF">2026-07-18T14:28:31.2640000Z</dcterms:modified>
</coreProperties>
</file>
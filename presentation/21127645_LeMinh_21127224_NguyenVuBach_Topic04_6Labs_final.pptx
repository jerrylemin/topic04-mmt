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e17e77d60245b1" /><Relationship Type="http://schemas.openxmlformats.org/officeDocument/2006/relationships/extended-properties" Target="/docProps/app.xml" Id="Read0640f07ee45a6" /><Relationship Type="http://schemas.openxmlformats.org/officeDocument/2006/relationships/officeDocument" Target="/ppt/presentation.xml" Id="R07e9890e9da74bbc" /></Relationships>
</file>

<file path=ppt/presentation.xml><?xml version="1.0" encoding="utf-8"?>
<p:presentation xmlns:p="http://schemas.openxmlformats.org/presentationml/2006/main">
  <p:sldMasterIdLst>
    <p:sldMasterId xmlns:r="http://schemas.openxmlformats.org/officeDocument/2006/relationships" id="2147483648" r:id="R1caf7b84a5674546"/>
  </p:sldMasterIdLst>
  <p:notesMasterIdLst>
    <p:notesMasterId xmlns:r="http://schemas.openxmlformats.org/officeDocument/2006/relationships" r:id="R89ae0e53b08b4af5"/>
  </p:notesMasterIdLst>
  <p:sldIdLst>
    <p:sldId xmlns:r="http://schemas.openxmlformats.org/officeDocument/2006/relationships" id="256" r:id="Rfe822fe340284d8e"/>
    <p:sldId xmlns:r="http://schemas.openxmlformats.org/officeDocument/2006/relationships" id="257" r:id="R066cdaef85b44174"/>
    <p:sldId xmlns:r="http://schemas.openxmlformats.org/officeDocument/2006/relationships" id="258" r:id="R8d16cf2507864425"/>
    <p:sldId xmlns:r="http://schemas.openxmlformats.org/officeDocument/2006/relationships" id="259" r:id="R67e5fb5283204dc4"/>
    <p:sldId xmlns:r="http://schemas.openxmlformats.org/officeDocument/2006/relationships" id="260" r:id="R1e3e4245a3f94a64"/>
    <p:sldId xmlns:r="http://schemas.openxmlformats.org/officeDocument/2006/relationships" id="261" r:id="R68dd374241d34935"/>
    <p:sldId xmlns:r="http://schemas.openxmlformats.org/officeDocument/2006/relationships" id="262" r:id="R5b5f687930ac43a6"/>
    <p:sldId xmlns:r="http://schemas.openxmlformats.org/officeDocument/2006/relationships" id="263" r:id="R78de1a8c36c942e2"/>
    <p:sldId xmlns:r="http://schemas.openxmlformats.org/officeDocument/2006/relationships" id="264" r:id="Ra408a20ed01a4984"/>
    <p:sldId xmlns:r="http://schemas.openxmlformats.org/officeDocument/2006/relationships" id="265" r:id="Ra2c898e4331e4724"/>
    <p:sldId xmlns:r="http://schemas.openxmlformats.org/officeDocument/2006/relationships" id="266" r:id="R9b8865a88784404f"/>
    <p:sldId xmlns:r="http://schemas.openxmlformats.org/officeDocument/2006/relationships" id="267" r:id="R9fd77df33bb34f18"/>
    <p:sldId xmlns:r="http://schemas.openxmlformats.org/officeDocument/2006/relationships" id="268" r:id="R8de3563724074e16"/>
    <p:sldId xmlns:r="http://schemas.openxmlformats.org/officeDocument/2006/relationships" id="269" r:id="R8ddf9ee4f88d4c81"/>
    <p:sldId xmlns:r="http://schemas.openxmlformats.org/officeDocument/2006/relationships" id="270" r:id="R4d811f42abb64943"/>
    <p:sldId xmlns:r="http://schemas.openxmlformats.org/officeDocument/2006/relationships" id="271" r:id="R24e7a9ff2604438d"/>
    <p:sldId xmlns:r="http://schemas.openxmlformats.org/officeDocument/2006/relationships" id="272" r:id="Reaaf10b089594fc8"/>
    <p:sldId xmlns:r="http://schemas.openxmlformats.org/officeDocument/2006/relationships" id="273" r:id="Rb4e71757b4224ec5"/>
    <p:sldId xmlns:r="http://schemas.openxmlformats.org/officeDocument/2006/relationships" id="274" r:id="R8d530b6ef56949f8"/>
    <p:sldId xmlns:r="http://schemas.openxmlformats.org/officeDocument/2006/relationships" id="275" r:id="Ra50f5120ee84436f"/>
    <p:sldId xmlns:r="http://schemas.openxmlformats.org/officeDocument/2006/relationships" id="276" r:id="R7e7cc02117e2421f"/>
    <p:sldId xmlns:r="http://schemas.openxmlformats.org/officeDocument/2006/relationships" id="277" r:id="Rd8b80358e8634217"/>
    <p:sldId xmlns:r="http://schemas.openxmlformats.org/officeDocument/2006/relationships" id="278" r:id="R8609d408d680453c"/>
    <p:sldId xmlns:r="http://schemas.openxmlformats.org/officeDocument/2006/relationships" id="279" r:id="R739015a7907d414a"/>
    <p:sldId xmlns:r="http://schemas.openxmlformats.org/officeDocument/2006/relationships" id="280" r:id="R4354203d939b4c6b"/>
    <p:sldId xmlns:r="http://schemas.openxmlformats.org/officeDocument/2006/relationships" id="281" r:id="Rfba546103f46440e"/>
    <p:sldId xmlns:r="http://schemas.openxmlformats.org/officeDocument/2006/relationships" id="282" r:id="Rd8d10900ce824d65"/>
    <p:sldId xmlns:r="http://schemas.openxmlformats.org/officeDocument/2006/relationships" id="283" r:id="R52034d6bac11422a"/>
    <p:sldId xmlns:r="http://schemas.openxmlformats.org/officeDocument/2006/relationships" id="284" r:id="Rbc365c4921084473"/>
    <p:sldId xmlns:r="http://schemas.openxmlformats.org/officeDocument/2006/relationships" id="285" r:id="Ra0c66694bfa64ffa"/>
    <p:sldId xmlns:r="http://schemas.openxmlformats.org/officeDocument/2006/relationships" id="286" r:id="Rcb4fc1a60b104e1e"/>
    <p:sldId xmlns:r="http://schemas.openxmlformats.org/officeDocument/2006/relationships" id="287" r:id="Rbd44d91c62ee4aa1"/>
    <p:sldId xmlns:r="http://schemas.openxmlformats.org/officeDocument/2006/relationships" id="288" r:id="R74c256cf8652406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652101a96d4792" /><Relationship Type="http://schemas.openxmlformats.org/officeDocument/2006/relationships/slideMaster" Target="/ppt/slideMasters/slideMaster1.xml" Id="R1caf7b84a5674546" /><Relationship Type="http://schemas.openxmlformats.org/officeDocument/2006/relationships/notesMaster" Target="/ppt/notesMasters/notesMaster1.xml" Id="R89ae0e53b08b4af5" /><Relationship Type="http://schemas.openxmlformats.org/officeDocument/2006/relationships/presProps" Target="/ppt/presProps.xml" Id="R3430d48f74a34317" /><Relationship Type="http://schemas.openxmlformats.org/officeDocument/2006/relationships/tableStyles" Target="/ppt/tableStyles.xml" Id="Rcf81ed25c8624090" /><Relationship Type="http://schemas.openxmlformats.org/officeDocument/2006/relationships/slide" Target="/ppt/slides/slide1.xml" Id="Rfe822fe340284d8e" /><Relationship Type="http://schemas.openxmlformats.org/officeDocument/2006/relationships/slide" Target="/ppt/slides/slide2.xml" Id="R066cdaef85b44174" /><Relationship Type="http://schemas.openxmlformats.org/officeDocument/2006/relationships/slide" Target="/ppt/slides/slide3.xml" Id="R8d16cf2507864425" /><Relationship Type="http://schemas.openxmlformats.org/officeDocument/2006/relationships/slide" Target="/ppt/slides/slide4.xml" Id="R67e5fb5283204dc4" /><Relationship Type="http://schemas.openxmlformats.org/officeDocument/2006/relationships/slide" Target="/ppt/slides/slide5.xml" Id="R1e3e4245a3f94a64" /><Relationship Type="http://schemas.openxmlformats.org/officeDocument/2006/relationships/slide" Target="/ppt/slides/slide6.xml" Id="R68dd374241d34935" /><Relationship Type="http://schemas.openxmlformats.org/officeDocument/2006/relationships/slide" Target="/ppt/slides/slide7.xml" Id="R5b5f687930ac43a6" /><Relationship Type="http://schemas.openxmlformats.org/officeDocument/2006/relationships/slide" Target="/ppt/slides/slide8.xml" Id="R78de1a8c36c942e2" /><Relationship Type="http://schemas.openxmlformats.org/officeDocument/2006/relationships/slide" Target="/ppt/slides/slide9.xml" Id="Ra408a20ed01a4984" /><Relationship Type="http://schemas.openxmlformats.org/officeDocument/2006/relationships/slide" Target="/ppt/slides/slide10.xml" Id="Ra2c898e4331e4724" /><Relationship Type="http://schemas.openxmlformats.org/officeDocument/2006/relationships/slide" Target="/ppt/slides/slide11.xml" Id="R9b8865a88784404f" /><Relationship Type="http://schemas.openxmlformats.org/officeDocument/2006/relationships/slide" Target="/ppt/slides/slide12.xml" Id="R9fd77df33bb34f18" /><Relationship Type="http://schemas.openxmlformats.org/officeDocument/2006/relationships/slide" Target="/ppt/slides/slide13.xml" Id="R8de3563724074e16" /><Relationship Type="http://schemas.openxmlformats.org/officeDocument/2006/relationships/slide" Target="/ppt/slides/slide14.xml" Id="R8ddf9ee4f88d4c81" /><Relationship Type="http://schemas.openxmlformats.org/officeDocument/2006/relationships/slide" Target="/ppt/slides/slide15.xml" Id="R4d811f42abb64943" /><Relationship Type="http://schemas.openxmlformats.org/officeDocument/2006/relationships/slide" Target="/ppt/slides/slide16.xml" Id="R24e7a9ff2604438d" /><Relationship Type="http://schemas.openxmlformats.org/officeDocument/2006/relationships/slide" Target="/ppt/slides/slide17.xml" Id="Reaaf10b089594fc8" /><Relationship Type="http://schemas.openxmlformats.org/officeDocument/2006/relationships/slide" Target="/ppt/slides/slide18.xml" Id="Rb4e71757b4224ec5" /><Relationship Type="http://schemas.openxmlformats.org/officeDocument/2006/relationships/slide" Target="/ppt/slides/slide19.xml" Id="R8d530b6ef56949f8" /><Relationship Type="http://schemas.openxmlformats.org/officeDocument/2006/relationships/slide" Target="/ppt/slides/slide20.xml" Id="Ra50f5120ee84436f" /><Relationship Type="http://schemas.openxmlformats.org/officeDocument/2006/relationships/slide" Target="/ppt/slides/slide21.xml" Id="R7e7cc02117e2421f" /><Relationship Type="http://schemas.openxmlformats.org/officeDocument/2006/relationships/slide" Target="/ppt/slides/slide22.xml" Id="Rd8b80358e8634217" /><Relationship Type="http://schemas.openxmlformats.org/officeDocument/2006/relationships/slide" Target="/ppt/slides/slide23.xml" Id="R8609d408d680453c" /><Relationship Type="http://schemas.openxmlformats.org/officeDocument/2006/relationships/slide" Target="/ppt/slides/slide24.xml" Id="R739015a7907d414a" /><Relationship Type="http://schemas.openxmlformats.org/officeDocument/2006/relationships/slide" Target="/ppt/slides/slide25.xml" Id="R4354203d939b4c6b" /><Relationship Type="http://schemas.openxmlformats.org/officeDocument/2006/relationships/slide" Target="/ppt/slides/slide26.xml" Id="Rfba546103f46440e" /><Relationship Type="http://schemas.openxmlformats.org/officeDocument/2006/relationships/slide" Target="/ppt/slides/slide27.xml" Id="Rd8d10900ce824d65" /><Relationship Type="http://schemas.openxmlformats.org/officeDocument/2006/relationships/slide" Target="/ppt/slides/slide28.xml" Id="R52034d6bac11422a" /><Relationship Type="http://schemas.openxmlformats.org/officeDocument/2006/relationships/slide" Target="/ppt/slides/slide29.xml" Id="Rbc365c4921084473" /><Relationship Type="http://schemas.openxmlformats.org/officeDocument/2006/relationships/slide" Target="/ppt/slides/slide30.xml" Id="Ra0c66694bfa64ffa" /><Relationship Type="http://schemas.openxmlformats.org/officeDocument/2006/relationships/slide" Target="/ppt/slides/slide31.xml" Id="Rcb4fc1a60b104e1e" /><Relationship Type="http://schemas.openxmlformats.org/officeDocument/2006/relationships/slide" Target="/ppt/slides/slide32.xml" Id="Rbd44d91c62ee4aa1" /><Relationship Type="http://schemas.openxmlformats.org/officeDocument/2006/relationships/slide" Target="/ppt/slides/slide33.xml" Id="R74c256cf865240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d686639ebe41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a40b0f3074d9f" /><Relationship Type="http://schemas.openxmlformats.org/officeDocument/2006/relationships/notesMaster" Target="/ppt/notesMasters/notesMaster1.xml" Id="R2b566f891a11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309f981fbf41d2" /><Relationship Type="http://schemas.openxmlformats.org/officeDocument/2006/relationships/notesMaster" Target="/ppt/notesMasters/notesMaster1.xml" Id="R60f782f2c31148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ba4cca4e4e41ae" /><Relationship Type="http://schemas.openxmlformats.org/officeDocument/2006/relationships/notesMaster" Target="/ppt/notesMasters/notesMaster1.xml" Id="Ra7e55880477c49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61e317df204f7b" /><Relationship Type="http://schemas.openxmlformats.org/officeDocument/2006/relationships/notesMaster" Target="/ppt/notesMasters/notesMaster1.xml" Id="R89532fb6d1bd4c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1dc68a97e04116" /><Relationship Type="http://schemas.openxmlformats.org/officeDocument/2006/relationships/notesMaster" Target="/ppt/notesMasters/notesMaster1.xml" Id="R5752f21ba10a41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3e9aa2c65740b4" /><Relationship Type="http://schemas.openxmlformats.org/officeDocument/2006/relationships/notesMaster" Target="/ppt/notesMasters/notesMaster1.xml" Id="R5033fa8562cc4f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db54a786d34071" /><Relationship Type="http://schemas.openxmlformats.org/officeDocument/2006/relationships/notesMaster" Target="/ppt/notesMasters/notesMaster1.xml" Id="Redd68bb843014c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a622590e204629" /><Relationship Type="http://schemas.openxmlformats.org/officeDocument/2006/relationships/notesMaster" Target="/ppt/notesMasters/notesMaster1.xml" Id="Rf0948e4ad6ea49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b6a77907254541" /><Relationship Type="http://schemas.openxmlformats.org/officeDocument/2006/relationships/notesMaster" Target="/ppt/notesMasters/notesMaster1.xml" Id="R0d9cece8179c43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99fc47bb244a2e" /><Relationship Type="http://schemas.openxmlformats.org/officeDocument/2006/relationships/notesMaster" Target="/ppt/notesMasters/notesMaster1.xml" Id="R1279c799f5bb4b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5ea9c7ec0a4e26" /><Relationship Type="http://schemas.openxmlformats.org/officeDocument/2006/relationships/notesMaster" Target="/ppt/notesMasters/notesMaster1.xml" Id="R90006e09086444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3ed1d7b04f45e4" /><Relationship Type="http://schemas.openxmlformats.org/officeDocument/2006/relationships/notesMaster" Target="/ppt/notesMasters/notesMaster1.xml" Id="R0c51e47b1d1e4a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249efadd994fb7" /><Relationship Type="http://schemas.openxmlformats.org/officeDocument/2006/relationships/notesMaster" Target="/ppt/notesMasters/notesMaster1.xml" Id="R61bf7fa4f2594f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93b92f3ea042de" /><Relationship Type="http://schemas.openxmlformats.org/officeDocument/2006/relationships/notesMaster" Target="/ppt/notesMasters/notesMaster1.xml" Id="R634c6438329e4d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7a94a845d44b6d" /><Relationship Type="http://schemas.openxmlformats.org/officeDocument/2006/relationships/notesMaster" Target="/ppt/notesMasters/notesMaster1.xml" Id="R29e2e3ca696541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ef4ee846864f9e" /><Relationship Type="http://schemas.openxmlformats.org/officeDocument/2006/relationships/notesMaster" Target="/ppt/notesMasters/notesMaster1.xml" Id="R1f2de46df04e42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8155d3507d452a" /><Relationship Type="http://schemas.openxmlformats.org/officeDocument/2006/relationships/notesMaster" Target="/ppt/notesMasters/notesMaster1.xml" Id="R3bbde9579be34a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6de91c2c7f4aae" /><Relationship Type="http://schemas.openxmlformats.org/officeDocument/2006/relationships/notesMaster" Target="/ppt/notesMasters/notesMaster1.xml" Id="R76093169150a4b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79983f77784e51" /><Relationship Type="http://schemas.openxmlformats.org/officeDocument/2006/relationships/notesMaster" Target="/ppt/notesMasters/notesMaster1.xml" Id="R78a6aee2af2b4e7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1326bc342c24363" /><Relationship Type="http://schemas.openxmlformats.org/officeDocument/2006/relationships/notesMaster" Target="/ppt/notesMasters/notesMaster1.xml" Id="R08a648511b894a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5ddf785ae045b4" /><Relationship Type="http://schemas.openxmlformats.org/officeDocument/2006/relationships/notesMaster" Target="/ppt/notesMasters/notesMaster1.xml" Id="Re159a63376274c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e7082ff5a1e4459" /><Relationship Type="http://schemas.openxmlformats.org/officeDocument/2006/relationships/notesMaster" Target="/ppt/notesMasters/notesMaster1.xml" Id="Rfff80688cfb4434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2f5eac29f04a22" /><Relationship Type="http://schemas.openxmlformats.org/officeDocument/2006/relationships/notesMaster" Target="/ppt/notesMasters/notesMaster1.xml" Id="R5bcb1d10962a47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de3ea29f2244cd" /><Relationship Type="http://schemas.openxmlformats.org/officeDocument/2006/relationships/notesMaster" Target="/ppt/notesMasters/notesMaster1.xml" Id="Ra55994b7e7fe471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dce52fff8d433c" /><Relationship Type="http://schemas.openxmlformats.org/officeDocument/2006/relationships/notesMaster" Target="/ppt/notesMasters/notesMaster1.xml" Id="Rb69c3f00339b41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d6db6d604d464e" /><Relationship Type="http://schemas.openxmlformats.org/officeDocument/2006/relationships/notesMaster" Target="/ppt/notesMasters/notesMaster1.xml" Id="R8cbf7ec41b3e4a9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de758c30c8b4c9e" /><Relationship Type="http://schemas.openxmlformats.org/officeDocument/2006/relationships/notesMaster" Target="/ppt/notesMasters/notesMaster1.xml" Id="R0f48363e5a80440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f69f4c3dbbe4842" /><Relationship Type="http://schemas.openxmlformats.org/officeDocument/2006/relationships/notesMaster" Target="/ppt/notesMasters/notesMaster1.xml" Id="Rf8ea7a1fbe8046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e83123b47340b8" /><Relationship Type="http://schemas.openxmlformats.org/officeDocument/2006/relationships/notesMaster" Target="/ppt/notesMasters/notesMaster1.xml" Id="R4483789a751f4c5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8de40602da4323" /><Relationship Type="http://schemas.openxmlformats.org/officeDocument/2006/relationships/notesMaster" Target="/ppt/notesMasters/notesMaster1.xml" Id="R0c113a3457a949d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bda0bf120074ec5" /><Relationship Type="http://schemas.openxmlformats.org/officeDocument/2006/relationships/notesMaster" Target="/ppt/notesMasters/notesMaster1.xml" Id="R34df2d3ed8244f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81cf0a58e44fa2" /><Relationship Type="http://schemas.openxmlformats.org/officeDocument/2006/relationships/notesMaster" Target="/ppt/notesMasters/notesMaster1.xml" Id="R7abb42da597f4d6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c71cb500a34f56" /><Relationship Type="http://schemas.openxmlformats.org/officeDocument/2006/relationships/notesMaster" Target="/ppt/notesMasters/notesMaster1.xml" Id="R4a3945cf1b904b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01 — Tổng quan</a:t>
            </a:r>
          </a:p>
          <a:p xmlns:a="http://schemas.openxmlformats.org/drawingml/2006/main">
            <a:r>
              <a:t/>
            </a:r>
          </a:p>
          <a:p xmlns:a="http://schemas.openxmlformats.org/drawingml/2006/main">
            <a:r>
              <a:t>NGUỒN ĐỐI CHIẾU</a:t>
            </a:r>
          </a:p>
          <a:p xmlns:a="http://schemas.openxmlformats.org/drawingml/2006/main">
            <a:r>
              <a:t>BaiTapTopic04.docx; README và báo cáo Lab01–Lab06</a:t>
            </a:r>
          </a:p>
          <a:p xmlns:a="http://schemas.openxmlformats.org/drawingml/2006/main">
            <a:r>
              <a:t/>
            </a:r>
          </a:p>
          <a:p xmlns:a="http://schemas.openxmlformats.org/drawingml/2006/main">
            <a:r>
              <a:t>GỢI Ý THUYẾT TRÌNH</a:t>
            </a:r>
          </a:p>
          <a:p xmlns:a="http://schemas.openxmlformats.org/drawingml/2006/main">
            <a:r>
              <a:t>Mở đầu bằng luận điểm: sáu lỗi khác tên nhưng đều xuất hiện khi ứng dụng đặt niềm tin sai chỗ ở một ranh giới dữ liệu.</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02 — Tổng quan</a:t>
            </a:r>
          </a:p>
          <a:p xmlns:a="http://schemas.openxmlformats.org/drawingml/2006/main">
            <a:r>
              <a:t/>
            </a:r>
          </a:p>
          <a:p xmlns:a="http://schemas.openxmlformats.org/drawingml/2006/main">
            <a:r>
              <a:t>NGUỒN ĐỐI CHIẾU</a:t>
            </a:r>
          </a:p>
          <a:p xmlns:a="http://schemas.openxmlformats.org/drawingml/2006/main">
            <a:r>
              <a:t>BaiTapTopic04.docx · quy định an toàn chung; app/source của sáu lab</a:t>
            </a:r>
          </a:p>
          <a:p xmlns:a="http://schemas.openxmlformats.org/drawingml/2006/main">
            <a:r>
              <a:t/>
            </a:r>
          </a:p>
          <a:p xmlns:a="http://schemas.openxmlformats.org/drawingml/2006/main">
            <a:r>
              <a:t>GỢI Ý THUYẾT TRÌNH</a:t>
            </a:r>
          </a:p>
          <a:p xmlns:a="http://schemas.openxmlformats.org/drawingml/2006/main">
            <a:r>
              <a:t>Dùng vòng đời dữ liệu làm khung đọc. Mọi thực hành chỉ diễn ra trong môi trường local hoặc nền tảng học tập hợp pháp; tuyệt đối không thử trên hệ thống thật.</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03 — Lab01</a:t>
            </a:r>
          </a:p>
          <a:p xmlns:a="http://schemas.openxmlformats.org/drawingml/2006/main">
            <a:r>
              <a:t/>
            </a:r>
          </a:p>
          <a:p xmlns:a="http://schemas.openxmlformats.org/drawingml/2006/main">
            <a:r>
              <a:t>NGUỒN ĐỐI CHIẾU</a:t>
            </a:r>
          </a:p>
          <a:p xmlns:a="http://schemas.openxmlformats.org/drawingml/2006/main">
            <a:r>
              <a:t>Lab01/app.py; Lab01/static/js/dom_vulnerable.js; report Lab01</a:t>
            </a:r>
          </a:p>
          <a:p xmlns:a="http://schemas.openxmlformats.org/drawingml/2006/main">
            <a:r>
              <a:t/>
            </a:r>
          </a:p>
          <a:p xmlns:a="http://schemas.openxmlformats.org/drawingml/2006/main">
            <a:r>
              <a:t>GỢI Ý THUYẾT TRÌNH</a:t>
            </a:r>
          </a:p>
          <a:p xmlns:a="http://schemas.openxmlformats.org/drawingml/2006/main">
            <a:r>
              <a:t>Nhấn mạnh Stored nguy hiểm hơn vì payload tồn tại và phát lại cho nhiều nạn nhân. DOM XSS vẫn là XSS dù lỗi hoàn toàn ở client.</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04 — Lab01</a:t>
            </a:r>
          </a:p>
          <a:p xmlns:a="http://schemas.openxmlformats.org/drawingml/2006/main">
            <a:r>
              <a:t/>
            </a:r>
          </a:p>
          <a:p xmlns:a="http://schemas.openxmlformats.org/drawingml/2006/main">
            <a:r>
              <a:t>NGUỒN ĐỐI CHIẾU</a:t>
            </a:r>
          </a:p>
          <a:p xmlns:a="http://schemas.openxmlformats.org/drawingml/2006/main">
            <a:r>
              <a:t>Lab01/app.py routes /vulnerable/search và /vulnerable/post/1/comments</a:t>
            </a:r>
          </a:p>
          <a:p xmlns:a="http://schemas.openxmlformats.org/drawingml/2006/main">
            <a:r>
              <a:t/>
            </a:r>
          </a:p>
          <a:p xmlns:a="http://schemas.openxmlformats.org/drawingml/2006/main">
            <a:r>
              <a:t>GỢI Ý THUYẾT TRÌNH</a:t>
            </a:r>
          </a:p>
          <a:p xmlns:a="http://schemas.openxmlformats.org/drawingml/2006/main">
            <a:r>
              <a:t>Bắt đầu bằng baseline chuỗi thường, quan sát HTML, rồi mới gửi payload alert an toàn. Với Stored, reload hoặc dùng user khác để xác nhận dữ liệu đã lưu phát lại.</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05 — Lab01</a:t>
            </a:r>
          </a:p>
          <a:p xmlns:a="http://schemas.openxmlformats.org/drawingml/2006/main">
            <a:r>
              <a:t/>
            </a:r>
          </a:p>
          <a:p xmlns:a="http://schemas.openxmlformats.org/drawingml/2006/main">
            <a:r>
              <a:t>NGUỒN ĐỐI CHIẾU</a:t>
            </a:r>
          </a:p>
          <a:p xmlns:a="http://schemas.openxmlformats.org/drawingml/2006/main">
            <a:r>
              <a:t>Lab01/static/js/dom_vulnerable.js; Lab01/static/js/dom_secure.js</a:t>
            </a:r>
          </a:p>
          <a:p xmlns:a="http://schemas.openxmlformats.org/drawingml/2006/main">
            <a:r>
              <a:t/>
            </a:r>
          </a:p>
          <a:p xmlns:a="http://schemas.openxmlformats.org/drawingml/2006/main">
            <a:r>
              <a:t>GỢI Ý THUYẾT TRÌNH</a:t>
            </a:r>
          </a:p>
          <a:p xmlns:a="http://schemas.openxmlformats.org/drawingml/2006/main">
            <a:r>
              <a:t>Đối chiếu đúng một dòng innerHTML và textContent. Fragment là source; DOM API là sink; server có thể không hề nhìn thấy payload.</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06 — Lab01</a:t>
            </a:r>
          </a:p>
          <a:p xmlns:a="http://schemas.openxmlformats.org/drawingml/2006/main">
            <a:r>
              <a:t/>
            </a:r>
          </a:p>
          <a:p xmlns:a="http://schemas.openxmlformats.org/drawingml/2006/main">
            <a:r>
              <a:t>NGUỒN ĐỐI CHIẾU</a:t>
            </a:r>
          </a:p>
          <a:p xmlns:a="http://schemas.openxmlformats.org/drawingml/2006/main">
            <a:r>
              <a:t>Lab01/app.py secure routes; bleach.clean; CSP; static/js/dom_secure.js</a:t>
            </a:r>
          </a:p>
          <a:p xmlns:a="http://schemas.openxmlformats.org/drawingml/2006/main">
            <a:r>
              <a:t/>
            </a:r>
          </a:p>
          <a:p xmlns:a="http://schemas.openxmlformats.org/drawingml/2006/main">
            <a:r>
              <a:t>GỢI Ý THUYẾT TRÌNH</a:t>
            </a:r>
          </a:p>
          <a:p xmlns:a="http://schemas.openxmlformats.org/drawingml/2006/main">
            <a:r>
              <a:t>Phân biệt bản vá nguyên nhân gốc với lớp bổ sung. Contextual encoding phải đúng bốn ngữ cảnh HTML, JavaScript, URL và Attribute.</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07 — Lab01</a:t>
            </a:r>
          </a:p>
          <a:p xmlns:a="http://schemas.openxmlformats.org/drawingml/2006/main">
            <a:r>
              <a:t/>
            </a:r>
          </a:p>
          <a:p xmlns:a="http://schemas.openxmlformats.org/drawingml/2006/main">
            <a:r>
              <a:t>NGUỒN ĐỐI CHIẾU</a:t>
            </a:r>
          </a:p>
          <a:p xmlns:a="http://schemas.openxmlformats.org/drawingml/2006/main">
            <a:r>
              <a:t>BaiTapTopic04.docx; report 21127645_LeMinh_21127224_NguyenVuBach_Lab01_XSS.docx</a:t>
            </a:r>
          </a:p>
          <a:p xmlns:a="http://schemas.openxmlformats.org/drawingml/2006/main">
            <a:r>
              <a:t/>
            </a:r>
          </a:p>
          <a:p xmlns:a="http://schemas.openxmlformats.org/drawingml/2006/main">
            <a:r>
              <a:t>GỢI Ý THUYẾT TRÌNH</a:t>
            </a:r>
          </a:p>
          <a:p xmlns:a="http://schemas.openxmlformats.org/drawingml/2006/main">
            <a:r>
              <a:t>Dùng slide như checklist trả lời báo cáo. Bằng chứng phải cho thấy cả vulnerable và secure, không chỉ popup alert.</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08 — Lab02</a:t>
            </a:r>
          </a:p>
          <a:p xmlns:a="http://schemas.openxmlformats.org/drawingml/2006/main">
            <a:r>
              <a:t/>
            </a:r>
          </a:p>
          <a:p xmlns:a="http://schemas.openxmlformats.org/drawingml/2006/main">
            <a:r>
              <a:t>NGUỒN ĐỐI CHIẾU</a:t>
            </a:r>
          </a:p>
          <a:p xmlns:a="http://schemas.openxmlformats.org/drawingml/2006/main">
            <a:r>
              <a:t>Lab02/app.py; Lab02/native_runner.py; Lab02/native/vulnerable_processor.c</a:t>
            </a:r>
          </a:p>
          <a:p xmlns:a="http://schemas.openxmlformats.org/drawingml/2006/main">
            <a:r>
              <a:t/>
            </a:r>
          </a:p>
          <a:p xmlns:a="http://schemas.openxmlformats.org/drawingml/2006/main">
            <a:r>
              <a:t>GỢI Ý THUYẾT TRÌNH</a:t>
            </a:r>
          </a:p>
          <a:p xmlns:a="http://schemas.openxmlformats.org/drawingml/2006/main">
            <a:r>
              <a:t>Giải thích tại sao một request web bình thường vẫn kích hoạt bug native. Scope lab dừng ở crash/quan sát bộ nhớ, không chuyển sang khai thác thực chiến.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09 — Lab02</a:t>
            </a:r>
          </a:p>
          <a:p xmlns:a="http://schemas.openxmlformats.org/drawingml/2006/main">
            <a:r>
              <a:t/>
            </a:r>
          </a:p>
          <a:p xmlns:a="http://schemas.openxmlformats.org/drawingml/2006/main">
            <a:r>
              <a:t>NGUỒN ĐỐI CHIẾU</a:t>
            </a:r>
          </a:p>
          <a:p xmlns:a="http://schemas.openxmlformats.org/drawingml/2006/main">
            <a:r>
              <a:t>Lab02/native/vulnerable_processor.c; NAME_BUFFER_SIZE=32</a:t>
            </a:r>
          </a:p>
          <a:p xmlns:a="http://schemas.openxmlformats.org/drawingml/2006/main">
            <a:r>
              <a:t/>
            </a:r>
          </a:p>
          <a:p xmlns:a="http://schemas.openxmlformats.org/drawingml/2006/main">
            <a:r>
              <a:t>GỢI Ý THUYẾT TRÌNH</a:t>
            </a:r>
          </a:p>
          <a:p xmlns:a="http://schemas.openxmlformats.org/drawingml/2006/main">
            <a:r>
              <a:t>Không nói 32 ký tự dữ liệu hợp lệ: chuỗi C cần byte null. Hậu quả là undefined behavior, có thể crash hoặc phá hỏng control data.</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Lab02</a:t>
            </a:r>
          </a:p>
          <a:p xmlns:a="http://schemas.openxmlformats.org/drawingml/2006/main">
            <a:r>
              <a:t/>
            </a:r>
          </a:p>
          <a:p xmlns:a="http://schemas.openxmlformats.org/drawingml/2006/main">
            <a:r>
              <a:t>NGUỒN ĐỐI CHIẾU</a:t>
            </a:r>
          </a:p>
          <a:p xmlns:a="http://schemas.openxmlformats.org/drawingml/2006/main">
            <a:r>
              <a:t>Lab02/README.md; Lab02/gdb/README_GDB.md; screenshot manifest</a:t>
            </a:r>
          </a:p>
          <a:p xmlns:a="http://schemas.openxmlformats.org/drawingml/2006/main">
            <a:r>
              <a:t/>
            </a:r>
          </a:p>
          <a:p xmlns:a="http://schemas.openxmlformats.org/drawingml/2006/main">
            <a:r>
              <a:t>GỢI Ý THUYẾT TRÌNH</a:t>
            </a:r>
          </a:p>
          <a:p xmlns:a="http://schemas.openxmlformats.org/drawingml/2006/main">
            <a:r>
              <a:t>Ảnh GDB/ASan phải cho thấy crash location, stack state và input length gây lỗi. Hai ảnh còn lại chứng minh payload thật và secure_length từ chối cùng độ dài.</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Lab02</a:t>
            </a:r>
          </a:p>
          <a:p xmlns:a="http://schemas.openxmlformats.org/drawingml/2006/main">
            <a:r>
              <a:t/>
            </a:r>
          </a:p>
          <a:p xmlns:a="http://schemas.openxmlformats.org/drawingml/2006/main">
            <a:r>
              <a:t>NGUỒN ĐỐI CHIẾU</a:t>
            </a:r>
          </a:p>
          <a:p xmlns:a="http://schemas.openxmlformats.org/drawingml/2006/main">
            <a:r>
              <a:t>Lab02/native/secure_length_processor.c; secure_snprintf_processor.c; Lab02/config.py</a:t>
            </a:r>
          </a:p>
          <a:p xmlns:a="http://schemas.openxmlformats.org/drawingml/2006/main">
            <a:r>
              <a:t/>
            </a:r>
          </a:p>
          <a:p xmlns:a="http://schemas.openxmlformats.org/drawingml/2006/main">
            <a:r>
              <a:t>GỢI Ý THUYẾT TRÌNH</a:t>
            </a:r>
          </a:p>
          <a:p xmlns:a="http://schemas.openxmlformats.org/drawingml/2006/main">
            <a:r>
              <a:t>Request limit và input limit web vẫn lớn hơn buffer native; vì vậy phải giữ invariant ngay tại boundary gọi code C.</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Lab02</a:t>
            </a:r>
          </a:p>
          <a:p xmlns:a="http://schemas.openxmlformats.org/drawingml/2006/main">
            <a:r>
              <a:t/>
            </a:r>
          </a:p>
          <a:p xmlns:a="http://schemas.openxmlformats.org/drawingml/2006/main">
            <a:r>
              <a:t>NGUỒN ĐỐI CHIẾU</a:t>
            </a:r>
          </a:p>
          <a:p xmlns:a="http://schemas.openxmlformats.org/drawingml/2006/main">
            <a:r>
              <a:t>Lab02/Makefile; BaiTapTopic04.docx; report Lab02</a:t>
            </a:r>
          </a:p>
          <a:p xmlns:a="http://schemas.openxmlformats.org/drawingml/2006/main">
            <a:r>
              <a:t/>
            </a:r>
          </a:p>
          <a:p xmlns:a="http://schemas.openxmlformats.org/drawingml/2006/main">
            <a:r>
              <a:t>GỢI Ý THUYẾT TRÌNH</a:t>
            </a:r>
          </a:p>
          <a:p xmlns:a="http://schemas.openxmlformats.org/drawingml/2006/main">
            <a:r>
              <a:t>Trả lời trực tiếp năm câu hỏi báo cáo. Nhấn mạnh ASLR/NX/Canary có thể biến khai thác thành crash nhưng không làm strcpy an toàn.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Lab03</a:t>
            </a:r>
          </a:p>
          <a:p xmlns:a="http://schemas.openxmlformats.org/drawingml/2006/main">
            <a:r>
              <a:t/>
            </a:r>
          </a:p>
          <a:p xmlns:a="http://schemas.openxmlformats.org/drawingml/2006/main">
            <a:r>
              <a:t>NGUỒN ĐỐI CHIẾU</a:t>
            </a:r>
          </a:p>
          <a:p xmlns:a="http://schemas.openxmlformats.org/drawingml/2006/main">
            <a:r>
              <a:t>Lab03/app.py; Lab03/services.py; Lab03/authorization.py</a:t>
            </a:r>
          </a:p>
          <a:p xmlns:a="http://schemas.openxmlformats.org/drawingml/2006/main">
            <a:r>
              <a:t/>
            </a:r>
          </a:p>
          <a:p xmlns:a="http://schemas.openxmlformats.org/drawingml/2006/main">
            <a:r>
              <a:t>GỢI Ý THUYẾT TRÌNH</a:t>
            </a:r>
          </a:p>
          <a:p xmlns:a="http://schemas.openxmlformats.org/drawingml/2006/main">
            <a:r>
              <a:t>Tách validation kiểu/range khỏi authorization nghiệp vụ. Một integer đúng cú pháp vẫn có thể là object của người khác hoặc giá không hợp lệ.</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Lab03</a:t>
            </a:r>
          </a:p>
          <a:p xmlns:a="http://schemas.openxmlformats.org/drawingml/2006/main">
            <a:r>
              <a:t/>
            </a:r>
          </a:p>
          <a:p xmlns:a="http://schemas.openxmlformats.org/drawingml/2006/main">
            <a:r>
              <a:t>NGUỒN ĐỐI CHIẾU</a:t>
            </a:r>
          </a:p>
          <a:p xmlns:a="http://schemas.openxmlformats.org/drawingml/2006/main">
            <a:r>
              <a:t>Lab03/services.py vulnerable_checkout/secure_checkout; seed product 5 price 100000</a:t>
            </a:r>
          </a:p>
          <a:p xmlns:a="http://schemas.openxmlformats.org/drawingml/2006/main">
            <a:r>
              <a:t/>
            </a:r>
          </a:p>
          <a:p xmlns:a="http://schemas.openxmlformats.org/drawingml/2006/main">
            <a:r>
              <a:t>GỢI Ý THUYẾT TRÌNH</a:t>
            </a:r>
          </a:p>
          <a:p xmlns:a="http://schemas.openxmlformats.org/drawingml/2006/main">
            <a:r>
              <a:t>Dùng cùng product_id=5, quantity=1 để đối chiếu. Client price chỉ là gợi ý hiển thị; quyết định tài chính phải dựa trên dữ liệu authoritative ở server.</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Lab03</a:t>
            </a:r>
          </a:p>
          <a:p xmlns:a="http://schemas.openxmlformats.org/drawingml/2006/main">
            <a:r>
              <a:t/>
            </a:r>
          </a:p>
          <a:p xmlns:a="http://schemas.openxmlformats.org/drawingml/2006/main">
            <a:r>
              <a:t>NGUỒN ĐỐI CHIẾU</a:t>
            </a:r>
          </a:p>
          <a:p xmlns:a="http://schemas.openxmlformats.org/drawingml/2006/main">
            <a:r>
              <a:t>Lab03/authorization.py authorize_invoice; seed invoices 1001/1002</a:t>
            </a:r>
          </a:p>
          <a:p xmlns:a="http://schemas.openxmlformats.org/drawingml/2006/main">
            <a:r>
              <a:t/>
            </a:r>
          </a:p>
          <a:p xmlns:a="http://schemas.openxmlformats.org/drawingml/2006/main">
            <a:r>
              <a:t>GỢI Ý THUYẾT TRÌNH</a:t>
            </a:r>
          </a:p>
          <a:p xmlns:a="http://schemas.openxmlformats.org/drawingml/2006/main">
            <a:r>
              <a:t>IDOR thuộc Broken Access Control. Route secure phải kiểm tra ownership theo session identity hoặc quyền admin trước khi trả dữ liệu.</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Lab03</a:t>
            </a:r>
          </a:p>
          <a:p xmlns:a="http://schemas.openxmlformats.org/drawingml/2006/main">
            <a:r>
              <a:t/>
            </a:r>
          </a:p>
          <a:p xmlns:a="http://schemas.openxmlformats.org/drawingml/2006/main">
            <a:r>
              <a:t>NGUỒN ĐỐI CHIẾU</a:t>
            </a:r>
          </a:p>
          <a:p xmlns:a="http://schemas.openxmlformats.org/drawingml/2006/main">
            <a:r>
              <a:t>Lab03/services.py vulnerable_profile/secure_profile; authorization.py</a:t>
            </a:r>
          </a:p>
          <a:p xmlns:a="http://schemas.openxmlformats.org/drawingml/2006/main">
            <a:r>
              <a:t/>
            </a:r>
          </a:p>
          <a:p xmlns:a="http://schemas.openxmlformats.org/drawingml/2006/main">
            <a:r>
              <a:t>GỢI Ý THUYẾT TRÌNH</a:t>
            </a:r>
          </a:p>
          <a:p xmlns:a="http://schemas.openxmlformats.org/drawingml/2006/main">
            <a:r>
              <a:t>Không chỉ blacklist role: dùng allowlist field cập nhật và identity từ session. Field nhạy cảm phải có command/route riêng với policy rõ ràng.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Lab03</a:t>
            </a:r>
          </a:p>
          <a:p xmlns:a="http://schemas.openxmlformats.org/drawingml/2006/main">
            <a:r>
              <a:t/>
            </a:r>
          </a:p>
          <a:p xmlns:a="http://schemas.openxmlformats.org/drawingml/2006/main">
            <a:r>
              <a:t>NGUỒN ĐỐI CHIẾU</a:t>
            </a:r>
          </a:p>
          <a:p xmlns:a="http://schemas.openxmlformats.org/drawingml/2006/main">
            <a:r>
              <a:t>BaiTapTopic04.docx; report Lab03; source services/authorization</a:t>
            </a:r>
          </a:p>
          <a:p xmlns:a="http://schemas.openxmlformats.org/drawingml/2006/main">
            <a:r>
              <a:t/>
            </a:r>
          </a:p>
          <a:p xmlns:a="http://schemas.openxmlformats.org/drawingml/2006/main">
            <a:r>
              <a:t>GỢI Ý THUYẾT TRÌNH</a:t>
            </a:r>
          </a:p>
          <a:p xmlns:a="http://schemas.openxmlformats.org/drawingml/2006/main">
            <a:r>
              <a:t>Trả lời năm câu hỏi bắt buộc và nối mỗi scenario với đúng control authoritative, không dừng ở validation định dạng.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Lab04</a:t>
            </a:r>
          </a:p>
          <a:p xmlns:a="http://schemas.openxmlformats.org/drawingml/2006/main">
            <a:r>
              <a:t/>
            </a:r>
          </a:p>
          <a:p xmlns:a="http://schemas.openxmlformats.org/drawingml/2006/main">
            <a:r>
              <a:t>NGUỒN ĐỐI CHIẾU</a:t>
            </a:r>
          </a:p>
          <a:p xmlns:a="http://schemas.openxmlformats.org/drawingml/2006/main">
            <a:r>
              <a:t>Lab04/victim_app.py; attacker_app.py; report Lab04</a:t>
            </a:r>
          </a:p>
          <a:p xmlns:a="http://schemas.openxmlformats.org/drawingml/2006/main">
            <a:r>
              <a:t/>
            </a:r>
          </a:p>
          <a:p xmlns:a="http://schemas.openxmlformats.org/drawingml/2006/main">
            <a:r>
              <a:t>GỢI Ý THUYẾT TRÌNH</a:t>
            </a:r>
          </a:p>
          <a:p xmlns:a="http://schemas.openxmlformats.org/drawingml/2006/main">
            <a:r>
              <a:t>Phân biệt CSRF và XSS: CSRF khiến browser gửi request có credential; XSS chạy code trong origin nạn nhân. SOP không ngăn gửi form cross-origin.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Lab04</a:t>
            </a:r>
          </a:p>
          <a:p xmlns:a="http://schemas.openxmlformats.org/drawingml/2006/main">
            <a:r>
              <a:t/>
            </a:r>
          </a:p>
          <a:p xmlns:a="http://schemas.openxmlformats.org/drawingml/2006/main">
            <a:r>
              <a:t>NGUỒN ĐỐI CHIẾU</a:t>
            </a:r>
          </a:p>
          <a:p xmlns:a="http://schemas.openxmlformats.org/drawingml/2006/main">
            <a:r>
              <a:t>Lab04/attacker_templates/attack_page.html; static/js/form-confirm.js; victim_app.vulnerable_change_email</a:t>
            </a:r>
          </a:p>
          <a:p xmlns:a="http://schemas.openxmlformats.org/drawingml/2006/main">
            <a:r>
              <a:t/>
            </a:r>
          </a:p>
          <a:p xmlns:a="http://schemas.openxmlformats.org/drawingml/2006/main">
            <a:r>
              <a:t>GỢI Ý THUYẾT TRÌNH</a:t>
            </a:r>
          </a:p>
          <a:p xmlns:a="http://schemas.openxmlformats.org/drawingml/2006/main">
            <a:r>
              <a:t>Source hiện dùng nút submit có xác nhận, không auto-submit. Báo cáo và slide ghi rõ khác biệt triển khai thay vì dựng kết quả.</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Lab04</a:t>
            </a:r>
          </a:p>
          <a:p xmlns:a="http://schemas.openxmlformats.org/drawingml/2006/main">
            <a:r>
              <a:t/>
            </a:r>
          </a:p>
          <a:p xmlns:a="http://schemas.openxmlformats.org/drawingml/2006/main">
            <a:r>
              <a:t>NGUỒN ĐỐI CHIẾU</a:t>
            </a:r>
          </a:p>
          <a:p xmlns:a="http://schemas.openxmlformats.org/drawingml/2006/main">
            <a:r>
              <a:t>Lab04/victim_app.py; csrf_service.py; origin_service.py</a:t>
            </a:r>
          </a:p>
          <a:p xmlns:a="http://schemas.openxmlformats.org/drawingml/2006/main">
            <a:r>
              <a:t/>
            </a:r>
          </a:p>
          <a:p xmlns:a="http://schemas.openxmlformats.org/drawingml/2006/main">
            <a:r>
              <a:t>GỢI Ý THUYẾT TRÌNH</a:t>
            </a:r>
          </a:p>
          <a:p xmlns:a="http://schemas.openxmlformats.org/drawingml/2006/main">
            <a:r>
              <a:t>Không hiển thị token thật trong slide/ảnh. Dùng request anatomy để chứng minh vì sao chỉ kiểm session là chưa đủ.</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Lab04</a:t>
            </a:r>
          </a:p>
          <a:p xmlns:a="http://schemas.openxmlformats.org/drawingml/2006/main">
            <a:r>
              <a:t/>
            </a:r>
          </a:p>
          <a:p xmlns:a="http://schemas.openxmlformats.org/drawingml/2006/main">
            <a:r>
              <a:t>NGUỒN ĐỐI CHIẾU</a:t>
            </a:r>
          </a:p>
          <a:p xmlns:a="http://schemas.openxmlformats.org/drawingml/2006/main">
            <a:r>
              <a:t>Lab04/csrf_service.py secrets.token_urlsafe(32), hmac.compare_digest; origin allowlist</a:t>
            </a:r>
          </a:p>
          <a:p xmlns:a="http://schemas.openxmlformats.org/drawingml/2006/main">
            <a:r>
              <a:t/>
            </a:r>
          </a:p>
          <a:p xmlns:a="http://schemas.openxmlformats.org/drawingml/2006/main">
            <a:r>
              <a:t>GỢI Ý THUYẾT TRÌNH</a:t>
            </a:r>
          </a:p>
          <a:p xmlns:a="http://schemas.openxmlformats.org/drawingml/2006/main">
            <a:r>
              <a:t>Giải thích defense-in-depth. CAPTCHA không phải lớp chính; GET không được dùng cho state change vì dễ kích hoạt và có thể bị prefetch/cache/log.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Lab04</a:t>
            </a:r>
          </a:p>
          <a:p xmlns:a="http://schemas.openxmlformats.org/drawingml/2006/main">
            <a:r>
              <a:t/>
            </a:r>
          </a:p>
          <a:p xmlns:a="http://schemas.openxmlformats.org/drawingml/2006/main">
            <a:r>
              <a:t>NGUỒN ĐỐI CHIẾU</a:t>
            </a:r>
          </a:p>
          <a:p xmlns:a="http://schemas.openxmlformats.org/drawingml/2006/main">
            <a:r>
              <a:t>BaiTapTopic04.docx; report Lab04; secure/vulnerable routes</a:t>
            </a:r>
          </a:p>
          <a:p xmlns:a="http://schemas.openxmlformats.org/drawingml/2006/main">
            <a:r>
              <a:t/>
            </a:r>
          </a:p>
          <a:p xmlns:a="http://schemas.openxmlformats.org/drawingml/2006/main">
            <a:r>
              <a:t>GỢI Ý THUYẾT TRÌNH</a:t>
            </a:r>
          </a:p>
          <a:p xmlns:a="http://schemas.openxmlformats.org/drawingml/2006/main">
            <a:r>
              <a:t>Slide tổng hợp năm câu hỏi. Bằng chứng sau vá phải cho thấy 403 và trạng thái email không đổi.</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Lab05</a:t>
            </a:r>
          </a:p>
          <a:p xmlns:a="http://schemas.openxmlformats.org/drawingml/2006/main">
            <a:r>
              <a:t/>
            </a:r>
          </a:p>
          <a:p xmlns:a="http://schemas.openxmlformats.org/drawingml/2006/main">
            <a:r>
              <a:t>NGUỒN ĐỐI CHIẾU</a:t>
            </a:r>
          </a:p>
          <a:p xmlns:a="http://schemas.openxmlformats.org/drawingml/2006/main">
            <a:r>
              <a:t>Lab05/vulnerable_queries.py; Lab05/secure_queries.py</a:t>
            </a:r>
          </a:p>
          <a:p xmlns:a="http://schemas.openxmlformats.org/drawingml/2006/main">
            <a:r>
              <a:t/>
            </a:r>
          </a:p>
          <a:p xmlns:a="http://schemas.openxmlformats.org/drawingml/2006/main">
            <a:r>
              <a:t>GỢI Ý THUYẾT TRÌNH</a:t>
            </a:r>
          </a:p>
          <a:p xmlns:a="http://schemas.openxmlformats.org/drawingml/2006/main">
            <a:r>
              <a:t>SQLi không nằm ở dấu nháy đơn tự thân mà ở API xây query. Prepared statement tách cấu trúc SQL khỏi giá trị binding.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Lab05</a:t>
            </a:r>
          </a:p>
          <a:p xmlns:a="http://schemas.openxmlformats.org/drawingml/2006/main">
            <a:r>
              <a:t/>
            </a:r>
          </a:p>
          <a:p xmlns:a="http://schemas.openxmlformats.org/drawingml/2006/main">
            <a:r>
              <a:t>NGUỒN ĐỐI CHIẾU</a:t>
            </a:r>
          </a:p>
          <a:p xmlns:a="http://schemas.openxmlformats.org/drawingml/2006/main">
            <a:r>
              <a:t>Lab05/config.py AUTH_LOGIC_INPUT; vulnerable login route</a:t>
            </a:r>
          </a:p>
          <a:p xmlns:a="http://schemas.openxmlformats.org/drawingml/2006/main">
            <a:r>
              <a:t/>
            </a:r>
          </a:p>
          <a:p xmlns:a="http://schemas.openxmlformats.org/drawingml/2006/main">
            <a:r>
              <a:t>GỢI Ý THUYẾT TRÌNH</a:t>
            </a:r>
          </a:p>
          <a:p xmlns:a="http://schemas.openxmlformats.org/drawingml/2006/main">
            <a:r>
              <a:t>Dùng đúng payload repo. Mục tiêu là thấy transformation của WHERE, không phải mở rộng kỹ thuật khai thác.</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Lab05</a:t>
            </a:r>
          </a:p>
          <a:p xmlns:a="http://schemas.openxmlformats.org/drawingml/2006/main">
            <a:r>
              <a:t/>
            </a:r>
          </a:p>
          <a:p xmlns:a="http://schemas.openxmlformats.org/drawingml/2006/main">
            <a:r>
              <a:t>NGUỒN ĐỐI CHIẾU</a:t>
            </a:r>
          </a:p>
          <a:p xmlns:a="http://schemas.openxmlformats.org/drawingml/2006/main">
            <a:r>
              <a:t>Lab05/config.py SEARCH_EXPANDED_INPUT; vulnerable_queries.py</a:t>
            </a:r>
          </a:p>
          <a:p xmlns:a="http://schemas.openxmlformats.org/drawingml/2006/main">
            <a:r>
              <a:t/>
            </a:r>
          </a:p>
          <a:p xmlns:a="http://schemas.openxmlformats.org/drawingml/2006/main">
            <a:r>
              <a:t>GỢI Ý THUYẾT TRÌNH</a:t>
            </a:r>
          </a:p>
          <a:p xmlns:a="http://schemas.openxmlformats.org/drawingml/2006/main">
            <a:r>
              <a:t>So sánh baseline USB và payload cố định. Không biến demo thành khai thác dữ liệu tùy ý; giữ phạm vi SELECT-only trên dataset lab.</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Lab05</a:t>
            </a:r>
          </a:p>
          <a:p xmlns:a="http://schemas.openxmlformats.org/drawingml/2006/main">
            <a:r>
              <a:t/>
            </a:r>
          </a:p>
          <a:p xmlns:a="http://schemas.openxmlformats.org/drawingml/2006/main">
            <a:r>
              <a:t>NGUỒN ĐỐI CHIẾU</a:t>
            </a:r>
          </a:p>
          <a:p xmlns:a="http://schemas.openxmlformats.org/drawingml/2006/main">
            <a:r>
              <a:t>Lab05/secure_queries.py; auth_service.py; seed PBKDF2 600000</a:t>
            </a:r>
          </a:p>
          <a:p xmlns:a="http://schemas.openxmlformats.org/drawingml/2006/main">
            <a:r>
              <a:t/>
            </a:r>
          </a:p>
          <a:p xmlns:a="http://schemas.openxmlformats.org/drawingml/2006/main">
            <a:r>
              <a:t>GỢI Ý THUYẾT TRÌNH</a:t>
            </a:r>
          </a:p>
          <a:p xmlns:a="http://schemas.openxmlformats.org/drawingml/2006/main">
            <a:r>
              <a:t>Escaping thủ công dễ sai theo dialect/ngữ cảnh. ORM chỉ an toàn khi không quay lại raw string concatenation.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Lab05</a:t>
            </a:r>
          </a:p>
          <a:p xmlns:a="http://schemas.openxmlformats.org/drawingml/2006/main">
            <a:r>
              <a:t/>
            </a:r>
          </a:p>
          <a:p xmlns:a="http://schemas.openxmlformats.org/drawingml/2006/main">
            <a:r>
              <a:t>NGUỒN ĐỐI CHIẾU</a:t>
            </a:r>
          </a:p>
          <a:p xmlns:a="http://schemas.openxmlformats.org/drawingml/2006/main">
            <a:r>
              <a:t>BaiTapTopic04.docx; report Lab05; secure/vulnerable query source</a:t>
            </a:r>
          </a:p>
          <a:p xmlns:a="http://schemas.openxmlformats.org/drawingml/2006/main">
            <a:r>
              <a:t/>
            </a:r>
          </a:p>
          <a:p xmlns:a="http://schemas.openxmlformats.org/drawingml/2006/main">
            <a:r>
              <a:t>GỢI Ý THUYẾT TRÌNH</a:t>
            </a:r>
          </a:p>
          <a:p xmlns:a="http://schemas.openxmlformats.org/drawingml/2006/main">
            <a:r>
              <a:t>Trả lời năm câu hỏi và nhắc lại retest cùng payload là bằng chứng tốt nhất cho bản vá.</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Lab06</a:t>
            </a:r>
          </a:p>
          <a:p xmlns:a="http://schemas.openxmlformats.org/drawingml/2006/main">
            <a:r>
              <a:t/>
            </a:r>
          </a:p>
          <a:p xmlns:a="http://schemas.openxmlformats.org/drawingml/2006/main">
            <a:r>
              <a:t>NGUỒN ĐỐI CHIẾU</a:t>
            </a:r>
          </a:p>
          <a:p xmlns:a="http://schemas.openxmlformats.org/drawingml/2006/main">
            <a:r>
              <a:t>Lab06/app.py; cookie_service.py; seed.py</a:t>
            </a:r>
          </a:p>
          <a:p xmlns:a="http://schemas.openxmlformats.org/drawingml/2006/main">
            <a:r>
              <a:t/>
            </a:r>
          </a:p>
          <a:p xmlns:a="http://schemas.openxmlformats.org/drawingml/2006/main">
            <a:r>
              <a:t>GỢI Ý THUYẾT TRÌNH</a:t>
            </a:r>
          </a:p>
          <a:p xmlns:a="http://schemas.openxmlformats.org/drawingml/2006/main">
            <a:r>
              <a:t>Cookie flags không làm role client trở thành authoritative. Phân biệt poisoning với hijacking để chọn defense đúng.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Lab06</a:t>
            </a:r>
          </a:p>
          <a:p xmlns:a="http://schemas.openxmlformats.org/drawingml/2006/main">
            <a:r>
              <a:t/>
            </a:r>
          </a:p>
          <a:p xmlns:a="http://schemas.openxmlformats.org/drawingml/2006/main">
            <a:r>
              <a:t>NGUỒN ĐỐI CHIẾU</a:t>
            </a:r>
          </a:p>
          <a:p xmlns:a="http://schemas.openxmlformats.org/drawingml/2006/main">
            <a:r>
              <a:t>Lab06/app.py vulnerable plain cookie; HUONG_DAN_CHUP_ANH.md</a:t>
            </a:r>
          </a:p>
          <a:p xmlns:a="http://schemas.openxmlformats.org/drawingml/2006/main">
            <a:r>
              <a:t/>
            </a:r>
          </a:p>
          <a:p xmlns:a="http://schemas.openxmlformats.org/drawingml/2006/main">
            <a:r>
              <a:t>GỢI Ý THUYẾT TRÌNH</a:t>
            </a:r>
          </a:p>
          <a:p xmlns:a="http://schemas.openxmlformats.org/drawingml/2006/main">
            <a:r>
              <a:t>Dùng tài khoản student và chỉ sửa lab06_role. Không công bố giá trị session hoặc token dài trong ảnh.</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Lab06</a:t>
            </a:r>
          </a:p>
          <a:p xmlns:a="http://schemas.openxmlformats.org/drawingml/2006/main">
            <a:r>
              <a:t/>
            </a:r>
          </a:p>
          <a:p xmlns:a="http://schemas.openxmlformats.org/drawingml/2006/main">
            <a:r>
              <a:t>NGUỒN ĐỐI CHIẾU</a:t>
            </a:r>
          </a:p>
          <a:p xmlns:a="http://schemas.openxmlformats.org/drawingml/2006/main">
            <a:r>
              <a:t>Lab06/base64_cookie_service.py; signed_cookie_service.py; encrypted_cookie_service.py</a:t>
            </a:r>
          </a:p>
          <a:p xmlns:a="http://schemas.openxmlformats.org/drawingml/2006/main">
            <a:r>
              <a:t/>
            </a:r>
          </a:p>
          <a:p xmlns:a="http://schemas.openxmlformats.org/drawingml/2006/main">
            <a:r>
              <a:t>GỢI Ý THUYẾT TRÌNH</a:t>
            </a:r>
          </a:p>
          <a:p xmlns:a="http://schemas.openxmlformats.org/drawingml/2006/main">
            <a:r>
              <a:t>Base64 không có secret và không có MAC. Signed cookie bảo vệ integrity nhưng vẫn lộ payload; encryption mới bảo vệ confidentiality khi triển khai đúng.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Lab06</a:t>
            </a:r>
          </a:p>
          <a:p xmlns:a="http://schemas.openxmlformats.org/drawingml/2006/main">
            <a:r>
              <a:t/>
            </a:r>
          </a:p>
          <a:p xmlns:a="http://schemas.openxmlformats.org/drawingml/2006/main">
            <a:r>
              <a:t>NGUỒN ĐỐI CHIẾU</a:t>
            </a:r>
          </a:p>
          <a:p xmlns:a="http://schemas.openxmlformats.org/drawingml/2006/main">
            <a:r>
              <a:t>Lab06/server_session_service.py; authorization_service.py; signed cookie BadData handling</a:t>
            </a:r>
          </a:p>
          <a:p xmlns:a="http://schemas.openxmlformats.org/drawingml/2006/main">
            <a:r>
              <a:t/>
            </a:r>
          </a:p>
          <a:p xmlns:a="http://schemas.openxmlformats.org/drawingml/2006/main">
            <a:r>
              <a:t>GỢI Ý THUYẾT TRÌNH</a:t>
            </a:r>
          </a:p>
          <a:p xmlns:a="http://schemas.openxmlformats.org/drawingml/2006/main">
            <a:r>
              <a:t>Rotate khi login, revoke khi logout, và đọc role từ DB ở mỗi quyết định. Trên localhost HTTP, Secure=false là cấu hình demo có chủ đích.</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Lab06</a:t>
            </a:r>
          </a:p>
          <a:p xmlns:a="http://schemas.openxmlformats.org/drawingml/2006/main">
            <a:r>
              <a:t/>
            </a:r>
          </a:p>
          <a:p xmlns:a="http://schemas.openxmlformats.org/drawingml/2006/main">
            <a:r>
              <a:t>NGUỒN ĐỐI CHIẾU</a:t>
            </a:r>
          </a:p>
          <a:p xmlns:a="http://schemas.openxmlformats.org/drawingml/2006/main">
            <a:r>
              <a:t>BaiTapTopic04.docx; report Lab06; cookie/session services</a:t>
            </a:r>
          </a:p>
          <a:p xmlns:a="http://schemas.openxmlformats.org/drawingml/2006/main">
            <a:r>
              <a:t/>
            </a:r>
          </a:p>
          <a:p xmlns:a="http://schemas.openxmlformats.org/drawingml/2006/main">
            <a:r>
              <a:t>GỢI Ý THUYẾT TRÌNH</a:t>
            </a:r>
          </a:p>
          <a:p xmlns:a="http://schemas.openxmlformats.org/drawingml/2006/main">
            <a:r>
              <a:t>Dùng matrix để trả lời câu hỏi về confidentiality, integrity và revocation. Kết luận không đổi: authorization phải dựa vào server state.</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Tổng kết</a:t>
            </a:r>
          </a:p>
          <a:p xmlns:a="http://schemas.openxmlformats.org/drawingml/2006/main">
            <a:r>
              <a:t/>
            </a:r>
          </a:p>
          <a:p xmlns:a="http://schemas.openxmlformats.org/drawingml/2006/main">
            <a:r>
              <a:t>NGUỒN ĐỐI CHIẾU</a:t>
            </a:r>
          </a:p>
          <a:p xmlns:a="http://schemas.openxmlformats.org/drawingml/2006/main">
            <a:r>
              <a:t>BaiTapTopic04.docx · cấu trúc báo cáo 11 mục; toàn bộ source/report</a:t>
            </a:r>
          </a:p>
          <a:p xmlns:a="http://schemas.openxmlformats.org/drawingml/2006/main">
            <a:r>
              <a:t/>
            </a:r>
          </a:p>
          <a:p xmlns:a="http://schemas.openxmlformats.org/drawingml/2006/main">
            <a:r>
              <a:t>GỢI Ý THUYẾT TRÌNH</a:t>
            </a:r>
          </a:p>
          <a:p xmlns:a="http://schemas.openxmlformats.org/drawingml/2006/main">
            <a:r>
              <a:t>Kết lại bằng quy trình bảy bước và cấu trúc báo cáo thống nhất cho cả sáu lab.</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a91badbb4c42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5f9a54a0734ae4" /><Relationship Type="http://schemas.openxmlformats.org/officeDocument/2006/relationships/slideLayout" Target="/ppt/slideLayouts/slideLayout1.xml" Id="R8baa8b3e346342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aa8b3e346342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05ec12e5df4d70" /><Relationship Type="http://schemas.openxmlformats.org/officeDocument/2006/relationships/notesSlide" Target="/ppt/notesSlides/notesSlide1.xml" Id="Rc4bc0aa06ea74d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fc092733914d54" /><Relationship Type="http://schemas.openxmlformats.org/officeDocument/2006/relationships/notesSlide" Target="/ppt/notesSlides/notesSlide2.xml" Id="Re217cf86aafe48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0087c1a4964694" /><Relationship Type="http://schemas.openxmlformats.org/officeDocument/2006/relationships/notesSlide" Target="/ppt/notesSlides/notesSlide3.xml" Id="R6de2eeb0508e42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9e20611b1247a8" /><Relationship Type="http://schemas.openxmlformats.org/officeDocument/2006/relationships/notesSlide" Target="/ppt/notesSlides/notesSlide4.xml" Id="Rf2ede3989f014d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0d2e9a117349ee" /><Relationship Type="http://schemas.openxmlformats.org/officeDocument/2006/relationships/notesSlide" Target="/ppt/notesSlides/notesSlide5.xml" Id="R10c7aa4df4cf4a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1bd01561a340a8" /><Relationship Type="http://schemas.openxmlformats.org/officeDocument/2006/relationships/notesSlide" Target="/ppt/notesSlides/notesSlide6.xml" Id="R9040fab00da44c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b5697069e34324" /><Relationship Type="http://schemas.openxmlformats.org/officeDocument/2006/relationships/notesSlide" Target="/ppt/notesSlides/notesSlide7.xml" Id="R6456c20d3a514e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4cb775bf964264" /><Relationship Type="http://schemas.openxmlformats.org/officeDocument/2006/relationships/notesSlide" Target="/ppt/notesSlides/notesSlide8.xml" Id="Rc2c8a2d9bbae46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681ab079c944b6" /><Relationship Type="http://schemas.openxmlformats.org/officeDocument/2006/relationships/notesSlide" Target="/ppt/notesSlides/notesSlide9.xml" Id="Rf15a070e01d141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2c7030e9884a57" /><Relationship Type="http://schemas.openxmlformats.org/officeDocument/2006/relationships/notesSlide" Target="/ppt/notesSlides/notesSlide10.xml" Id="Ra08d7e4eed9a45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e40a55062f4380" /><Relationship Type="http://schemas.openxmlformats.org/officeDocument/2006/relationships/notesSlide" Target="/ppt/notesSlides/notesSlide11.xml" Id="R270526dd09b341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f9b95e179c410d" /><Relationship Type="http://schemas.openxmlformats.org/officeDocument/2006/relationships/notesSlide" Target="/ppt/notesSlides/notesSlide12.xml" Id="R88dc20f90e8d48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e533583bb6410a" /><Relationship Type="http://schemas.openxmlformats.org/officeDocument/2006/relationships/notesSlide" Target="/ppt/notesSlides/notesSlide13.xml" Id="R9ede5110a59f40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591df4a8c14a4f" /><Relationship Type="http://schemas.openxmlformats.org/officeDocument/2006/relationships/notesSlide" Target="/ppt/notesSlides/notesSlide14.xml" Id="R783aa4a3b9a44a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114f455fd644f6" /><Relationship Type="http://schemas.openxmlformats.org/officeDocument/2006/relationships/notesSlide" Target="/ppt/notesSlides/notesSlide15.xml" Id="Rf9fe5f3f981541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78da32cc654aa3" /><Relationship Type="http://schemas.openxmlformats.org/officeDocument/2006/relationships/notesSlide" Target="/ppt/notesSlides/notesSlide16.xml" Id="Rc20164d5fba045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f240b393254d01" /><Relationship Type="http://schemas.openxmlformats.org/officeDocument/2006/relationships/notesSlide" Target="/ppt/notesSlides/notesSlide17.xml" Id="R515ff29f036342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5ac31fd34a74770" /><Relationship Type="http://schemas.openxmlformats.org/officeDocument/2006/relationships/notesSlide" Target="/ppt/notesSlides/notesSlide18.xml" Id="R678598653b9b44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54229b766e4294" /><Relationship Type="http://schemas.openxmlformats.org/officeDocument/2006/relationships/notesSlide" Target="/ppt/notesSlides/notesSlide19.xml" Id="R2f74823ef9774ce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ed87f633bec47d7" /><Relationship Type="http://schemas.openxmlformats.org/officeDocument/2006/relationships/notesSlide" Target="/ppt/notesSlides/notesSlide20.xml" Id="R43224d04660f43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aa1d9e401a44878" /><Relationship Type="http://schemas.openxmlformats.org/officeDocument/2006/relationships/notesSlide" Target="/ppt/notesSlides/notesSlide21.xml" Id="Rd6736c9061a049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3e8fda032f34117" /><Relationship Type="http://schemas.openxmlformats.org/officeDocument/2006/relationships/notesSlide" Target="/ppt/notesSlides/notesSlide22.xml" Id="Rd480514daf3147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d64627de414b21" /><Relationship Type="http://schemas.openxmlformats.org/officeDocument/2006/relationships/notesSlide" Target="/ppt/notesSlides/notesSlide23.xml" Id="R93918892ce5445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6069deda88346f4" /><Relationship Type="http://schemas.openxmlformats.org/officeDocument/2006/relationships/notesSlide" Target="/ppt/notesSlides/notesSlide24.xml" Id="Rdc95b949af7148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07c3645dfe74914" /><Relationship Type="http://schemas.openxmlformats.org/officeDocument/2006/relationships/notesSlide" Target="/ppt/notesSlides/notesSlide25.xml" Id="Re51877efd25b471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a47496733b74881" /><Relationship Type="http://schemas.openxmlformats.org/officeDocument/2006/relationships/notesSlide" Target="/ppt/notesSlides/notesSlide26.xml" Id="R99b9e6c6b7df4d0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82a7af30dd9491b" /><Relationship Type="http://schemas.openxmlformats.org/officeDocument/2006/relationships/notesSlide" Target="/ppt/notesSlides/notesSlide27.xml" Id="R8b8fd77e20d64a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f85796a21694a7e" /><Relationship Type="http://schemas.openxmlformats.org/officeDocument/2006/relationships/notesSlide" Target="/ppt/notesSlides/notesSlide28.xml" Id="R6dae6f5c7e07425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b4febb527c34b8f" /><Relationship Type="http://schemas.openxmlformats.org/officeDocument/2006/relationships/notesSlide" Target="/ppt/notesSlides/notesSlide29.xml" Id="Rf620db7c33574fc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ad6bea6ae04cc0" /><Relationship Type="http://schemas.openxmlformats.org/officeDocument/2006/relationships/notesSlide" Target="/ppt/notesSlides/notesSlide30.xml" Id="R8914e7ed7b8c46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2b24a8286834c92" /><Relationship Type="http://schemas.openxmlformats.org/officeDocument/2006/relationships/notesSlide" Target="/ppt/notesSlides/notesSlide31.xml" Id="Re55ccca906814b3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306616b5d1a4379" /><Relationship Type="http://schemas.openxmlformats.org/officeDocument/2006/relationships/notesSlide" Target="/ppt/notesSlides/notesSlide32.xml" Id="R84c980eee03f43d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f60dddd8fb04d29" /><Relationship Type="http://schemas.openxmlformats.org/officeDocument/2006/relationships/notesSlide" Target="/ppt/notesSlides/notesSlide33.xml" Id="R4931bc17a38a4a21" /></Relationships>
</file>

<file path=ppt/slides/slide1.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9" name="S1_FOOTER_RULE">
            <a:extLst xmlns:a="http://schemas.openxmlformats.org/drawingml/2006/main">
              <a:ext uri="{FF2B5EF4-FFF2-40B4-BE49-F238E27FC236}">
                <a16:creationId xmlns:a16="http://schemas.microsoft.com/office/drawing/2014/main" id="{6A1B7FEB-ACD0-4525-B29A-1A23CAFE771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 name="S1_SOURCE">
            <a:extLst xmlns:a="http://schemas.openxmlformats.org/drawingml/2006/main">
              <a:ext uri="{FF2B5EF4-FFF2-40B4-BE49-F238E27FC236}">
                <a16:creationId xmlns:a16="http://schemas.microsoft.com/office/drawing/2014/main" id="{5CDDCB80-3194-4B9F-A3AA-6D76AA0A399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111111"/>
                </a:solidFill>
                <a:latin typeface="Consolas"/>
                <a:ea typeface="Consolas"/>
                <a:cs typeface="Consolas"/>
              </a:defRPr>
            </a:pPr>
            <a:r>
              <a:rPr sz="1425" b="0">
                <a:solidFill>
                  <a:srgbClr val="111111"/>
                </a:solidFill>
                <a:latin typeface="Consolas"/>
                <a:ea typeface="Consolas"/>
                <a:cs typeface="Consolas"/>
              </a:rPr>
              <a:t>NGUỒN  BaiTapTopic04.docx · Lab01–Lab06</a:t>
            </a:r>
          </a:p>
        </p:txBody>
      </p:sp>
      <p:sp>
        <p:nvSpPr>
          <p:cNvPr id="3" name="S1_NUMBER">
            <a:extLst xmlns:a="http://schemas.openxmlformats.org/drawingml/2006/main">
              <a:ext uri="{FF2B5EF4-FFF2-40B4-BE49-F238E27FC236}">
                <a16:creationId xmlns:a16="http://schemas.microsoft.com/office/drawing/2014/main" id="{866D0305-66FB-40CB-9B19-64148AC94E49}"/>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01</a:t>
            </a:r>
          </a:p>
        </p:txBody>
      </p:sp>
      <p:sp>
        <p:nvSpPr>
          <p:cNvPr id="4" name="S1_KICKER">
            <a:extLst xmlns:a="http://schemas.openxmlformats.org/drawingml/2006/main">
              <a:ext uri="{FF2B5EF4-FFF2-40B4-BE49-F238E27FC236}">
                <a16:creationId xmlns:a16="http://schemas.microsoft.com/office/drawing/2014/main" id="{5D9121BC-F64E-45EB-BE57-E4B408A780E3}"/>
              </a:ext>
            </a:extLst>
          </p:cNvPr>
          <p:cNvSpPr>
            <a:spLocks xmlns:a="http://schemas.openxmlformats.org/drawingml/2006/main" noGrp="1"/>
          </p:cNvSpPr>
          <p:nvPr/>
        </p:nvSpPr>
        <p:spPr>
          <a:xfrm xmlns:a="http://schemas.openxmlformats.org/drawingml/2006/main">
            <a:off x="5334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WEB APPLICATION SECURITY / 06 LABS</a:t>
            </a:r>
          </a:p>
        </p:txBody>
      </p:sp>
      <p:sp>
        <p:nvSpPr>
          <p:cNvPr id="5" name="S1_TITLE">
            <a:extLst xmlns:a="http://schemas.openxmlformats.org/drawingml/2006/main">
              <a:ext uri="{FF2B5EF4-FFF2-40B4-BE49-F238E27FC236}">
                <a16:creationId xmlns:a16="http://schemas.microsoft.com/office/drawing/2014/main" id="{4E7E1112-A185-405E-AA8A-EF15174431D0}"/>
              </a:ext>
            </a:extLst>
          </p:cNvPr>
          <p:cNvSpPr>
            <a:spLocks xmlns:a="http://schemas.openxmlformats.org/drawingml/2006/main" noGrp="1"/>
          </p:cNvSpPr>
          <p:nvPr/>
        </p:nvSpPr>
        <p:spPr>
          <a:xfrm xmlns:a="http://schemas.openxmlformats.org/drawingml/2006/main">
            <a:off x="495300" y="1143000"/>
            <a:ext cx="74295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800" b="1">
                <a:solidFill>
                  <a:srgbClr val="111111"/>
                </a:solidFill>
                <a:latin typeface="Bahnschrift"/>
                <a:ea typeface="Bahnschrift"/>
                <a:cs typeface="Bahnschrift"/>
              </a:defRPr>
            </a:pPr>
            <a:r>
              <a:rPr sz="4800" b="1">
                <a:solidFill>
                  <a:srgbClr val="111111"/>
                </a:solidFill>
                <a:latin typeface="Bahnschrift"/>
                <a:ea typeface="Bahnschrift"/>
                <a:cs typeface="Bahnschrift"/>
              </a:rPr>
              <a:t>SÁU CÁCH</a:t>
            </a:r>
          </a:p>
          <a:p xmlns:a="http://schemas.openxmlformats.org/drawingml/2006/main">
            <a:pPr algn="l">
              <a:lnSpc>
                <a:spcPct val="100000"/>
              </a:lnSpc>
              <a:buNone/>
              <a:defRPr sz="4800" b="1">
                <a:solidFill>
                  <a:srgbClr val="111111"/>
                </a:solidFill>
                <a:latin typeface="Bahnschrift"/>
                <a:ea typeface="Bahnschrift"/>
                <a:cs typeface="Bahnschrift"/>
              </a:defRPr>
            </a:pPr>
            <a:r>
              <a:rPr sz="4800" b="1">
                <a:solidFill>
                  <a:srgbClr val="111111"/>
                </a:solidFill>
                <a:latin typeface="Bahnschrift"/>
                <a:ea typeface="Bahnschrift"/>
                <a:cs typeface="Bahnschrift"/>
              </a:rPr>
              <a:t>PHÁ VỠ</a:t>
            </a:r>
          </a:p>
          <a:p xmlns:a="http://schemas.openxmlformats.org/drawingml/2006/main">
            <a:pPr algn="l">
              <a:lnSpc>
                <a:spcPct val="100000"/>
              </a:lnSpc>
              <a:buNone/>
              <a:defRPr sz="4800" b="1">
                <a:solidFill>
                  <a:srgbClr val="111111"/>
                </a:solidFill>
                <a:latin typeface="Bahnschrift"/>
                <a:ea typeface="Bahnschrift"/>
                <a:cs typeface="Bahnschrift"/>
              </a:defRPr>
            </a:pPr>
            <a:r>
              <a:rPr sz="4800" b="1">
                <a:solidFill>
                  <a:srgbClr val="111111"/>
                </a:solidFill>
                <a:latin typeface="Bahnschrift"/>
                <a:ea typeface="Bahnschrift"/>
                <a:cs typeface="Bahnschrift"/>
              </a:rPr>
              <a:t>TRUST BOUNDARY</a:t>
            </a:r>
          </a:p>
        </p:txBody>
      </p:sp>
      <p:sp>
        <p:nvSpPr>
          <p:cNvPr id="6" name="S1_VERTICAL">
            <a:extLst xmlns:a="http://schemas.openxmlformats.org/drawingml/2006/main">
              <a:ext uri="{FF2B5EF4-FFF2-40B4-BE49-F238E27FC236}">
                <a16:creationId xmlns:a16="http://schemas.microsoft.com/office/drawing/2014/main" id="{6281AED6-71C6-446C-B936-A1B887B60B57}"/>
              </a:ext>
            </a:extLst>
          </p:cNvPr>
          <p:cNvSpPr>
            <a:spLocks xmlns:a="http://schemas.openxmlformats.org/drawingml/2006/main" noGrp="1"/>
          </p:cNvSpPr>
          <p:nvPr/>
        </p:nvSpPr>
        <p:spPr>
          <a:xfrm xmlns:a="http://schemas.openxmlformats.org/drawingml/2006/main">
            <a:off x="8458200" y="819150"/>
            <a:ext cx="19050" cy="49530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 name="S1_LABS">
            <a:extLst xmlns:a="http://schemas.openxmlformats.org/drawingml/2006/main">
              <a:ext uri="{FF2B5EF4-FFF2-40B4-BE49-F238E27FC236}">
                <a16:creationId xmlns:a16="http://schemas.microsoft.com/office/drawing/2014/main" id="{C3EB5C03-9571-44EB-9D69-F0FD278D6902}"/>
              </a:ext>
            </a:extLst>
          </p:cNvPr>
          <p:cNvSpPr>
            <a:spLocks xmlns:a="http://schemas.openxmlformats.org/drawingml/2006/main" noGrp="1"/>
          </p:cNvSpPr>
          <p:nvPr/>
        </p:nvSpPr>
        <p:spPr>
          <a:xfrm xmlns:a="http://schemas.openxmlformats.org/drawingml/2006/main">
            <a:off x="8858250" y="1219200"/>
            <a:ext cx="266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01  XSS</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02  BUFFER OVERFLOW</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03  PARAMETER TAMPERING</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04  CSRF</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05  SQL INJECTION</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06  COOKIE POISONING</a:t>
            </a:r>
          </a:p>
        </p:txBody>
      </p:sp>
      <p:sp>
        <p:nvSpPr>
          <p:cNvPr id="8" name="S1_ID">
            <a:extLst xmlns:a="http://schemas.openxmlformats.org/drawingml/2006/main">
              <a:ext uri="{FF2B5EF4-FFF2-40B4-BE49-F238E27FC236}">
                <a16:creationId xmlns:a16="http://schemas.microsoft.com/office/drawing/2014/main" id="{70007A20-1066-4A61-9C2C-F9366EE2EE66}"/>
              </a:ext>
            </a:extLst>
          </p:cNvPr>
          <p:cNvSpPr>
            <a:spLocks xmlns:a="http://schemas.openxmlformats.org/drawingml/2006/main" noGrp="1"/>
          </p:cNvSpPr>
          <p:nvPr/>
        </p:nvSpPr>
        <p:spPr>
          <a:xfrm xmlns:a="http://schemas.openxmlformats.org/drawingml/2006/main">
            <a:off x="8591550" y="4857750"/>
            <a:ext cx="2933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LÊ MINH · 21127645</a:t>
            </a:r>
          </a:p>
          <a:p xmlns:a="http://schemas.openxmlformats.org/drawingml/2006/main">
            <a:pPr algn="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NGUYỄN VŨ BÁCH · 21127224</a:t>
            </a:r>
          </a:p>
        </p:txBody>
      </p:sp>
    </p:spTree>
    <p:extLst>
      <p:ext uri="{BB962C8B-B14F-4D97-AF65-F5344CB8AC3E}">
        <p14:creationId xmlns:p14="http://schemas.microsoft.com/office/powerpoint/2010/main" val="1998499099"/>
      </p:ext>
    </p:extLst>
  </p:cSld>
</p:sld>
</file>

<file path=ppt/slides/slide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6" name="S2_EYEBROW">
            <a:extLst xmlns:a="http://schemas.openxmlformats.org/drawingml/2006/main">
              <a:ext uri="{FF2B5EF4-FFF2-40B4-BE49-F238E27FC236}">
                <a16:creationId xmlns:a16="http://schemas.microsoft.com/office/drawing/2014/main" id="{19C1BE86-571F-4766-A82A-1D1194BEDF46}"/>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BẢN ĐỒ</a:t>
            </a:r>
          </a:p>
        </p:txBody>
      </p:sp>
      <p:sp>
        <p:nvSpPr>
          <p:cNvPr id="2" name="S2_TITLE">
            <a:extLst xmlns:a="http://schemas.openxmlformats.org/drawingml/2006/main">
              <a:ext uri="{FF2B5EF4-FFF2-40B4-BE49-F238E27FC236}">
                <a16:creationId xmlns:a16="http://schemas.microsoft.com/office/drawing/2014/main" id="{4E29F112-0AC7-41AC-95A4-B5158E526A71}"/>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Một vòng đời dữ liệu — sáu điểm gãy</a:t>
            </a:r>
          </a:p>
        </p:txBody>
      </p:sp>
      <p:sp>
        <p:nvSpPr>
          <p:cNvPr id="3" name="S2_SUBTITLE">
            <a:extLst xmlns:a="http://schemas.openxmlformats.org/drawingml/2006/main">
              <a:ext uri="{FF2B5EF4-FFF2-40B4-BE49-F238E27FC236}">
                <a16:creationId xmlns:a16="http://schemas.microsoft.com/office/drawing/2014/main" id="{A00F7332-1234-4B6F-993B-625884260D29}"/>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Theo dấu dữ liệu từ browser tới quyết định cuối cùng của server hoặc DOM.</a:t>
            </a:r>
          </a:p>
        </p:txBody>
      </p:sp>
      <p:sp>
        <p:nvSpPr>
          <p:cNvPr id="4" name="S2_TITLE_RULE">
            <a:extLst xmlns:a="http://schemas.openxmlformats.org/drawingml/2006/main">
              <a:ext uri="{FF2B5EF4-FFF2-40B4-BE49-F238E27FC236}">
                <a16:creationId xmlns:a16="http://schemas.microsoft.com/office/drawing/2014/main" id="{0E2FE967-869F-4146-8995-8C2AA434276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_FOOTER_RULE">
            <a:extLst xmlns:a="http://schemas.openxmlformats.org/drawingml/2006/main">
              <a:ext uri="{FF2B5EF4-FFF2-40B4-BE49-F238E27FC236}">
                <a16:creationId xmlns:a16="http://schemas.microsoft.com/office/drawing/2014/main" id="{DC52FBD0-B63F-4C55-8520-670D2C754A93}"/>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_SOURCE">
            <a:extLst xmlns:a="http://schemas.openxmlformats.org/drawingml/2006/main">
              <a:ext uri="{FF2B5EF4-FFF2-40B4-BE49-F238E27FC236}">
                <a16:creationId xmlns:a16="http://schemas.microsoft.com/office/drawing/2014/main" id="{7B70E37C-9DCC-48FA-B5B9-FF7ED992B14C}"/>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source Lab01–Lab06</a:t>
            </a:r>
          </a:p>
        </p:txBody>
      </p:sp>
      <p:sp>
        <p:nvSpPr>
          <p:cNvPr id="7" name="S2_NUMBER">
            <a:extLst xmlns:a="http://schemas.openxmlformats.org/drawingml/2006/main">
              <a:ext uri="{FF2B5EF4-FFF2-40B4-BE49-F238E27FC236}">
                <a16:creationId xmlns:a16="http://schemas.microsoft.com/office/drawing/2014/main" id="{A180619F-FB5E-4141-A596-6CE1D4CB0F07}"/>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02</a:t>
            </a:r>
          </a:p>
        </p:txBody>
      </p:sp>
      <p:sp>
        <p:nvSpPr>
          <p:cNvPr id="8" name="S2_LIFECYCLE_ARROW_1">
            <a:extLst xmlns:a="http://schemas.openxmlformats.org/drawingml/2006/main">
              <a:ext uri="{FF2B5EF4-FFF2-40B4-BE49-F238E27FC236}">
                <a16:creationId xmlns:a16="http://schemas.microsoft.com/office/drawing/2014/main" id="{090E22F8-0297-4FF4-AF8C-C9CA02C60372}"/>
              </a:ext>
            </a:extLst>
          </p:cNvPr>
          <p:cNvSpPr>
            <a:spLocks xmlns:a="http://schemas.openxmlformats.org/drawingml/2006/main" noGrp="1"/>
          </p:cNvSpPr>
          <p:nvPr/>
        </p:nvSpPr>
        <p:spPr>
          <a:xfrm xmlns:a="http://schemas.openxmlformats.org/drawingml/2006/main">
            <a:off x="257175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2_LIFECYCLE_ARROW_2">
            <a:extLst xmlns:a="http://schemas.openxmlformats.org/drawingml/2006/main">
              <a:ext uri="{FF2B5EF4-FFF2-40B4-BE49-F238E27FC236}">
                <a16:creationId xmlns:a16="http://schemas.microsoft.com/office/drawing/2014/main" id="{7A1F4000-1E7D-480B-8FE5-43C5CC21ECE4}"/>
              </a:ext>
            </a:extLst>
          </p:cNvPr>
          <p:cNvSpPr>
            <a:spLocks xmlns:a="http://schemas.openxmlformats.org/drawingml/2006/main" noGrp="1"/>
          </p:cNvSpPr>
          <p:nvPr/>
        </p:nvSpPr>
        <p:spPr>
          <a:xfrm xmlns:a="http://schemas.openxmlformats.org/drawingml/2006/main">
            <a:off x="487680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2_LIFECYCLE_ARROW_3">
            <a:extLst xmlns:a="http://schemas.openxmlformats.org/drawingml/2006/main">
              <a:ext uri="{FF2B5EF4-FFF2-40B4-BE49-F238E27FC236}">
                <a16:creationId xmlns:a16="http://schemas.microsoft.com/office/drawing/2014/main" id="{EFEF366D-2BAC-43BA-9F64-B9021DBFB8DF}"/>
              </a:ext>
            </a:extLst>
          </p:cNvPr>
          <p:cNvSpPr>
            <a:spLocks xmlns:a="http://schemas.openxmlformats.org/drawingml/2006/main" noGrp="1"/>
          </p:cNvSpPr>
          <p:nvPr/>
        </p:nvSpPr>
        <p:spPr>
          <a:xfrm xmlns:a="http://schemas.openxmlformats.org/drawingml/2006/main">
            <a:off x="718185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2_LIFECYCLE_ARROW_4">
            <a:extLst xmlns:a="http://schemas.openxmlformats.org/drawingml/2006/main">
              <a:ext uri="{FF2B5EF4-FFF2-40B4-BE49-F238E27FC236}">
                <a16:creationId xmlns:a16="http://schemas.microsoft.com/office/drawing/2014/main" id="{00F6591A-B93A-499D-A3A7-404860CFD0AF}"/>
              </a:ext>
            </a:extLst>
          </p:cNvPr>
          <p:cNvSpPr>
            <a:spLocks xmlns:a="http://schemas.openxmlformats.org/drawingml/2006/main" noGrp="1"/>
          </p:cNvSpPr>
          <p:nvPr/>
        </p:nvSpPr>
        <p:spPr>
          <a:xfrm xmlns:a="http://schemas.openxmlformats.org/drawingml/2006/main">
            <a:off x="948690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2_LIFECYCLE_NODE_1">
            <a:extLst xmlns:a="http://schemas.openxmlformats.org/drawingml/2006/main">
              <a:ext uri="{FF2B5EF4-FFF2-40B4-BE49-F238E27FC236}">
                <a16:creationId xmlns:a16="http://schemas.microsoft.com/office/drawing/2014/main" id="{318B27D4-F2FC-4D43-AD1C-7909478EB23D}"/>
              </a:ext>
            </a:extLst>
          </p:cNvPr>
          <p:cNvSpPr>
            <a:spLocks xmlns:a="http://schemas.openxmlformats.org/drawingml/2006/main" noGrp="1"/>
          </p:cNvSpPr>
          <p:nvPr/>
        </p:nvSpPr>
        <p:spPr>
          <a:xfrm xmlns:a="http://schemas.openxmlformats.org/drawingml/2006/main">
            <a:off x="53340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INPUT</a:t>
            </a:r>
          </a:p>
        </p:txBody>
      </p:sp>
      <p:sp>
        <p:nvSpPr>
          <p:cNvPr id="13" name="S2_LIFECYCLE_NODE_2">
            <a:extLst xmlns:a="http://schemas.openxmlformats.org/drawingml/2006/main">
              <a:ext uri="{FF2B5EF4-FFF2-40B4-BE49-F238E27FC236}">
                <a16:creationId xmlns:a16="http://schemas.microsoft.com/office/drawing/2014/main" id="{8F8791CF-B4CF-4B6F-A9E1-7E1BBC3AFFDE}"/>
              </a:ext>
            </a:extLst>
          </p:cNvPr>
          <p:cNvSpPr>
            <a:spLocks xmlns:a="http://schemas.openxmlformats.org/drawingml/2006/main" noGrp="1"/>
          </p:cNvSpPr>
          <p:nvPr/>
        </p:nvSpPr>
        <p:spPr>
          <a:xfrm xmlns:a="http://schemas.openxmlformats.org/drawingml/2006/main">
            <a:off x="283845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HTTP</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14" name="S2_LIFECYCLE_NODE_3">
            <a:extLst xmlns:a="http://schemas.openxmlformats.org/drawingml/2006/main">
              <a:ext uri="{FF2B5EF4-FFF2-40B4-BE49-F238E27FC236}">
                <a16:creationId xmlns:a16="http://schemas.microsoft.com/office/drawing/2014/main" id="{EF271627-8A66-4209-BE00-482FA38132E2}"/>
              </a:ext>
            </a:extLst>
          </p:cNvPr>
          <p:cNvSpPr>
            <a:spLocks xmlns:a="http://schemas.openxmlformats.org/drawingml/2006/main" noGrp="1"/>
          </p:cNvSpPr>
          <p:nvPr/>
        </p:nvSpPr>
        <p:spPr>
          <a:xfrm xmlns:a="http://schemas.openxmlformats.org/drawingml/2006/main">
            <a:off x="514350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APP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NATIVE</a:t>
            </a:r>
          </a:p>
        </p:txBody>
      </p:sp>
      <p:sp>
        <p:nvSpPr>
          <p:cNvPr id="15" name="S2_LIFECYCLE_NODE_4">
            <a:extLst xmlns:a="http://schemas.openxmlformats.org/drawingml/2006/main">
              <a:ext uri="{FF2B5EF4-FFF2-40B4-BE49-F238E27FC236}">
                <a16:creationId xmlns:a16="http://schemas.microsoft.com/office/drawing/2014/main" id="{6A6677CD-6600-48D2-8B10-0C74078820E8}"/>
              </a:ext>
            </a:extLst>
          </p:cNvPr>
          <p:cNvSpPr>
            <a:spLocks xmlns:a="http://schemas.openxmlformats.org/drawingml/2006/main" noGrp="1"/>
          </p:cNvSpPr>
          <p:nvPr/>
        </p:nvSpPr>
        <p:spPr>
          <a:xfrm xmlns:a="http://schemas.openxmlformats.org/drawingml/2006/main">
            <a:off x="744855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a:t>
            </a:r>
          </a:p>
        </p:txBody>
      </p:sp>
      <p:sp>
        <p:nvSpPr>
          <p:cNvPr id="16" name="S2_LIFECYCLE_NODE_5">
            <a:extLst xmlns:a="http://schemas.openxmlformats.org/drawingml/2006/main">
              <a:ext uri="{FF2B5EF4-FFF2-40B4-BE49-F238E27FC236}">
                <a16:creationId xmlns:a16="http://schemas.microsoft.com/office/drawing/2014/main" id="{91C0866D-3CA9-4867-B66E-2904C5D1DEB5}"/>
              </a:ext>
            </a:extLst>
          </p:cNvPr>
          <p:cNvSpPr>
            <a:spLocks xmlns:a="http://schemas.openxmlformats.org/drawingml/2006/main" noGrp="1"/>
          </p:cNvSpPr>
          <p:nvPr/>
        </p:nvSpPr>
        <p:spPr>
          <a:xfrm xmlns:a="http://schemas.openxmlformats.org/drawingml/2006/main">
            <a:off x="975360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RESPONSE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a:t>
            </a:r>
          </a:p>
        </p:txBody>
      </p:sp>
      <p:sp>
        <p:nvSpPr>
          <p:cNvPr id="17" name="S2_ATTACK_1">
            <a:extLst xmlns:a="http://schemas.openxmlformats.org/drawingml/2006/main">
              <a:ext uri="{FF2B5EF4-FFF2-40B4-BE49-F238E27FC236}">
                <a16:creationId xmlns:a16="http://schemas.microsoft.com/office/drawing/2014/main" id="{470E21D7-1830-40CC-9F37-067074606C52}"/>
              </a:ext>
            </a:extLst>
          </p:cNvPr>
          <p:cNvSpPr>
            <a:spLocks xmlns:a="http://schemas.openxmlformats.org/drawingml/2006/main" noGrp="1"/>
          </p:cNvSpPr>
          <p:nvPr/>
        </p:nvSpPr>
        <p:spPr>
          <a:xfrm xmlns:a="http://schemas.openxmlformats.org/drawingml/2006/main">
            <a:off x="533400" y="289560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XSS</a:t>
            </a:r>
          </a:p>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output / DOM sink</a:t>
            </a:r>
          </a:p>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 mã chạy trong browser</a:t>
            </a:r>
          </a:p>
        </p:txBody>
      </p:sp>
      <p:sp>
        <p:nvSpPr>
          <p:cNvPr id="18" name="S2_ATTACK_2">
            <a:extLst xmlns:a="http://schemas.openxmlformats.org/drawingml/2006/main">
              <a:ext uri="{FF2B5EF4-FFF2-40B4-BE49-F238E27FC236}">
                <a16:creationId xmlns:a16="http://schemas.microsoft.com/office/drawing/2014/main" id="{E3FBAC00-F85F-4FF3-879F-31ED35039786}"/>
              </a:ext>
            </a:extLst>
          </p:cNvPr>
          <p:cNvSpPr>
            <a:spLocks xmlns:a="http://schemas.openxmlformats.org/drawingml/2006/main" noGrp="1"/>
          </p:cNvSpPr>
          <p:nvPr/>
        </p:nvSpPr>
        <p:spPr>
          <a:xfrm xmlns:a="http://schemas.openxmlformats.org/drawingml/2006/main">
            <a:off x="4314825" y="289560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BUFFER</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native memory</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crash / corruption</a:t>
            </a:r>
          </a:p>
        </p:txBody>
      </p:sp>
      <p:sp>
        <p:nvSpPr>
          <p:cNvPr id="19" name="S2_ATTACK_3">
            <a:extLst xmlns:a="http://schemas.openxmlformats.org/drawingml/2006/main">
              <a:ext uri="{FF2B5EF4-FFF2-40B4-BE49-F238E27FC236}">
                <a16:creationId xmlns:a16="http://schemas.microsoft.com/office/drawing/2014/main" id="{A7DADF98-B27B-41FC-8715-D5AB7119FA77}"/>
              </a:ext>
            </a:extLst>
          </p:cNvPr>
          <p:cNvSpPr>
            <a:spLocks xmlns:a="http://schemas.openxmlformats.org/drawingml/2006/main" noGrp="1"/>
          </p:cNvSpPr>
          <p:nvPr/>
        </p:nvSpPr>
        <p:spPr>
          <a:xfrm xmlns:a="http://schemas.openxmlformats.org/drawingml/2006/main">
            <a:off x="8096250" y="289560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PARAMETER</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policy decision</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giá / object / role</a:t>
            </a:r>
          </a:p>
        </p:txBody>
      </p:sp>
      <p:sp>
        <p:nvSpPr>
          <p:cNvPr id="20" name="S2_ATTACK_4">
            <a:extLst xmlns:a="http://schemas.openxmlformats.org/drawingml/2006/main">
              <a:ext uri="{FF2B5EF4-FFF2-40B4-BE49-F238E27FC236}">
                <a16:creationId xmlns:a16="http://schemas.microsoft.com/office/drawing/2014/main" id="{1C6C643C-CBB7-4275-BFB7-43267D3D689E}"/>
              </a:ext>
            </a:extLst>
          </p:cNvPr>
          <p:cNvSpPr>
            <a:spLocks xmlns:a="http://schemas.openxmlformats.org/drawingml/2006/main" noGrp="1"/>
          </p:cNvSpPr>
          <p:nvPr/>
        </p:nvSpPr>
        <p:spPr>
          <a:xfrm xmlns:a="http://schemas.openxmlformats.org/drawingml/2006/main">
            <a:off x="533400" y="432435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CSRF</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browser credential</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state change ngoài ý muốn</a:t>
            </a:r>
          </a:p>
        </p:txBody>
      </p:sp>
      <p:sp>
        <p:nvSpPr>
          <p:cNvPr id="21" name="S2_ATTACK_5">
            <a:extLst xmlns:a="http://schemas.openxmlformats.org/drawingml/2006/main">
              <a:ext uri="{FF2B5EF4-FFF2-40B4-BE49-F238E27FC236}">
                <a16:creationId xmlns:a16="http://schemas.microsoft.com/office/drawing/2014/main" id="{B3C0339D-5040-45F4-9B9E-537BFF8284CA}"/>
              </a:ext>
            </a:extLst>
          </p:cNvPr>
          <p:cNvSpPr>
            <a:spLocks xmlns:a="http://schemas.openxmlformats.org/drawingml/2006/main" noGrp="1"/>
          </p:cNvSpPr>
          <p:nvPr/>
        </p:nvSpPr>
        <p:spPr>
          <a:xfrm xmlns:a="http://schemas.openxmlformats.org/drawingml/2006/main">
            <a:off x="4314825" y="432435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SQLi</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query construction</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logic SQL bị thay</a:t>
            </a:r>
          </a:p>
        </p:txBody>
      </p:sp>
      <p:sp>
        <p:nvSpPr>
          <p:cNvPr id="22" name="S2_ATTACK_6">
            <a:extLst xmlns:a="http://schemas.openxmlformats.org/drawingml/2006/main">
              <a:ext uri="{FF2B5EF4-FFF2-40B4-BE49-F238E27FC236}">
                <a16:creationId xmlns:a16="http://schemas.microsoft.com/office/drawing/2014/main" id="{D66F4D75-AB28-4751-A1B8-D8654CCB7013}"/>
              </a:ext>
            </a:extLst>
          </p:cNvPr>
          <p:cNvSpPr>
            <a:spLocks xmlns:a="http://schemas.openxmlformats.org/drawingml/2006/main" noGrp="1"/>
          </p:cNvSpPr>
          <p:nvPr/>
        </p:nvSpPr>
        <p:spPr>
          <a:xfrm xmlns:a="http://schemas.openxmlformats.org/drawingml/2006/main">
            <a:off x="8096250" y="432435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COOKIE</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client state</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quyền bị giả mạo</a:t>
            </a:r>
          </a:p>
        </p:txBody>
      </p:sp>
      <p:sp>
        <p:nvSpPr>
          <p:cNvPr id="23" name="S2_THESIS_BAR">
            <a:extLst xmlns:a="http://schemas.openxmlformats.org/drawingml/2006/main">
              <a:ext uri="{FF2B5EF4-FFF2-40B4-BE49-F238E27FC236}">
                <a16:creationId xmlns:a16="http://schemas.microsoft.com/office/drawing/2014/main" id="{AFCD75BD-B1D6-4C7A-BBAF-FC52BDDEEAEF}"/>
              </a:ext>
            </a:extLst>
          </p:cNvPr>
          <p:cNvSpPr>
            <a:spLocks xmlns:a="http://schemas.openxmlformats.org/drawingml/2006/main" noGrp="1"/>
          </p:cNvSpPr>
          <p:nvPr/>
        </p:nvSpPr>
        <p:spPr>
          <a:xfrm xmlns:a="http://schemas.openxmlformats.org/drawingml/2006/main">
            <a:off x="533400" y="5600700"/>
            <a:ext cx="76200" cy="0"/>
          </a:xfrm>
          <a:prstGeom xmlns:a="http://schemas.openxmlformats.org/drawingml/2006/main" prst="rect">
            <a:avLst/>
          </a:prstGeom>
          <a:ln xmlns:a="http://schemas.openxmlformats.org/drawingml/2006/main" w="0">
            <a:noFill/>
            <a:prstDash val="solid"/>
          </a:ln>
        </p:spPr>
      </p:sp>
      <p:sp>
        <p:nvSpPr>
          <p:cNvPr id="24" name="S2_THESIS_LABEL">
            <a:extLst xmlns:a="http://schemas.openxmlformats.org/drawingml/2006/main">
              <a:ext uri="{FF2B5EF4-FFF2-40B4-BE49-F238E27FC236}">
                <a16:creationId xmlns:a16="http://schemas.microsoft.com/office/drawing/2014/main" id="{08ED4C50-0DA5-4154-956C-C7C9AAB5483D}"/>
              </a:ext>
            </a:extLst>
          </p:cNvPr>
          <p:cNvSpPr>
            <a:spLocks xmlns:a="http://schemas.openxmlformats.org/drawingml/2006/main" noGrp="1"/>
          </p:cNvSpPr>
          <p:nvPr/>
        </p:nvSpPr>
        <p:spPr>
          <a:xfrm xmlns:a="http://schemas.openxmlformats.org/drawingml/2006/main">
            <a:off x="704850" y="5600700"/>
            <a:ext cx="1638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QUY ĐỊNH AN TOÀN</a:t>
            </a:r>
          </a:p>
        </p:txBody>
      </p:sp>
      <p:sp>
        <p:nvSpPr>
          <p:cNvPr id="25" name="S2_THESIS_BODY">
            <a:extLst xmlns:a="http://schemas.openxmlformats.org/drawingml/2006/main">
              <a:ext uri="{FF2B5EF4-FFF2-40B4-BE49-F238E27FC236}">
                <a16:creationId xmlns:a16="http://schemas.microsoft.com/office/drawing/2014/main" id="{8229230D-005B-4DC0-8819-16EC32EC3ECA}"/>
              </a:ext>
            </a:extLst>
          </p:cNvPr>
          <p:cNvSpPr>
            <a:spLocks xmlns:a="http://schemas.openxmlformats.org/drawingml/2006/main" noGrp="1"/>
          </p:cNvSpPr>
          <p:nvPr/>
        </p:nvSpPr>
        <p:spPr>
          <a:xfrm xmlns:a="http://schemas.openxmlformats.org/drawingml/2006/main">
            <a:off x="2438400" y="5600700"/>
            <a:ext cx="9201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Chỉ VM/Docker local, app cố tình có lỗi hoặc nền tảng học tập hợp pháp.</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Không thử payload hay tấn công hệ thống thật; không đánh cắp cookie/tài khoản/dữ liệu; không reverse shell, malware, persistence, botnet, keylogger.</a:t>
            </a:r>
          </a:p>
        </p:txBody>
      </p:sp>
    </p:spTree>
    <p:extLst>
      <p:ext uri="{BB962C8B-B14F-4D97-AF65-F5344CB8AC3E}">
        <p14:creationId xmlns:p14="http://schemas.microsoft.com/office/powerpoint/2010/main" val="112762225"/>
      </p:ext>
    </p:extLst>
  </p:cSld>
</p:sld>
</file>

<file path=ppt/slides/slide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9" name="S3_EYEBROW">
            <a:extLst xmlns:a="http://schemas.openxmlformats.org/drawingml/2006/main">
              <a:ext uri="{FF2B5EF4-FFF2-40B4-BE49-F238E27FC236}">
                <a16:creationId xmlns:a16="http://schemas.microsoft.com/office/drawing/2014/main" id="{472D984D-1896-4E88-A0F1-EFA2567626A1}"/>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3_TITLE">
            <a:extLst xmlns:a="http://schemas.openxmlformats.org/drawingml/2006/main">
              <a:ext uri="{FF2B5EF4-FFF2-40B4-BE49-F238E27FC236}">
                <a16:creationId xmlns:a16="http://schemas.microsoft.com/office/drawing/2014/main" id="{D9E78474-B237-47E9-9964-1D606D28CC8B}"/>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Ba biến thể — một lỗi niềm tin</a:t>
            </a:r>
          </a:p>
        </p:txBody>
      </p:sp>
      <p:sp>
        <p:nvSpPr>
          <p:cNvPr id="3" name="S3_SUBTITLE">
            <a:extLst xmlns:a="http://schemas.openxmlformats.org/drawingml/2006/main">
              <a:ext uri="{FF2B5EF4-FFF2-40B4-BE49-F238E27FC236}">
                <a16:creationId xmlns:a16="http://schemas.microsoft.com/office/drawing/2014/main" id="{FC17068D-6D9A-4BD4-B622-034254461DF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Khác đường đi; giống kết quả: dữ liệu bị diễn giải như HTML/JavaScript.</a:t>
            </a:r>
          </a:p>
        </p:txBody>
      </p:sp>
      <p:sp>
        <p:nvSpPr>
          <p:cNvPr id="4" name="S3_TITLE_RULE">
            <a:extLst xmlns:a="http://schemas.openxmlformats.org/drawingml/2006/main">
              <a:ext uri="{FF2B5EF4-FFF2-40B4-BE49-F238E27FC236}">
                <a16:creationId xmlns:a16="http://schemas.microsoft.com/office/drawing/2014/main" id="{98500CF0-5579-46AE-9909-8B130C75E482}"/>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_FOOTER_RULE">
            <a:extLst xmlns:a="http://schemas.openxmlformats.org/drawingml/2006/main">
              <a:ext uri="{FF2B5EF4-FFF2-40B4-BE49-F238E27FC236}">
                <a16:creationId xmlns:a16="http://schemas.microsoft.com/office/drawing/2014/main" id="{BCF864F4-27D1-4468-B692-212A909E7852}"/>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_SOURCE">
            <a:extLst xmlns:a="http://schemas.openxmlformats.org/drawingml/2006/main">
              <a:ext uri="{FF2B5EF4-FFF2-40B4-BE49-F238E27FC236}">
                <a16:creationId xmlns:a16="http://schemas.microsoft.com/office/drawing/2014/main" id="{F67F5018-4FE7-4F02-B8BF-067ECCE19987}"/>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Lab01/app.py · templates · static/js</a:t>
            </a:r>
          </a:p>
        </p:txBody>
      </p:sp>
      <p:sp>
        <p:nvSpPr>
          <p:cNvPr id="7" name="S3_NUMBER">
            <a:extLst xmlns:a="http://schemas.openxmlformats.org/drawingml/2006/main">
              <a:ext uri="{FF2B5EF4-FFF2-40B4-BE49-F238E27FC236}">
                <a16:creationId xmlns:a16="http://schemas.microsoft.com/office/drawing/2014/main" id="{D0516585-50A3-4F83-8845-D9F63A4E585C}"/>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03</a:t>
            </a:r>
          </a:p>
        </p:txBody>
      </p:sp>
      <p:sp>
        <p:nvSpPr>
          <p:cNvPr id="8" name="S3_XSS_MATRIX_H0">
            <a:extLst xmlns:a="http://schemas.openxmlformats.org/drawingml/2006/main">
              <a:ext uri="{FF2B5EF4-FFF2-40B4-BE49-F238E27FC236}">
                <a16:creationId xmlns:a16="http://schemas.microsoft.com/office/drawing/2014/main" id="{09A688DA-97B8-405A-9D0F-7C8EF1FDAF28}"/>
              </a:ext>
            </a:extLst>
          </p:cNvPr>
          <p:cNvSpPr>
            <a:spLocks xmlns:a="http://schemas.openxmlformats.org/drawingml/2006/main" noGrp="1"/>
          </p:cNvSpPr>
          <p:nvPr/>
        </p:nvSpPr>
        <p:spPr>
          <a:xfrm xmlns:a="http://schemas.openxmlformats.org/drawingml/2006/main">
            <a:off x="533400" y="1733550"/>
            <a:ext cx="180975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BIẾN THỂ</a:t>
            </a:r>
          </a:p>
        </p:txBody>
      </p:sp>
      <p:sp>
        <p:nvSpPr>
          <p:cNvPr id="9" name="S3_XSS_MATRIX_H1">
            <a:extLst xmlns:a="http://schemas.openxmlformats.org/drawingml/2006/main">
              <a:ext uri="{FF2B5EF4-FFF2-40B4-BE49-F238E27FC236}">
                <a16:creationId xmlns:a16="http://schemas.microsoft.com/office/drawing/2014/main" id="{A8FFAB57-A361-44FC-870C-4AF4CCC6B906}"/>
              </a:ext>
            </a:extLst>
          </p:cNvPr>
          <p:cNvSpPr>
            <a:spLocks xmlns:a="http://schemas.openxmlformats.org/drawingml/2006/main" noGrp="1"/>
          </p:cNvSpPr>
          <p:nvPr/>
        </p:nvSpPr>
        <p:spPr>
          <a:xfrm xmlns:a="http://schemas.openxmlformats.org/drawingml/2006/main">
            <a:off x="2343150" y="1733550"/>
            <a:ext cx="224790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SOURCE</a:t>
            </a:r>
          </a:p>
        </p:txBody>
      </p:sp>
      <p:sp>
        <p:nvSpPr>
          <p:cNvPr id="10" name="S3_XSS_MATRIX_H2">
            <a:extLst xmlns:a="http://schemas.openxmlformats.org/drawingml/2006/main">
              <a:ext uri="{FF2B5EF4-FFF2-40B4-BE49-F238E27FC236}">
                <a16:creationId xmlns:a16="http://schemas.microsoft.com/office/drawing/2014/main" id="{3FE37661-A144-4E64-8090-0E25F697F041}"/>
              </a:ext>
            </a:extLst>
          </p:cNvPr>
          <p:cNvSpPr>
            <a:spLocks xmlns:a="http://schemas.openxmlformats.org/drawingml/2006/main" noGrp="1"/>
          </p:cNvSpPr>
          <p:nvPr/>
        </p:nvSpPr>
        <p:spPr>
          <a:xfrm xmlns:a="http://schemas.openxmlformats.org/drawingml/2006/main">
            <a:off x="4591050" y="1733550"/>
            <a:ext cx="266700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TRUNG GIAN</a:t>
            </a:r>
          </a:p>
        </p:txBody>
      </p:sp>
      <p:sp>
        <p:nvSpPr>
          <p:cNvPr id="11" name="S3_XSS_MATRIX_H3">
            <a:extLst xmlns:a="http://schemas.openxmlformats.org/drawingml/2006/main">
              <a:ext uri="{FF2B5EF4-FFF2-40B4-BE49-F238E27FC236}">
                <a16:creationId xmlns:a16="http://schemas.microsoft.com/office/drawing/2014/main" id="{39047D4F-DFE6-457E-8FAC-6B8C866309CB}"/>
              </a:ext>
            </a:extLst>
          </p:cNvPr>
          <p:cNvSpPr>
            <a:spLocks xmlns:a="http://schemas.openxmlformats.org/drawingml/2006/main" noGrp="1"/>
          </p:cNvSpPr>
          <p:nvPr/>
        </p:nvSpPr>
        <p:spPr>
          <a:xfrm xmlns:a="http://schemas.openxmlformats.org/drawingml/2006/main">
            <a:off x="7258050" y="1733550"/>
            <a:ext cx="440055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SINK / THỜI ĐIỂM</a:t>
            </a:r>
          </a:p>
        </p:txBody>
      </p:sp>
      <p:sp>
        <p:nvSpPr>
          <p:cNvPr id="12" name="S3_XSS_MATRIX_R0C0">
            <a:extLst xmlns:a="http://schemas.openxmlformats.org/drawingml/2006/main">
              <a:ext uri="{FF2B5EF4-FFF2-40B4-BE49-F238E27FC236}">
                <a16:creationId xmlns:a16="http://schemas.microsoft.com/office/drawing/2014/main" id="{E2086B47-03BA-4D59-8EAA-34B26C5C1ACE}"/>
              </a:ext>
            </a:extLst>
          </p:cNvPr>
          <p:cNvSpPr>
            <a:spLocks xmlns:a="http://schemas.openxmlformats.org/drawingml/2006/main" noGrp="1"/>
          </p:cNvSpPr>
          <p:nvPr/>
        </p:nvSpPr>
        <p:spPr>
          <a:xfrm xmlns:a="http://schemas.openxmlformats.org/drawingml/2006/main">
            <a:off x="533400" y="2414588"/>
            <a:ext cx="18097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Reflected</a:t>
            </a:r>
          </a:p>
        </p:txBody>
      </p:sp>
      <p:sp>
        <p:nvSpPr>
          <p:cNvPr id="13" name="S3_XSS_MATRIX_R0C1">
            <a:extLst xmlns:a="http://schemas.openxmlformats.org/drawingml/2006/main">
              <a:ext uri="{FF2B5EF4-FFF2-40B4-BE49-F238E27FC236}">
                <a16:creationId xmlns:a16="http://schemas.microsoft.com/office/drawing/2014/main" id="{C38B8539-365A-41BA-8253-75E06325A7C1}"/>
              </a:ext>
            </a:extLst>
          </p:cNvPr>
          <p:cNvSpPr>
            <a:spLocks xmlns:a="http://schemas.openxmlformats.org/drawingml/2006/main" noGrp="1"/>
          </p:cNvSpPr>
          <p:nvPr/>
        </p:nvSpPr>
        <p:spPr>
          <a:xfrm xmlns:a="http://schemas.openxmlformats.org/drawingml/2006/main">
            <a:off x="2343150" y="2414588"/>
            <a:ext cx="22479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query q</a:t>
            </a:r>
          </a:p>
        </p:txBody>
      </p:sp>
      <p:sp>
        <p:nvSpPr>
          <p:cNvPr id="14" name="S3_XSS_MATRIX_R0C2">
            <a:extLst xmlns:a="http://schemas.openxmlformats.org/drawingml/2006/main">
              <a:ext uri="{FF2B5EF4-FFF2-40B4-BE49-F238E27FC236}">
                <a16:creationId xmlns:a16="http://schemas.microsoft.com/office/drawing/2014/main" id="{38ACB76A-C0DE-4F89-BE00-E61031F4FE62}"/>
              </a:ext>
            </a:extLst>
          </p:cNvPr>
          <p:cNvSpPr>
            <a:spLocks xmlns:a="http://schemas.openxmlformats.org/drawingml/2006/main" noGrp="1"/>
          </p:cNvSpPr>
          <p:nvPr/>
        </p:nvSpPr>
        <p:spPr>
          <a:xfrm xmlns:a="http://schemas.openxmlformats.org/drawingml/2006/main">
            <a:off x="4591050" y="2414588"/>
            <a:ext cx="26670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request → response</a:t>
            </a:r>
          </a:p>
        </p:txBody>
      </p:sp>
      <p:sp>
        <p:nvSpPr>
          <p:cNvPr id="15" name="S3_XSS_MATRIX_R0C3">
            <a:extLst xmlns:a="http://schemas.openxmlformats.org/drawingml/2006/main">
              <a:ext uri="{FF2B5EF4-FFF2-40B4-BE49-F238E27FC236}">
                <a16:creationId xmlns:a16="http://schemas.microsoft.com/office/drawing/2014/main" id="{9DE2A1C1-134E-4CD1-BA39-EF0718EFE0D5}"/>
              </a:ext>
            </a:extLst>
          </p:cNvPr>
          <p:cNvSpPr>
            <a:spLocks xmlns:a="http://schemas.openxmlformats.org/drawingml/2006/main" noGrp="1"/>
          </p:cNvSpPr>
          <p:nvPr/>
        </p:nvSpPr>
        <p:spPr>
          <a:xfrm xmlns:a="http://schemas.openxmlformats.org/drawingml/2006/main">
            <a:off x="7258050" y="2414588"/>
            <a:ext cx="44005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Markup(q) · chạy khi mở URL</a:t>
            </a:r>
          </a:p>
        </p:txBody>
      </p:sp>
      <p:sp>
        <p:nvSpPr>
          <p:cNvPr id="16" name="S3_XSS_MATRIX_R1C0">
            <a:extLst xmlns:a="http://schemas.openxmlformats.org/drawingml/2006/main">
              <a:ext uri="{FF2B5EF4-FFF2-40B4-BE49-F238E27FC236}">
                <a16:creationId xmlns:a16="http://schemas.microsoft.com/office/drawing/2014/main" id="{83566A31-7358-436B-A2AB-538D8BBE8B7A}"/>
              </a:ext>
            </a:extLst>
          </p:cNvPr>
          <p:cNvSpPr>
            <a:spLocks xmlns:a="http://schemas.openxmlformats.org/drawingml/2006/main" noGrp="1"/>
          </p:cNvSpPr>
          <p:nvPr/>
        </p:nvSpPr>
        <p:spPr>
          <a:xfrm xmlns:a="http://schemas.openxmlformats.org/drawingml/2006/main">
            <a:off x="533400" y="3095625"/>
            <a:ext cx="180975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Stored</a:t>
            </a:r>
          </a:p>
        </p:txBody>
      </p:sp>
      <p:sp>
        <p:nvSpPr>
          <p:cNvPr id="17" name="S3_XSS_MATRIX_R1C1">
            <a:extLst xmlns:a="http://schemas.openxmlformats.org/drawingml/2006/main">
              <a:ext uri="{FF2B5EF4-FFF2-40B4-BE49-F238E27FC236}">
                <a16:creationId xmlns:a16="http://schemas.microsoft.com/office/drawing/2014/main" id="{B210C21F-FCE0-4BE2-B2FA-FB02B41A6085}"/>
              </a:ext>
            </a:extLst>
          </p:cNvPr>
          <p:cNvSpPr>
            <a:spLocks xmlns:a="http://schemas.openxmlformats.org/drawingml/2006/main" noGrp="1"/>
          </p:cNvSpPr>
          <p:nvPr/>
        </p:nvSpPr>
        <p:spPr>
          <a:xfrm xmlns:a="http://schemas.openxmlformats.org/drawingml/2006/main">
            <a:off x="2343150" y="3095625"/>
            <a:ext cx="224790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comment body</a:t>
            </a:r>
          </a:p>
        </p:txBody>
      </p:sp>
      <p:sp>
        <p:nvSpPr>
          <p:cNvPr id="18" name="S3_XSS_MATRIX_R1C2">
            <a:extLst xmlns:a="http://schemas.openxmlformats.org/drawingml/2006/main">
              <a:ext uri="{FF2B5EF4-FFF2-40B4-BE49-F238E27FC236}">
                <a16:creationId xmlns:a16="http://schemas.microsoft.com/office/drawing/2014/main" id="{6CEC1289-C4C6-479A-914C-574C6F68210C}"/>
              </a:ext>
            </a:extLst>
          </p:cNvPr>
          <p:cNvSpPr>
            <a:spLocks xmlns:a="http://schemas.openxmlformats.org/drawingml/2006/main" noGrp="1"/>
          </p:cNvSpPr>
          <p:nvPr/>
        </p:nvSpPr>
        <p:spPr>
          <a:xfrm xmlns:a="http://schemas.openxmlformats.org/drawingml/2006/main">
            <a:off x="4591050" y="3095625"/>
            <a:ext cx="266700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SQLite</a:t>
            </a:r>
          </a:p>
        </p:txBody>
      </p:sp>
      <p:sp>
        <p:nvSpPr>
          <p:cNvPr id="19" name="S3_XSS_MATRIX_R1C3">
            <a:extLst xmlns:a="http://schemas.openxmlformats.org/drawingml/2006/main">
              <a:ext uri="{FF2B5EF4-FFF2-40B4-BE49-F238E27FC236}">
                <a16:creationId xmlns:a16="http://schemas.microsoft.com/office/drawing/2014/main" id="{046D936E-690E-4F5D-84F1-DE374C4FCC62}"/>
              </a:ext>
            </a:extLst>
          </p:cNvPr>
          <p:cNvSpPr>
            <a:spLocks xmlns:a="http://schemas.openxmlformats.org/drawingml/2006/main" noGrp="1"/>
          </p:cNvSpPr>
          <p:nvPr/>
        </p:nvSpPr>
        <p:spPr>
          <a:xfrm xmlns:a="http://schemas.openxmlformats.org/drawingml/2006/main">
            <a:off x="7258050" y="3095625"/>
            <a:ext cx="440055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Markup(body) · chạy với mọi người xem</a:t>
            </a:r>
          </a:p>
        </p:txBody>
      </p:sp>
      <p:sp>
        <p:nvSpPr>
          <p:cNvPr id="20" name="S3_XSS_MATRIX_R2C0">
            <a:extLst xmlns:a="http://schemas.openxmlformats.org/drawingml/2006/main">
              <a:ext uri="{FF2B5EF4-FFF2-40B4-BE49-F238E27FC236}">
                <a16:creationId xmlns:a16="http://schemas.microsoft.com/office/drawing/2014/main" id="{56BB97BE-C3EE-4BA9-98FA-55C7FDC8FB8F}"/>
              </a:ext>
            </a:extLst>
          </p:cNvPr>
          <p:cNvSpPr>
            <a:spLocks xmlns:a="http://schemas.openxmlformats.org/drawingml/2006/main" noGrp="1"/>
          </p:cNvSpPr>
          <p:nvPr/>
        </p:nvSpPr>
        <p:spPr>
          <a:xfrm xmlns:a="http://schemas.openxmlformats.org/drawingml/2006/main">
            <a:off x="533400" y="3776663"/>
            <a:ext cx="18097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a:t>
            </a:r>
          </a:p>
        </p:txBody>
      </p:sp>
      <p:sp>
        <p:nvSpPr>
          <p:cNvPr id="21" name="S3_XSS_MATRIX_R2C1">
            <a:extLst xmlns:a="http://schemas.openxmlformats.org/drawingml/2006/main">
              <a:ext uri="{FF2B5EF4-FFF2-40B4-BE49-F238E27FC236}">
                <a16:creationId xmlns:a16="http://schemas.microsoft.com/office/drawing/2014/main" id="{BB03C819-9AC7-4115-8930-BDDA89CC6098}"/>
              </a:ext>
            </a:extLst>
          </p:cNvPr>
          <p:cNvSpPr>
            <a:spLocks xmlns:a="http://schemas.openxmlformats.org/drawingml/2006/main" noGrp="1"/>
          </p:cNvSpPr>
          <p:nvPr/>
        </p:nvSpPr>
        <p:spPr>
          <a:xfrm xmlns:a="http://schemas.openxmlformats.org/drawingml/2006/main">
            <a:off x="2343150" y="3776663"/>
            <a:ext cx="22479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location.hash</a:t>
            </a:r>
          </a:p>
        </p:txBody>
      </p:sp>
      <p:sp>
        <p:nvSpPr>
          <p:cNvPr id="22" name="S3_XSS_MATRIX_R2C2">
            <a:extLst xmlns:a="http://schemas.openxmlformats.org/drawingml/2006/main">
              <a:ext uri="{FF2B5EF4-FFF2-40B4-BE49-F238E27FC236}">
                <a16:creationId xmlns:a16="http://schemas.microsoft.com/office/drawing/2014/main" id="{E47FF1BB-E42D-4B0D-85C5-7257088AB574}"/>
              </a:ext>
            </a:extLst>
          </p:cNvPr>
          <p:cNvSpPr>
            <a:spLocks xmlns:a="http://schemas.openxmlformats.org/drawingml/2006/main" noGrp="1"/>
          </p:cNvSpPr>
          <p:nvPr/>
        </p:nvSpPr>
        <p:spPr>
          <a:xfrm xmlns:a="http://schemas.openxmlformats.org/drawingml/2006/main">
            <a:off x="4591050" y="3776663"/>
            <a:ext cx="26670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browser only</a:t>
            </a:r>
          </a:p>
        </p:txBody>
      </p:sp>
      <p:sp>
        <p:nvSpPr>
          <p:cNvPr id="23" name="S3_XSS_MATRIX_R2C3">
            <a:extLst xmlns:a="http://schemas.openxmlformats.org/drawingml/2006/main">
              <a:ext uri="{FF2B5EF4-FFF2-40B4-BE49-F238E27FC236}">
                <a16:creationId xmlns:a16="http://schemas.microsoft.com/office/drawing/2014/main" id="{3F9CA206-238E-406E-82CB-33F513069B74}"/>
              </a:ext>
            </a:extLst>
          </p:cNvPr>
          <p:cNvSpPr>
            <a:spLocks xmlns:a="http://schemas.openxmlformats.org/drawingml/2006/main" noGrp="1"/>
          </p:cNvSpPr>
          <p:nvPr/>
        </p:nvSpPr>
        <p:spPr>
          <a:xfrm xmlns:a="http://schemas.openxmlformats.org/drawingml/2006/main">
            <a:off x="7258050" y="3776663"/>
            <a:ext cx="44005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innerHTML · không cần server phản chiếu</a:t>
            </a:r>
          </a:p>
        </p:txBody>
      </p:sp>
      <p:sp>
        <p:nvSpPr>
          <p:cNvPr id="24" name="S3_COMMON_ARROW_1">
            <a:extLst xmlns:a="http://schemas.openxmlformats.org/drawingml/2006/main">
              <a:ext uri="{FF2B5EF4-FFF2-40B4-BE49-F238E27FC236}">
                <a16:creationId xmlns:a16="http://schemas.microsoft.com/office/drawing/2014/main" id="{52B60A6B-08F0-4E4A-909C-8DB9A0302514}"/>
              </a:ext>
            </a:extLst>
          </p:cNvPr>
          <p:cNvSpPr>
            <a:spLocks xmlns:a="http://schemas.openxmlformats.org/drawingml/2006/main" noGrp="1"/>
          </p:cNvSpPr>
          <p:nvPr/>
        </p:nvSpPr>
        <p:spPr>
          <a:xfrm xmlns:a="http://schemas.openxmlformats.org/drawingml/2006/main">
            <a:off x="4470400" y="52673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25" name="S3_COMMON_ARROW_2">
            <a:extLst xmlns:a="http://schemas.openxmlformats.org/drawingml/2006/main">
              <a:ext uri="{FF2B5EF4-FFF2-40B4-BE49-F238E27FC236}">
                <a16:creationId xmlns:a16="http://schemas.microsoft.com/office/drawing/2014/main" id="{9031EA6B-EE7D-44D1-B4E8-EAAB00797EB7}"/>
              </a:ext>
            </a:extLst>
          </p:cNvPr>
          <p:cNvSpPr>
            <a:spLocks xmlns:a="http://schemas.openxmlformats.org/drawingml/2006/main" noGrp="1"/>
          </p:cNvSpPr>
          <p:nvPr/>
        </p:nvSpPr>
        <p:spPr>
          <a:xfrm xmlns:a="http://schemas.openxmlformats.org/drawingml/2006/main">
            <a:off x="7588250" y="52673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26" name="S3_COMMON_NODE_1">
            <a:extLst xmlns:a="http://schemas.openxmlformats.org/drawingml/2006/main">
              <a:ext uri="{FF2B5EF4-FFF2-40B4-BE49-F238E27FC236}">
                <a16:creationId xmlns:a16="http://schemas.microsoft.com/office/drawing/2014/main" id="{6160DED8-A56B-4734-BC9E-A94196E01D62}"/>
              </a:ext>
            </a:extLst>
          </p:cNvPr>
          <p:cNvSpPr>
            <a:spLocks xmlns:a="http://schemas.openxmlformats.org/drawingml/2006/main" noGrp="1"/>
          </p:cNvSpPr>
          <p:nvPr/>
        </p:nvSpPr>
        <p:spPr>
          <a:xfrm xmlns:a="http://schemas.openxmlformats.org/drawingml/2006/main">
            <a:off x="1619250" y="4876800"/>
            <a:ext cx="2717800" cy="9525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UNTRUSTED</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DATA</a:t>
            </a:r>
          </a:p>
        </p:txBody>
      </p:sp>
      <p:sp>
        <p:nvSpPr>
          <p:cNvPr id="27" name="S3_COMMON_NODE_2">
            <a:extLst xmlns:a="http://schemas.openxmlformats.org/drawingml/2006/main">
              <a:ext uri="{FF2B5EF4-FFF2-40B4-BE49-F238E27FC236}">
                <a16:creationId xmlns:a16="http://schemas.microsoft.com/office/drawing/2014/main" id="{F145ECB1-D669-46F2-82E8-0CEE6100298D}"/>
              </a:ext>
            </a:extLst>
          </p:cNvPr>
          <p:cNvSpPr>
            <a:spLocks xmlns:a="http://schemas.openxmlformats.org/drawingml/2006/main" noGrp="1"/>
          </p:cNvSpPr>
          <p:nvPr/>
        </p:nvSpPr>
        <p:spPr>
          <a:xfrm xmlns:a="http://schemas.openxmlformats.org/drawingml/2006/main">
            <a:off x="4737100" y="4876800"/>
            <a:ext cx="2717800" cy="9525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UNSAFE</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INTERPRETATION</a:t>
            </a:r>
          </a:p>
        </p:txBody>
      </p:sp>
      <p:sp>
        <p:nvSpPr>
          <p:cNvPr id="28" name="S3_COMMON_NODE_3">
            <a:extLst xmlns:a="http://schemas.openxmlformats.org/drawingml/2006/main">
              <a:ext uri="{FF2B5EF4-FFF2-40B4-BE49-F238E27FC236}">
                <a16:creationId xmlns:a16="http://schemas.microsoft.com/office/drawing/2014/main" id="{31D7201F-D501-46FD-BF03-6A06ACB9A0DF}"/>
              </a:ext>
            </a:extLst>
          </p:cNvPr>
          <p:cNvSpPr>
            <a:spLocks xmlns:a="http://schemas.openxmlformats.org/drawingml/2006/main" noGrp="1"/>
          </p:cNvSpPr>
          <p:nvPr/>
        </p:nvSpPr>
        <p:spPr>
          <a:xfrm xmlns:a="http://schemas.openxmlformats.org/drawingml/2006/main">
            <a:off x="7854950" y="4876800"/>
            <a:ext cx="2717800" cy="9525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SCRIPT</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EXECUTION</a:t>
            </a:r>
          </a:p>
        </p:txBody>
      </p:sp>
    </p:spTree>
    <p:extLst>
      <p:ext uri="{BB962C8B-B14F-4D97-AF65-F5344CB8AC3E}">
        <p14:creationId xmlns:p14="http://schemas.microsoft.com/office/powerpoint/2010/main" val="2126647837"/>
      </p:ext>
    </p:extLst>
  </p:cSld>
</p:sld>
</file>

<file path=ppt/slides/slide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0" name="S4_EYEBROW">
            <a:extLst xmlns:a="http://schemas.openxmlformats.org/drawingml/2006/main">
              <a:ext uri="{FF2B5EF4-FFF2-40B4-BE49-F238E27FC236}">
                <a16:creationId xmlns:a16="http://schemas.microsoft.com/office/drawing/2014/main" id="{40328D33-8FA1-4713-961B-90D71A620AC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4_TITLE">
            <a:extLst xmlns:a="http://schemas.openxmlformats.org/drawingml/2006/main">
              <a:ext uri="{FF2B5EF4-FFF2-40B4-BE49-F238E27FC236}">
                <a16:creationId xmlns:a16="http://schemas.microsoft.com/office/drawing/2014/main" id="{A1B21EC7-6120-4E09-9D65-98F03B24910F}"/>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Reflected và Stored: hai đường phát lại</a:t>
            </a:r>
          </a:p>
        </p:txBody>
      </p:sp>
      <p:sp>
        <p:nvSpPr>
          <p:cNvPr id="3" name="S4_SUBTITLE">
            <a:extLst xmlns:a="http://schemas.openxmlformats.org/drawingml/2006/main">
              <a:ext uri="{FF2B5EF4-FFF2-40B4-BE49-F238E27FC236}">
                <a16:creationId xmlns:a16="http://schemas.microsoft.com/office/drawing/2014/main" id="{90D265D0-0F82-4D67-98E8-568ED02A9ED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Reflected quay về ngay; Stored đi qua database rồi kích hoạt ở lần xem sau.</a:t>
            </a:r>
          </a:p>
        </p:txBody>
      </p:sp>
      <p:sp>
        <p:nvSpPr>
          <p:cNvPr id="4" name="S4_TITLE_RULE">
            <a:extLst xmlns:a="http://schemas.openxmlformats.org/drawingml/2006/main">
              <a:ext uri="{FF2B5EF4-FFF2-40B4-BE49-F238E27FC236}">
                <a16:creationId xmlns:a16="http://schemas.microsoft.com/office/drawing/2014/main" id="{CC772581-9F04-4E66-9A30-F0E312F9E47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4_FOOTER_RULE">
            <a:extLst xmlns:a="http://schemas.openxmlformats.org/drawingml/2006/main">
              <a:ext uri="{FF2B5EF4-FFF2-40B4-BE49-F238E27FC236}">
                <a16:creationId xmlns:a16="http://schemas.microsoft.com/office/drawing/2014/main" id="{34F8AC82-EB5E-44B6-B61F-71983B62A7CA}"/>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4_SOURCE">
            <a:extLst xmlns:a="http://schemas.openxmlformats.org/drawingml/2006/main">
              <a:ext uri="{FF2B5EF4-FFF2-40B4-BE49-F238E27FC236}">
                <a16:creationId xmlns:a16="http://schemas.microsoft.com/office/drawing/2014/main" id="{2E37914D-A549-4656-B7B0-EA15609A1261}"/>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Lab01/app.py · reflected/stored templates</a:t>
            </a:r>
          </a:p>
        </p:txBody>
      </p:sp>
      <p:sp>
        <p:nvSpPr>
          <p:cNvPr id="7" name="S4_NUMBER">
            <a:extLst xmlns:a="http://schemas.openxmlformats.org/drawingml/2006/main">
              <a:ext uri="{FF2B5EF4-FFF2-40B4-BE49-F238E27FC236}">
                <a16:creationId xmlns:a16="http://schemas.microsoft.com/office/drawing/2014/main" id="{6B383E14-DD6C-48AF-800F-1903F969487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04</a:t>
            </a:r>
          </a:p>
        </p:txBody>
      </p:sp>
      <p:sp>
        <p:nvSpPr>
          <p:cNvPr id="8" name="S4_REFLECTED_ARROW_1">
            <a:extLst xmlns:a="http://schemas.openxmlformats.org/drawingml/2006/main">
              <a:ext uri="{FF2B5EF4-FFF2-40B4-BE49-F238E27FC236}">
                <a16:creationId xmlns:a16="http://schemas.microsoft.com/office/drawing/2014/main" id="{967B8B28-D821-4694-B543-F419C1D92A5B}"/>
              </a:ext>
            </a:extLst>
          </p:cNvPr>
          <p:cNvSpPr>
            <a:spLocks xmlns:a="http://schemas.openxmlformats.org/drawingml/2006/main" noGrp="1"/>
          </p:cNvSpPr>
          <p:nvPr/>
        </p:nvSpPr>
        <p:spPr>
          <a:xfrm xmlns:a="http://schemas.openxmlformats.org/drawingml/2006/main">
            <a:off x="2090738"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4_REFLECTED_ARROW_2">
            <a:extLst xmlns:a="http://schemas.openxmlformats.org/drawingml/2006/main">
              <a:ext uri="{FF2B5EF4-FFF2-40B4-BE49-F238E27FC236}">
                <a16:creationId xmlns:a16="http://schemas.microsoft.com/office/drawing/2014/main" id="{72263725-D545-4CC2-AA3B-63FCF8C22C3D}"/>
              </a:ext>
            </a:extLst>
          </p:cNvPr>
          <p:cNvSpPr>
            <a:spLocks xmlns:a="http://schemas.openxmlformats.org/drawingml/2006/main" noGrp="1"/>
          </p:cNvSpPr>
          <p:nvPr/>
        </p:nvSpPr>
        <p:spPr>
          <a:xfrm xmlns:a="http://schemas.openxmlformats.org/drawingml/2006/main">
            <a:off x="3914775"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4_REFLECTED_ARROW_3">
            <a:extLst xmlns:a="http://schemas.openxmlformats.org/drawingml/2006/main">
              <a:ext uri="{FF2B5EF4-FFF2-40B4-BE49-F238E27FC236}">
                <a16:creationId xmlns:a16="http://schemas.microsoft.com/office/drawing/2014/main" id="{7762D275-0A01-43C7-92AB-0FAC9C46E9DF}"/>
              </a:ext>
            </a:extLst>
          </p:cNvPr>
          <p:cNvSpPr>
            <a:spLocks xmlns:a="http://schemas.openxmlformats.org/drawingml/2006/main" noGrp="1"/>
          </p:cNvSpPr>
          <p:nvPr/>
        </p:nvSpPr>
        <p:spPr>
          <a:xfrm xmlns:a="http://schemas.openxmlformats.org/drawingml/2006/main">
            <a:off x="5738813"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4_REFLECTED_NODE_1">
            <a:extLst xmlns:a="http://schemas.openxmlformats.org/drawingml/2006/main">
              <a:ext uri="{FF2B5EF4-FFF2-40B4-BE49-F238E27FC236}">
                <a16:creationId xmlns:a16="http://schemas.microsoft.com/office/drawing/2014/main" id="{2169FB68-D89A-4A1F-948E-CC69886D52A1}"/>
              </a:ext>
            </a:extLst>
          </p:cNvPr>
          <p:cNvSpPr>
            <a:spLocks xmlns:a="http://schemas.openxmlformats.org/drawingml/2006/main" noGrp="1"/>
          </p:cNvSpPr>
          <p:nvPr/>
        </p:nvSpPr>
        <p:spPr>
          <a:xfrm xmlns:a="http://schemas.openxmlformats.org/drawingml/2006/main">
            <a:off x="533400"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?q=</a:t>
            </a:r>
          </a:p>
        </p:txBody>
      </p:sp>
      <p:sp>
        <p:nvSpPr>
          <p:cNvPr id="12" name="S4_REFLECTED_NODE_2">
            <a:extLst xmlns:a="http://schemas.openxmlformats.org/drawingml/2006/main">
              <a:ext uri="{FF2B5EF4-FFF2-40B4-BE49-F238E27FC236}">
                <a16:creationId xmlns:a16="http://schemas.microsoft.com/office/drawing/2014/main" id="{C6939AE7-9000-4E94-8C1C-BEFB477C4300}"/>
              </a:ext>
            </a:extLst>
          </p:cNvPr>
          <p:cNvSpPr>
            <a:spLocks xmlns:a="http://schemas.openxmlformats.org/drawingml/2006/main" noGrp="1"/>
          </p:cNvSpPr>
          <p:nvPr/>
        </p:nvSpPr>
        <p:spPr>
          <a:xfrm xmlns:a="http://schemas.openxmlformats.org/drawingml/2006/main">
            <a:off x="2357438"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Markup(q)</a:t>
            </a:r>
          </a:p>
        </p:txBody>
      </p:sp>
      <p:sp>
        <p:nvSpPr>
          <p:cNvPr id="13" name="S4_REFLECTED_NODE_3">
            <a:extLst xmlns:a="http://schemas.openxmlformats.org/drawingml/2006/main">
              <a:ext uri="{FF2B5EF4-FFF2-40B4-BE49-F238E27FC236}">
                <a16:creationId xmlns:a16="http://schemas.microsoft.com/office/drawing/2014/main" id="{69E01D47-56D9-4CA5-B7C6-302529FE6C70}"/>
              </a:ext>
            </a:extLst>
          </p:cNvPr>
          <p:cNvSpPr>
            <a:spLocks xmlns:a="http://schemas.openxmlformats.org/drawingml/2006/main" noGrp="1"/>
          </p:cNvSpPr>
          <p:nvPr/>
        </p:nvSpPr>
        <p:spPr>
          <a:xfrm xmlns:a="http://schemas.openxmlformats.org/drawingml/2006/main">
            <a:off x="4181475"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HTML response</a:t>
            </a:r>
          </a:p>
        </p:txBody>
      </p:sp>
      <p:sp>
        <p:nvSpPr>
          <p:cNvPr id="14" name="S4_REFLECTED_NODE_4">
            <a:extLst xmlns:a="http://schemas.openxmlformats.org/drawingml/2006/main">
              <a:ext uri="{FF2B5EF4-FFF2-40B4-BE49-F238E27FC236}">
                <a16:creationId xmlns:a16="http://schemas.microsoft.com/office/drawing/2014/main" id="{9CE7FDD5-68D1-42C6-B5F6-AF43932D11B7}"/>
              </a:ext>
            </a:extLst>
          </p:cNvPr>
          <p:cNvSpPr>
            <a:spLocks xmlns:a="http://schemas.openxmlformats.org/drawingml/2006/main" noGrp="1"/>
          </p:cNvSpPr>
          <p:nvPr/>
        </p:nvSpPr>
        <p:spPr>
          <a:xfrm xmlns:a="http://schemas.openxmlformats.org/drawingml/2006/main">
            <a:off x="6005513"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 chạy</a:t>
            </a:r>
          </a:p>
        </p:txBody>
      </p:sp>
      <p:sp>
        <p:nvSpPr>
          <p:cNvPr id="15" name="S4_STORED_ARROW_1">
            <a:extLst xmlns:a="http://schemas.openxmlformats.org/drawingml/2006/main">
              <a:ext uri="{FF2B5EF4-FFF2-40B4-BE49-F238E27FC236}">
                <a16:creationId xmlns:a16="http://schemas.microsoft.com/office/drawing/2014/main" id="{57A73F17-EBBC-4DBF-B6F3-E3853E1089C8}"/>
              </a:ext>
            </a:extLst>
          </p:cNvPr>
          <p:cNvSpPr>
            <a:spLocks xmlns:a="http://schemas.openxmlformats.org/drawingml/2006/main" noGrp="1"/>
          </p:cNvSpPr>
          <p:nvPr/>
        </p:nvSpPr>
        <p:spPr>
          <a:xfrm xmlns:a="http://schemas.openxmlformats.org/drawingml/2006/main">
            <a:off x="2090738" y="32956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6" name="S4_STORED_ARROW_2">
            <a:extLst xmlns:a="http://schemas.openxmlformats.org/drawingml/2006/main">
              <a:ext uri="{FF2B5EF4-FFF2-40B4-BE49-F238E27FC236}">
                <a16:creationId xmlns:a16="http://schemas.microsoft.com/office/drawing/2014/main" id="{428661CA-7443-4EFF-BBDF-A52B1B4A8CDE}"/>
              </a:ext>
            </a:extLst>
          </p:cNvPr>
          <p:cNvSpPr>
            <a:spLocks xmlns:a="http://schemas.openxmlformats.org/drawingml/2006/main" noGrp="1"/>
          </p:cNvSpPr>
          <p:nvPr/>
        </p:nvSpPr>
        <p:spPr>
          <a:xfrm xmlns:a="http://schemas.openxmlformats.org/drawingml/2006/main">
            <a:off x="3914775" y="32956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7" name="S4_STORED_ARROW_3">
            <a:extLst xmlns:a="http://schemas.openxmlformats.org/drawingml/2006/main">
              <a:ext uri="{FF2B5EF4-FFF2-40B4-BE49-F238E27FC236}">
                <a16:creationId xmlns:a16="http://schemas.microsoft.com/office/drawing/2014/main" id="{24A7A348-AA8E-408A-821F-9715745700D4}"/>
              </a:ext>
            </a:extLst>
          </p:cNvPr>
          <p:cNvSpPr>
            <a:spLocks xmlns:a="http://schemas.openxmlformats.org/drawingml/2006/main" noGrp="1"/>
          </p:cNvSpPr>
          <p:nvPr/>
        </p:nvSpPr>
        <p:spPr>
          <a:xfrm xmlns:a="http://schemas.openxmlformats.org/drawingml/2006/main">
            <a:off x="5738813" y="32956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8" name="S4_STORED_NODE_1">
            <a:extLst xmlns:a="http://schemas.openxmlformats.org/drawingml/2006/main">
              <a:ext uri="{FF2B5EF4-FFF2-40B4-BE49-F238E27FC236}">
                <a16:creationId xmlns:a16="http://schemas.microsoft.com/office/drawing/2014/main" id="{63E43EFE-0A1A-43A4-ACCC-5D954433D148}"/>
              </a:ext>
            </a:extLst>
          </p:cNvPr>
          <p:cNvSpPr>
            <a:spLocks xmlns:a="http://schemas.openxmlformats.org/drawingml/2006/main" noGrp="1"/>
          </p:cNvSpPr>
          <p:nvPr/>
        </p:nvSpPr>
        <p:spPr>
          <a:xfrm xmlns:a="http://schemas.openxmlformats.org/drawingml/2006/main">
            <a:off x="533400"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 body</a:t>
            </a:r>
          </a:p>
        </p:txBody>
      </p:sp>
      <p:sp>
        <p:nvSpPr>
          <p:cNvPr id="19" name="S4_STORED_NODE_2">
            <a:extLst xmlns:a="http://schemas.openxmlformats.org/drawingml/2006/main">
              <a:ext uri="{FF2B5EF4-FFF2-40B4-BE49-F238E27FC236}">
                <a16:creationId xmlns:a16="http://schemas.microsoft.com/office/drawing/2014/main" id="{FCCD4EB0-E138-449D-ABE4-9910C1A2EE17}"/>
              </a:ext>
            </a:extLst>
          </p:cNvPr>
          <p:cNvSpPr>
            <a:spLocks xmlns:a="http://schemas.openxmlformats.org/drawingml/2006/main" noGrp="1"/>
          </p:cNvSpPr>
          <p:nvPr/>
        </p:nvSpPr>
        <p:spPr>
          <a:xfrm xmlns:a="http://schemas.openxmlformats.org/drawingml/2006/main">
            <a:off x="2357438"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SQLite</a:t>
            </a:r>
          </a:p>
        </p:txBody>
      </p:sp>
      <p:sp>
        <p:nvSpPr>
          <p:cNvPr id="20" name="S4_STORED_NODE_3">
            <a:extLst xmlns:a="http://schemas.openxmlformats.org/drawingml/2006/main">
              <a:ext uri="{FF2B5EF4-FFF2-40B4-BE49-F238E27FC236}">
                <a16:creationId xmlns:a16="http://schemas.microsoft.com/office/drawing/2014/main" id="{07CCFFD3-2C80-4ABE-B57B-11303A21D8FE}"/>
              </a:ext>
            </a:extLst>
          </p:cNvPr>
          <p:cNvSpPr>
            <a:spLocks xmlns:a="http://schemas.openxmlformats.org/drawingml/2006/main" noGrp="1"/>
          </p:cNvSpPr>
          <p:nvPr/>
        </p:nvSpPr>
        <p:spPr>
          <a:xfrm xmlns:a="http://schemas.openxmlformats.org/drawingml/2006/main">
            <a:off x="4181475"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Markup(body)</a:t>
            </a:r>
          </a:p>
        </p:txBody>
      </p:sp>
      <p:sp>
        <p:nvSpPr>
          <p:cNvPr id="21" name="S4_STORED_NODE_4">
            <a:extLst xmlns:a="http://schemas.openxmlformats.org/drawingml/2006/main">
              <a:ext uri="{FF2B5EF4-FFF2-40B4-BE49-F238E27FC236}">
                <a16:creationId xmlns:a16="http://schemas.microsoft.com/office/drawing/2014/main" id="{FE9F307A-400F-4B02-B19A-266F760A37CB}"/>
              </a:ext>
            </a:extLst>
          </p:cNvPr>
          <p:cNvSpPr>
            <a:spLocks xmlns:a="http://schemas.openxmlformats.org/drawingml/2006/main" noGrp="1"/>
          </p:cNvSpPr>
          <p:nvPr/>
        </p:nvSpPr>
        <p:spPr>
          <a:xfrm xmlns:a="http://schemas.openxmlformats.org/drawingml/2006/main">
            <a:off x="6005513"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Mọi viewer</a:t>
            </a:r>
          </a:p>
        </p:txBody>
      </p:sp>
      <p:sp>
        <p:nvSpPr>
          <p:cNvPr id="22" name="PH_S04_Lab01_29_reflected_network_request_png_FRAME">
            <a:extLst xmlns:a="http://schemas.openxmlformats.org/drawingml/2006/main">
              <a:ext uri="{FF2B5EF4-FFF2-40B4-BE49-F238E27FC236}">
                <a16:creationId xmlns:a16="http://schemas.microsoft.com/office/drawing/2014/main" id="{6C2DED80-166C-45D4-A125-B6B15C01A539}"/>
              </a:ext>
            </a:extLst>
          </p:cNvPr>
          <p:cNvSpPr>
            <a:spLocks xmlns:a="http://schemas.openxmlformats.org/drawingml/2006/main" noGrp="1"/>
          </p:cNvSpPr>
          <p:nvPr/>
        </p:nvSpPr>
        <p:spPr>
          <a:xfrm xmlns:a="http://schemas.openxmlformats.org/drawingml/2006/main">
            <a:off x="7762875" y="1724025"/>
            <a:ext cx="3924300" cy="22669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04_Lab01_29_reflected_network_request_png_IMAGE">
            <a:extLst xmlns:a="http://schemas.openxmlformats.org/drawingml/2006/main">
              <a:ext uri="{FF2B5EF4-FFF2-40B4-BE49-F238E27FC236}">
                <a16:creationId xmlns:a16="http://schemas.microsoft.com/office/drawing/2014/main" id="{0EF73430-A544-458B-ACC4-6F7C3C0F85E3}"/>
              </a:ext>
            </a:extLst>
          </p:cNvPr>
          <p:cNvSpPr>
            <a:spLocks xmlns:a="http://schemas.openxmlformats.org/drawingml/2006/main" noGrp="1"/>
          </p:cNvSpPr>
          <p:nvPr/>
        </p:nvSpPr>
        <p:spPr>
          <a:xfrm xmlns:a="http://schemas.openxmlformats.org/drawingml/2006/main">
            <a:off x="7791450" y="1752600"/>
            <a:ext cx="3867150" cy="2209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04_Lab01_29_reflected_network_request_png_ICON">
            <a:extLst xmlns:a="http://schemas.openxmlformats.org/drawingml/2006/main">
              <a:ext uri="{FF2B5EF4-FFF2-40B4-BE49-F238E27FC236}">
                <a16:creationId xmlns:a16="http://schemas.microsoft.com/office/drawing/2014/main" id="{B3FFDD20-1231-443F-B7D9-AE68033022BA}"/>
              </a:ext>
            </a:extLst>
          </p:cNvPr>
          <p:cNvSpPr>
            <a:spLocks xmlns:a="http://schemas.openxmlformats.org/drawingml/2006/main" noGrp="1"/>
          </p:cNvSpPr>
          <p:nvPr/>
        </p:nvSpPr>
        <p:spPr>
          <a:xfrm xmlns:a="http://schemas.openxmlformats.org/drawingml/2006/main">
            <a:off x="79438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04_Lab01_29_reflected_network_request_png_INSTRUCTION">
            <a:extLst xmlns:a="http://schemas.openxmlformats.org/drawingml/2006/main">
              <a:ext uri="{FF2B5EF4-FFF2-40B4-BE49-F238E27FC236}">
                <a16:creationId xmlns:a16="http://schemas.microsoft.com/office/drawing/2014/main" id="{82FBF94E-B548-4AE8-97E8-E9BF6047032D}"/>
              </a:ext>
            </a:extLst>
          </p:cNvPr>
          <p:cNvSpPr>
            <a:spLocks xmlns:a="http://schemas.openxmlformats.org/drawingml/2006/main" noGrp="1"/>
          </p:cNvSpPr>
          <p:nvPr/>
        </p:nvSpPr>
        <p:spPr>
          <a:xfrm xmlns:a="http://schemas.openxmlformats.org/drawingml/2006/main">
            <a:off x="8458200" y="1924050"/>
            <a:ext cx="30289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29_reflected_network_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request.png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04_Lab01_29_reflected_network_request_png_CAPTION">
            <a:extLst xmlns:a="http://schemas.openxmlformats.org/drawingml/2006/main">
              <a:ext uri="{FF2B5EF4-FFF2-40B4-BE49-F238E27FC236}">
                <a16:creationId xmlns:a16="http://schemas.microsoft.com/office/drawing/2014/main" id="{9276110B-626E-480F-8816-3F1DDCCF4129}"/>
              </a:ext>
            </a:extLst>
          </p:cNvPr>
          <p:cNvSpPr>
            <a:spLocks xmlns:a="http://schemas.openxmlformats.org/drawingml/2006/main" noGrp="1"/>
          </p:cNvSpPr>
          <p:nvPr/>
        </p:nvSpPr>
        <p:spPr>
          <a:xfrm xmlns:a="http://schemas.openxmlformats.org/drawingml/2006/main">
            <a:off x="7791450" y="3552825"/>
            <a:ext cx="3867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Reflected XSS — request GET trong Network</a:t>
            </a:r>
          </a:p>
        </p:txBody>
      </p:sp>
      <p:sp>
        <p:nvSpPr>
          <p:cNvPr id="27" name="S4_IMPACT_BAR">
            <a:extLst xmlns:a="http://schemas.openxmlformats.org/drawingml/2006/main">
              <a:ext uri="{FF2B5EF4-FFF2-40B4-BE49-F238E27FC236}">
                <a16:creationId xmlns:a16="http://schemas.microsoft.com/office/drawing/2014/main" id="{5458EB4A-89FD-416F-A7ED-372ADF0531AA}"/>
              </a:ext>
            </a:extLst>
          </p:cNvPr>
          <p:cNvSpPr>
            <a:spLocks xmlns:a="http://schemas.openxmlformats.org/drawingml/2006/main" noGrp="1"/>
          </p:cNvSpPr>
          <p:nvPr/>
        </p:nvSpPr>
        <p:spPr>
          <a:xfrm xmlns:a="http://schemas.openxmlformats.org/drawingml/2006/main">
            <a:off x="533400" y="4343400"/>
            <a:ext cx="76200" cy="0"/>
          </a:xfrm>
          <a:prstGeom xmlns:a="http://schemas.openxmlformats.org/drawingml/2006/main" prst="rect">
            <a:avLst/>
          </a:prstGeom>
          <a:ln xmlns:a="http://schemas.openxmlformats.org/drawingml/2006/main" w="0">
            <a:noFill/>
            <a:prstDash val="solid"/>
          </a:ln>
        </p:spPr>
      </p:sp>
      <p:sp>
        <p:nvSpPr>
          <p:cNvPr id="28" name="S4_IMPACT_LABEL">
            <a:extLst xmlns:a="http://schemas.openxmlformats.org/drawingml/2006/main">
              <a:ext uri="{FF2B5EF4-FFF2-40B4-BE49-F238E27FC236}">
                <a16:creationId xmlns:a16="http://schemas.microsoft.com/office/drawing/2014/main" id="{6FF14721-D86E-4335-9B39-B186C235AB7B}"/>
              </a:ext>
            </a:extLst>
          </p:cNvPr>
          <p:cNvSpPr>
            <a:spLocks xmlns:a="http://schemas.openxmlformats.org/drawingml/2006/main" noGrp="1"/>
          </p:cNvSpPr>
          <p:nvPr/>
        </p:nvSpPr>
        <p:spPr>
          <a:xfrm xmlns:a="http://schemas.openxmlformats.org/drawingml/2006/main">
            <a:off x="704850" y="4362450"/>
            <a:ext cx="10934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THỰC HÀNH REFLECTED / STORED</a:t>
            </a:r>
          </a:p>
        </p:txBody>
      </p:sp>
      <p:sp>
        <p:nvSpPr>
          <p:cNvPr id="29" name="S4_IMPACT_BODY">
            <a:extLst xmlns:a="http://schemas.openxmlformats.org/drawingml/2006/main">
              <a:ext uri="{FF2B5EF4-FFF2-40B4-BE49-F238E27FC236}">
                <a16:creationId xmlns:a16="http://schemas.microsoft.com/office/drawing/2014/main" id="{F4F325CE-4735-4E0E-A5A9-71D9A6F118A8}"/>
              </a:ext>
            </a:extLst>
          </p:cNvPr>
          <p:cNvSpPr>
            <a:spLocks xmlns:a="http://schemas.openxmlformats.org/drawingml/2006/main" noGrp="1"/>
          </p:cNvSpPr>
          <p:nvPr/>
        </p:nvSpPr>
        <p:spPr>
          <a:xfrm xmlns:a="http://schemas.openxmlformats.org/drawingml/2006/main">
            <a:off x="704850" y="4667250"/>
            <a:ext cx="10934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1 Chuỗi thường → 2 xem dữ liệu trong HTML → 3 payload alert an toàn → 4 xác định vị trí phản chiếu/nơi lưu → 5 reload hoặc dùng user khác để kiểm Stored chạy lại.</a:t>
            </a:r>
          </a:p>
        </p:txBody>
      </p:sp>
    </p:spTree>
    <p:extLst>
      <p:ext uri="{BB962C8B-B14F-4D97-AF65-F5344CB8AC3E}">
        <p14:creationId xmlns:p14="http://schemas.microsoft.com/office/powerpoint/2010/main" val="286361298"/>
      </p:ext>
    </p:extLst>
  </p:cSld>
</p:sld>
</file>

<file path=ppt/slides/slide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0" name="S5_EYEBROW">
            <a:extLst xmlns:a="http://schemas.openxmlformats.org/drawingml/2006/main">
              <a:ext uri="{FF2B5EF4-FFF2-40B4-BE49-F238E27FC236}">
                <a16:creationId xmlns:a16="http://schemas.microsoft.com/office/drawing/2014/main" id="{092AE961-3FE4-42CD-B259-AF54D8C4166A}"/>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5_TITLE">
            <a:extLst xmlns:a="http://schemas.openxmlformats.org/drawingml/2006/main">
              <a:ext uri="{FF2B5EF4-FFF2-40B4-BE49-F238E27FC236}">
                <a16:creationId xmlns:a16="http://schemas.microsoft.com/office/drawing/2014/main" id="{06665EF8-ACD2-4AF6-B948-C6F8F5EDDA8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DOM XSS: source và sink cùng ở browser</a:t>
            </a:r>
          </a:p>
        </p:txBody>
      </p:sp>
      <p:sp>
        <p:nvSpPr>
          <p:cNvPr id="3" name="S5_SUBTITLE">
            <a:extLst xmlns:a="http://schemas.openxmlformats.org/drawingml/2006/main">
              <a:ext uri="{FF2B5EF4-FFF2-40B4-BE49-F238E27FC236}">
                <a16:creationId xmlns:a16="http://schemas.microsoft.com/office/drawing/2014/main" id="{FE09E1F7-75D4-44F5-96F0-A42CEB2FE0BA}"/>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Fragment không gửi lên server; JavaScript phía client tự biến nó thành DOM.</a:t>
            </a:r>
          </a:p>
        </p:txBody>
      </p:sp>
      <p:sp>
        <p:nvSpPr>
          <p:cNvPr id="4" name="S5_TITLE_RULE">
            <a:extLst xmlns:a="http://schemas.openxmlformats.org/drawingml/2006/main">
              <a:ext uri="{FF2B5EF4-FFF2-40B4-BE49-F238E27FC236}">
                <a16:creationId xmlns:a16="http://schemas.microsoft.com/office/drawing/2014/main" id="{1672E87E-2909-4094-ABDE-0E17A00E57C7}"/>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5_FOOTER_RULE">
            <a:extLst xmlns:a="http://schemas.openxmlformats.org/drawingml/2006/main">
              <a:ext uri="{FF2B5EF4-FFF2-40B4-BE49-F238E27FC236}">
                <a16:creationId xmlns:a16="http://schemas.microsoft.com/office/drawing/2014/main" id="{58C3E0EB-FEDB-4116-A744-C5578DCA302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5_SOURCE">
            <a:extLst xmlns:a="http://schemas.openxmlformats.org/drawingml/2006/main">
              <a:ext uri="{FF2B5EF4-FFF2-40B4-BE49-F238E27FC236}">
                <a16:creationId xmlns:a16="http://schemas.microsoft.com/office/drawing/2014/main" id="{C5D3539B-662B-4A8D-8349-E665F797059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Lab01/static/js/dom_vulnerable.js · dom_secure.js</a:t>
            </a:r>
          </a:p>
        </p:txBody>
      </p:sp>
      <p:sp>
        <p:nvSpPr>
          <p:cNvPr id="7" name="S5_NUMBER">
            <a:extLst xmlns:a="http://schemas.openxmlformats.org/drawingml/2006/main">
              <a:ext uri="{FF2B5EF4-FFF2-40B4-BE49-F238E27FC236}">
                <a16:creationId xmlns:a16="http://schemas.microsoft.com/office/drawing/2014/main" id="{DCFC2209-7410-4BB4-80D6-4C8B4AD1D97B}"/>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05</a:t>
            </a:r>
          </a:p>
        </p:txBody>
      </p:sp>
      <p:sp>
        <p:nvSpPr>
          <p:cNvPr id="8" name="S5_DOM_FLOW_ARROW_1">
            <a:extLst xmlns:a="http://schemas.openxmlformats.org/drawingml/2006/main">
              <a:ext uri="{FF2B5EF4-FFF2-40B4-BE49-F238E27FC236}">
                <a16:creationId xmlns:a16="http://schemas.microsoft.com/office/drawing/2014/main" id="{CEB0B5D0-F7B5-4460-BB05-27F1A9AEE7F7}"/>
              </a:ext>
            </a:extLst>
          </p:cNvPr>
          <p:cNvSpPr>
            <a:spLocks xmlns:a="http://schemas.openxmlformats.org/drawingml/2006/main" noGrp="1"/>
          </p:cNvSpPr>
          <p:nvPr/>
        </p:nvSpPr>
        <p:spPr>
          <a:xfrm xmlns:a="http://schemas.openxmlformats.org/drawingml/2006/main">
            <a:off x="3148013"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5_DOM_FLOW_ARROW_2">
            <a:extLst xmlns:a="http://schemas.openxmlformats.org/drawingml/2006/main">
              <a:ext uri="{FF2B5EF4-FFF2-40B4-BE49-F238E27FC236}">
                <a16:creationId xmlns:a16="http://schemas.microsoft.com/office/drawing/2014/main" id="{643B7A99-686D-41E3-AC28-C440933469D7}"/>
              </a:ext>
            </a:extLst>
          </p:cNvPr>
          <p:cNvSpPr>
            <a:spLocks xmlns:a="http://schemas.openxmlformats.org/drawingml/2006/main" noGrp="1"/>
          </p:cNvSpPr>
          <p:nvPr/>
        </p:nvSpPr>
        <p:spPr>
          <a:xfrm xmlns:a="http://schemas.openxmlformats.org/drawingml/2006/main">
            <a:off x="6029325"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5_DOM_FLOW_ARROW_3">
            <a:extLst xmlns:a="http://schemas.openxmlformats.org/drawingml/2006/main">
              <a:ext uri="{FF2B5EF4-FFF2-40B4-BE49-F238E27FC236}">
                <a16:creationId xmlns:a16="http://schemas.microsoft.com/office/drawing/2014/main" id="{4A00D88F-E16D-4E88-8A2F-52F3FBA96D81}"/>
              </a:ext>
            </a:extLst>
          </p:cNvPr>
          <p:cNvSpPr>
            <a:spLocks xmlns:a="http://schemas.openxmlformats.org/drawingml/2006/main" noGrp="1"/>
          </p:cNvSpPr>
          <p:nvPr/>
        </p:nvSpPr>
        <p:spPr>
          <a:xfrm xmlns:a="http://schemas.openxmlformats.org/drawingml/2006/main">
            <a:off x="8910638"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5_DOM_FLOW_NODE_1">
            <a:extLst xmlns:a="http://schemas.openxmlformats.org/drawingml/2006/main">
              <a:ext uri="{FF2B5EF4-FFF2-40B4-BE49-F238E27FC236}">
                <a16:creationId xmlns:a16="http://schemas.microsoft.com/office/drawing/2014/main" id="{23558800-302C-4834-BF5D-9774A5370576}"/>
              </a:ext>
            </a:extLst>
          </p:cNvPr>
          <p:cNvSpPr>
            <a:spLocks xmlns:a="http://schemas.openxmlformats.org/drawingml/2006/main" noGrp="1"/>
          </p:cNvSpPr>
          <p:nvPr/>
        </p:nvSpPr>
        <p:spPr>
          <a:xfrm xmlns:a="http://schemas.openxmlformats.org/drawingml/2006/main">
            <a:off x="533400"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location.hash</a:t>
            </a:r>
          </a:p>
        </p:txBody>
      </p:sp>
      <p:sp>
        <p:nvSpPr>
          <p:cNvPr id="12" name="S5_DOM_FLOW_NODE_2">
            <a:extLst xmlns:a="http://schemas.openxmlformats.org/drawingml/2006/main">
              <a:ext uri="{FF2B5EF4-FFF2-40B4-BE49-F238E27FC236}">
                <a16:creationId xmlns:a16="http://schemas.microsoft.com/office/drawing/2014/main" id="{2926C105-3FB8-4C24-B24A-2B326EF2DC3D}"/>
              </a:ext>
            </a:extLst>
          </p:cNvPr>
          <p:cNvSpPr>
            <a:spLocks xmlns:a="http://schemas.openxmlformats.org/drawingml/2006/main" noGrp="1"/>
          </p:cNvSpPr>
          <p:nvPr/>
        </p:nvSpPr>
        <p:spPr>
          <a:xfrm xmlns:a="http://schemas.openxmlformats.org/drawingml/2006/main">
            <a:off x="3414713"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decodeURIComponent</a:t>
            </a:r>
          </a:p>
        </p:txBody>
      </p:sp>
      <p:sp>
        <p:nvSpPr>
          <p:cNvPr id="13" name="S5_DOM_FLOW_NODE_3">
            <a:extLst xmlns:a="http://schemas.openxmlformats.org/drawingml/2006/main">
              <a:ext uri="{FF2B5EF4-FFF2-40B4-BE49-F238E27FC236}">
                <a16:creationId xmlns:a16="http://schemas.microsoft.com/office/drawing/2014/main" id="{59996522-8AF5-4674-AC2C-0686BB296C1A}"/>
              </a:ext>
            </a:extLst>
          </p:cNvPr>
          <p:cNvSpPr>
            <a:spLocks xmlns:a="http://schemas.openxmlformats.org/drawingml/2006/main" noGrp="1"/>
          </p:cNvSpPr>
          <p:nvPr/>
        </p:nvSpPr>
        <p:spPr>
          <a:xfrm xmlns:a="http://schemas.openxmlformats.org/drawingml/2006/main">
            <a:off x="6296025"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innerHTML</a:t>
            </a:r>
          </a:p>
        </p:txBody>
      </p:sp>
      <p:sp>
        <p:nvSpPr>
          <p:cNvPr id="14" name="S5_DOM_FLOW_NODE_4">
            <a:extLst xmlns:a="http://schemas.openxmlformats.org/drawingml/2006/main">
              <a:ext uri="{FF2B5EF4-FFF2-40B4-BE49-F238E27FC236}">
                <a16:creationId xmlns:a16="http://schemas.microsoft.com/office/drawing/2014/main" id="{043985FD-BD96-4341-9A42-C3ED53B82CDC}"/>
              </a:ext>
            </a:extLst>
          </p:cNvPr>
          <p:cNvSpPr>
            <a:spLocks xmlns:a="http://schemas.openxmlformats.org/drawingml/2006/main" noGrp="1"/>
          </p:cNvSpPr>
          <p:nvPr/>
        </p:nvSpPr>
        <p:spPr>
          <a:xfrm xmlns:a="http://schemas.openxmlformats.org/drawingml/2006/main">
            <a:off x="9177338"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 node / event</a:t>
            </a:r>
          </a:p>
        </p:txBody>
      </p:sp>
      <p:sp>
        <p:nvSpPr>
          <p:cNvPr id="15" name="S5_VULN_CODE">
            <a:extLst xmlns:a="http://schemas.openxmlformats.org/drawingml/2006/main">
              <a:ext uri="{FF2B5EF4-FFF2-40B4-BE49-F238E27FC236}">
                <a16:creationId xmlns:a16="http://schemas.microsoft.com/office/drawing/2014/main" id="{5FBD5528-3F54-41DA-AA23-4F069DB5CB75}"/>
              </a:ext>
            </a:extLst>
          </p:cNvPr>
          <p:cNvSpPr>
            <a:spLocks xmlns:a="http://schemas.openxmlformats.org/drawingml/2006/main" noGrp="1"/>
          </p:cNvSpPr>
          <p:nvPr/>
        </p:nvSpPr>
        <p:spPr>
          <a:xfrm xmlns:a="http://schemas.openxmlformats.org/drawingml/2006/main">
            <a:off x="533400" y="3105150"/>
            <a:ext cx="5314950" cy="17907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const value = decodeURIComponent(location.hash.slice(1));</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result.innerHTML = value;</a:t>
            </a:r>
          </a:p>
        </p:txBody>
      </p:sp>
      <p:sp>
        <p:nvSpPr>
          <p:cNvPr id="16" name="S5_SAFE_CODE">
            <a:extLst xmlns:a="http://schemas.openxmlformats.org/drawingml/2006/main">
              <a:ext uri="{FF2B5EF4-FFF2-40B4-BE49-F238E27FC236}">
                <a16:creationId xmlns:a16="http://schemas.microsoft.com/office/drawing/2014/main" id="{24B902D5-5278-42C0-A9F0-3557FDE1B111}"/>
              </a:ext>
            </a:extLst>
          </p:cNvPr>
          <p:cNvSpPr>
            <a:spLocks xmlns:a="http://schemas.openxmlformats.org/drawingml/2006/main" noGrp="1"/>
          </p:cNvSpPr>
          <p:nvPr/>
        </p:nvSpPr>
        <p:spPr>
          <a:xfrm xmlns:a="http://schemas.openxmlformats.org/drawingml/2006/main">
            <a:off x="6076950" y="3105150"/>
            <a:ext cx="5581650" cy="179070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const value = decodeURIComponent(location.hash.slice(1));</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result.textContent = value;</a:t>
            </a:r>
          </a:p>
        </p:txBody>
      </p:sp>
      <p:sp>
        <p:nvSpPr>
          <p:cNvPr id="17" name="S5_ROOT_BAR">
            <a:extLst xmlns:a="http://schemas.openxmlformats.org/drawingml/2006/main">
              <a:ext uri="{FF2B5EF4-FFF2-40B4-BE49-F238E27FC236}">
                <a16:creationId xmlns:a16="http://schemas.microsoft.com/office/drawing/2014/main" id="{24DD014F-3CAA-49EA-95C7-56B4C4751706}"/>
              </a:ext>
            </a:extLst>
          </p:cNvPr>
          <p:cNvSpPr>
            <a:spLocks xmlns:a="http://schemas.openxmlformats.org/drawingml/2006/main" noGrp="1"/>
          </p:cNvSpPr>
          <p:nvPr/>
        </p:nvSpPr>
        <p:spPr>
          <a:xfrm xmlns:a="http://schemas.openxmlformats.org/drawingml/2006/main">
            <a:off x="533400" y="5219700"/>
            <a:ext cx="76200" cy="0"/>
          </a:xfrm>
          <a:prstGeom xmlns:a="http://schemas.openxmlformats.org/drawingml/2006/main" prst="rect">
            <a:avLst/>
          </a:prstGeom>
          <a:ln xmlns:a="http://schemas.openxmlformats.org/drawingml/2006/main" w="0">
            <a:noFill/>
            <a:prstDash val="solid"/>
          </a:ln>
        </p:spPr>
      </p:sp>
      <p:sp>
        <p:nvSpPr>
          <p:cNvPr id="18" name="S5_ROOT_LABEL">
            <a:extLst xmlns:a="http://schemas.openxmlformats.org/drawingml/2006/main">
              <a:ext uri="{FF2B5EF4-FFF2-40B4-BE49-F238E27FC236}">
                <a16:creationId xmlns:a16="http://schemas.microsoft.com/office/drawing/2014/main" id="{9F013086-A50B-45B6-A540-C9C08BD8AE78}"/>
              </a:ext>
            </a:extLst>
          </p:cNvPr>
          <p:cNvSpPr>
            <a:spLocks xmlns:a="http://schemas.openxmlformats.org/drawingml/2006/main" noGrp="1"/>
          </p:cNvSpPr>
          <p:nvPr/>
        </p:nvSpPr>
        <p:spPr>
          <a:xfrm xmlns:a="http://schemas.openxmlformats.org/drawingml/2006/main">
            <a:off x="704850" y="5219700"/>
            <a:ext cx="1638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ROOT CAUSE</a:t>
            </a:r>
          </a:p>
        </p:txBody>
      </p:sp>
      <p:sp>
        <p:nvSpPr>
          <p:cNvPr id="19" name="S5_ROOT_BODY">
            <a:extLst xmlns:a="http://schemas.openxmlformats.org/drawingml/2006/main">
              <a:ext uri="{FF2B5EF4-FFF2-40B4-BE49-F238E27FC236}">
                <a16:creationId xmlns:a16="http://schemas.microsoft.com/office/drawing/2014/main" id="{3B1630E4-D0EB-4BAB-9128-CBA78BB394DC}"/>
              </a:ext>
            </a:extLst>
          </p:cNvPr>
          <p:cNvSpPr>
            <a:spLocks xmlns:a="http://schemas.openxmlformats.org/drawingml/2006/main" noGrp="1"/>
          </p:cNvSpPr>
          <p:nvPr/>
        </p:nvSpPr>
        <p:spPr>
          <a:xfrm xmlns:a="http://schemas.openxmlformats.org/drawingml/2006/main">
            <a:off x="2438400" y="5219700"/>
            <a:ext cx="9201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Dữ liệu chỉ nguy hiểm khi đi vào sink diễn giải mã. Kiểm sink DOM: innerHTML · document.write · eval · setTimeout(string) · location.hash.</a:t>
            </a:r>
          </a:p>
        </p:txBody>
      </p:sp>
    </p:spTree>
    <p:extLst>
      <p:ext uri="{BB962C8B-B14F-4D97-AF65-F5344CB8AC3E}">
        <p14:creationId xmlns:p14="http://schemas.microsoft.com/office/powerpoint/2010/main" val="1008252071"/>
      </p:ext>
    </p:extLst>
  </p:cSld>
</p:sld>
</file>

<file path=ppt/slides/slide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S6_EYEBROW">
            <a:extLst xmlns:a="http://schemas.openxmlformats.org/drawingml/2006/main">
              <a:ext uri="{FF2B5EF4-FFF2-40B4-BE49-F238E27FC236}">
                <a16:creationId xmlns:a16="http://schemas.microsoft.com/office/drawing/2014/main" id="{319830A2-C027-4F4A-A285-E25F7A7E8D19}"/>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6_TITLE">
            <a:extLst xmlns:a="http://schemas.openxmlformats.org/drawingml/2006/main">
              <a:ext uri="{FF2B5EF4-FFF2-40B4-BE49-F238E27FC236}">
                <a16:creationId xmlns:a16="http://schemas.microsoft.com/office/drawing/2014/main" id="{718CCA6D-FCB7-4E8B-92F8-7E1122B5271A}"/>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Bản vá gốc nằm tại output và DOM sink</a:t>
            </a:r>
          </a:p>
        </p:txBody>
      </p:sp>
      <p:sp>
        <p:nvSpPr>
          <p:cNvPr id="3" name="S6_SUBTITLE">
            <a:extLst xmlns:a="http://schemas.openxmlformats.org/drawingml/2006/main">
              <a:ext uri="{FF2B5EF4-FFF2-40B4-BE49-F238E27FC236}">
                <a16:creationId xmlns:a16="http://schemas.microsoft.com/office/drawing/2014/main" id="{2314B8BE-856F-4BEE-8A7B-E82082439127}"/>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Encode theo ngữ cảnh · sanitize HTML có chủ đích · dùng API tạo text.</a:t>
            </a:r>
          </a:p>
        </p:txBody>
      </p:sp>
      <p:sp>
        <p:nvSpPr>
          <p:cNvPr id="4" name="S6_TITLE_RULE">
            <a:extLst xmlns:a="http://schemas.openxmlformats.org/drawingml/2006/main">
              <a:ext uri="{FF2B5EF4-FFF2-40B4-BE49-F238E27FC236}">
                <a16:creationId xmlns:a16="http://schemas.microsoft.com/office/drawing/2014/main" id="{06D79447-9D41-40CD-A1D0-4923B9B4CDC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6_FOOTER_RULE">
            <a:extLst xmlns:a="http://schemas.openxmlformats.org/drawingml/2006/main">
              <a:ext uri="{FF2B5EF4-FFF2-40B4-BE49-F238E27FC236}">
                <a16:creationId xmlns:a16="http://schemas.microsoft.com/office/drawing/2014/main" id="{6FA8D353-2CEE-4C0E-AE88-F7EC816C032D}"/>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6_SOURCE">
            <a:extLst xmlns:a="http://schemas.openxmlformats.org/drawingml/2006/main">
              <a:ext uri="{FF2B5EF4-FFF2-40B4-BE49-F238E27FC236}">
                <a16:creationId xmlns:a16="http://schemas.microsoft.com/office/drawing/2014/main" id="{D158F03D-83B7-4AE2-8D3E-C12F88027A90}"/>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Lab01/app.py · dom_secure.js · config.py</a:t>
            </a:r>
          </a:p>
        </p:txBody>
      </p:sp>
      <p:sp>
        <p:nvSpPr>
          <p:cNvPr id="7" name="S6_NUMBER">
            <a:extLst xmlns:a="http://schemas.openxmlformats.org/drawingml/2006/main">
              <a:ext uri="{FF2B5EF4-FFF2-40B4-BE49-F238E27FC236}">
                <a16:creationId xmlns:a16="http://schemas.microsoft.com/office/drawing/2014/main" id="{8237C257-1D28-477B-910F-0614A91964F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06</a:t>
            </a:r>
          </a:p>
        </p:txBody>
      </p:sp>
      <p:sp>
        <p:nvSpPr>
          <p:cNvPr id="8" name="S6_PATCH_LEFT">
            <a:extLst xmlns:a="http://schemas.openxmlformats.org/drawingml/2006/main">
              <a:ext uri="{FF2B5EF4-FFF2-40B4-BE49-F238E27FC236}">
                <a16:creationId xmlns:a16="http://schemas.microsoft.com/office/drawing/2014/main" id="{E79BC15F-C3BA-488A-AAB9-8935889F749C}"/>
              </a:ext>
            </a:extLst>
          </p:cNvPr>
          <p:cNvSpPr>
            <a:spLocks xmlns:a="http://schemas.openxmlformats.org/drawingml/2006/main" noGrp="1"/>
          </p:cNvSpPr>
          <p:nvPr/>
        </p:nvSpPr>
        <p:spPr>
          <a:xfrm xmlns:a="http://schemas.openxmlformats.org/drawingml/2006/main">
            <a:off x="533400" y="17526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D96C5F"/>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VULNERABLE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Markup(q)</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Markup(comment.body)</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innerHTML = value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Dữ liệu trở thành markup</a:t>
            </a:r>
          </a:p>
        </p:txBody>
      </p:sp>
      <p:sp>
        <p:nvSpPr>
          <p:cNvPr id="9" name="S6_PATCH_RIGHT">
            <a:extLst xmlns:a="http://schemas.openxmlformats.org/drawingml/2006/main">
              <a:ext uri="{FF2B5EF4-FFF2-40B4-BE49-F238E27FC236}">
                <a16:creationId xmlns:a16="http://schemas.microsoft.com/office/drawing/2014/main" id="{DF780478-C327-4E3E-A033-C38AF892405D}"/>
              </a:ext>
            </a:extLst>
          </p:cNvPr>
          <p:cNvSpPr>
            <a:spLocks xmlns:a="http://schemas.openxmlformats.org/drawingml/2006/main" noGrp="1"/>
          </p:cNvSpPr>
          <p:nvPr/>
        </p:nvSpPr>
        <p:spPr>
          <a:xfrm xmlns:a="http://schemas.openxmlformats.org/drawingml/2006/main">
            <a:off x="6210300" y="17526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71B48D"/>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SECURE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Jinja auto-escape</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bleach.clean(..., strip=True)</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textContent = value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CONTEXTUAL ENCODING</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HTML · JavaScript · URL · Attribute</a:t>
            </a:r>
          </a:p>
        </p:txBody>
      </p:sp>
      <p:sp>
        <p:nvSpPr>
          <p:cNvPr id="10" name="PH_S06_Lab01_41_secure_dom_textcontent_png_FRAME">
            <a:extLst xmlns:a="http://schemas.openxmlformats.org/drawingml/2006/main">
              <a:ext uri="{FF2B5EF4-FFF2-40B4-BE49-F238E27FC236}">
                <a16:creationId xmlns:a16="http://schemas.microsoft.com/office/drawing/2014/main" id="{F5B6418D-EBB8-4787-BD99-AD78690BB90B}"/>
              </a:ext>
            </a:extLst>
          </p:cNvPr>
          <p:cNvSpPr>
            <a:spLocks xmlns:a="http://schemas.openxmlformats.org/drawingml/2006/main" noGrp="1"/>
          </p:cNvSpPr>
          <p:nvPr/>
        </p:nvSpPr>
        <p:spPr>
          <a:xfrm xmlns:a="http://schemas.openxmlformats.org/drawingml/2006/main">
            <a:off x="504825" y="4410075"/>
            <a:ext cx="5295900" cy="16764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1" name="PH_S06_Lab01_41_secure_dom_textcontent_png_IMAGE">
            <a:extLst xmlns:a="http://schemas.openxmlformats.org/drawingml/2006/main">
              <a:ext uri="{FF2B5EF4-FFF2-40B4-BE49-F238E27FC236}">
                <a16:creationId xmlns:a16="http://schemas.microsoft.com/office/drawing/2014/main" id="{C35185E1-874C-4159-BAA0-DFEA4821830F}"/>
              </a:ext>
            </a:extLst>
          </p:cNvPr>
          <p:cNvSpPr>
            <a:spLocks xmlns:a="http://schemas.openxmlformats.org/drawingml/2006/main" noGrp="1"/>
          </p:cNvSpPr>
          <p:nvPr/>
        </p:nvSpPr>
        <p:spPr>
          <a:xfrm xmlns:a="http://schemas.openxmlformats.org/drawingml/2006/main">
            <a:off x="533400" y="4438650"/>
            <a:ext cx="5238750" cy="16192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2" name="PH_S06_Lab01_41_secure_dom_textcontent_png_ICON">
            <a:extLst xmlns:a="http://schemas.openxmlformats.org/drawingml/2006/main">
              <a:ext uri="{FF2B5EF4-FFF2-40B4-BE49-F238E27FC236}">
                <a16:creationId xmlns:a16="http://schemas.microsoft.com/office/drawing/2014/main" id="{C7943DEB-76FB-4D60-A5F7-8E33D1E08FA3}"/>
              </a:ext>
            </a:extLst>
          </p:cNvPr>
          <p:cNvSpPr>
            <a:spLocks xmlns:a="http://schemas.openxmlformats.org/drawingml/2006/main" noGrp="1"/>
          </p:cNvSpPr>
          <p:nvPr/>
        </p:nvSpPr>
        <p:spPr>
          <a:xfrm xmlns:a="http://schemas.openxmlformats.org/drawingml/2006/main">
            <a:off x="685800" y="45815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3" name="PH_S06_Lab01_41_secure_dom_textcontent_png_INSTRUCTION">
            <a:extLst xmlns:a="http://schemas.openxmlformats.org/drawingml/2006/main">
              <a:ext uri="{FF2B5EF4-FFF2-40B4-BE49-F238E27FC236}">
                <a16:creationId xmlns:a16="http://schemas.microsoft.com/office/drawing/2014/main" id="{A550B5D6-E2CD-4025-A4D5-A8D0C89C9C74}"/>
              </a:ext>
            </a:extLst>
          </p:cNvPr>
          <p:cNvSpPr>
            <a:spLocks xmlns:a="http://schemas.openxmlformats.org/drawingml/2006/main" noGrp="1"/>
          </p:cNvSpPr>
          <p:nvPr/>
        </p:nvSpPr>
        <p:spPr>
          <a:xfrm xmlns:a="http://schemas.openxmlformats.org/drawingml/2006/main">
            <a:off x="1200150" y="4610100"/>
            <a:ext cx="4400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41_secure_dom_textcontent.png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4" name="PH_S06_Lab01_41_secure_dom_textcontent_png_CAPTION">
            <a:extLst xmlns:a="http://schemas.openxmlformats.org/drawingml/2006/main">
              <a:ext uri="{FF2B5EF4-FFF2-40B4-BE49-F238E27FC236}">
                <a16:creationId xmlns:a16="http://schemas.microsoft.com/office/drawing/2014/main" id="{37D74F63-8E28-44DE-B470-1110D32963C5}"/>
              </a:ext>
            </a:extLst>
          </p:cNvPr>
          <p:cNvSpPr>
            <a:spLocks xmlns:a="http://schemas.openxmlformats.org/drawingml/2006/main" noGrp="1"/>
          </p:cNvSpPr>
          <p:nvPr/>
        </p:nvSpPr>
        <p:spPr>
          <a:xfrm xmlns:a="http://schemas.openxmlformats.org/drawingml/2006/main">
            <a:off x="533400" y="564832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Elements chứng minh textContent an toàn</a:t>
            </a:r>
          </a:p>
        </p:txBody>
      </p:sp>
      <p:sp>
        <p:nvSpPr>
          <p:cNvPr id="15" name="S6_LAYERS_BAR">
            <a:extLst xmlns:a="http://schemas.openxmlformats.org/drawingml/2006/main">
              <a:ext uri="{FF2B5EF4-FFF2-40B4-BE49-F238E27FC236}">
                <a16:creationId xmlns:a16="http://schemas.microsoft.com/office/drawing/2014/main" id="{15768ED5-0181-4898-8ADD-ADC3E247E8DD}"/>
              </a:ext>
            </a:extLst>
          </p:cNvPr>
          <p:cNvSpPr>
            <a:spLocks xmlns:a="http://schemas.openxmlformats.org/drawingml/2006/main" noGrp="1"/>
          </p:cNvSpPr>
          <p:nvPr/>
        </p:nvSpPr>
        <p:spPr>
          <a:xfrm xmlns:a="http://schemas.openxmlformats.org/drawingml/2006/main">
            <a:off x="6096000" y="4476750"/>
            <a:ext cx="76200" cy="0"/>
          </a:xfrm>
          <a:prstGeom xmlns:a="http://schemas.openxmlformats.org/drawingml/2006/main" prst="rect">
            <a:avLst/>
          </a:prstGeom>
          <a:ln xmlns:a="http://schemas.openxmlformats.org/drawingml/2006/main" w="0">
            <a:noFill/>
            <a:prstDash val="solid"/>
          </a:ln>
        </p:spPr>
      </p:sp>
      <p:sp>
        <p:nvSpPr>
          <p:cNvPr id="16" name="S6_LAYERS_LABEL">
            <a:extLst xmlns:a="http://schemas.openxmlformats.org/drawingml/2006/main">
              <a:ext uri="{FF2B5EF4-FFF2-40B4-BE49-F238E27FC236}">
                <a16:creationId xmlns:a16="http://schemas.microsoft.com/office/drawing/2014/main" id="{36249956-5A3B-4D44-858B-EB18569F7FEE}"/>
              </a:ext>
            </a:extLst>
          </p:cNvPr>
          <p:cNvSpPr>
            <a:spLocks xmlns:a="http://schemas.openxmlformats.org/drawingml/2006/main" noGrp="1"/>
          </p:cNvSpPr>
          <p:nvPr/>
        </p:nvSpPr>
        <p:spPr>
          <a:xfrm xmlns:a="http://schemas.openxmlformats.org/drawingml/2006/main">
            <a:off x="6267450" y="4495800"/>
            <a:ext cx="537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DEFENSE IN DEPTH</a:t>
            </a:r>
          </a:p>
        </p:txBody>
      </p:sp>
      <p:sp>
        <p:nvSpPr>
          <p:cNvPr id="17" name="S6_LAYERS_BODY">
            <a:extLst xmlns:a="http://schemas.openxmlformats.org/drawingml/2006/main">
              <a:ext uri="{FF2B5EF4-FFF2-40B4-BE49-F238E27FC236}">
                <a16:creationId xmlns:a16="http://schemas.microsoft.com/office/drawing/2014/main" id="{77249CCA-6274-4AFF-A0A7-6C2DF7583F2F}"/>
              </a:ext>
            </a:extLst>
          </p:cNvPr>
          <p:cNvSpPr>
            <a:spLocks xmlns:a="http://schemas.openxmlformats.org/drawingml/2006/main" noGrp="1"/>
          </p:cNvSpPr>
          <p:nvPr/>
        </p:nvSpPr>
        <p:spPr>
          <a:xfrm xmlns:a="http://schemas.openxmlformats.org/drawingml/2006/main">
            <a:off x="6267450" y="4800600"/>
            <a:ext cx="5372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CSP giảm blast radius; HttpOnly/Secure/SameSite bảo vệ cookie; validation giảm input bất thường. Không lớp nào thay thế sửa sink.</a:t>
            </a:r>
          </a:p>
        </p:txBody>
      </p:sp>
    </p:spTree>
    <p:extLst>
      <p:ext uri="{BB962C8B-B14F-4D97-AF65-F5344CB8AC3E}">
        <p14:creationId xmlns:p14="http://schemas.microsoft.com/office/powerpoint/2010/main" val="1311420357"/>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3" name="S7_EYEBROW">
            <a:extLst xmlns:a="http://schemas.openxmlformats.org/drawingml/2006/main">
              <a:ext uri="{FF2B5EF4-FFF2-40B4-BE49-F238E27FC236}">
                <a16:creationId xmlns:a16="http://schemas.microsoft.com/office/drawing/2014/main" id="{589454AF-F56E-4056-B8F7-DD7A373FE514}"/>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7_TITLE">
            <a:extLst xmlns:a="http://schemas.openxmlformats.org/drawingml/2006/main">
              <a:ext uri="{FF2B5EF4-FFF2-40B4-BE49-F238E27FC236}">
                <a16:creationId xmlns:a16="http://schemas.microsoft.com/office/drawing/2014/main" id="{CC1392E3-727B-4F03-90B2-7D3C02918536}"/>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Kiểm chứng và câu trả lời báo cáo</a:t>
            </a:r>
          </a:p>
        </p:txBody>
      </p:sp>
      <p:sp>
        <p:nvSpPr>
          <p:cNvPr id="3" name="S7_SUBTITLE">
            <a:extLst xmlns:a="http://schemas.openxmlformats.org/drawingml/2006/main">
              <a:ext uri="{FF2B5EF4-FFF2-40B4-BE49-F238E27FC236}">
                <a16:creationId xmlns:a16="http://schemas.microsoft.com/office/drawing/2014/main" id="{569DD552-59F2-48F2-9CBB-C2DDDA3E50B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Một bảng so sánh, năm kết luận, một checklist bằng chứng.</a:t>
            </a:r>
          </a:p>
        </p:txBody>
      </p:sp>
      <p:sp>
        <p:nvSpPr>
          <p:cNvPr id="4" name="S7_TITLE_RULE">
            <a:extLst xmlns:a="http://schemas.openxmlformats.org/drawingml/2006/main">
              <a:ext uri="{FF2B5EF4-FFF2-40B4-BE49-F238E27FC236}">
                <a16:creationId xmlns:a16="http://schemas.microsoft.com/office/drawing/2014/main" id="{4F786A7E-26DF-4313-94FB-561ED4785886}"/>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7_FOOTER_RULE">
            <a:extLst xmlns:a="http://schemas.openxmlformats.org/drawingml/2006/main">
              <a:ext uri="{FF2B5EF4-FFF2-40B4-BE49-F238E27FC236}">
                <a16:creationId xmlns:a16="http://schemas.microsoft.com/office/drawing/2014/main" id="{E735B0DB-6554-4A45-8605-E77842DE2E3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7_SOURCE">
            <a:extLst xmlns:a="http://schemas.openxmlformats.org/drawingml/2006/main">
              <a:ext uri="{FF2B5EF4-FFF2-40B4-BE49-F238E27FC236}">
                <a16:creationId xmlns:a16="http://schemas.microsoft.com/office/drawing/2014/main" id="{980FFFBA-6DAD-4185-BAA3-14CAD55FD7E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Lab01 · report Lab01</a:t>
            </a:r>
          </a:p>
        </p:txBody>
      </p:sp>
      <p:sp>
        <p:nvSpPr>
          <p:cNvPr id="7" name="S7_NUMBER">
            <a:extLst xmlns:a="http://schemas.openxmlformats.org/drawingml/2006/main">
              <a:ext uri="{FF2B5EF4-FFF2-40B4-BE49-F238E27FC236}">
                <a16:creationId xmlns:a16="http://schemas.microsoft.com/office/drawing/2014/main" id="{DCCA0F04-7F2D-4A35-9A15-FB6376F14006}"/>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07</a:t>
            </a:r>
          </a:p>
        </p:txBody>
      </p:sp>
      <p:sp>
        <p:nvSpPr>
          <p:cNvPr id="8" name="S7_MATRIX_H0">
            <a:extLst xmlns:a="http://schemas.openxmlformats.org/drawingml/2006/main">
              <a:ext uri="{FF2B5EF4-FFF2-40B4-BE49-F238E27FC236}">
                <a16:creationId xmlns:a16="http://schemas.microsoft.com/office/drawing/2014/main" id="{C092AF87-1E6C-4927-8233-5910B8EBAF48}"/>
              </a:ext>
            </a:extLst>
          </p:cNvPr>
          <p:cNvSpPr>
            <a:spLocks xmlns:a="http://schemas.openxmlformats.org/drawingml/2006/main" noGrp="1"/>
          </p:cNvSpPr>
          <p:nvPr/>
        </p:nvSpPr>
        <p:spPr>
          <a:xfrm xmlns:a="http://schemas.openxmlformats.org/drawingml/2006/main">
            <a:off x="533400" y="1695450"/>
            <a:ext cx="11430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LOẠI</a:t>
            </a:r>
          </a:p>
        </p:txBody>
      </p:sp>
      <p:sp>
        <p:nvSpPr>
          <p:cNvPr id="9" name="S7_MATRIX_H1">
            <a:extLst xmlns:a="http://schemas.openxmlformats.org/drawingml/2006/main">
              <a:ext uri="{FF2B5EF4-FFF2-40B4-BE49-F238E27FC236}">
                <a16:creationId xmlns:a16="http://schemas.microsoft.com/office/drawing/2014/main" id="{2DBF6D82-3867-4864-8618-D6E5138AF4A9}"/>
              </a:ext>
            </a:extLst>
          </p:cNvPr>
          <p:cNvSpPr>
            <a:spLocks xmlns:a="http://schemas.openxmlformats.org/drawingml/2006/main" noGrp="1"/>
          </p:cNvSpPr>
          <p:nvPr/>
        </p:nvSpPr>
        <p:spPr>
          <a:xfrm xmlns:a="http://schemas.openxmlformats.org/drawingml/2006/main">
            <a:off x="1676400" y="1695450"/>
            <a:ext cx="11620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TỒN TẠI</a:t>
            </a:r>
          </a:p>
        </p:txBody>
      </p:sp>
      <p:sp>
        <p:nvSpPr>
          <p:cNvPr id="10" name="S7_MATRIX_H2">
            <a:extLst xmlns:a="http://schemas.openxmlformats.org/drawingml/2006/main">
              <a:ext uri="{FF2B5EF4-FFF2-40B4-BE49-F238E27FC236}">
                <a16:creationId xmlns:a16="http://schemas.microsoft.com/office/drawing/2014/main" id="{75650588-D030-4203-A28C-0D44BB72B920}"/>
              </a:ext>
            </a:extLst>
          </p:cNvPr>
          <p:cNvSpPr>
            <a:spLocks xmlns:a="http://schemas.openxmlformats.org/drawingml/2006/main" noGrp="1"/>
          </p:cNvSpPr>
          <p:nvPr/>
        </p:nvSpPr>
        <p:spPr>
          <a:xfrm xmlns:a="http://schemas.openxmlformats.org/drawingml/2006/main">
            <a:off x="2838450" y="1695450"/>
            <a:ext cx="1381125"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SERVER</a:t>
            </a:r>
          </a:p>
        </p:txBody>
      </p:sp>
      <p:sp>
        <p:nvSpPr>
          <p:cNvPr id="11" name="S7_MATRIX_H3">
            <a:extLst xmlns:a="http://schemas.openxmlformats.org/drawingml/2006/main">
              <a:ext uri="{FF2B5EF4-FFF2-40B4-BE49-F238E27FC236}">
                <a16:creationId xmlns:a16="http://schemas.microsoft.com/office/drawing/2014/main" id="{864A02B6-B029-46C0-9324-B660D66EEDCA}"/>
              </a:ext>
            </a:extLst>
          </p:cNvPr>
          <p:cNvSpPr>
            <a:spLocks xmlns:a="http://schemas.openxmlformats.org/drawingml/2006/main" noGrp="1"/>
          </p:cNvSpPr>
          <p:nvPr/>
        </p:nvSpPr>
        <p:spPr>
          <a:xfrm xmlns:a="http://schemas.openxmlformats.org/drawingml/2006/main">
            <a:off x="4219575" y="1695450"/>
            <a:ext cx="1457325"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PATCH GỐC</a:t>
            </a:r>
          </a:p>
        </p:txBody>
      </p:sp>
      <p:sp>
        <p:nvSpPr>
          <p:cNvPr id="12" name="S7_MATRIX_R0C0">
            <a:extLst xmlns:a="http://schemas.openxmlformats.org/drawingml/2006/main">
              <a:ext uri="{FF2B5EF4-FFF2-40B4-BE49-F238E27FC236}">
                <a16:creationId xmlns:a16="http://schemas.microsoft.com/office/drawing/2014/main" id="{72C955A9-4B11-4D46-8989-1E2FF7E423C8}"/>
              </a:ext>
            </a:extLst>
          </p:cNvPr>
          <p:cNvSpPr>
            <a:spLocks xmlns:a="http://schemas.openxmlformats.org/drawingml/2006/main" noGrp="1"/>
          </p:cNvSpPr>
          <p:nvPr/>
        </p:nvSpPr>
        <p:spPr>
          <a:xfrm xmlns:a="http://schemas.openxmlformats.org/drawingml/2006/main">
            <a:off x="533400" y="2262188"/>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Reflected</a:t>
            </a:r>
          </a:p>
        </p:txBody>
      </p:sp>
      <p:sp>
        <p:nvSpPr>
          <p:cNvPr id="13" name="S7_MATRIX_R0C1">
            <a:extLst xmlns:a="http://schemas.openxmlformats.org/drawingml/2006/main">
              <a:ext uri="{FF2B5EF4-FFF2-40B4-BE49-F238E27FC236}">
                <a16:creationId xmlns:a16="http://schemas.microsoft.com/office/drawing/2014/main" id="{D48CC98B-0758-49B8-9188-118D2C25E58E}"/>
              </a:ext>
            </a:extLst>
          </p:cNvPr>
          <p:cNvSpPr>
            <a:spLocks xmlns:a="http://schemas.openxmlformats.org/drawingml/2006/main" noGrp="1"/>
          </p:cNvSpPr>
          <p:nvPr/>
        </p:nvSpPr>
        <p:spPr>
          <a:xfrm xmlns:a="http://schemas.openxmlformats.org/drawingml/2006/main">
            <a:off x="1676400" y="2262188"/>
            <a:ext cx="11620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14" name="S7_MATRIX_R0C2">
            <a:extLst xmlns:a="http://schemas.openxmlformats.org/drawingml/2006/main">
              <a:ext uri="{FF2B5EF4-FFF2-40B4-BE49-F238E27FC236}">
                <a16:creationId xmlns:a16="http://schemas.microsoft.com/office/drawing/2014/main" id="{DD2AF3B3-086C-48D3-A770-D58C68E12013}"/>
              </a:ext>
            </a:extLst>
          </p:cNvPr>
          <p:cNvSpPr>
            <a:spLocks xmlns:a="http://schemas.openxmlformats.org/drawingml/2006/main" noGrp="1"/>
          </p:cNvSpPr>
          <p:nvPr/>
        </p:nvSpPr>
        <p:spPr>
          <a:xfrm xmlns:a="http://schemas.openxmlformats.org/drawingml/2006/main">
            <a:off x="2838450" y="2262188"/>
            <a:ext cx="13811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phản chiếu</a:t>
            </a:r>
          </a:p>
        </p:txBody>
      </p:sp>
      <p:sp>
        <p:nvSpPr>
          <p:cNvPr id="15" name="S7_MATRIX_R0C3">
            <a:extLst xmlns:a="http://schemas.openxmlformats.org/drawingml/2006/main">
              <a:ext uri="{FF2B5EF4-FFF2-40B4-BE49-F238E27FC236}">
                <a16:creationId xmlns:a16="http://schemas.microsoft.com/office/drawing/2014/main" id="{BAC3CF4D-DA47-48D6-B0FA-2274AEE41CED}"/>
              </a:ext>
            </a:extLst>
          </p:cNvPr>
          <p:cNvSpPr>
            <a:spLocks xmlns:a="http://schemas.openxmlformats.org/drawingml/2006/main" noGrp="1"/>
          </p:cNvSpPr>
          <p:nvPr/>
        </p:nvSpPr>
        <p:spPr>
          <a:xfrm xmlns:a="http://schemas.openxmlformats.org/drawingml/2006/main">
            <a:off x="4219575" y="2262188"/>
            <a:ext cx="14573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contextual encoding</a:t>
            </a:r>
          </a:p>
        </p:txBody>
      </p:sp>
      <p:sp>
        <p:nvSpPr>
          <p:cNvPr id="16" name="S7_MATRIX_R1C0">
            <a:extLst xmlns:a="http://schemas.openxmlformats.org/drawingml/2006/main">
              <a:ext uri="{FF2B5EF4-FFF2-40B4-BE49-F238E27FC236}">
                <a16:creationId xmlns:a16="http://schemas.microsoft.com/office/drawing/2014/main" id="{12326005-BCBD-49B9-8D2E-A8FB5354E7A8}"/>
              </a:ext>
            </a:extLst>
          </p:cNvPr>
          <p:cNvSpPr>
            <a:spLocks xmlns:a="http://schemas.openxmlformats.org/drawingml/2006/main" noGrp="1"/>
          </p:cNvSpPr>
          <p:nvPr/>
        </p:nvSpPr>
        <p:spPr>
          <a:xfrm xmlns:a="http://schemas.openxmlformats.org/drawingml/2006/main">
            <a:off x="533400" y="2828925"/>
            <a:ext cx="11430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Stored</a:t>
            </a:r>
          </a:p>
        </p:txBody>
      </p:sp>
      <p:sp>
        <p:nvSpPr>
          <p:cNvPr id="17" name="S7_MATRIX_R1C1">
            <a:extLst xmlns:a="http://schemas.openxmlformats.org/drawingml/2006/main">
              <a:ext uri="{FF2B5EF4-FFF2-40B4-BE49-F238E27FC236}">
                <a16:creationId xmlns:a16="http://schemas.microsoft.com/office/drawing/2014/main" id="{92D28690-CB3F-485A-B6D1-F0FAA28117A6}"/>
              </a:ext>
            </a:extLst>
          </p:cNvPr>
          <p:cNvSpPr>
            <a:spLocks xmlns:a="http://schemas.openxmlformats.org/drawingml/2006/main" noGrp="1"/>
          </p:cNvSpPr>
          <p:nvPr/>
        </p:nvSpPr>
        <p:spPr>
          <a:xfrm xmlns:a="http://schemas.openxmlformats.org/drawingml/2006/main">
            <a:off x="1676400" y="2828925"/>
            <a:ext cx="11620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SQLite</a:t>
            </a:r>
          </a:p>
        </p:txBody>
      </p:sp>
      <p:sp>
        <p:nvSpPr>
          <p:cNvPr id="18" name="S7_MATRIX_R1C2">
            <a:extLst xmlns:a="http://schemas.openxmlformats.org/drawingml/2006/main">
              <a:ext uri="{FF2B5EF4-FFF2-40B4-BE49-F238E27FC236}">
                <a16:creationId xmlns:a16="http://schemas.microsoft.com/office/drawing/2014/main" id="{1851794E-098B-4614-A7CF-CC44D04956D6}"/>
              </a:ext>
            </a:extLst>
          </p:cNvPr>
          <p:cNvSpPr>
            <a:spLocks xmlns:a="http://schemas.openxmlformats.org/drawingml/2006/main" noGrp="1"/>
          </p:cNvSpPr>
          <p:nvPr/>
        </p:nvSpPr>
        <p:spPr>
          <a:xfrm xmlns:a="http://schemas.openxmlformats.org/drawingml/2006/main">
            <a:off x="2838450" y="2828925"/>
            <a:ext cx="1381125"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lưu + phát lại</a:t>
            </a:r>
          </a:p>
        </p:txBody>
      </p:sp>
      <p:sp>
        <p:nvSpPr>
          <p:cNvPr id="19" name="S7_MATRIX_R1C3">
            <a:extLst xmlns:a="http://schemas.openxmlformats.org/drawingml/2006/main">
              <a:ext uri="{FF2B5EF4-FFF2-40B4-BE49-F238E27FC236}">
                <a16:creationId xmlns:a16="http://schemas.microsoft.com/office/drawing/2014/main" id="{7D902512-5781-4DF8-B658-4A9B9735FB11}"/>
              </a:ext>
            </a:extLst>
          </p:cNvPr>
          <p:cNvSpPr>
            <a:spLocks xmlns:a="http://schemas.openxmlformats.org/drawingml/2006/main" noGrp="1"/>
          </p:cNvSpPr>
          <p:nvPr/>
        </p:nvSpPr>
        <p:spPr>
          <a:xfrm xmlns:a="http://schemas.openxmlformats.org/drawingml/2006/main">
            <a:off x="4219575" y="2828925"/>
            <a:ext cx="1457325"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sanitize/encode output</a:t>
            </a:r>
          </a:p>
        </p:txBody>
      </p:sp>
      <p:sp>
        <p:nvSpPr>
          <p:cNvPr id="20" name="S7_MATRIX_R2C0">
            <a:extLst xmlns:a="http://schemas.openxmlformats.org/drawingml/2006/main">
              <a:ext uri="{FF2B5EF4-FFF2-40B4-BE49-F238E27FC236}">
                <a16:creationId xmlns:a16="http://schemas.microsoft.com/office/drawing/2014/main" id="{ABC87FF2-C344-463F-9CDD-2A6E6E0510B1}"/>
              </a:ext>
            </a:extLst>
          </p:cNvPr>
          <p:cNvSpPr>
            <a:spLocks xmlns:a="http://schemas.openxmlformats.org/drawingml/2006/main" noGrp="1"/>
          </p:cNvSpPr>
          <p:nvPr/>
        </p:nvSpPr>
        <p:spPr>
          <a:xfrm xmlns:a="http://schemas.openxmlformats.org/drawingml/2006/main">
            <a:off x="533400" y="3395663"/>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a:t>
            </a:r>
          </a:p>
        </p:txBody>
      </p:sp>
      <p:sp>
        <p:nvSpPr>
          <p:cNvPr id="21" name="S7_MATRIX_R2C1">
            <a:extLst xmlns:a="http://schemas.openxmlformats.org/drawingml/2006/main">
              <a:ext uri="{FF2B5EF4-FFF2-40B4-BE49-F238E27FC236}">
                <a16:creationId xmlns:a16="http://schemas.microsoft.com/office/drawing/2014/main" id="{72C0F244-2327-4F6E-91E2-92D61B4CC21C}"/>
              </a:ext>
            </a:extLst>
          </p:cNvPr>
          <p:cNvSpPr>
            <a:spLocks xmlns:a="http://schemas.openxmlformats.org/drawingml/2006/main" noGrp="1"/>
          </p:cNvSpPr>
          <p:nvPr/>
        </p:nvSpPr>
        <p:spPr>
          <a:xfrm xmlns:a="http://schemas.openxmlformats.org/drawingml/2006/main">
            <a:off x="1676400" y="3395663"/>
            <a:ext cx="11620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fragment</a:t>
            </a:r>
          </a:p>
        </p:txBody>
      </p:sp>
      <p:sp>
        <p:nvSpPr>
          <p:cNvPr id="22" name="S7_MATRIX_R2C2">
            <a:extLst xmlns:a="http://schemas.openxmlformats.org/drawingml/2006/main">
              <a:ext uri="{FF2B5EF4-FFF2-40B4-BE49-F238E27FC236}">
                <a16:creationId xmlns:a16="http://schemas.microsoft.com/office/drawing/2014/main" id="{237EF908-9F03-436F-85B9-8D25717F5162}"/>
              </a:ext>
            </a:extLst>
          </p:cNvPr>
          <p:cNvSpPr>
            <a:spLocks xmlns:a="http://schemas.openxmlformats.org/drawingml/2006/main" noGrp="1"/>
          </p:cNvSpPr>
          <p:nvPr/>
        </p:nvSpPr>
        <p:spPr>
          <a:xfrm xmlns:a="http://schemas.openxmlformats.org/drawingml/2006/main">
            <a:off x="2838450" y="3395663"/>
            <a:ext cx="13811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bắt buộc</a:t>
            </a:r>
          </a:p>
        </p:txBody>
      </p:sp>
      <p:sp>
        <p:nvSpPr>
          <p:cNvPr id="23" name="S7_MATRIX_R2C3">
            <a:extLst xmlns:a="http://schemas.openxmlformats.org/drawingml/2006/main">
              <a:ext uri="{FF2B5EF4-FFF2-40B4-BE49-F238E27FC236}">
                <a16:creationId xmlns:a16="http://schemas.microsoft.com/office/drawing/2014/main" id="{E12A4E6E-92F6-4C86-BD83-1F2FF5D041C7}"/>
              </a:ext>
            </a:extLst>
          </p:cNvPr>
          <p:cNvSpPr>
            <a:spLocks xmlns:a="http://schemas.openxmlformats.org/drawingml/2006/main" noGrp="1"/>
          </p:cNvSpPr>
          <p:nvPr/>
        </p:nvSpPr>
        <p:spPr>
          <a:xfrm xmlns:a="http://schemas.openxmlformats.org/drawingml/2006/main">
            <a:off x="4219575" y="3395663"/>
            <a:ext cx="14573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safe DOM API</a:t>
            </a:r>
          </a:p>
        </p:txBody>
      </p:sp>
      <p:sp>
        <p:nvSpPr>
          <p:cNvPr id="24" name="S7_QA_1">
            <a:extLst xmlns:a="http://schemas.openxmlformats.org/drawingml/2006/main">
              <a:ext uri="{FF2B5EF4-FFF2-40B4-BE49-F238E27FC236}">
                <a16:creationId xmlns:a16="http://schemas.microsoft.com/office/drawing/2014/main" id="{562F005C-0595-4563-9C89-7A06F53F8D96}"/>
              </a:ext>
            </a:extLst>
          </p:cNvPr>
          <p:cNvSpPr>
            <a:spLocks xmlns:a="http://schemas.openxmlformats.org/drawingml/2006/main" noGrp="1"/>
          </p:cNvSpPr>
          <p:nvPr/>
        </p:nvSpPr>
        <p:spPr>
          <a:xfrm xmlns:a="http://schemas.openxmlformats.org/drawingml/2006/main">
            <a:off x="5943600" y="16954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Validation chưa đủ vì sink/ngữ cảnh quyết định cách diễn giải.</a:t>
            </a:r>
          </a:p>
        </p:txBody>
      </p:sp>
      <p:sp>
        <p:nvSpPr>
          <p:cNvPr id="25" name="S7_QA_2">
            <a:extLst xmlns:a="http://schemas.openxmlformats.org/drawingml/2006/main">
              <a:ext uri="{FF2B5EF4-FFF2-40B4-BE49-F238E27FC236}">
                <a16:creationId xmlns:a16="http://schemas.microsoft.com/office/drawing/2014/main" id="{3BA518E2-E090-41D2-A38D-C44AD850C81B}"/>
              </a:ext>
            </a:extLst>
          </p:cNvPr>
          <p:cNvSpPr>
            <a:spLocks xmlns:a="http://schemas.openxmlformats.org/drawingml/2006/main" noGrp="1"/>
          </p:cNvSpPr>
          <p:nvPr/>
        </p:nvSpPr>
        <p:spPr>
          <a:xfrm xmlns:a="http://schemas.openxmlformats.org/drawingml/2006/main">
            <a:off x="8877300" y="16954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Output encoding giữ dữ liệu không trở thành mã.</a:t>
            </a:r>
          </a:p>
        </p:txBody>
      </p:sp>
      <p:sp>
        <p:nvSpPr>
          <p:cNvPr id="26" name="S7_QA_3">
            <a:extLst xmlns:a="http://schemas.openxmlformats.org/drawingml/2006/main">
              <a:ext uri="{FF2B5EF4-FFF2-40B4-BE49-F238E27FC236}">
                <a16:creationId xmlns:a16="http://schemas.microsoft.com/office/drawing/2014/main" id="{99F722F0-B450-4722-8F88-47DA2493AADF}"/>
              </a:ext>
            </a:extLst>
          </p:cNvPr>
          <p:cNvSpPr>
            <a:spLocks xmlns:a="http://schemas.openxmlformats.org/drawingml/2006/main" noGrp="1"/>
          </p:cNvSpPr>
          <p:nvPr/>
        </p:nvSpPr>
        <p:spPr>
          <a:xfrm xmlns:a="http://schemas.openxmlformats.org/drawingml/2006/main">
            <a:off x="5943600" y="313690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Stored ảnh hưởng mọi người xem dữ liệu đã lưu.</a:t>
            </a:r>
          </a:p>
        </p:txBody>
      </p:sp>
      <p:sp>
        <p:nvSpPr>
          <p:cNvPr id="27" name="S7_QA_4">
            <a:extLst xmlns:a="http://schemas.openxmlformats.org/drawingml/2006/main">
              <a:ext uri="{FF2B5EF4-FFF2-40B4-BE49-F238E27FC236}">
                <a16:creationId xmlns:a16="http://schemas.microsoft.com/office/drawing/2014/main" id="{29405367-8CD7-4700-B8E1-57EF8ADD56E9}"/>
              </a:ext>
            </a:extLst>
          </p:cNvPr>
          <p:cNvSpPr>
            <a:spLocks xmlns:a="http://schemas.openxmlformats.org/drawingml/2006/main" noGrp="1"/>
          </p:cNvSpPr>
          <p:nvPr/>
        </p:nvSpPr>
        <p:spPr>
          <a:xfrm xmlns:a="http://schemas.openxmlformats.org/drawingml/2006/main">
            <a:off x="8877300" y="313690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DOM XSS phát sinh và thực thi hoàn toàn ở browser.</a:t>
            </a:r>
          </a:p>
        </p:txBody>
      </p:sp>
      <p:sp>
        <p:nvSpPr>
          <p:cNvPr id="28" name="S7_QA_5">
            <a:extLst xmlns:a="http://schemas.openxmlformats.org/drawingml/2006/main">
              <a:ext uri="{FF2B5EF4-FFF2-40B4-BE49-F238E27FC236}">
                <a16:creationId xmlns:a16="http://schemas.microsoft.com/office/drawing/2014/main" id="{1C37DE41-86AC-4D9B-A6A1-A16CAB244751}"/>
              </a:ext>
            </a:extLst>
          </p:cNvPr>
          <p:cNvSpPr>
            <a:spLocks xmlns:a="http://schemas.openxmlformats.org/drawingml/2006/main" noGrp="1"/>
          </p:cNvSpPr>
          <p:nvPr/>
        </p:nvSpPr>
        <p:spPr>
          <a:xfrm xmlns:a="http://schemas.openxmlformats.org/drawingml/2006/main">
            <a:off x="5943600" y="45783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CSP hỗ trợ, không thay sửa code.</a:t>
            </a:r>
          </a:p>
        </p:txBody>
      </p:sp>
      <p:sp>
        <p:nvSpPr>
          <p:cNvPr id="29" name="S7_QA_6">
            <a:extLst xmlns:a="http://schemas.openxmlformats.org/drawingml/2006/main">
              <a:ext uri="{FF2B5EF4-FFF2-40B4-BE49-F238E27FC236}">
                <a16:creationId xmlns:a16="http://schemas.microsoft.com/office/drawing/2014/main" id="{6B476884-5849-4703-BAA2-05A5EA99E896}"/>
              </a:ext>
            </a:extLst>
          </p:cNvPr>
          <p:cNvSpPr>
            <a:spLocks xmlns:a="http://schemas.openxmlformats.org/drawingml/2006/main" noGrp="1"/>
          </p:cNvSpPr>
          <p:nvPr/>
        </p:nvSpPr>
        <p:spPr>
          <a:xfrm xmlns:a="http://schemas.openxmlformats.org/drawingml/2006/main">
            <a:off x="8877300" y="45783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Evidence: URL/request · storage · Elements · secure retest.</a:t>
            </a:r>
          </a:p>
        </p:txBody>
      </p:sp>
      <p:sp>
        <p:nvSpPr>
          <p:cNvPr id="30" name="S7_ANSWER_BAR">
            <a:extLst xmlns:a="http://schemas.openxmlformats.org/drawingml/2006/main">
              <a:ext uri="{FF2B5EF4-FFF2-40B4-BE49-F238E27FC236}">
                <a16:creationId xmlns:a16="http://schemas.microsoft.com/office/drawing/2014/main" id="{1B9D818E-CC9A-4BD3-9A5E-E3E07EE8BE41}"/>
              </a:ext>
            </a:extLst>
          </p:cNvPr>
          <p:cNvSpPr>
            <a:spLocks xmlns:a="http://schemas.openxmlformats.org/drawingml/2006/main" noGrp="1"/>
          </p:cNvSpPr>
          <p:nvPr/>
        </p:nvSpPr>
        <p:spPr>
          <a:xfrm xmlns:a="http://schemas.openxmlformats.org/drawingml/2006/main">
            <a:off x="533400" y="4286250"/>
            <a:ext cx="76200" cy="0"/>
          </a:xfrm>
          <a:prstGeom xmlns:a="http://schemas.openxmlformats.org/drawingml/2006/main" prst="rect">
            <a:avLst/>
          </a:prstGeom>
          <a:ln xmlns:a="http://schemas.openxmlformats.org/drawingml/2006/main" w="0">
            <a:noFill/>
            <a:prstDash val="solid"/>
          </a:ln>
        </p:spPr>
      </p:sp>
      <p:sp>
        <p:nvSpPr>
          <p:cNvPr id="31" name="S7_ANSWER_LABEL">
            <a:extLst xmlns:a="http://schemas.openxmlformats.org/drawingml/2006/main">
              <a:ext uri="{FF2B5EF4-FFF2-40B4-BE49-F238E27FC236}">
                <a16:creationId xmlns:a16="http://schemas.microsoft.com/office/drawing/2014/main" id="{3C9BDB61-4D11-4ECF-A74F-EFB14E25CB93}"/>
              </a:ext>
            </a:extLst>
          </p:cNvPr>
          <p:cNvSpPr>
            <a:spLocks xmlns:a="http://schemas.openxmlformats.org/drawingml/2006/main" noGrp="1"/>
          </p:cNvSpPr>
          <p:nvPr/>
        </p:nvSpPr>
        <p:spPr>
          <a:xfrm xmlns:a="http://schemas.openxmlformats.org/drawingml/2006/main">
            <a:off x="704850" y="43053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PATCH + ẢNH CẦN CÓ</a:t>
            </a:r>
          </a:p>
        </p:txBody>
      </p:sp>
      <p:sp>
        <p:nvSpPr>
          <p:cNvPr id="32" name="S7_ANSWER_BODY">
            <a:extLst xmlns:a="http://schemas.openxmlformats.org/drawingml/2006/main">
              <a:ext uri="{FF2B5EF4-FFF2-40B4-BE49-F238E27FC236}">
                <a16:creationId xmlns:a16="http://schemas.microsoft.com/office/drawing/2014/main" id="{C111500E-F52C-454B-8E6E-EC7E183A5EC7}"/>
              </a:ext>
            </a:extLst>
          </p:cNvPr>
          <p:cNvSpPr>
            <a:spLocks xmlns:a="http://schemas.openxmlformats.org/drawingml/2006/main" noGrp="1"/>
          </p:cNvSpPr>
          <p:nvPr/>
        </p:nvSpPr>
        <p:spPr>
          <a:xfrm xmlns:a="http://schemas.openxmlformats.org/drawingml/2006/main">
            <a:off x="704850" y="461010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Patch sink: escape output · sanitize HTML · textContent.</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Ảnh cần có: normal input · payload · vị trí HTML/DOM · storage · secure retest.</a:t>
            </a:r>
          </a:p>
        </p:txBody>
      </p:sp>
    </p:spTree>
    <p:extLst>
      <p:ext uri="{BB962C8B-B14F-4D97-AF65-F5344CB8AC3E}">
        <p14:creationId xmlns:p14="http://schemas.microsoft.com/office/powerpoint/2010/main" val="232829439"/>
      </p:ext>
    </p:extLst>
  </p:cSld>
</p:sld>
</file>

<file path=ppt/slides/slide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2" name="S8_EYEBROW">
            <a:extLst xmlns:a="http://schemas.openxmlformats.org/drawingml/2006/main">
              <a:ext uri="{FF2B5EF4-FFF2-40B4-BE49-F238E27FC236}">
                <a16:creationId xmlns:a16="http://schemas.microsoft.com/office/drawing/2014/main" id="{95844A1B-5AF6-49B8-8088-7F41046E7433}"/>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8_TITLE">
            <a:extLst xmlns:a="http://schemas.openxmlformats.org/drawingml/2006/main">
              <a:ext uri="{FF2B5EF4-FFF2-40B4-BE49-F238E27FC236}">
                <a16:creationId xmlns:a16="http://schemas.microsoft.com/office/drawing/2014/main" id="{842766A7-4B01-41B4-A4E7-9128C14D275C}"/>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HTTP có thể chạm tới lỗi bộ nhớ native</a:t>
            </a:r>
          </a:p>
        </p:txBody>
      </p:sp>
      <p:sp>
        <p:nvSpPr>
          <p:cNvPr id="3" name="S8_SUBTITLE">
            <a:extLst xmlns:a="http://schemas.openxmlformats.org/drawingml/2006/main">
              <a:ext uri="{FF2B5EF4-FFF2-40B4-BE49-F238E27FC236}">
                <a16:creationId xmlns:a16="http://schemas.microsoft.com/office/drawing/2014/main" id="{16C0A4F7-100E-4A26-A8E5-2198F9685928}"/>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Flask chỉ là cầu nối; lỗi xảy ra trong process C khi input vượt sức chứa.</a:t>
            </a:r>
          </a:p>
        </p:txBody>
      </p:sp>
      <p:sp>
        <p:nvSpPr>
          <p:cNvPr id="4" name="S8_TITLE_RULE">
            <a:extLst xmlns:a="http://schemas.openxmlformats.org/drawingml/2006/main">
              <a:ext uri="{FF2B5EF4-FFF2-40B4-BE49-F238E27FC236}">
                <a16:creationId xmlns:a16="http://schemas.microsoft.com/office/drawing/2014/main" id="{3D75B563-8245-43DE-AE97-C29B626E833B}"/>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8_FOOTER_RULE">
            <a:extLst xmlns:a="http://schemas.openxmlformats.org/drawingml/2006/main">
              <a:ext uri="{FF2B5EF4-FFF2-40B4-BE49-F238E27FC236}">
                <a16:creationId xmlns:a16="http://schemas.microsoft.com/office/drawing/2014/main" id="{45423AA5-9C91-41F4-9EBD-6BAC2A0372E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8_SOURCE">
            <a:extLst xmlns:a="http://schemas.openxmlformats.org/drawingml/2006/main">
              <a:ext uri="{FF2B5EF4-FFF2-40B4-BE49-F238E27FC236}">
                <a16:creationId xmlns:a16="http://schemas.microsoft.com/office/drawing/2014/main" id="{F9F4C650-F59A-4EC0-BCF8-B27004CA9B21}"/>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Lab02/app.py · native_runner.py · native/*.c</a:t>
            </a:r>
          </a:p>
        </p:txBody>
      </p:sp>
      <p:sp>
        <p:nvSpPr>
          <p:cNvPr id="7" name="S8_NUMBER">
            <a:extLst xmlns:a="http://schemas.openxmlformats.org/drawingml/2006/main">
              <a:ext uri="{FF2B5EF4-FFF2-40B4-BE49-F238E27FC236}">
                <a16:creationId xmlns:a16="http://schemas.microsoft.com/office/drawing/2014/main" id="{93FB0171-A0FE-4316-847F-89F1465CB1F3}"/>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08</a:t>
            </a:r>
          </a:p>
        </p:txBody>
      </p:sp>
      <p:sp>
        <p:nvSpPr>
          <p:cNvPr id="8" name="S8_ARCH_ARROW_1">
            <a:extLst xmlns:a="http://schemas.openxmlformats.org/drawingml/2006/main">
              <a:ext uri="{FF2B5EF4-FFF2-40B4-BE49-F238E27FC236}">
                <a16:creationId xmlns:a16="http://schemas.microsoft.com/office/drawing/2014/main" id="{F3A719CB-AFB9-4DD3-ADD5-CFA0EA4687C9}"/>
              </a:ext>
            </a:extLst>
          </p:cNvPr>
          <p:cNvSpPr>
            <a:spLocks xmlns:a="http://schemas.openxmlformats.org/drawingml/2006/main" noGrp="1"/>
          </p:cNvSpPr>
          <p:nvPr/>
        </p:nvSpPr>
        <p:spPr>
          <a:xfrm xmlns:a="http://schemas.openxmlformats.org/drawingml/2006/main">
            <a:off x="2225675"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8_ARCH_ARROW_2">
            <a:extLst xmlns:a="http://schemas.openxmlformats.org/drawingml/2006/main">
              <a:ext uri="{FF2B5EF4-FFF2-40B4-BE49-F238E27FC236}">
                <a16:creationId xmlns:a16="http://schemas.microsoft.com/office/drawing/2014/main" id="{E83E906A-7638-420C-B013-214BFB3E10C5}"/>
              </a:ext>
            </a:extLst>
          </p:cNvPr>
          <p:cNvSpPr>
            <a:spLocks xmlns:a="http://schemas.openxmlformats.org/drawingml/2006/main" noGrp="1"/>
          </p:cNvSpPr>
          <p:nvPr/>
        </p:nvSpPr>
        <p:spPr>
          <a:xfrm xmlns:a="http://schemas.openxmlformats.org/drawingml/2006/main">
            <a:off x="4127500"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8_ARCH_ARROW_3">
            <a:extLst xmlns:a="http://schemas.openxmlformats.org/drawingml/2006/main">
              <a:ext uri="{FF2B5EF4-FFF2-40B4-BE49-F238E27FC236}">
                <a16:creationId xmlns:a16="http://schemas.microsoft.com/office/drawing/2014/main" id="{ADF1CC43-B023-4375-8781-D291DDE143D7}"/>
              </a:ext>
            </a:extLst>
          </p:cNvPr>
          <p:cNvSpPr>
            <a:spLocks xmlns:a="http://schemas.openxmlformats.org/drawingml/2006/main" noGrp="1"/>
          </p:cNvSpPr>
          <p:nvPr/>
        </p:nvSpPr>
        <p:spPr>
          <a:xfrm xmlns:a="http://schemas.openxmlformats.org/drawingml/2006/main">
            <a:off x="6029325"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8_ARCH_ARROW_4">
            <a:extLst xmlns:a="http://schemas.openxmlformats.org/drawingml/2006/main">
              <a:ext uri="{FF2B5EF4-FFF2-40B4-BE49-F238E27FC236}">
                <a16:creationId xmlns:a16="http://schemas.microsoft.com/office/drawing/2014/main" id="{B54637E9-97D1-475C-8F8E-5C3D34C7FAE7}"/>
              </a:ext>
            </a:extLst>
          </p:cNvPr>
          <p:cNvSpPr>
            <a:spLocks xmlns:a="http://schemas.openxmlformats.org/drawingml/2006/main" noGrp="1"/>
          </p:cNvSpPr>
          <p:nvPr/>
        </p:nvSpPr>
        <p:spPr>
          <a:xfrm xmlns:a="http://schemas.openxmlformats.org/drawingml/2006/main">
            <a:off x="7931150"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8_ARCH_ARROW_5">
            <a:extLst xmlns:a="http://schemas.openxmlformats.org/drawingml/2006/main">
              <a:ext uri="{FF2B5EF4-FFF2-40B4-BE49-F238E27FC236}">
                <a16:creationId xmlns:a16="http://schemas.microsoft.com/office/drawing/2014/main" id="{739F84FC-53F5-4EFA-9F69-0F73EFFEC8CF}"/>
              </a:ext>
            </a:extLst>
          </p:cNvPr>
          <p:cNvSpPr>
            <a:spLocks xmlns:a="http://schemas.openxmlformats.org/drawingml/2006/main" noGrp="1"/>
          </p:cNvSpPr>
          <p:nvPr/>
        </p:nvSpPr>
        <p:spPr>
          <a:xfrm xmlns:a="http://schemas.openxmlformats.org/drawingml/2006/main">
            <a:off x="9832975"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3" name="S8_ARCH_NODE_1">
            <a:extLst xmlns:a="http://schemas.openxmlformats.org/drawingml/2006/main">
              <a:ext uri="{FF2B5EF4-FFF2-40B4-BE49-F238E27FC236}">
                <a16:creationId xmlns:a16="http://schemas.microsoft.com/office/drawing/2014/main" id="{90104145-6F21-4505-9058-08AC33009D7C}"/>
              </a:ext>
            </a:extLst>
          </p:cNvPr>
          <p:cNvSpPr>
            <a:spLocks xmlns:a="http://schemas.openxmlformats.org/drawingml/2006/main" noGrp="1"/>
          </p:cNvSpPr>
          <p:nvPr/>
        </p:nvSpPr>
        <p:spPr>
          <a:xfrm xmlns:a="http://schemas.openxmlformats.org/drawingml/2006/main">
            <a:off x="533400"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a:t>
            </a:r>
          </a:p>
        </p:txBody>
      </p:sp>
      <p:sp>
        <p:nvSpPr>
          <p:cNvPr id="14" name="S8_ARCH_NODE_2">
            <a:extLst xmlns:a="http://schemas.openxmlformats.org/drawingml/2006/main">
              <a:ext uri="{FF2B5EF4-FFF2-40B4-BE49-F238E27FC236}">
                <a16:creationId xmlns:a16="http://schemas.microsoft.com/office/drawing/2014/main" id="{20FCA073-F0BC-44A0-9350-7ED236700907}"/>
              </a:ext>
            </a:extLst>
          </p:cNvPr>
          <p:cNvSpPr>
            <a:spLocks xmlns:a="http://schemas.openxmlformats.org/drawingml/2006/main" noGrp="1"/>
          </p:cNvSpPr>
          <p:nvPr/>
        </p:nvSpPr>
        <p:spPr>
          <a:xfrm xmlns:a="http://schemas.openxmlformats.org/drawingml/2006/main">
            <a:off x="2435225"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 /submit</a:t>
            </a:r>
          </a:p>
        </p:txBody>
      </p:sp>
      <p:sp>
        <p:nvSpPr>
          <p:cNvPr id="15" name="S8_ARCH_NODE_3">
            <a:extLst xmlns:a="http://schemas.openxmlformats.org/drawingml/2006/main">
              <a:ext uri="{FF2B5EF4-FFF2-40B4-BE49-F238E27FC236}">
                <a16:creationId xmlns:a16="http://schemas.microsoft.com/office/drawing/2014/main" id="{00ABEE51-AB58-49C1-99C3-D9DB7B4B1138}"/>
              </a:ext>
            </a:extLst>
          </p:cNvPr>
          <p:cNvSpPr>
            <a:spLocks xmlns:a="http://schemas.openxmlformats.org/drawingml/2006/main" noGrp="1"/>
          </p:cNvSpPr>
          <p:nvPr/>
        </p:nvSpPr>
        <p:spPr>
          <a:xfrm xmlns:a="http://schemas.openxmlformats.org/drawingml/2006/main">
            <a:off x="4337050"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Flask</a:t>
            </a:r>
          </a:p>
        </p:txBody>
      </p:sp>
      <p:sp>
        <p:nvSpPr>
          <p:cNvPr id="16" name="S8_ARCH_NODE_4">
            <a:extLst xmlns:a="http://schemas.openxmlformats.org/drawingml/2006/main">
              <a:ext uri="{FF2B5EF4-FFF2-40B4-BE49-F238E27FC236}">
                <a16:creationId xmlns:a16="http://schemas.microsoft.com/office/drawing/2014/main" id="{8833921F-866D-4065-A750-F2E5EEFE39A1}"/>
              </a:ext>
            </a:extLst>
          </p:cNvPr>
          <p:cNvSpPr>
            <a:spLocks xmlns:a="http://schemas.openxmlformats.org/drawingml/2006/main" noGrp="1"/>
          </p:cNvSpPr>
          <p:nvPr/>
        </p:nvSpPr>
        <p:spPr>
          <a:xfrm xmlns:a="http://schemas.openxmlformats.org/drawingml/2006/main">
            <a:off x="6238875"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subprocess</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shell=False</a:t>
            </a:r>
          </a:p>
        </p:txBody>
      </p:sp>
      <p:sp>
        <p:nvSpPr>
          <p:cNvPr id="17" name="S8_ARCH_NODE_5">
            <a:extLst xmlns:a="http://schemas.openxmlformats.org/drawingml/2006/main">
              <a:ext uri="{FF2B5EF4-FFF2-40B4-BE49-F238E27FC236}">
                <a16:creationId xmlns:a16="http://schemas.microsoft.com/office/drawing/2014/main" id="{C926086F-CAEC-4525-B77A-525F83F98DC7}"/>
              </a:ext>
            </a:extLst>
          </p:cNvPr>
          <p:cNvSpPr>
            <a:spLocks xmlns:a="http://schemas.openxmlformats.org/drawingml/2006/main" noGrp="1"/>
          </p:cNvSpPr>
          <p:nvPr/>
        </p:nvSpPr>
        <p:spPr>
          <a:xfrm xmlns:a="http://schemas.openxmlformats.org/drawingml/2006/main">
            <a:off x="8140700"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 binary</a:t>
            </a:r>
          </a:p>
        </p:txBody>
      </p:sp>
      <p:sp>
        <p:nvSpPr>
          <p:cNvPr id="18" name="S8_ARCH_NODE_6">
            <a:extLst xmlns:a="http://schemas.openxmlformats.org/drawingml/2006/main">
              <a:ext uri="{FF2B5EF4-FFF2-40B4-BE49-F238E27FC236}">
                <a16:creationId xmlns:a16="http://schemas.microsoft.com/office/drawing/2014/main" id="{C53C1447-A243-4870-9D2A-F700C4EA94B1}"/>
              </a:ext>
            </a:extLst>
          </p:cNvPr>
          <p:cNvSpPr>
            <a:spLocks xmlns:a="http://schemas.openxmlformats.org/drawingml/2006/main" noGrp="1"/>
          </p:cNvSpPr>
          <p:nvPr/>
        </p:nvSpPr>
        <p:spPr>
          <a:xfrm xmlns:a="http://schemas.openxmlformats.org/drawingml/2006/main">
            <a:off x="10042525"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stack</a:t>
            </a:r>
          </a:p>
        </p:txBody>
      </p:sp>
      <p:sp>
        <p:nvSpPr>
          <p:cNvPr id="19" name="S8_SCOPE_BAR">
            <a:extLst xmlns:a="http://schemas.openxmlformats.org/drawingml/2006/main">
              <a:ext uri="{FF2B5EF4-FFF2-40B4-BE49-F238E27FC236}">
                <a16:creationId xmlns:a16="http://schemas.microsoft.com/office/drawing/2014/main" id="{FDC534C4-7B63-4627-889F-9E4B2288EF88}"/>
              </a:ext>
            </a:extLst>
          </p:cNvPr>
          <p:cNvSpPr>
            <a:spLocks xmlns:a="http://schemas.openxmlformats.org/drawingml/2006/main" noGrp="1"/>
          </p:cNvSpPr>
          <p:nvPr/>
        </p:nvSpPr>
        <p:spPr>
          <a:xfrm xmlns:a="http://schemas.openxmlformats.org/drawingml/2006/main">
            <a:off x="533400" y="3067050"/>
            <a:ext cx="76200" cy="0"/>
          </a:xfrm>
          <a:prstGeom xmlns:a="http://schemas.openxmlformats.org/drawingml/2006/main" prst="rect">
            <a:avLst/>
          </a:prstGeom>
          <a:ln xmlns:a="http://schemas.openxmlformats.org/drawingml/2006/main" w="0">
            <a:noFill/>
            <a:prstDash val="solid"/>
          </a:ln>
        </p:spPr>
      </p:sp>
      <p:sp>
        <p:nvSpPr>
          <p:cNvPr id="20" name="S8_SCOPE_LABEL">
            <a:extLst xmlns:a="http://schemas.openxmlformats.org/drawingml/2006/main">
              <a:ext uri="{FF2B5EF4-FFF2-40B4-BE49-F238E27FC236}">
                <a16:creationId xmlns:a16="http://schemas.microsoft.com/office/drawing/2014/main" id="{F89A8527-BDF3-4949-9CF4-CC6791F51691}"/>
              </a:ext>
            </a:extLst>
          </p:cNvPr>
          <p:cNvSpPr>
            <a:spLocks xmlns:a="http://schemas.openxmlformats.org/drawingml/2006/main" noGrp="1"/>
          </p:cNvSpPr>
          <p:nvPr/>
        </p:nvSpPr>
        <p:spPr>
          <a:xfrm xmlns:a="http://schemas.openxmlformats.org/drawingml/2006/main">
            <a:off x="704850" y="3086100"/>
            <a:ext cx="512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PHẠM VI AN TOÀN</a:t>
            </a:r>
          </a:p>
        </p:txBody>
      </p:sp>
      <p:sp>
        <p:nvSpPr>
          <p:cNvPr id="21" name="S8_SCOPE_BODY">
            <a:extLst xmlns:a="http://schemas.openxmlformats.org/drawingml/2006/main">
              <a:ext uri="{FF2B5EF4-FFF2-40B4-BE49-F238E27FC236}">
                <a16:creationId xmlns:a16="http://schemas.microsoft.com/office/drawing/2014/main" id="{55ACFA3B-67D3-440B-ACAD-888F72D76590}"/>
              </a:ext>
            </a:extLst>
          </p:cNvPr>
          <p:cNvSpPr>
            <a:spLocks xmlns:a="http://schemas.openxmlformats.org/drawingml/2006/main" noGrp="1"/>
          </p:cNvSpPr>
          <p:nvPr/>
        </p:nvSpPr>
        <p:spPr>
          <a:xfrm xmlns:a="http://schemas.openxmlformats.org/drawingml/2006/main">
            <a:off x="704850" y="3390900"/>
            <a:ext cx="51244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Chỉ input local để quan sát response, ASan/GDB hoặc crash có kiểm soát. Không shellcode, ROP, chiếm quyền hay persistence.</a:t>
            </a:r>
          </a:p>
        </p:txBody>
      </p:sp>
      <p:sp>
        <p:nvSpPr>
          <p:cNvPr id="22" name="S8_THESIS_BAR">
            <a:extLst xmlns:a="http://schemas.openxmlformats.org/drawingml/2006/main">
              <a:ext uri="{FF2B5EF4-FFF2-40B4-BE49-F238E27FC236}">
                <a16:creationId xmlns:a16="http://schemas.microsoft.com/office/drawing/2014/main" id="{A2F4AA82-229B-482F-86E3-BF3B4A4F6F53}"/>
              </a:ext>
            </a:extLst>
          </p:cNvPr>
          <p:cNvSpPr>
            <a:spLocks xmlns:a="http://schemas.openxmlformats.org/drawingml/2006/main" noGrp="1"/>
          </p:cNvSpPr>
          <p:nvPr/>
        </p:nvSpPr>
        <p:spPr>
          <a:xfrm xmlns:a="http://schemas.openxmlformats.org/drawingml/2006/main">
            <a:off x="6076950" y="3067050"/>
            <a:ext cx="76200" cy="0"/>
          </a:xfrm>
          <a:prstGeom xmlns:a="http://schemas.openxmlformats.org/drawingml/2006/main" prst="rect">
            <a:avLst/>
          </a:prstGeom>
          <a:ln xmlns:a="http://schemas.openxmlformats.org/drawingml/2006/main" w="0">
            <a:noFill/>
            <a:prstDash val="solid"/>
          </a:ln>
        </p:spPr>
      </p:sp>
      <p:sp>
        <p:nvSpPr>
          <p:cNvPr id="23" name="S8_THESIS_LABEL">
            <a:extLst xmlns:a="http://schemas.openxmlformats.org/drawingml/2006/main">
              <a:ext uri="{FF2B5EF4-FFF2-40B4-BE49-F238E27FC236}">
                <a16:creationId xmlns:a16="http://schemas.microsoft.com/office/drawing/2014/main" id="{9082E874-5BC2-4CB6-887C-11C9B97405CE}"/>
              </a:ext>
            </a:extLst>
          </p:cNvPr>
          <p:cNvSpPr>
            <a:spLocks xmlns:a="http://schemas.openxmlformats.org/drawingml/2006/main" noGrp="1"/>
          </p:cNvSpPr>
          <p:nvPr/>
        </p:nvSpPr>
        <p:spPr>
          <a:xfrm xmlns:a="http://schemas.openxmlformats.org/drawingml/2006/main">
            <a:off x="6248400" y="3086100"/>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D96C5F"/>
                </a:solidFill>
                <a:latin typeface="Consolas"/>
                <a:ea typeface="Consolas"/>
                <a:cs typeface="Consolas"/>
              </a:defRPr>
            </a:pPr>
            <a:r>
              <a:rPr sz="1425" b="1">
                <a:solidFill>
                  <a:srgbClr val="D96C5F"/>
                </a:solidFill>
                <a:latin typeface="Consolas"/>
                <a:ea typeface="Consolas"/>
                <a:cs typeface="Consolas"/>
              </a:rPr>
              <a:t>ĐIỂM GÃY</a:t>
            </a:r>
          </a:p>
        </p:txBody>
      </p:sp>
      <p:sp>
        <p:nvSpPr>
          <p:cNvPr id="24" name="S8_THESIS_BODY">
            <a:extLst xmlns:a="http://schemas.openxmlformats.org/drawingml/2006/main">
              <a:ext uri="{FF2B5EF4-FFF2-40B4-BE49-F238E27FC236}">
                <a16:creationId xmlns:a16="http://schemas.microsoft.com/office/drawing/2014/main" id="{AE86A702-3F54-4237-A85C-E281E9E3345D}"/>
              </a:ext>
            </a:extLst>
          </p:cNvPr>
          <p:cNvSpPr>
            <a:spLocks xmlns:a="http://schemas.openxmlformats.org/drawingml/2006/main" noGrp="1"/>
          </p:cNvSpPr>
          <p:nvPr/>
        </p:nvSpPr>
        <p:spPr>
          <a:xfrm xmlns:a="http://schemas.openxmlformats.org/drawingml/2006/main">
            <a:off x="6248400" y="3390900"/>
            <a:ext cx="53911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Firewall thấy HTTP hợp lệ. Native code lại dùng API copy không biết kích thước đích; memory corruption xuất hiện sau boundary ứng dụng.</a:t>
            </a:r>
          </a:p>
        </p:txBody>
      </p:sp>
      <p:sp>
        <p:nvSpPr>
          <p:cNvPr id="25" name="S8_RESULT_ARROW_1">
            <a:extLst xmlns:a="http://schemas.openxmlformats.org/drawingml/2006/main">
              <a:ext uri="{FF2B5EF4-FFF2-40B4-BE49-F238E27FC236}">
                <a16:creationId xmlns:a16="http://schemas.microsoft.com/office/drawing/2014/main" id="{DD68E8C3-72B3-43D7-951E-B3569B6E06AE}"/>
              </a:ext>
            </a:extLst>
          </p:cNvPr>
          <p:cNvSpPr>
            <a:spLocks xmlns:a="http://schemas.openxmlformats.org/drawingml/2006/main" noGrp="1"/>
          </p:cNvSpPr>
          <p:nvPr/>
        </p:nvSpPr>
        <p:spPr>
          <a:xfrm xmlns:a="http://schemas.openxmlformats.org/drawingml/2006/main">
            <a:off x="3690938" y="541972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6" name="S8_RESULT_ARROW_2">
            <a:extLst xmlns:a="http://schemas.openxmlformats.org/drawingml/2006/main">
              <a:ext uri="{FF2B5EF4-FFF2-40B4-BE49-F238E27FC236}">
                <a16:creationId xmlns:a16="http://schemas.microsoft.com/office/drawing/2014/main" id="{A04B856C-EB3F-4291-B3D9-D25DC91DC66F}"/>
              </a:ext>
            </a:extLst>
          </p:cNvPr>
          <p:cNvSpPr>
            <a:spLocks xmlns:a="http://schemas.openxmlformats.org/drawingml/2006/main" noGrp="1"/>
          </p:cNvSpPr>
          <p:nvPr/>
        </p:nvSpPr>
        <p:spPr>
          <a:xfrm xmlns:a="http://schemas.openxmlformats.org/drawingml/2006/main">
            <a:off x="6029325" y="541972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7" name="S8_RESULT_ARROW_3">
            <a:extLst xmlns:a="http://schemas.openxmlformats.org/drawingml/2006/main">
              <a:ext uri="{FF2B5EF4-FFF2-40B4-BE49-F238E27FC236}">
                <a16:creationId xmlns:a16="http://schemas.microsoft.com/office/drawing/2014/main" id="{BF48BB85-6538-431A-92A0-1A9FAB8EB3FF}"/>
              </a:ext>
            </a:extLst>
          </p:cNvPr>
          <p:cNvSpPr>
            <a:spLocks xmlns:a="http://schemas.openxmlformats.org/drawingml/2006/main" noGrp="1"/>
          </p:cNvSpPr>
          <p:nvPr/>
        </p:nvSpPr>
        <p:spPr>
          <a:xfrm xmlns:a="http://schemas.openxmlformats.org/drawingml/2006/main">
            <a:off x="8367713" y="541972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8" name="S8_RESULT_NODE_1">
            <a:extLst xmlns:a="http://schemas.openxmlformats.org/drawingml/2006/main">
              <a:ext uri="{FF2B5EF4-FFF2-40B4-BE49-F238E27FC236}">
                <a16:creationId xmlns:a16="http://schemas.microsoft.com/office/drawing/2014/main" id="{913AF158-D3F4-4677-AA38-5F50625841A0}"/>
              </a:ext>
            </a:extLst>
          </p:cNvPr>
          <p:cNvSpPr>
            <a:spLocks xmlns:a="http://schemas.openxmlformats.org/drawingml/2006/main" noGrp="1"/>
          </p:cNvSpPr>
          <p:nvPr/>
        </p:nvSpPr>
        <p:spPr>
          <a:xfrm xmlns:a="http://schemas.openxmlformats.org/drawingml/2006/main">
            <a:off x="1619250"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input bytes</a:t>
            </a:r>
          </a:p>
        </p:txBody>
      </p:sp>
      <p:sp>
        <p:nvSpPr>
          <p:cNvPr id="29" name="S8_RESULT_NODE_2">
            <a:extLst xmlns:a="http://schemas.openxmlformats.org/drawingml/2006/main">
              <a:ext uri="{FF2B5EF4-FFF2-40B4-BE49-F238E27FC236}">
                <a16:creationId xmlns:a16="http://schemas.microsoft.com/office/drawing/2014/main" id="{F32FE87A-C319-4D9A-8344-38D07E7212B4}"/>
              </a:ext>
            </a:extLst>
          </p:cNvPr>
          <p:cNvSpPr>
            <a:spLocks xmlns:a="http://schemas.openxmlformats.org/drawingml/2006/main" noGrp="1"/>
          </p:cNvSpPr>
          <p:nvPr/>
        </p:nvSpPr>
        <p:spPr>
          <a:xfrm xmlns:a="http://schemas.openxmlformats.org/drawingml/2006/main">
            <a:off x="3957638"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unsafe copy</a:t>
            </a:r>
          </a:p>
        </p:txBody>
      </p:sp>
      <p:sp>
        <p:nvSpPr>
          <p:cNvPr id="30" name="S8_RESULT_NODE_3">
            <a:extLst xmlns:a="http://schemas.openxmlformats.org/drawingml/2006/main">
              <a:ext uri="{FF2B5EF4-FFF2-40B4-BE49-F238E27FC236}">
                <a16:creationId xmlns:a16="http://schemas.microsoft.com/office/drawing/2014/main" id="{5507FE4B-6114-45D7-8CAC-E888E963F91B}"/>
              </a:ext>
            </a:extLst>
          </p:cNvPr>
          <p:cNvSpPr>
            <a:spLocks xmlns:a="http://schemas.openxmlformats.org/drawingml/2006/main" noGrp="1"/>
          </p:cNvSpPr>
          <p:nvPr/>
        </p:nvSpPr>
        <p:spPr>
          <a:xfrm xmlns:a="http://schemas.openxmlformats.org/drawingml/2006/main">
            <a:off x="6296025"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adjacent memory</a:t>
            </a:r>
          </a:p>
        </p:txBody>
      </p:sp>
      <p:sp>
        <p:nvSpPr>
          <p:cNvPr id="31" name="S8_RESULT_NODE_4">
            <a:extLst xmlns:a="http://schemas.openxmlformats.org/drawingml/2006/main">
              <a:ext uri="{FF2B5EF4-FFF2-40B4-BE49-F238E27FC236}">
                <a16:creationId xmlns:a16="http://schemas.microsoft.com/office/drawing/2014/main" id="{BE7A3250-2B01-4582-B13D-B84E2EAD4658}"/>
              </a:ext>
            </a:extLst>
          </p:cNvPr>
          <p:cNvSpPr>
            <a:spLocks xmlns:a="http://schemas.openxmlformats.org/drawingml/2006/main" noGrp="1"/>
          </p:cNvSpPr>
          <p:nvPr/>
        </p:nvSpPr>
        <p:spPr>
          <a:xfrm xmlns:a="http://schemas.openxmlformats.org/drawingml/2006/main">
            <a:off x="8634413"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crash / UB</a:t>
            </a:r>
          </a:p>
        </p:txBody>
      </p:sp>
    </p:spTree>
    <p:extLst>
      <p:ext uri="{BB962C8B-B14F-4D97-AF65-F5344CB8AC3E}">
        <p14:creationId xmlns:p14="http://schemas.microsoft.com/office/powerpoint/2010/main" val="359827117"/>
      </p:ext>
    </p:extLst>
  </p:cSld>
</p:sld>
</file>

<file path=ppt/slides/slide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1" name="S9_EYEBROW">
            <a:extLst xmlns:a="http://schemas.openxmlformats.org/drawingml/2006/main">
              <a:ext uri="{FF2B5EF4-FFF2-40B4-BE49-F238E27FC236}">
                <a16:creationId xmlns:a16="http://schemas.microsoft.com/office/drawing/2014/main" id="{214E564C-167E-48F3-AFC7-8B1E0B15CB60}"/>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9_TITLE">
            <a:extLst xmlns:a="http://schemas.openxmlformats.org/drawingml/2006/main">
              <a:ext uri="{FF2B5EF4-FFF2-40B4-BE49-F238E27FC236}">
                <a16:creationId xmlns:a16="http://schemas.microsoft.com/office/drawing/2014/main" id="{7A209312-C459-4A61-AA3D-5DFDFDCE730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32 byte nghĩa là 31 byte dữ liệu + null</a:t>
            </a:r>
          </a:p>
        </p:txBody>
      </p:sp>
      <p:sp>
        <p:nvSpPr>
          <p:cNvPr id="3" name="S9_SUBTITLE">
            <a:extLst xmlns:a="http://schemas.openxmlformats.org/drawingml/2006/main">
              <a:ext uri="{FF2B5EF4-FFF2-40B4-BE49-F238E27FC236}">
                <a16:creationId xmlns:a16="http://schemas.microsoft.com/office/drawing/2014/main" id="{93610207-9291-4217-95B1-0EBD445F954A}"/>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strcpy không nhận capacity; byte thứ 33 bắt đầu chạm vùng lân cận.</a:t>
            </a:r>
          </a:p>
        </p:txBody>
      </p:sp>
      <p:sp>
        <p:nvSpPr>
          <p:cNvPr id="4" name="S9_TITLE_RULE">
            <a:extLst xmlns:a="http://schemas.openxmlformats.org/drawingml/2006/main">
              <a:ext uri="{FF2B5EF4-FFF2-40B4-BE49-F238E27FC236}">
                <a16:creationId xmlns:a16="http://schemas.microsoft.com/office/drawing/2014/main" id="{D3C72F14-A2A3-484C-991D-5FDCBD8B60B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9_FOOTER_RULE">
            <a:extLst xmlns:a="http://schemas.openxmlformats.org/drawingml/2006/main">
              <a:ext uri="{FF2B5EF4-FFF2-40B4-BE49-F238E27FC236}">
                <a16:creationId xmlns:a16="http://schemas.microsoft.com/office/drawing/2014/main" id="{615A31D7-5173-4F6E-9E12-75540B0E035D}"/>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9_SOURCE">
            <a:extLst xmlns:a="http://schemas.openxmlformats.org/drawingml/2006/main">
              <a:ext uri="{FF2B5EF4-FFF2-40B4-BE49-F238E27FC236}">
                <a16:creationId xmlns:a16="http://schemas.microsoft.com/office/drawing/2014/main" id="{FF565C06-13D7-4EFE-AB3D-F200BB84C90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Lab02/native/vulnerable_processor.c · processor_common.h</a:t>
            </a:r>
          </a:p>
        </p:txBody>
      </p:sp>
      <p:sp>
        <p:nvSpPr>
          <p:cNvPr id="7" name="S9_NUMBER">
            <a:extLst xmlns:a="http://schemas.openxmlformats.org/drawingml/2006/main">
              <a:ext uri="{FF2B5EF4-FFF2-40B4-BE49-F238E27FC236}">
                <a16:creationId xmlns:a16="http://schemas.microsoft.com/office/drawing/2014/main" id="{3ECB45AE-63A0-4601-842C-E6FE1554FF10}"/>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09</a:t>
            </a:r>
          </a:p>
        </p:txBody>
      </p:sp>
      <p:sp>
        <p:nvSpPr>
          <p:cNvPr id="8" name="S9_CODE">
            <a:extLst xmlns:a="http://schemas.openxmlformats.org/drawingml/2006/main">
              <a:ext uri="{FF2B5EF4-FFF2-40B4-BE49-F238E27FC236}">
                <a16:creationId xmlns:a16="http://schemas.microsoft.com/office/drawing/2014/main" id="{0445951B-443F-4AFE-90AB-B292E9C17053}"/>
              </a:ext>
            </a:extLst>
          </p:cNvPr>
          <p:cNvSpPr>
            <a:spLocks xmlns:a="http://schemas.openxmlformats.org/drawingml/2006/main" noGrp="1"/>
          </p:cNvSpPr>
          <p:nvPr/>
        </p:nvSpPr>
        <p:spPr>
          <a:xfrm xmlns:a="http://schemas.openxmlformats.org/drawingml/2006/main">
            <a:off x="533400" y="1752600"/>
            <a:ext cx="447675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char name[32];</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strcpy(name, user_input);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Không có capacity trong lời gọi</a:t>
            </a:r>
          </a:p>
        </p:txBody>
      </p:sp>
      <p:sp>
        <p:nvSpPr>
          <p:cNvPr id="9" name="S9_STACK_H0">
            <a:extLst xmlns:a="http://schemas.openxmlformats.org/drawingml/2006/main">
              <a:ext uri="{FF2B5EF4-FFF2-40B4-BE49-F238E27FC236}">
                <a16:creationId xmlns:a16="http://schemas.microsoft.com/office/drawing/2014/main" id="{C72D5FBF-764F-4BD9-B792-EBFAAA581E55}"/>
              </a:ext>
            </a:extLst>
          </p:cNvPr>
          <p:cNvSpPr>
            <a:spLocks xmlns:a="http://schemas.openxmlformats.org/drawingml/2006/main" noGrp="1"/>
          </p:cNvSpPr>
          <p:nvPr/>
        </p:nvSpPr>
        <p:spPr>
          <a:xfrm xmlns:a="http://schemas.openxmlformats.org/drawingml/2006/main">
            <a:off x="5314950" y="1752600"/>
            <a:ext cx="23812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VÙNG STACK</a:t>
            </a:r>
          </a:p>
        </p:txBody>
      </p:sp>
      <p:sp>
        <p:nvSpPr>
          <p:cNvPr id="10" name="S9_STACK_H1">
            <a:extLst xmlns:a="http://schemas.openxmlformats.org/drawingml/2006/main">
              <a:ext uri="{FF2B5EF4-FFF2-40B4-BE49-F238E27FC236}">
                <a16:creationId xmlns:a16="http://schemas.microsoft.com/office/drawing/2014/main" id="{C49E8E39-1187-4208-8035-10BCCA062C20}"/>
              </a:ext>
            </a:extLst>
          </p:cNvPr>
          <p:cNvSpPr>
            <a:spLocks xmlns:a="http://schemas.openxmlformats.org/drawingml/2006/main" noGrp="1"/>
          </p:cNvSpPr>
          <p:nvPr/>
        </p:nvSpPr>
        <p:spPr>
          <a:xfrm xmlns:a="http://schemas.openxmlformats.org/drawingml/2006/main">
            <a:off x="7696200" y="1752600"/>
            <a:ext cx="18097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INPUT ≤31</a:t>
            </a:r>
          </a:p>
        </p:txBody>
      </p:sp>
      <p:sp>
        <p:nvSpPr>
          <p:cNvPr id="11" name="S9_STACK_H2">
            <a:extLst xmlns:a="http://schemas.openxmlformats.org/drawingml/2006/main">
              <a:ext uri="{FF2B5EF4-FFF2-40B4-BE49-F238E27FC236}">
                <a16:creationId xmlns:a16="http://schemas.microsoft.com/office/drawing/2014/main" id="{801D8EC4-182C-4972-94A9-94BEC69669CC}"/>
              </a:ext>
            </a:extLst>
          </p:cNvPr>
          <p:cNvSpPr>
            <a:spLocks xmlns:a="http://schemas.openxmlformats.org/drawingml/2006/main" noGrp="1"/>
          </p:cNvSpPr>
          <p:nvPr/>
        </p:nvSpPr>
        <p:spPr>
          <a:xfrm xmlns:a="http://schemas.openxmlformats.org/drawingml/2006/main">
            <a:off x="9505950" y="1752600"/>
            <a:ext cx="21526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INPUT 64</a:t>
            </a:r>
          </a:p>
        </p:txBody>
      </p:sp>
      <p:sp>
        <p:nvSpPr>
          <p:cNvPr id="12" name="S9_STACK_R0C0">
            <a:extLst xmlns:a="http://schemas.openxmlformats.org/drawingml/2006/main">
              <a:ext uri="{FF2B5EF4-FFF2-40B4-BE49-F238E27FC236}">
                <a16:creationId xmlns:a16="http://schemas.microsoft.com/office/drawing/2014/main" id="{A3434EE1-B835-4F51-A347-C9858B236022}"/>
              </a:ext>
            </a:extLst>
          </p:cNvPr>
          <p:cNvSpPr>
            <a:spLocks xmlns:a="http://schemas.openxmlformats.org/drawingml/2006/main" noGrp="1"/>
          </p:cNvSpPr>
          <p:nvPr/>
        </p:nvSpPr>
        <p:spPr>
          <a:xfrm xmlns:a="http://schemas.openxmlformats.org/drawingml/2006/main">
            <a:off x="5314950" y="2319338"/>
            <a:ext cx="23812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name[32]</a:t>
            </a:r>
          </a:p>
        </p:txBody>
      </p:sp>
      <p:sp>
        <p:nvSpPr>
          <p:cNvPr id="13" name="S9_STACK_R0C1">
            <a:extLst xmlns:a="http://schemas.openxmlformats.org/drawingml/2006/main">
              <a:ext uri="{FF2B5EF4-FFF2-40B4-BE49-F238E27FC236}">
                <a16:creationId xmlns:a16="http://schemas.microsoft.com/office/drawing/2014/main" id="{EC8BDA8B-5F8A-476E-BFFA-861497E7A80B}"/>
              </a:ext>
            </a:extLst>
          </p:cNvPr>
          <p:cNvSpPr>
            <a:spLocks xmlns:a="http://schemas.openxmlformats.org/drawingml/2006/main" noGrp="1"/>
          </p:cNvSpPr>
          <p:nvPr/>
        </p:nvSpPr>
        <p:spPr>
          <a:xfrm xmlns:a="http://schemas.openxmlformats.org/drawingml/2006/main">
            <a:off x="7696200" y="2319338"/>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data + \0</a:t>
            </a:r>
          </a:p>
        </p:txBody>
      </p:sp>
      <p:sp>
        <p:nvSpPr>
          <p:cNvPr id="14" name="S9_STACK_R0C2">
            <a:extLst xmlns:a="http://schemas.openxmlformats.org/drawingml/2006/main">
              <a:ext uri="{FF2B5EF4-FFF2-40B4-BE49-F238E27FC236}">
                <a16:creationId xmlns:a16="http://schemas.microsoft.com/office/drawing/2014/main" id="{D7A00419-BE7D-4BFA-BF45-075ECABEE095}"/>
              </a:ext>
            </a:extLst>
          </p:cNvPr>
          <p:cNvSpPr>
            <a:spLocks xmlns:a="http://schemas.openxmlformats.org/drawingml/2006/main" noGrp="1"/>
          </p:cNvSpPr>
          <p:nvPr/>
        </p:nvSpPr>
        <p:spPr>
          <a:xfrm xmlns:a="http://schemas.openxmlformats.org/drawingml/2006/main">
            <a:off x="9505950" y="2319338"/>
            <a:ext cx="21526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đầy + vượt</a:t>
            </a:r>
          </a:p>
        </p:txBody>
      </p:sp>
      <p:sp>
        <p:nvSpPr>
          <p:cNvPr id="15" name="S9_STACK_R1C0">
            <a:extLst xmlns:a="http://schemas.openxmlformats.org/drawingml/2006/main">
              <a:ext uri="{FF2B5EF4-FFF2-40B4-BE49-F238E27FC236}">
                <a16:creationId xmlns:a16="http://schemas.microsoft.com/office/drawing/2014/main" id="{253D95EE-C258-4CE6-BB9D-ED2C41D9A9C9}"/>
              </a:ext>
            </a:extLst>
          </p:cNvPr>
          <p:cNvSpPr>
            <a:spLocks xmlns:a="http://schemas.openxmlformats.org/drawingml/2006/main" noGrp="1"/>
          </p:cNvSpPr>
          <p:nvPr/>
        </p:nvSpPr>
        <p:spPr>
          <a:xfrm xmlns:a="http://schemas.openxmlformats.org/drawingml/2006/main">
            <a:off x="5314950" y="2886075"/>
            <a:ext cx="23812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canary / padding</a:t>
            </a:r>
          </a:p>
        </p:txBody>
      </p:sp>
      <p:sp>
        <p:nvSpPr>
          <p:cNvPr id="16" name="S9_STACK_R1C1">
            <a:extLst xmlns:a="http://schemas.openxmlformats.org/drawingml/2006/main">
              <a:ext uri="{FF2B5EF4-FFF2-40B4-BE49-F238E27FC236}">
                <a16:creationId xmlns:a16="http://schemas.microsoft.com/office/drawing/2014/main" id="{5F9C6F84-301D-4218-92C6-A7E162C2957E}"/>
              </a:ext>
            </a:extLst>
          </p:cNvPr>
          <p:cNvSpPr>
            <a:spLocks xmlns:a="http://schemas.openxmlformats.org/drawingml/2006/main" noGrp="1"/>
          </p:cNvSpPr>
          <p:nvPr/>
        </p:nvSpPr>
        <p:spPr>
          <a:xfrm xmlns:a="http://schemas.openxmlformats.org/drawingml/2006/main">
            <a:off x="7696200" y="2886075"/>
            <a:ext cx="18097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đổi</a:t>
            </a:r>
          </a:p>
        </p:txBody>
      </p:sp>
      <p:sp>
        <p:nvSpPr>
          <p:cNvPr id="17" name="S9_STACK_R1C2">
            <a:extLst xmlns:a="http://schemas.openxmlformats.org/drawingml/2006/main">
              <a:ext uri="{FF2B5EF4-FFF2-40B4-BE49-F238E27FC236}">
                <a16:creationId xmlns:a16="http://schemas.microsoft.com/office/drawing/2014/main" id="{9BE50736-EC9A-4206-B10E-29DB19F41654}"/>
              </a:ext>
            </a:extLst>
          </p:cNvPr>
          <p:cNvSpPr>
            <a:spLocks xmlns:a="http://schemas.openxmlformats.org/drawingml/2006/main" noGrp="1"/>
          </p:cNvSpPr>
          <p:nvPr/>
        </p:nvSpPr>
        <p:spPr>
          <a:xfrm xmlns:a="http://schemas.openxmlformats.org/drawingml/2006/main">
            <a:off x="9505950" y="2886075"/>
            <a:ext cx="21526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 thể bị ghi</a:t>
            </a:r>
          </a:p>
        </p:txBody>
      </p:sp>
      <p:sp>
        <p:nvSpPr>
          <p:cNvPr id="18" name="S9_STACK_R2C0">
            <a:extLst xmlns:a="http://schemas.openxmlformats.org/drawingml/2006/main">
              <a:ext uri="{FF2B5EF4-FFF2-40B4-BE49-F238E27FC236}">
                <a16:creationId xmlns:a16="http://schemas.microsoft.com/office/drawing/2014/main" id="{A7B2092F-07BE-4A6B-9777-702E22BFE8AF}"/>
              </a:ext>
            </a:extLst>
          </p:cNvPr>
          <p:cNvSpPr>
            <a:spLocks xmlns:a="http://schemas.openxmlformats.org/drawingml/2006/main" noGrp="1"/>
          </p:cNvSpPr>
          <p:nvPr/>
        </p:nvSpPr>
        <p:spPr>
          <a:xfrm xmlns:a="http://schemas.openxmlformats.org/drawingml/2006/main">
            <a:off x="5314950" y="3452813"/>
            <a:ext cx="23812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frame / return</a:t>
            </a:r>
          </a:p>
        </p:txBody>
      </p:sp>
      <p:sp>
        <p:nvSpPr>
          <p:cNvPr id="19" name="S9_STACK_R2C1">
            <a:extLst xmlns:a="http://schemas.openxmlformats.org/drawingml/2006/main">
              <a:ext uri="{FF2B5EF4-FFF2-40B4-BE49-F238E27FC236}">
                <a16:creationId xmlns:a16="http://schemas.microsoft.com/office/drawing/2014/main" id="{B6C9A651-2F0B-47CE-B256-56B9B8C13091}"/>
              </a:ext>
            </a:extLst>
          </p:cNvPr>
          <p:cNvSpPr>
            <a:spLocks xmlns:a="http://schemas.openxmlformats.org/drawingml/2006/main" noGrp="1"/>
          </p:cNvSpPr>
          <p:nvPr/>
        </p:nvSpPr>
        <p:spPr>
          <a:xfrm xmlns:a="http://schemas.openxmlformats.org/drawingml/2006/main">
            <a:off x="7696200" y="3452813"/>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đổi</a:t>
            </a:r>
          </a:p>
        </p:txBody>
      </p:sp>
      <p:sp>
        <p:nvSpPr>
          <p:cNvPr id="20" name="S9_STACK_R2C2">
            <a:extLst xmlns:a="http://schemas.openxmlformats.org/drawingml/2006/main">
              <a:ext uri="{FF2B5EF4-FFF2-40B4-BE49-F238E27FC236}">
                <a16:creationId xmlns:a16="http://schemas.microsoft.com/office/drawing/2014/main" id="{85DD2704-2D8E-47AC-94C7-55CE658147A6}"/>
              </a:ext>
            </a:extLst>
          </p:cNvPr>
          <p:cNvSpPr>
            <a:spLocks xmlns:a="http://schemas.openxmlformats.org/drawingml/2006/main" noGrp="1"/>
          </p:cNvSpPr>
          <p:nvPr/>
        </p:nvSpPr>
        <p:spPr>
          <a:xfrm xmlns:a="http://schemas.openxmlformats.org/drawingml/2006/main">
            <a:off x="9505950" y="3452813"/>
            <a:ext cx="21526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corruption / UB</a:t>
            </a:r>
          </a:p>
        </p:txBody>
      </p:sp>
      <p:sp>
        <p:nvSpPr>
          <p:cNvPr id="21" name="S9_BYTES_ARROW_1">
            <a:extLst xmlns:a="http://schemas.openxmlformats.org/drawingml/2006/main">
              <a:ext uri="{FF2B5EF4-FFF2-40B4-BE49-F238E27FC236}">
                <a16:creationId xmlns:a16="http://schemas.microsoft.com/office/drawing/2014/main" id="{1BD8CDDB-B9B8-456A-AE24-F8278E7A331F}"/>
              </a:ext>
            </a:extLst>
          </p:cNvPr>
          <p:cNvSpPr>
            <a:spLocks xmlns:a="http://schemas.openxmlformats.org/drawingml/2006/main" noGrp="1"/>
          </p:cNvSpPr>
          <p:nvPr/>
        </p:nvSpPr>
        <p:spPr>
          <a:xfrm xmlns:a="http://schemas.openxmlformats.org/drawingml/2006/main">
            <a:off x="3148013" y="48291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2" name="S9_BYTES_ARROW_2">
            <a:extLst xmlns:a="http://schemas.openxmlformats.org/drawingml/2006/main">
              <a:ext uri="{FF2B5EF4-FFF2-40B4-BE49-F238E27FC236}">
                <a16:creationId xmlns:a16="http://schemas.microsoft.com/office/drawing/2014/main" id="{E4CB3417-08D3-4B8A-BF42-B45EBF991747}"/>
              </a:ext>
            </a:extLst>
          </p:cNvPr>
          <p:cNvSpPr>
            <a:spLocks xmlns:a="http://schemas.openxmlformats.org/drawingml/2006/main" noGrp="1"/>
          </p:cNvSpPr>
          <p:nvPr/>
        </p:nvSpPr>
        <p:spPr>
          <a:xfrm xmlns:a="http://schemas.openxmlformats.org/drawingml/2006/main">
            <a:off x="6029325" y="48291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3" name="S9_BYTES_ARROW_3">
            <a:extLst xmlns:a="http://schemas.openxmlformats.org/drawingml/2006/main">
              <a:ext uri="{FF2B5EF4-FFF2-40B4-BE49-F238E27FC236}">
                <a16:creationId xmlns:a16="http://schemas.microsoft.com/office/drawing/2014/main" id="{D790C149-0D9C-423B-A3EF-EEA2A2CBDEC7}"/>
              </a:ext>
            </a:extLst>
          </p:cNvPr>
          <p:cNvSpPr>
            <a:spLocks xmlns:a="http://schemas.openxmlformats.org/drawingml/2006/main" noGrp="1"/>
          </p:cNvSpPr>
          <p:nvPr/>
        </p:nvSpPr>
        <p:spPr>
          <a:xfrm xmlns:a="http://schemas.openxmlformats.org/drawingml/2006/main">
            <a:off x="8910638" y="48291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4" name="S9_BYTES_NODE_1">
            <a:extLst xmlns:a="http://schemas.openxmlformats.org/drawingml/2006/main">
              <a:ext uri="{FF2B5EF4-FFF2-40B4-BE49-F238E27FC236}">
                <a16:creationId xmlns:a16="http://schemas.microsoft.com/office/drawing/2014/main" id="{1CD7A211-BBCB-4D14-A576-C4752175C5A0}"/>
              </a:ext>
            </a:extLst>
          </p:cNvPr>
          <p:cNvSpPr>
            <a:spLocks xmlns:a="http://schemas.openxmlformats.org/drawingml/2006/main" noGrp="1"/>
          </p:cNvSpPr>
          <p:nvPr/>
        </p:nvSpPr>
        <p:spPr>
          <a:xfrm xmlns:a="http://schemas.openxmlformats.org/drawingml/2006/main">
            <a:off x="533400"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31 DATA</a:t>
            </a:r>
          </a:p>
        </p:txBody>
      </p:sp>
      <p:sp>
        <p:nvSpPr>
          <p:cNvPr id="25" name="S9_BYTES_NODE_2">
            <a:extLst xmlns:a="http://schemas.openxmlformats.org/drawingml/2006/main">
              <a:ext uri="{FF2B5EF4-FFF2-40B4-BE49-F238E27FC236}">
                <a16:creationId xmlns:a16="http://schemas.microsoft.com/office/drawing/2014/main" id="{2F2267D7-6D2A-4E9D-946D-C20C2096B3E9}"/>
              </a:ext>
            </a:extLst>
          </p:cNvPr>
          <p:cNvSpPr>
            <a:spLocks xmlns:a="http://schemas.openxmlformats.org/drawingml/2006/main" noGrp="1"/>
          </p:cNvSpPr>
          <p:nvPr/>
        </p:nvSpPr>
        <p:spPr>
          <a:xfrm xmlns:a="http://schemas.openxmlformats.org/drawingml/2006/main">
            <a:off x="3414713"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 NULL</a:t>
            </a:r>
          </a:p>
        </p:txBody>
      </p:sp>
      <p:sp>
        <p:nvSpPr>
          <p:cNvPr id="26" name="S9_BYTES_NODE_3">
            <a:extLst xmlns:a="http://schemas.openxmlformats.org/drawingml/2006/main">
              <a:ext uri="{FF2B5EF4-FFF2-40B4-BE49-F238E27FC236}">
                <a16:creationId xmlns:a16="http://schemas.microsoft.com/office/drawing/2014/main" id="{26E6D3A6-2AA9-47E6-8D99-41092099D0FC}"/>
              </a:ext>
            </a:extLst>
          </p:cNvPr>
          <p:cNvSpPr>
            <a:spLocks xmlns:a="http://schemas.openxmlformats.org/drawingml/2006/main" noGrp="1"/>
          </p:cNvSpPr>
          <p:nvPr/>
        </p:nvSpPr>
        <p:spPr>
          <a:xfrm xmlns:a="http://schemas.openxmlformats.org/drawingml/2006/main">
            <a:off x="6296025"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BYTE 33+</a:t>
            </a:r>
          </a:p>
        </p:txBody>
      </p:sp>
      <p:sp>
        <p:nvSpPr>
          <p:cNvPr id="27" name="S9_BYTES_NODE_4">
            <a:extLst xmlns:a="http://schemas.openxmlformats.org/drawingml/2006/main">
              <a:ext uri="{FF2B5EF4-FFF2-40B4-BE49-F238E27FC236}">
                <a16:creationId xmlns:a16="http://schemas.microsoft.com/office/drawing/2014/main" id="{FBBFFA17-615D-4E22-B3A9-79100DFDFF16}"/>
              </a:ext>
            </a:extLst>
          </p:cNvPr>
          <p:cNvSpPr>
            <a:spLocks xmlns:a="http://schemas.openxmlformats.org/drawingml/2006/main" noGrp="1"/>
          </p:cNvSpPr>
          <p:nvPr/>
        </p:nvSpPr>
        <p:spPr>
          <a:xfrm xmlns:a="http://schemas.openxmlformats.org/drawingml/2006/main">
            <a:off x="9177338"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ADJACENT MEMORY</a:t>
            </a:r>
          </a:p>
        </p:txBody>
      </p:sp>
      <p:sp>
        <p:nvSpPr>
          <p:cNvPr id="28" name="S9_DIFF_BAR">
            <a:extLst xmlns:a="http://schemas.openxmlformats.org/drawingml/2006/main">
              <a:ext uri="{FF2B5EF4-FFF2-40B4-BE49-F238E27FC236}">
                <a16:creationId xmlns:a16="http://schemas.microsoft.com/office/drawing/2014/main" id="{42D7C592-004A-4295-9833-7C51CC68090E}"/>
              </a:ext>
            </a:extLst>
          </p:cNvPr>
          <p:cNvSpPr>
            <a:spLocks xmlns:a="http://schemas.openxmlformats.org/drawingml/2006/main" noGrp="1"/>
          </p:cNvSpPr>
          <p:nvPr/>
        </p:nvSpPr>
        <p:spPr>
          <a:xfrm xmlns:a="http://schemas.openxmlformats.org/drawingml/2006/main">
            <a:off x="533400" y="5638800"/>
            <a:ext cx="76200" cy="0"/>
          </a:xfrm>
          <a:prstGeom xmlns:a="http://schemas.openxmlformats.org/drawingml/2006/main" prst="rect">
            <a:avLst/>
          </a:prstGeom>
          <a:ln xmlns:a="http://schemas.openxmlformats.org/drawingml/2006/main" w="0">
            <a:noFill/>
            <a:prstDash val="solid"/>
          </a:ln>
        </p:spPr>
      </p:sp>
      <p:sp>
        <p:nvSpPr>
          <p:cNvPr id="29" name="S9_DIFF_LABEL">
            <a:extLst xmlns:a="http://schemas.openxmlformats.org/drawingml/2006/main">
              <a:ext uri="{FF2B5EF4-FFF2-40B4-BE49-F238E27FC236}">
                <a16:creationId xmlns:a16="http://schemas.microsoft.com/office/drawing/2014/main" id="{F66E1AF4-6BCF-4D8B-B746-9569D8773157}"/>
              </a:ext>
            </a:extLst>
          </p:cNvPr>
          <p:cNvSpPr>
            <a:spLocks xmlns:a="http://schemas.openxmlformats.org/drawingml/2006/main" noGrp="1"/>
          </p:cNvSpPr>
          <p:nvPr/>
        </p:nvSpPr>
        <p:spPr>
          <a:xfrm xmlns:a="http://schemas.openxmlformats.org/drawingml/2006/main">
            <a:off x="704850" y="5638800"/>
            <a:ext cx="1638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KHÁC INJECTION</a:t>
            </a:r>
          </a:p>
        </p:txBody>
      </p:sp>
      <p:sp>
        <p:nvSpPr>
          <p:cNvPr id="30" name="S9_DIFF_BODY">
            <a:extLst xmlns:a="http://schemas.openxmlformats.org/drawingml/2006/main">
              <a:ext uri="{FF2B5EF4-FFF2-40B4-BE49-F238E27FC236}">
                <a16:creationId xmlns:a16="http://schemas.microsoft.com/office/drawing/2014/main" id="{9927C25A-4E36-417E-9ACE-8DB95D565FDC}"/>
              </a:ext>
            </a:extLst>
          </p:cNvPr>
          <p:cNvSpPr>
            <a:spLocks xmlns:a="http://schemas.openxmlformats.org/drawingml/2006/main" noGrp="1"/>
          </p:cNvSpPr>
          <p:nvPr/>
        </p:nvSpPr>
        <p:spPr>
          <a:xfrm xmlns:a="http://schemas.openxmlformats.org/drawingml/2006/main">
            <a:off x="2438400" y="5638800"/>
            <a:ext cx="9201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Injection đổi ý nghĩa lệnh/query; Buffer Overflow ghi vượt vùng nhớ. Cả hai đều bắt đầu từ trust boundary nhưng phá vỡ primitive khác nhau.</a:t>
            </a:r>
          </a:p>
        </p:txBody>
      </p:sp>
    </p:spTree>
    <p:extLst>
      <p:ext uri="{BB962C8B-B14F-4D97-AF65-F5344CB8AC3E}">
        <p14:creationId xmlns:p14="http://schemas.microsoft.com/office/powerpoint/2010/main" val="1554867847"/>
      </p:ext>
    </p:extLst>
  </p:cSld>
</p:sld>
</file>

<file path=ppt/slides/slide1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1" name="S10_EYEBROW">
            <a:extLst xmlns:a="http://schemas.openxmlformats.org/drawingml/2006/main">
              <a:ext uri="{FF2B5EF4-FFF2-40B4-BE49-F238E27FC236}">
                <a16:creationId xmlns:a16="http://schemas.microsoft.com/office/drawing/2014/main" id="{18AE189C-23F2-4985-8DAE-8104F097ADA0}"/>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10_TITLE">
            <a:extLst xmlns:a="http://schemas.openxmlformats.org/drawingml/2006/main">
              <a:ext uri="{FF2B5EF4-FFF2-40B4-BE49-F238E27FC236}">
                <a16:creationId xmlns:a16="http://schemas.microsoft.com/office/drawing/2014/main" id="{E65E7AF4-A783-4700-BDDB-931F3C60271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Quan sát: từ request tới từ chối trước copy</a:t>
            </a:r>
          </a:p>
        </p:txBody>
      </p:sp>
      <p:sp>
        <p:nvSpPr>
          <p:cNvPr id="3" name="S10_SUBTITLE">
            <a:extLst xmlns:a="http://schemas.openxmlformats.org/drawingml/2006/main">
              <a:ext uri="{FF2B5EF4-FFF2-40B4-BE49-F238E27FC236}">
                <a16:creationId xmlns:a16="http://schemas.microsoft.com/office/drawing/2014/main" id="{40DF1A4D-EF53-41C1-854E-00C879E5B9D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Ghi bằng chứng thật; không dựng crash log hoặc response giả.</a:t>
            </a:r>
          </a:p>
        </p:txBody>
      </p:sp>
      <p:sp>
        <p:nvSpPr>
          <p:cNvPr id="4" name="S10_TITLE_RULE">
            <a:extLst xmlns:a="http://schemas.openxmlformats.org/drawingml/2006/main">
              <a:ext uri="{FF2B5EF4-FFF2-40B4-BE49-F238E27FC236}">
                <a16:creationId xmlns:a16="http://schemas.microsoft.com/office/drawing/2014/main" id="{96ECB8A1-1D4E-41A1-9DBA-A2BE9A707229}"/>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0_FOOTER_RULE">
            <a:extLst xmlns:a="http://schemas.openxmlformats.org/drawingml/2006/main">
              <a:ext uri="{FF2B5EF4-FFF2-40B4-BE49-F238E27FC236}">
                <a16:creationId xmlns:a16="http://schemas.microsoft.com/office/drawing/2014/main" id="{742BE6E1-D72E-4E7F-B845-F1EE6437E138}"/>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0_SOURCE">
            <a:extLst xmlns:a="http://schemas.openxmlformats.org/drawingml/2006/main">
              <a:ext uri="{FF2B5EF4-FFF2-40B4-BE49-F238E27FC236}">
                <a16:creationId xmlns:a16="http://schemas.microsoft.com/office/drawing/2014/main" id="{1E2E118A-F15B-4C95-A0A5-1808C595235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Lab02/README.md · gdb/README_GDB.md · evidence logs</a:t>
            </a:r>
          </a:p>
        </p:txBody>
      </p:sp>
      <p:sp>
        <p:nvSpPr>
          <p:cNvPr id="7" name="S10_NUMBER">
            <a:extLst xmlns:a="http://schemas.openxmlformats.org/drawingml/2006/main">
              <a:ext uri="{FF2B5EF4-FFF2-40B4-BE49-F238E27FC236}">
                <a16:creationId xmlns:a16="http://schemas.microsoft.com/office/drawing/2014/main" id="{335ADE88-FB7C-4DE5-A044-38008E0749D7}"/>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10</a:t>
            </a:r>
          </a:p>
        </p:txBody>
      </p:sp>
      <p:sp>
        <p:nvSpPr>
          <p:cNvPr id="8" name="S10_STEPS_ARROW_1">
            <a:extLst xmlns:a="http://schemas.openxmlformats.org/drawingml/2006/main">
              <a:ext uri="{FF2B5EF4-FFF2-40B4-BE49-F238E27FC236}">
                <a16:creationId xmlns:a16="http://schemas.microsoft.com/office/drawing/2014/main" id="{440CBD1F-D7A3-426F-9A43-FC9DF8C7E3CC}"/>
              </a:ext>
            </a:extLst>
          </p:cNvPr>
          <p:cNvSpPr>
            <a:spLocks xmlns:a="http://schemas.openxmlformats.org/drawingml/2006/main" noGrp="1"/>
          </p:cNvSpPr>
          <p:nvPr/>
        </p:nvSpPr>
        <p:spPr>
          <a:xfrm xmlns:a="http://schemas.openxmlformats.org/drawingml/2006/main">
            <a:off x="1812131"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0_STEPS_ARROW_2">
            <a:extLst xmlns:a="http://schemas.openxmlformats.org/drawingml/2006/main">
              <a:ext uri="{FF2B5EF4-FFF2-40B4-BE49-F238E27FC236}">
                <a16:creationId xmlns:a16="http://schemas.microsoft.com/office/drawing/2014/main" id="{C4631783-D7DD-4892-A8C9-F8A11ABB3323}"/>
              </a:ext>
            </a:extLst>
          </p:cNvPr>
          <p:cNvSpPr>
            <a:spLocks xmlns:a="http://schemas.openxmlformats.org/drawingml/2006/main" noGrp="1"/>
          </p:cNvSpPr>
          <p:nvPr/>
        </p:nvSpPr>
        <p:spPr>
          <a:xfrm xmlns:a="http://schemas.openxmlformats.org/drawingml/2006/main">
            <a:off x="3224213"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0_STEPS_ARROW_3">
            <a:extLst xmlns:a="http://schemas.openxmlformats.org/drawingml/2006/main">
              <a:ext uri="{FF2B5EF4-FFF2-40B4-BE49-F238E27FC236}">
                <a16:creationId xmlns:a16="http://schemas.microsoft.com/office/drawing/2014/main" id="{8E9281BD-93A0-4650-A9D1-9DB0360F8FE1}"/>
              </a:ext>
            </a:extLst>
          </p:cNvPr>
          <p:cNvSpPr>
            <a:spLocks xmlns:a="http://schemas.openxmlformats.org/drawingml/2006/main" noGrp="1"/>
          </p:cNvSpPr>
          <p:nvPr/>
        </p:nvSpPr>
        <p:spPr>
          <a:xfrm xmlns:a="http://schemas.openxmlformats.org/drawingml/2006/main">
            <a:off x="4636294"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10_STEPS_ARROW_4">
            <a:extLst xmlns:a="http://schemas.openxmlformats.org/drawingml/2006/main">
              <a:ext uri="{FF2B5EF4-FFF2-40B4-BE49-F238E27FC236}">
                <a16:creationId xmlns:a16="http://schemas.microsoft.com/office/drawing/2014/main" id="{EE3B55BA-1EF7-4EEF-8541-BD5A46FE84B3}"/>
              </a:ext>
            </a:extLst>
          </p:cNvPr>
          <p:cNvSpPr>
            <a:spLocks xmlns:a="http://schemas.openxmlformats.org/drawingml/2006/main" noGrp="1"/>
          </p:cNvSpPr>
          <p:nvPr/>
        </p:nvSpPr>
        <p:spPr>
          <a:xfrm xmlns:a="http://schemas.openxmlformats.org/drawingml/2006/main">
            <a:off x="6048375"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10_STEPS_ARROW_5">
            <a:extLst xmlns:a="http://schemas.openxmlformats.org/drawingml/2006/main">
              <a:ext uri="{FF2B5EF4-FFF2-40B4-BE49-F238E27FC236}">
                <a16:creationId xmlns:a16="http://schemas.microsoft.com/office/drawing/2014/main" id="{B165A8EE-8971-4268-A594-22F13C96C310}"/>
              </a:ext>
            </a:extLst>
          </p:cNvPr>
          <p:cNvSpPr>
            <a:spLocks xmlns:a="http://schemas.openxmlformats.org/drawingml/2006/main" noGrp="1"/>
          </p:cNvSpPr>
          <p:nvPr/>
        </p:nvSpPr>
        <p:spPr>
          <a:xfrm xmlns:a="http://schemas.openxmlformats.org/drawingml/2006/main">
            <a:off x="7460456"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3" name="S10_STEPS_ARROW_6">
            <a:extLst xmlns:a="http://schemas.openxmlformats.org/drawingml/2006/main">
              <a:ext uri="{FF2B5EF4-FFF2-40B4-BE49-F238E27FC236}">
                <a16:creationId xmlns:a16="http://schemas.microsoft.com/office/drawing/2014/main" id="{5DD460DB-12E8-4B9B-8DB8-1F46C2881693}"/>
              </a:ext>
            </a:extLst>
          </p:cNvPr>
          <p:cNvSpPr>
            <a:spLocks xmlns:a="http://schemas.openxmlformats.org/drawingml/2006/main" noGrp="1"/>
          </p:cNvSpPr>
          <p:nvPr/>
        </p:nvSpPr>
        <p:spPr>
          <a:xfrm xmlns:a="http://schemas.openxmlformats.org/drawingml/2006/main">
            <a:off x="8872538"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4" name="S10_STEPS_ARROW_7">
            <a:extLst xmlns:a="http://schemas.openxmlformats.org/drawingml/2006/main">
              <a:ext uri="{FF2B5EF4-FFF2-40B4-BE49-F238E27FC236}">
                <a16:creationId xmlns:a16="http://schemas.microsoft.com/office/drawing/2014/main" id="{B349E9B0-09CD-468E-A71F-843EE2545EFA}"/>
              </a:ext>
            </a:extLst>
          </p:cNvPr>
          <p:cNvSpPr>
            <a:spLocks xmlns:a="http://schemas.openxmlformats.org/drawingml/2006/main" noGrp="1"/>
          </p:cNvSpPr>
          <p:nvPr/>
        </p:nvSpPr>
        <p:spPr>
          <a:xfrm xmlns:a="http://schemas.openxmlformats.org/drawingml/2006/main">
            <a:off x="10284619"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5" name="S10_STEPS_NODE_1">
            <a:extLst xmlns:a="http://schemas.openxmlformats.org/drawingml/2006/main">
              <a:ext uri="{FF2B5EF4-FFF2-40B4-BE49-F238E27FC236}">
                <a16:creationId xmlns:a16="http://schemas.microsoft.com/office/drawing/2014/main" id="{760F81B9-ABA4-4D36-BA53-6B08E135A8D9}"/>
              </a:ext>
            </a:extLst>
          </p:cNvPr>
          <p:cNvSpPr>
            <a:spLocks xmlns:a="http://schemas.openxmlformats.org/drawingml/2006/main" noGrp="1"/>
          </p:cNvSpPr>
          <p:nvPr/>
        </p:nvSpPr>
        <p:spPr>
          <a:xfrm xmlns:a="http://schemas.openxmlformats.org/drawingml/2006/main">
            <a:off x="533400"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 RUN</a:t>
            </a:r>
          </a:p>
        </p:txBody>
      </p:sp>
      <p:sp>
        <p:nvSpPr>
          <p:cNvPr id="16" name="S10_STEPS_NODE_2">
            <a:extLst xmlns:a="http://schemas.openxmlformats.org/drawingml/2006/main">
              <a:ext uri="{FF2B5EF4-FFF2-40B4-BE49-F238E27FC236}">
                <a16:creationId xmlns:a16="http://schemas.microsoft.com/office/drawing/2014/main" id="{5B0D1FDF-225A-4450-AF3D-3E6B1D3CC2F9}"/>
              </a:ext>
            </a:extLst>
          </p:cNvPr>
          <p:cNvSpPr>
            <a:spLocks xmlns:a="http://schemas.openxmlformats.org/drawingml/2006/main" noGrp="1"/>
          </p:cNvSpPr>
          <p:nvPr/>
        </p:nvSpPr>
        <p:spPr>
          <a:xfrm xmlns:a="http://schemas.openxmlformats.org/drawingml/2006/main">
            <a:off x="1945481"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2 INPUT</a:t>
            </a:r>
          </a:p>
        </p:txBody>
      </p:sp>
      <p:sp>
        <p:nvSpPr>
          <p:cNvPr id="17" name="S10_STEPS_NODE_3">
            <a:extLst xmlns:a="http://schemas.openxmlformats.org/drawingml/2006/main">
              <a:ext uri="{FF2B5EF4-FFF2-40B4-BE49-F238E27FC236}">
                <a16:creationId xmlns:a16="http://schemas.microsoft.com/office/drawing/2014/main" id="{3E61720C-C1A1-4298-A02A-C090F1BD67C2}"/>
              </a:ext>
            </a:extLst>
          </p:cNvPr>
          <p:cNvSpPr>
            <a:spLocks xmlns:a="http://schemas.openxmlformats.org/drawingml/2006/main" noGrp="1"/>
          </p:cNvSpPr>
          <p:nvPr/>
        </p:nvSpPr>
        <p:spPr>
          <a:xfrm xmlns:a="http://schemas.openxmlformats.org/drawingml/2006/main">
            <a:off x="3357563"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3 POST</a:t>
            </a:r>
          </a:p>
        </p:txBody>
      </p:sp>
      <p:sp>
        <p:nvSpPr>
          <p:cNvPr id="18" name="S10_STEPS_NODE_4">
            <a:extLst xmlns:a="http://schemas.openxmlformats.org/drawingml/2006/main">
              <a:ext uri="{FF2B5EF4-FFF2-40B4-BE49-F238E27FC236}">
                <a16:creationId xmlns:a16="http://schemas.microsoft.com/office/drawing/2014/main" id="{1E41A375-1FE2-457F-87FF-A532CD4903DC}"/>
              </a:ext>
            </a:extLst>
          </p:cNvPr>
          <p:cNvSpPr>
            <a:spLocks xmlns:a="http://schemas.openxmlformats.org/drawingml/2006/main" noGrp="1"/>
          </p:cNvSpPr>
          <p:nvPr/>
        </p:nvSpPr>
        <p:spPr>
          <a:xfrm xmlns:a="http://schemas.openxmlformats.org/drawingml/2006/main">
            <a:off x="4769644"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4 TRACE</a:t>
            </a:r>
          </a:p>
        </p:txBody>
      </p:sp>
      <p:sp>
        <p:nvSpPr>
          <p:cNvPr id="19" name="S10_STEPS_NODE_5">
            <a:extLst xmlns:a="http://schemas.openxmlformats.org/drawingml/2006/main">
              <a:ext uri="{FF2B5EF4-FFF2-40B4-BE49-F238E27FC236}">
                <a16:creationId xmlns:a16="http://schemas.microsoft.com/office/drawing/2014/main" id="{458643DC-186C-4DC7-A8BA-66DFD5194246}"/>
              </a:ext>
            </a:extLst>
          </p:cNvPr>
          <p:cNvSpPr>
            <a:spLocks xmlns:a="http://schemas.openxmlformats.org/drawingml/2006/main" noGrp="1"/>
          </p:cNvSpPr>
          <p:nvPr/>
        </p:nvSpPr>
        <p:spPr>
          <a:xfrm xmlns:a="http://schemas.openxmlformats.org/drawingml/2006/main">
            <a:off x="6181725"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5 ASan/GDB</a:t>
            </a:r>
          </a:p>
        </p:txBody>
      </p:sp>
      <p:sp>
        <p:nvSpPr>
          <p:cNvPr id="20" name="S10_STEPS_NODE_6">
            <a:extLst xmlns:a="http://schemas.openxmlformats.org/drawingml/2006/main">
              <a:ext uri="{FF2B5EF4-FFF2-40B4-BE49-F238E27FC236}">
                <a16:creationId xmlns:a16="http://schemas.microsoft.com/office/drawing/2014/main" id="{D5B1B7C2-188D-42DC-BA8B-4E471F5D6F4B}"/>
              </a:ext>
            </a:extLst>
          </p:cNvPr>
          <p:cNvSpPr>
            <a:spLocks xmlns:a="http://schemas.openxmlformats.org/drawingml/2006/main" noGrp="1"/>
          </p:cNvSpPr>
          <p:nvPr/>
        </p:nvSpPr>
        <p:spPr>
          <a:xfrm xmlns:a="http://schemas.openxmlformats.org/drawingml/2006/main">
            <a:off x="7593806"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6 PATCH</a:t>
            </a:r>
          </a:p>
        </p:txBody>
      </p:sp>
      <p:sp>
        <p:nvSpPr>
          <p:cNvPr id="21" name="S10_STEPS_NODE_7">
            <a:extLst xmlns:a="http://schemas.openxmlformats.org/drawingml/2006/main">
              <a:ext uri="{FF2B5EF4-FFF2-40B4-BE49-F238E27FC236}">
                <a16:creationId xmlns:a16="http://schemas.microsoft.com/office/drawing/2014/main" id="{EDF8C054-4F8C-4FFD-9256-E4DD1914C329}"/>
              </a:ext>
            </a:extLst>
          </p:cNvPr>
          <p:cNvSpPr>
            <a:spLocks xmlns:a="http://schemas.openxmlformats.org/drawingml/2006/main" noGrp="1"/>
          </p:cNvSpPr>
          <p:nvPr/>
        </p:nvSpPr>
        <p:spPr>
          <a:xfrm xmlns:a="http://schemas.openxmlformats.org/drawingml/2006/main">
            <a:off x="9005888"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7 RETEST</a:t>
            </a:r>
          </a:p>
        </p:txBody>
      </p:sp>
      <p:sp>
        <p:nvSpPr>
          <p:cNvPr id="22" name="S10_STEPS_NODE_8">
            <a:extLst xmlns:a="http://schemas.openxmlformats.org/drawingml/2006/main">
              <a:ext uri="{FF2B5EF4-FFF2-40B4-BE49-F238E27FC236}">
                <a16:creationId xmlns:a16="http://schemas.microsoft.com/office/drawing/2014/main" id="{9BEB2486-FCAF-4B83-9DE2-C03E1E486935}"/>
              </a:ext>
            </a:extLst>
          </p:cNvPr>
          <p:cNvSpPr>
            <a:spLocks xmlns:a="http://schemas.openxmlformats.org/drawingml/2006/main" noGrp="1"/>
          </p:cNvSpPr>
          <p:nvPr/>
        </p:nvSpPr>
        <p:spPr>
          <a:xfrm xmlns:a="http://schemas.openxmlformats.org/drawingml/2006/main">
            <a:off x="10417969"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8 REPORT</a:t>
            </a:r>
          </a:p>
        </p:txBody>
      </p:sp>
      <p:sp>
        <p:nvSpPr>
          <p:cNvPr id="23" name="S10_ENV_BAR">
            <a:extLst xmlns:a="http://schemas.openxmlformats.org/drawingml/2006/main">
              <a:ext uri="{FF2B5EF4-FFF2-40B4-BE49-F238E27FC236}">
                <a16:creationId xmlns:a16="http://schemas.microsoft.com/office/drawing/2014/main" id="{BC56ABB2-FCC1-4248-9544-E783915D522F}"/>
              </a:ext>
            </a:extLst>
          </p:cNvPr>
          <p:cNvSpPr>
            <a:spLocks xmlns:a="http://schemas.openxmlformats.org/drawingml/2006/main" noGrp="1"/>
          </p:cNvSpPr>
          <p:nvPr/>
        </p:nvSpPr>
        <p:spPr>
          <a:xfrm xmlns:a="http://schemas.openxmlformats.org/drawingml/2006/main">
            <a:off x="533400" y="2438400"/>
            <a:ext cx="76200" cy="0"/>
          </a:xfrm>
          <a:prstGeom xmlns:a="http://schemas.openxmlformats.org/drawingml/2006/main" prst="rect">
            <a:avLst/>
          </a:prstGeom>
          <a:ln xmlns:a="http://schemas.openxmlformats.org/drawingml/2006/main" w="0">
            <a:noFill/>
            <a:prstDash val="solid"/>
          </a:ln>
        </p:spPr>
      </p:sp>
      <p:sp>
        <p:nvSpPr>
          <p:cNvPr id="24" name="S10_ENV_LABEL">
            <a:extLst xmlns:a="http://schemas.openxmlformats.org/drawingml/2006/main">
              <a:ext uri="{FF2B5EF4-FFF2-40B4-BE49-F238E27FC236}">
                <a16:creationId xmlns:a16="http://schemas.microsoft.com/office/drawing/2014/main" id="{59629825-E72A-43D7-9017-C92BAB2F6964}"/>
              </a:ext>
            </a:extLst>
          </p:cNvPr>
          <p:cNvSpPr>
            <a:spLocks xmlns:a="http://schemas.openxmlformats.org/drawingml/2006/main" noGrp="1"/>
          </p:cNvSpPr>
          <p:nvPr/>
        </p:nvSpPr>
        <p:spPr>
          <a:xfrm xmlns:a="http://schemas.openxmlformats.org/drawingml/2006/main">
            <a:off x="704850" y="2438400"/>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MÔI TRƯỜNG</a:t>
            </a:r>
          </a:p>
        </p:txBody>
      </p:sp>
      <p:sp>
        <p:nvSpPr>
          <p:cNvPr id="25" name="S10_ENV_BODY">
            <a:extLst xmlns:a="http://schemas.openxmlformats.org/drawingml/2006/main">
              <a:ext uri="{FF2B5EF4-FFF2-40B4-BE49-F238E27FC236}">
                <a16:creationId xmlns:a16="http://schemas.microsoft.com/office/drawing/2014/main" id="{0F2F0309-6E55-4952-B63A-6377A832995C}"/>
              </a:ext>
            </a:extLst>
          </p:cNvPr>
          <p:cNvSpPr>
            <a:spLocks xmlns:a="http://schemas.openxmlformats.org/drawingml/2006/main" noGrp="1"/>
          </p:cNvSpPr>
          <p:nvPr/>
        </p:nvSpPr>
        <p:spPr>
          <a:xfrm xmlns:a="http://schemas.openxmlformats.org/drawingml/2006/main">
            <a:off x="2438400" y="2438400"/>
            <a:ext cx="920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Linux VM local · GCC · GDB · Python gửi request local.</a:t>
            </a:r>
          </a:p>
        </p:txBody>
      </p:sp>
      <p:sp>
        <p:nvSpPr>
          <p:cNvPr id="26" name="PH_S10_Lab02_31_long_input_network_payload_png_FRAME">
            <a:extLst xmlns:a="http://schemas.openxmlformats.org/drawingml/2006/main">
              <a:ext uri="{FF2B5EF4-FFF2-40B4-BE49-F238E27FC236}">
                <a16:creationId xmlns:a16="http://schemas.microsoft.com/office/drawing/2014/main" id="{699271D3-6AD7-4B86-8C9A-B0E23BD9D227}"/>
              </a:ext>
            </a:extLst>
          </p:cNvPr>
          <p:cNvSpPr>
            <a:spLocks xmlns:a="http://schemas.openxmlformats.org/drawingml/2006/main" noGrp="1"/>
          </p:cNvSpPr>
          <p:nvPr/>
        </p:nvSpPr>
        <p:spPr>
          <a:xfrm xmlns:a="http://schemas.openxmlformats.org/drawingml/2006/main">
            <a:off x="504825" y="3076575"/>
            <a:ext cx="3486150" cy="26289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7" name="PH_S10_Lab02_31_long_input_network_payload_png_IMAGE">
            <a:extLst xmlns:a="http://schemas.openxmlformats.org/drawingml/2006/main">
              <a:ext uri="{FF2B5EF4-FFF2-40B4-BE49-F238E27FC236}">
                <a16:creationId xmlns:a16="http://schemas.microsoft.com/office/drawing/2014/main" id="{DDAED126-A932-4A94-9E3C-64F34BDE5892}"/>
              </a:ext>
            </a:extLst>
          </p:cNvPr>
          <p:cNvSpPr>
            <a:spLocks xmlns:a="http://schemas.openxmlformats.org/drawingml/2006/main" noGrp="1"/>
          </p:cNvSpPr>
          <p:nvPr/>
        </p:nvSpPr>
        <p:spPr>
          <a:xfrm xmlns:a="http://schemas.openxmlformats.org/drawingml/2006/main">
            <a:off x="533400" y="3105150"/>
            <a:ext cx="3429000" cy="25717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8" name="PH_S10_Lab02_31_long_input_network_payload_png_ICON">
            <a:extLst xmlns:a="http://schemas.openxmlformats.org/drawingml/2006/main">
              <a:ext uri="{FF2B5EF4-FFF2-40B4-BE49-F238E27FC236}">
                <a16:creationId xmlns:a16="http://schemas.microsoft.com/office/drawing/2014/main" id="{C19EC02C-21B3-45A6-B722-4C9AF632D367}"/>
              </a:ext>
            </a:extLst>
          </p:cNvPr>
          <p:cNvSpPr>
            <a:spLocks xmlns:a="http://schemas.openxmlformats.org/drawingml/2006/main" noGrp="1"/>
          </p:cNvSpPr>
          <p:nvPr/>
        </p:nvSpPr>
        <p:spPr>
          <a:xfrm xmlns:a="http://schemas.openxmlformats.org/drawingml/2006/main">
            <a:off x="685800" y="3248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9" name="PH_S10_Lab02_31_long_input_network_payload_png_INSTRUCTION">
            <a:extLst xmlns:a="http://schemas.openxmlformats.org/drawingml/2006/main">
              <a:ext uri="{FF2B5EF4-FFF2-40B4-BE49-F238E27FC236}">
                <a16:creationId xmlns:a16="http://schemas.microsoft.com/office/drawing/2014/main" id="{A9F548A1-9E28-4BD6-83AE-506A5629D085}"/>
              </a:ext>
            </a:extLst>
          </p:cNvPr>
          <p:cNvSpPr>
            <a:spLocks xmlns:a="http://schemas.openxmlformats.org/drawingml/2006/main" noGrp="1"/>
          </p:cNvSpPr>
          <p:nvPr/>
        </p:nvSpPr>
        <p:spPr>
          <a:xfrm xmlns:a="http://schemas.openxmlformats.org/drawingml/2006/main">
            <a:off x="1200150" y="327660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31_long_input_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network_payload.png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30" name="PH_S10_Lab02_31_long_input_network_payload_png_CAPTION">
            <a:extLst xmlns:a="http://schemas.openxmlformats.org/drawingml/2006/main">
              <a:ext uri="{FF2B5EF4-FFF2-40B4-BE49-F238E27FC236}">
                <a16:creationId xmlns:a16="http://schemas.microsoft.com/office/drawing/2014/main" id="{0F4C933E-F246-4371-97BE-70BADD0D6849}"/>
              </a:ext>
            </a:extLst>
          </p:cNvPr>
          <p:cNvSpPr>
            <a:spLocks xmlns:a="http://schemas.openxmlformats.org/drawingml/2006/main" noGrp="1"/>
          </p:cNvSpPr>
          <p:nvPr/>
        </p:nvSpPr>
        <p:spPr>
          <a:xfrm xmlns:a="http://schemas.openxmlformats.org/drawingml/2006/main">
            <a:off x="533400" y="5267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Payload 64 byte tới vulnerable</a:t>
            </a:r>
          </a:p>
        </p:txBody>
      </p:sp>
      <p:sp>
        <p:nvSpPr>
          <p:cNvPr id="31" name="PH_S10_Lab02_34_secure_length_network_response_png_FRAME">
            <a:extLst xmlns:a="http://schemas.openxmlformats.org/drawingml/2006/main">
              <a:ext uri="{FF2B5EF4-FFF2-40B4-BE49-F238E27FC236}">
                <a16:creationId xmlns:a16="http://schemas.microsoft.com/office/drawing/2014/main" id="{4C9DCF47-C9C7-4FEA-8C82-506AB18E4D8D}"/>
              </a:ext>
            </a:extLst>
          </p:cNvPr>
          <p:cNvSpPr>
            <a:spLocks xmlns:a="http://schemas.openxmlformats.org/drawingml/2006/main" noGrp="1"/>
          </p:cNvSpPr>
          <p:nvPr/>
        </p:nvSpPr>
        <p:spPr>
          <a:xfrm xmlns:a="http://schemas.openxmlformats.org/drawingml/2006/main">
            <a:off x="4352925" y="3076575"/>
            <a:ext cx="3486150" cy="26289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32" name="PH_S10_Lab02_34_secure_length_network_response_png_IMAGE">
            <a:extLst xmlns:a="http://schemas.openxmlformats.org/drawingml/2006/main">
              <a:ext uri="{FF2B5EF4-FFF2-40B4-BE49-F238E27FC236}">
                <a16:creationId xmlns:a16="http://schemas.microsoft.com/office/drawing/2014/main" id="{F6E21786-93F6-4A12-A2CE-966A8136451B}"/>
              </a:ext>
            </a:extLst>
          </p:cNvPr>
          <p:cNvSpPr>
            <a:spLocks xmlns:a="http://schemas.openxmlformats.org/drawingml/2006/main" noGrp="1"/>
          </p:cNvSpPr>
          <p:nvPr/>
        </p:nvSpPr>
        <p:spPr>
          <a:xfrm xmlns:a="http://schemas.openxmlformats.org/drawingml/2006/main">
            <a:off x="4381500" y="3105150"/>
            <a:ext cx="3429000" cy="25717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33" name="PH_S10_Lab02_34_secure_length_network_response_png_ICON">
            <a:extLst xmlns:a="http://schemas.openxmlformats.org/drawingml/2006/main">
              <a:ext uri="{FF2B5EF4-FFF2-40B4-BE49-F238E27FC236}">
                <a16:creationId xmlns:a16="http://schemas.microsoft.com/office/drawing/2014/main" id="{3D24C4C6-329C-4872-8F6D-31799068A4E6}"/>
              </a:ext>
            </a:extLst>
          </p:cNvPr>
          <p:cNvSpPr>
            <a:spLocks xmlns:a="http://schemas.openxmlformats.org/drawingml/2006/main" noGrp="1"/>
          </p:cNvSpPr>
          <p:nvPr/>
        </p:nvSpPr>
        <p:spPr>
          <a:xfrm xmlns:a="http://schemas.openxmlformats.org/drawingml/2006/main">
            <a:off x="4533900" y="3248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34" name="PH_S10_Lab02_34_secure_length_network_response_png_INSTRUCTION">
            <a:extLst xmlns:a="http://schemas.openxmlformats.org/drawingml/2006/main">
              <a:ext uri="{FF2B5EF4-FFF2-40B4-BE49-F238E27FC236}">
                <a16:creationId xmlns:a16="http://schemas.microsoft.com/office/drawing/2014/main" id="{21E9DCEA-00FB-47AB-B904-A026CF354E09}"/>
              </a:ext>
            </a:extLst>
          </p:cNvPr>
          <p:cNvSpPr>
            <a:spLocks xmlns:a="http://schemas.openxmlformats.org/drawingml/2006/main" noGrp="1"/>
          </p:cNvSpPr>
          <p:nvPr/>
        </p:nvSpPr>
        <p:spPr>
          <a:xfrm xmlns:a="http://schemas.openxmlformats.org/drawingml/2006/main">
            <a:off x="5048250" y="327660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34_secure_length_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network_response.png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35" name="PH_S10_Lab02_34_secure_length_network_response_png_CAPTION">
            <a:extLst xmlns:a="http://schemas.openxmlformats.org/drawingml/2006/main">
              <a:ext uri="{FF2B5EF4-FFF2-40B4-BE49-F238E27FC236}">
                <a16:creationId xmlns:a16="http://schemas.microsoft.com/office/drawing/2014/main" id="{95B550B0-C5E9-434D-AA50-B2DFC282507C}"/>
              </a:ext>
            </a:extLst>
          </p:cNvPr>
          <p:cNvSpPr>
            <a:spLocks xmlns:a="http://schemas.openxmlformats.org/drawingml/2006/main" noGrp="1"/>
          </p:cNvSpPr>
          <p:nvPr/>
        </p:nvSpPr>
        <p:spPr>
          <a:xfrm xmlns:a="http://schemas.openxmlformats.org/drawingml/2006/main">
            <a:off x="4381500" y="5267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secure_length từ chối trước copy</a:t>
            </a:r>
          </a:p>
        </p:txBody>
      </p:sp>
      <p:sp>
        <p:nvSpPr>
          <p:cNvPr id="36" name="PH_S10_Lab02_Lab02_gdb_crash_log_png_FRAME">
            <a:extLst xmlns:a="http://schemas.openxmlformats.org/drawingml/2006/main">
              <a:ext uri="{FF2B5EF4-FFF2-40B4-BE49-F238E27FC236}">
                <a16:creationId xmlns:a16="http://schemas.microsoft.com/office/drawing/2014/main" id="{0B55961F-CD5C-4534-AD9F-8A96D49C6B8D}"/>
              </a:ext>
            </a:extLst>
          </p:cNvPr>
          <p:cNvSpPr>
            <a:spLocks xmlns:a="http://schemas.openxmlformats.org/drawingml/2006/main" noGrp="1"/>
          </p:cNvSpPr>
          <p:nvPr/>
        </p:nvSpPr>
        <p:spPr>
          <a:xfrm xmlns:a="http://schemas.openxmlformats.org/drawingml/2006/main">
            <a:off x="8201025" y="3076575"/>
            <a:ext cx="3486150" cy="26289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37" name="PH_S10_Lab02_Lab02_gdb_crash_log_png_IMAGE">
            <a:extLst xmlns:a="http://schemas.openxmlformats.org/drawingml/2006/main">
              <a:ext uri="{FF2B5EF4-FFF2-40B4-BE49-F238E27FC236}">
                <a16:creationId xmlns:a16="http://schemas.microsoft.com/office/drawing/2014/main" id="{6F0712FF-2D5E-494C-810B-58C0A606C7B9}"/>
              </a:ext>
            </a:extLst>
          </p:cNvPr>
          <p:cNvSpPr>
            <a:spLocks xmlns:a="http://schemas.openxmlformats.org/drawingml/2006/main" noGrp="1"/>
          </p:cNvSpPr>
          <p:nvPr/>
        </p:nvSpPr>
        <p:spPr>
          <a:xfrm xmlns:a="http://schemas.openxmlformats.org/drawingml/2006/main">
            <a:off x="8229600" y="3105150"/>
            <a:ext cx="3429000" cy="25717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38" name="PH_S10_Lab02_Lab02_gdb_crash_log_png_ICON">
            <a:extLst xmlns:a="http://schemas.openxmlformats.org/drawingml/2006/main">
              <a:ext uri="{FF2B5EF4-FFF2-40B4-BE49-F238E27FC236}">
                <a16:creationId xmlns:a16="http://schemas.microsoft.com/office/drawing/2014/main" id="{A36B87DE-C608-4D28-8B84-6423935EA123}"/>
              </a:ext>
            </a:extLst>
          </p:cNvPr>
          <p:cNvSpPr>
            <a:spLocks xmlns:a="http://schemas.openxmlformats.org/drawingml/2006/main" noGrp="1"/>
          </p:cNvSpPr>
          <p:nvPr/>
        </p:nvSpPr>
        <p:spPr>
          <a:xfrm xmlns:a="http://schemas.openxmlformats.org/drawingml/2006/main">
            <a:off x="8382000" y="3248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39" name="PH_S10_Lab02_Lab02_gdb_crash_log_png_INSTRUCTION">
            <a:extLst xmlns:a="http://schemas.openxmlformats.org/drawingml/2006/main">
              <a:ext uri="{FF2B5EF4-FFF2-40B4-BE49-F238E27FC236}">
                <a16:creationId xmlns:a16="http://schemas.microsoft.com/office/drawing/2014/main" id="{A1FD3F76-C053-41DF-9600-79B2B88F210A}"/>
              </a:ext>
            </a:extLst>
          </p:cNvPr>
          <p:cNvSpPr>
            <a:spLocks xmlns:a="http://schemas.openxmlformats.org/drawingml/2006/main" noGrp="1"/>
          </p:cNvSpPr>
          <p:nvPr/>
        </p:nvSpPr>
        <p:spPr>
          <a:xfrm xmlns:a="http://schemas.openxmlformats.org/drawingml/2006/main">
            <a:off x="8896350" y="327660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Lab02_gdb_crash_log.png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40" name="PH_S10_Lab02_Lab02_gdb_crash_log_png_CAPTION">
            <a:extLst xmlns:a="http://schemas.openxmlformats.org/drawingml/2006/main">
              <a:ext uri="{FF2B5EF4-FFF2-40B4-BE49-F238E27FC236}">
                <a16:creationId xmlns:a16="http://schemas.microsoft.com/office/drawing/2014/main" id="{F5B40571-F005-4E45-BF80-DF000DAE8CF2}"/>
              </a:ext>
            </a:extLst>
          </p:cNvPr>
          <p:cNvSpPr>
            <a:spLocks xmlns:a="http://schemas.openxmlformats.org/drawingml/2006/main" noGrp="1"/>
          </p:cNvSpPr>
          <p:nvPr/>
        </p:nvSpPr>
        <p:spPr>
          <a:xfrm xmlns:a="http://schemas.openxmlformats.org/drawingml/2006/main">
            <a:off x="8229600" y="5267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GDB/ASan: crash, stack, input length</a:t>
            </a:r>
          </a:p>
        </p:txBody>
      </p:sp>
    </p:spTree>
    <p:extLst>
      <p:ext uri="{BB962C8B-B14F-4D97-AF65-F5344CB8AC3E}">
        <p14:creationId xmlns:p14="http://schemas.microsoft.com/office/powerpoint/2010/main" val="90913689"/>
      </p:ext>
    </p:extLst>
  </p:cSld>
</p:sld>
</file>

<file path=ppt/slides/slide1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3" name="S11_EYEBROW">
            <a:extLst xmlns:a="http://schemas.openxmlformats.org/drawingml/2006/main">
              <a:ext uri="{FF2B5EF4-FFF2-40B4-BE49-F238E27FC236}">
                <a16:creationId xmlns:a16="http://schemas.microsoft.com/office/drawing/2014/main" id="{1E804C37-4FF0-4A16-B3A2-AC05298C84E2}"/>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11_TITLE">
            <a:extLst xmlns:a="http://schemas.openxmlformats.org/drawingml/2006/main">
              <a:ext uri="{FF2B5EF4-FFF2-40B4-BE49-F238E27FC236}">
                <a16:creationId xmlns:a16="http://schemas.microsoft.com/office/drawing/2014/main" id="{56D99F7D-0792-4ABD-81B4-BBF1F41C0842}"/>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Hai bản vá chặn lỗi trước thao tác copy</a:t>
            </a:r>
          </a:p>
        </p:txBody>
      </p:sp>
      <p:sp>
        <p:nvSpPr>
          <p:cNvPr id="3" name="S11_SUBTITLE">
            <a:extLst xmlns:a="http://schemas.openxmlformats.org/drawingml/2006/main">
              <a:ext uri="{FF2B5EF4-FFF2-40B4-BE49-F238E27FC236}">
                <a16:creationId xmlns:a16="http://schemas.microsoft.com/office/drawing/2014/main" id="{905A2190-C254-44C2-BAE2-DC742F72FF5B}"/>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Length check đặt invariant 31 byte; snprintf ràng buộc mọi ghi theo capacity.</a:t>
            </a:r>
          </a:p>
        </p:txBody>
      </p:sp>
      <p:sp>
        <p:nvSpPr>
          <p:cNvPr id="4" name="S11_TITLE_RULE">
            <a:extLst xmlns:a="http://schemas.openxmlformats.org/drawingml/2006/main">
              <a:ext uri="{FF2B5EF4-FFF2-40B4-BE49-F238E27FC236}">
                <a16:creationId xmlns:a16="http://schemas.microsoft.com/office/drawing/2014/main" id="{9621A896-826E-45C1-90F4-22946B65E16C}"/>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1_FOOTER_RULE">
            <a:extLst xmlns:a="http://schemas.openxmlformats.org/drawingml/2006/main">
              <a:ext uri="{FF2B5EF4-FFF2-40B4-BE49-F238E27FC236}">
                <a16:creationId xmlns:a16="http://schemas.microsoft.com/office/drawing/2014/main" id="{2D994CCE-59B4-436E-9542-985F4E74BEE4}"/>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1_SOURCE">
            <a:extLst xmlns:a="http://schemas.openxmlformats.org/drawingml/2006/main">
              <a:ext uri="{FF2B5EF4-FFF2-40B4-BE49-F238E27FC236}">
                <a16:creationId xmlns:a16="http://schemas.microsoft.com/office/drawing/2014/main" id="{5E1C1B85-F625-45C1-906D-755E8D002DD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Lab02/native/secure_*_processor.c · config.py</a:t>
            </a:r>
          </a:p>
        </p:txBody>
      </p:sp>
      <p:sp>
        <p:nvSpPr>
          <p:cNvPr id="7" name="S11_NUMBER">
            <a:extLst xmlns:a="http://schemas.openxmlformats.org/drawingml/2006/main">
              <a:ext uri="{FF2B5EF4-FFF2-40B4-BE49-F238E27FC236}">
                <a16:creationId xmlns:a16="http://schemas.microsoft.com/office/drawing/2014/main" id="{582051E6-9984-405A-A5CD-9825795CCEE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11</a:t>
            </a:r>
          </a:p>
        </p:txBody>
      </p:sp>
      <p:sp>
        <p:nvSpPr>
          <p:cNvPr id="8" name="S11_VULN">
            <a:extLst xmlns:a="http://schemas.openxmlformats.org/drawingml/2006/main">
              <a:ext uri="{FF2B5EF4-FFF2-40B4-BE49-F238E27FC236}">
                <a16:creationId xmlns:a16="http://schemas.microsoft.com/office/drawing/2014/main" id="{B10240D7-1984-488F-B0BF-BDDD04686C55}"/>
              </a:ext>
            </a:extLst>
          </p:cNvPr>
          <p:cNvSpPr>
            <a:spLocks xmlns:a="http://schemas.openxmlformats.org/drawingml/2006/main" noGrp="1"/>
          </p:cNvSpPr>
          <p:nvPr/>
        </p:nvSpPr>
        <p:spPr>
          <a:xfrm xmlns:a="http://schemas.openxmlformats.org/drawingml/2006/main">
            <a:off x="533400" y="1752600"/>
            <a:ext cx="333375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char name[32];</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strcpy(name, user_input);</a:t>
            </a:r>
          </a:p>
        </p:txBody>
      </p:sp>
      <p:sp>
        <p:nvSpPr>
          <p:cNvPr id="9" name="S11_LENGTH">
            <a:extLst xmlns:a="http://schemas.openxmlformats.org/drawingml/2006/main">
              <a:ext uri="{FF2B5EF4-FFF2-40B4-BE49-F238E27FC236}">
                <a16:creationId xmlns:a16="http://schemas.microsoft.com/office/drawing/2014/main" id="{C531B126-DE8D-4906-8DB9-442AD83561DD}"/>
              </a:ext>
            </a:extLst>
          </p:cNvPr>
          <p:cNvSpPr>
            <a:spLocks xmlns:a="http://schemas.openxmlformats.org/drawingml/2006/main" noGrp="1"/>
          </p:cNvSpPr>
          <p:nvPr/>
        </p:nvSpPr>
        <p:spPr>
          <a:xfrm xmlns:a="http://schemas.openxmlformats.org/drawingml/2006/main">
            <a:off x="4095750" y="1752600"/>
            <a:ext cx="363855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secure_length</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len = strnlen(input, 33);</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if (len &gt; 31) reject();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memcpy(name, input, len + 1);</a:t>
            </a:r>
          </a:p>
        </p:txBody>
      </p:sp>
      <p:sp>
        <p:nvSpPr>
          <p:cNvPr id="10" name="S11_SNPRINTF">
            <a:extLst xmlns:a="http://schemas.openxmlformats.org/drawingml/2006/main">
              <a:ext uri="{FF2B5EF4-FFF2-40B4-BE49-F238E27FC236}">
                <a16:creationId xmlns:a16="http://schemas.microsoft.com/office/drawing/2014/main" id="{59A5A6DC-0396-4BAD-AEFD-D6F4FCAFA01A}"/>
              </a:ext>
            </a:extLst>
          </p:cNvPr>
          <p:cNvSpPr>
            <a:spLocks xmlns:a="http://schemas.openxmlformats.org/drawingml/2006/main" noGrp="1"/>
          </p:cNvSpPr>
          <p:nvPr/>
        </p:nvSpPr>
        <p:spPr>
          <a:xfrm xmlns:a="http://schemas.openxmlformats.org/drawingml/2006/main">
            <a:off x="7962900" y="1752600"/>
            <a:ext cx="369570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secure_snprintf</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written = snprintf(name, 32, "%s", input);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if (written &gt;= 32) reject();</a:t>
            </a:r>
          </a:p>
        </p:txBody>
      </p:sp>
      <p:sp>
        <p:nvSpPr>
          <p:cNvPr id="11" name="S11_LAYERS_H0">
            <a:extLst xmlns:a="http://schemas.openxmlformats.org/drawingml/2006/main">
              <a:ext uri="{FF2B5EF4-FFF2-40B4-BE49-F238E27FC236}">
                <a16:creationId xmlns:a16="http://schemas.microsoft.com/office/drawing/2014/main" id="{1069F7E3-4046-40E7-8DA0-7F7C350A7046}"/>
              </a:ext>
            </a:extLst>
          </p:cNvPr>
          <p:cNvSpPr>
            <a:spLocks xmlns:a="http://schemas.openxmlformats.org/drawingml/2006/main" noGrp="1"/>
          </p:cNvSpPr>
          <p:nvPr/>
        </p:nvSpPr>
        <p:spPr>
          <a:xfrm xmlns:a="http://schemas.openxmlformats.org/drawingml/2006/main">
            <a:off x="533400" y="3638550"/>
            <a:ext cx="2190750" cy="5381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12" name="S11_LAYERS_H1">
            <a:extLst xmlns:a="http://schemas.openxmlformats.org/drawingml/2006/main">
              <a:ext uri="{FF2B5EF4-FFF2-40B4-BE49-F238E27FC236}">
                <a16:creationId xmlns:a16="http://schemas.microsoft.com/office/drawing/2014/main" id="{6F0A9345-BD6E-4989-A36A-9992F915A85C}"/>
              </a:ext>
            </a:extLst>
          </p:cNvPr>
          <p:cNvSpPr>
            <a:spLocks xmlns:a="http://schemas.openxmlformats.org/drawingml/2006/main" noGrp="1"/>
          </p:cNvSpPr>
          <p:nvPr/>
        </p:nvSpPr>
        <p:spPr>
          <a:xfrm xmlns:a="http://schemas.openxmlformats.org/drawingml/2006/main">
            <a:off x="2724150" y="3638550"/>
            <a:ext cx="4286250" cy="5381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GIÁ TRỊ</a:t>
            </a:r>
          </a:p>
        </p:txBody>
      </p:sp>
      <p:sp>
        <p:nvSpPr>
          <p:cNvPr id="13" name="S11_LAYERS_H2">
            <a:extLst xmlns:a="http://schemas.openxmlformats.org/drawingml/2006/main">
              <a:ext uri="{FF2B5EF4-FFF2-40B4-BE49-F238E27FC236}">
                <a16:creationId xmlns:a16="http://schemas.microsoft.com/office/drawing/2014/main" id="{D228165C-B730-406B-AA53-5EA11478C61A}"/>
              </a:ext>
            </a:extLst>
          </p:cNvPr>
          <p:cNvSpPr>
            <a:spLocks xmlns:a="http://schemas.openxmlformats.org/drawingml/2006/main" noGrp="1"/>
          </p:cNvSpPr>
          <p:nvPr/>
        </p:nvSpPr>
        <p:spPr>
          <a:xfrm xmlns:a="http://schemas.openxmlformats.org/drawingml/2006/main">
            <a:off x="7010400" y="3638550"/>
            <a:ext cx="4648200" cy="5381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GIỚI HẠN</a:t>
            </a:r>
          </a:p>
        </p:txBody>
      </p:sp>
      <p:sp>
        <p:nvSpPr>
          <p:cNvPr id="14" name="S11_LAYERS_R0C0">
            <a:extLst xmlns:a="http://schemas.openxmlformats.org/drawingml/2006/main">
              <a:ext uri="{FF2B5EF4-FFF2-40B4-BE49-F238E27FC236}">
                <a16:creationId xmlns:a16="http://schemas.microsoft.com/office/drawing/2014/main" id="{62D6501A-9060-4967-9F69-1B2A975224EA}"/>
              </a:ext>
            </a:extLst>
          </p:cNvPr>
          <p:cNvSpPr>
            <a:spLocks xmlns:a="http://schemas.openxmlformats.org/drawingml/2006/main" noGrp="1"/>
          </p:cNvSpPr>
          <p:nvPr/>
        </p:nvSpPr>
        <p:spPr>
          <a:xfrm xmlns:a="http://schemas.openxmlformats.org/drawingml/2006/main">
            <a:off x="533400" y="4176713"/>
            <a:ext cx="21907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15" name="S11_LAYERS_R0C1">
            <a:extLst xmlns:a="http://schemas.openxmlformats.org/drawingml/2006/main">
              <a:ext uri="{FF2B5EF4-FFF2-40B4-BE49-F238E27FC236}">
                <a16:creationId xmlns:a16="http://schemas.microsoft.com/office/drawing/2014/main" id="{BC648D84-8CFD-47F8-B1D4-C90B93A872A9}"/>
              </a:ext>
            </a:extLst>
          </p:cNvPr>
          <p:cNvSpPr>
            <a:spLocks xmlns:a="http://schemas.openxmlformats.org/drawingml/2006/main" noGrp="1"/>
          </p:cNvSpPr>
          <p:nvPr/>
        </p:nvSpPr>
        <p:spPr>
          <a:xfrm xmlns:a="http://schemas.openxmlformats.org/drawingml/2006/main">
            <a:off x="2724150" y="4176713"/>
            <a:ext cx="42862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MAX_CONTENT_LENGTH=4096</a:t>
            </a:r>
          </a:p>
        </p:txBody>
      </p:sp>
      <p:sp>
        <p:nvSpPr>
          <p:cNvPr id="16" name="S11_LAYERS_R0C2">
            <a:extLst xmlns:a="http://schemas.openxmlformats.org/drawingml/2006/main">
              <a:ext uri="{FF2B5EF4-FFF2-40B4-BE49-F238E27FC236}">
                <a16:creationId xmlns:a16="http://schemas.microsoft.com/office/drawing/2014/main" id="{5DEEAE23-068D-4C88-BD11-60098FD0508B}"/>
              </a:ext>
            </a:extLst>
          </p:cNvPr>
          <p:cNvSpPr>
            <a:spLocks xmlns:a="http://schemas.openxmlformats.org/drawingml/2006/main" noGrp="1"/>
          </p:cNvSpPr>
          <p:nvPr/>
        </p:nvSpPr>
        <p:spPr>
          <a:xfrm xmlns:a="http://schemas.openxmlformats.org/drawingml/2006/main">
            <a:off x="7010400" y="4176713"/>
            <a:ext cx="464820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biết capacity C</a:t>
            </a:r>
          </a:p>
        </p:txBody>
      </p:sp>
      <p:sp>
        <p:nvSpPr>
          <p:cNvPr id="17" name="S11_LAYERS_R1C0">
            <a:extLst xmlns:a="http://schemas.openxmlformats.org/drawingml/2006/main">
              <a:ext uri="{FF2B5EF4-FFF2-40B4-BE49-F238E27FC236}">
                <a16:creationId xmlns:a16="http://schemas.microsoft.com/office/drawing/2014/main" id="{D6706D95-9669-43DA-BFA9-E55FD679D0A0}"/>
              </a:ext>
            </a:extLst>
          </p:cNvPr>
          <p:cNvSpPr>
            <a:spLocks xmlns:a="http://schemas.openxmlformats.org/drawingml/2006/main" noGrp="1"/>
          </p:cNvSpPr>
          <p:nvPr/>
        </p:nvSpPr>
        <p:spPr>
          <a:xfrm xmlns:a="http://schemas.openxmlformats.org/drawingml/2006/main">
            <a:off x="533400" y="4714875"/>
            <a:ext cx="2190750" cy="5381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Validation</a:t>
            </a:r>
          </a:p>
        </p:txBody>
      </p:sp>
      <p:sp>
        <p:nvSpPr>
          <p:cNvPr id="18" name="S11_LAYERS_R1C1">
            <a:extLst xmlns:a="http://schemas.openxmlformats.org/drawingml/2006/main">
              <a:ext uri="{FF2B5EF4-FFF2-40B4-BE49-F238E27FC236}">
                <a16:creationId xmlns:a16="http://schemas.microsoft.com/office/drawing/2014/main" id="{66A22C02-AC34-4B7F-B9FE-B2ED62976580}"/>
              </a:ext>
            </a:extLst>
          </p:cNvPr>
          <p:cNvSpPr>
            <a:spLocks xmlns:a="http://schemas.openxmlformats.org/drawingml/2006/main" noGrp="1"/>
          </p:cNvSpPr>
          <p:nvPr/>
        </p:nvSpPr>
        <p:spPr>
          <a:xfrm xmlns:a="http://schemas.openxmlformats.org/drawingml/2006/main">
            <a:off x="2724150" y="4714875"/>
            <a:ext cx="4286250" cy="5381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MAX_NAME_BYTES=256</a:t>
            </a:r>
          </a:p>
        </p:txBody>
      </p:sp>
      <p:sp>
        <p:nvSpPr>
          <p:cNvPr id="19" name="S11_LAYERS_R1C2">
            <a:extLst xmlns:a="http://schemas.openxmlformats.org/drawingml/2006/main">
              <a:ext uri="{FF2B5EF4-FFF2-40B4-BE49-F238E27FC236}">
                <a16:creationId xmlns:a16="http://schemas.microsoft.com/office/drawing/2014/main" id="{9B88BF27-4877-4B8C-9590-C6299E3038C3}"/>
              </a:ext>
            </a:extLst>
          </p:cNvPr>
          <p:cNvSpPr>
            <a:spLocks xmlns:a="http://schemas.openxmlformats.org/drawingml/2006/main" noGrp="1"/>
          </p:cNvSpPr>
          <p:nvPr/>
        </p:nvSpPr>
        <p:spPr>
          <a:xfrm xmlns:a="http://schemas.openxmlformats.org/drawingml/2006/main">
            <a:off x="7010400" y="4714875"/>
            <a:ext cx="4648200" cy="5381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chưa đủ cho name[32]</a:t>
            </a:r>
          </a:p>
        </p:txBody>
      </p:sp>
      <p:sp>
        <p:nvSpPr>
          <p:cNvPr id="20" name="S11_LAYERS_R2C0">
            <a:extLst xmlns:a="http://schemas.openxmlformats.org/drawingml/2006/main">
              <a:ext uri="{FF2B5EF4-FFF2-40B4-BE49-F238E27FC236}">
                <a16:creationId xmlns:a16="http://schemas.microsoft.com/office/drawing/2014/main" id="{1893ED04-45E7-4C7A-A470-5948A9C79D73}"/>
              </a:ext>
            </a:extLst>
          </p:cNvPr>
          <p:cNvSpPr>
            <a:spLocks xmlns:a="http://schemas.openxmlformats.org/drawingml/2006/main" noGrp="1"/>
          </p:cNvSpPr>
          <p:nvPr/>
        </p:nvSpPr>
        <p:spPr>
          <a:xfrm xmlns:a="http://schemas.openxmlformats.org/drawingml/2006/main">
            <a:off x="533400" y="5253038"/>
            <a:ext cx="21907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Native</a:t>
            </a:r>
          </a:p>
        </p:txBody>
      </p:sp>
      <p:sp>
        <p:nvSpPr>
          <p:cNvPr id="21" name="S11_LAYERS_R2C1">
            <a:extLst xmlns:a="http://schemas.openxmlformats.org/drawingml/2006/main">
              <a:ext uri="{FF2B5EF4-FFF2-40B4-BE49-F238E27FC236}">
                <a16:creationId xmlns:a16="http://schemas.microsoft.com/office/drawing/2014/main" id="{50A64F9B-1EA6-4118-A5E1-F385C741514F}"/>
              </a:ext>
            </a:extLst>
          </p:cNvPr>
          <p:cNvSpPr>
            <a:spLocks xmlns:a="http://schemas.openxmlformats.org/drawingml/2006/main" noGrp="1"/>
          </p:cNvSpPr>
          <p:nvPr/>
        </p:nvSpPr>
        <p:spPr>
          <a:xfrm xmlns:a="http://schemas.openxmlformats.org/drawingml/2006/main">
            <a:off x="2724150" y="5253038"/>
            <a:ext cx="42862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31-byte invariant</a:t>
            </a:r>
          </a:p>
        </p:txBody>
      </p:sp>
      <p:sp>
        <p:nvSpPr>
          <p:cNvPr id="22" name="S11_LAYERS_R2C2">
            <a:extLst xmlns:a="http://schemas.openxmlformats.org/drawingml/2006/main">
              <a:ext uri="{FF2B5EF4-FFF2-40B4-BE49-F238E27FC236}">
                <a16:creationId xmlns:a16="http://schemas.microsoft.com/office/drawing/2014/main" id="{DB37D0BB-F44A-4263-8354-0E2234BB0180}"/>
              </a:ext>
            </a:extLst>
          </p:cNvPr>
          <p:cNvSpPr>
            <a:spLocks xmlns:a="http://schemas.openxmlformats.org/drawingml/2006/main" noGrp="1"/>
          </p:cNvSpPr>
          <p:nvPr/>
        </p:nvSpPr>
        <p:spPr>
          <a:xfrm xmlns:a="http://schemas.openxmlformats.org/drawingml/2006/main">
            <a:off x="7010400" y="5253038"/>
            <a:ext cx="464820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bản vá nguyên nhân gốc</a:t>
            </a:r>
          </a:p>
        </p:txBody>
      </p:sp>
    </p:spTree>
    <p:extLst>
      <p:ext uri="{BB962C8B-B14F-4D97-AF65-F5344CB8AC3E}">
        <p14:creationId xmlns:p14="http://schemas.microsoft.com/office/powerpoint/2010/main" val="510027919"/>
      </p:ext>
    </p:extLst>
  </p:cSld>
</p:sld>
</file>

<file path=ppt/slides/slide1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5" name="S12_EYEBROW">
            <a:extLst xmlns:a="http://schemas.openxmlformats.org/drawingml/2006/main">
              <a:ext uri="{FF2B5EF4-FFF2-40B4-BE49-F238E27FC236}">
                <a16:creationId xmlns:a16="http://schemas.microsoft.com/office/drawing/2014/main" id="{7A601375-8BF7-466E-A873-67778FAE388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12_TITLE">
            <a:extLst xmlns:a="http://schemas.openxmlformats.org/drawingml/2006/main">
              <a:ext uri="{FF2B5EF4-FFF2-40B4-BE49-F238E27FC236}">
                <a16:creationId xmlns:a16="http://schemas.microsoft.com/office/drawing/2014/main" id="{21C82B78-4564-4E8A-8121-30DF219AFCF1}"/>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Hardening giảm khả năng khai thác — không vá strcpy</a:t>
            </a:r>
          </a:p>
        </p:txBody>
      </p:sp>
      <p:sp>
        <p:nvSpPr>
          <p:cNvPr id="3" name="S12_SUBTITLE">
            <a:extLst xmlns:a="http://schemas.openxmlformats.org/drawingml/2006/main">
              <a:ext uri="{FF2B5EF4-FFF2-40B4-BE49-F238E27FC236}">
                <a16:creationId xmlns:a16="http://schemas.microsoft.com/office/drawing/2014/main" id="{751CCA79-F72B-4F78-8645-574178698577}"/>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Source fix trước; compiler, loader và OS thu hẹp hậu quả.</a:t>
            </a:r>
          </a:p>
        </p:txBody>
      </p:sp>
      <p:sp>
        <p:nvSpPr>
          <p:cNvPr id="4" name="S12_TITLE_RULE">
            <a:extLst xmlns:a="http://schemas.openxmlformats.org/drawingml/2006/main">
              <a:ext uri="{FF2B5EF4-FFF2-40B4-BE49-F238E27FC236}">
                <a16:creationId xmlns:a16="http://schemas.microsoft.com/office/drawing/2014/main" id="{4B5EC654-2939-4547-8B16-C80E7BE352D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2_FOOTER_RULE">
            <a:extLst xmlns:a="http://schemas.openxmlformats.org/drawingml/2006/main">
              <a:ext uri="{FF2B5EF4-FFF2-40B4-BE49-F238E27FC236}">
                <a16:creationId xmlns:a16="http://schemas.microsoft.com/office/drawing/2014/main" id="{8B347379-9FBC-490D-9166-87A0EA7AB02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2_SOURCE">
            <a:extLst xmlns:a="http://schemas.openxmlformats.org/drawingml/2006/main">
              <a:ext uri="{FF2B5EF4-FFF2-40B4-BE49-F238E27FC236}">
                <a16:creationId xmlns:a16="http://schemas.microsoft.com/office/drawing/2014/main" id="{5930F711-8262-4C68-94DC-466ACD0F544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Lab02/Makefile · BaiTapTopic04.docx · mục Lab02</a:t>
            </a:r>
          </a:p>
        </p:txBody>
      </p:sp>
      <p:sp>
        <p:nvSpPr>
          <p:cNvPr id="7" name="S12_NUMBER">
            <a:extLst xmlns:a="http://schemas.openxmlformats.org/drawingml/2006/main">
              <a:ext uri="{FF2B5EF4-FFF2-40B4-BE49-F238E27FC236}">
                <a16:creationId xmlns:a16="http://schemas.microsoft.com/office/drawing/2014/main" id="{8F7EC0B2-FCD3-4111-9E99-E363C6C446E2}"/>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12</a:t>
            </a:r>
          </a:p>
        </p:txBody>
      </p:sp>
      <p:sp>
        <p:nvSpPr>
          <p:cNvPr id="8" name="S12_HARDEN_H0">
            <a:extLst xmlns:a="http://schemas.openxmlformats.org/drawingml/2006/main">
              <a:ext uri="{FF2B5EF4-FFF2-40B4-BE49-F238E27FC236}">
                <a16:creationId xmlns:a16="http://schemas.microsoft.com/office/drawing/2014/main" id="{2868EBC1-07C0-4187-9E06-5C81B05B629B}"/>
              </a:ext>
            </a:extLst>
          </p:cNvPr>
          <p:cNvSpPr>
            <a:spLocks xmlns:a="http://schemas.openxmlformats.org/drawingml/2006/main" noGrp="1"/>
          </p:cNvSpPr>
          <p:nvPr/>
        </p:nvSpPr>
        <p:spPr>
          <a:xfrm xmlns:a="http://schemas.openxmlformats.org/drawingml/2006/main">
            <a:off x="533400" y="1695450"/>
            <a:ext cx="1428750" cy="619125"/>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9" name="S12_HARDEN_H1">
            <a:extLst xmlns:a="http://schemas.openxmlformats.org/drawingml/2006/main">
              <a:ext uri="{FF2B5EF4-FFF2-40B4-BE49-F238E27FC236}">
                <a16:creationId xmlns:a16="http://schemas.microsoft.com/office/drawing/2014/main" id="{F5A2D5FD-06DC-4450-906A-1D6BD8A0FCD8}"/>
              </a:ext>
            </a:extLst>
          </p:cNvPr>
          <p:cNvSpPr>
            <a:spLocks xmlns:a="http://schemas.openxmlformats.org/drawingml/2006/main" noGrp="1"/>
          </p:cNvSpPr>
          <p:nvPr/>
        </p:nvSpPr>
        <p:spPr>
          <a:xfrm xmlns:a="http://schemas.openxmlformats.org/drawingml/2006/main">
            <a:off x="1962150" y="1695450"/>
            <a:ext cx="2381250" cy="619125"/>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CƠ CHẾ</a:t>
            </a:r>
          </a:p>
        </p:txBody>
      </p:sp>
      <p:sp>
        <p:nvSpPr>
          <p:cNvPr id="10" name="S12_HARDEN_H2">
            <a:extLst xmlns:a="http://schemas.openxmlformats.org/drawingml/2006/main">
              <a:ext uri="{FF2B5EF4-FFF2-40B4-BE49-F238E27FC236}">
                <a16:creationId xmlns:a16="http://schemas.microsoft.com/office/drawing/2014/main" id="{A28CB283-11C8-49B6-9894-F4FFDE9724BA}"/>
              </a:ext>
            </a:extLst>
          </p:cNvPr>
          <p:cNvSpPr>
            <a:spLocks xmlns:a="http://schemas.openxmlformats.org/drawingml/2006/main" noGrp="1"/>
          </p:cNvSpPr>
          <p:nvPr/>
        </p:nvSpPr>
        <p:spPr>
          <a:xfrm xmlns:a="http://schemas.openxmlformats.org/drawingml/2006/main">
            <a:off x="4343400" y="1695450"/>
            <a:ext cx="2571750" cy="619125"/>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TÁC DỤNG</a:t>
            </a:r>
          </a:p>
        </p:txBody>
      </p:sp>
      <p:sp>
        <p:nvSpPr>
          <p:cNvPr id="11" name="S12_HARDEN_R0C0">
            <a:extLst xmlns:a="http://schemas.openxmlformats.org/drawingml/2006/main">
              <a:ext uri="{FF2B5EF4-FFF2-40B4-BE49-F238E27FC236}">
                <a16:creationId xmlns:a16="http://schemas.microsoft.com/office/drawing/2014/main" id="{E687B1C2-5E96-49C1-B1E5-270A13B59E44}"/>
              </a:ext>
            </a:extLst>
          </p:cNvPr>
          <p:cNvSpPr>
            <a:spLocks xmlns:a="http://schemas.openxmlformats.org/drawingml/2006/main" noGrp="1"/>
          </p:cNvSpPr>
          <p:nvPr/>
        </p:nvSpPr>
        <p:spPr>
          <a:xfrm xmlns:a="http://schemas.openxmlformats.org/drawingml/2006/main">
            <a:off x="533400" y="2314575"/>
            <a:ext cx="1428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Source</a:t>
            </a:r>
          </a:p>
        </p:txBody>
      </p:sp>
      <p:sp>
        <p:nvSpPr>
          <p:cNvPr id="12" name="S12_HARDEN_R0C1">
            <a:extLst xmlns:a="http://schemas.openxmlformats.org/drawingml/2006/main">
              <a:ext uri="{FF2B5EF4-FFF2-40B4-BE49-F238E27FC236}">
                <a16:creationId xmlns:a16="http://schemas.microsoft.com/office/drawing/2014/main" id="{A5CB28A4-51EC-438B-890A-890ECFC40389}"/>
              </a:ext>
            </a:extLst>
          </p:cNvPr>
          <p:cNvSpPr>
            <a:spLocks xmlns:a="http://schemas.openxmlformats.org/drawingml/2006/main" noGrp="1"/>
          </p:cNvSpPr>
          <p:nvPr/>
        </p:nvSpPr>
        <p:spPr>
          <a:xfrm xmlns:a="http://schemas.openxmlformats.org/drawingml/2006/main">
            <a:off x="1962150" y="2314575"/>
            <a:ext cx="23812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bounded copy + invariant</a:t>
            </a:r>
          </a:p>
        </p:txBody>
      </p:sp>
      <p:sp>
        <p:nvSpPr>
          <p:cNvPr id="13" name="S12_HARDEN_R0C2">
            <a:extLst xmlns:a="http://schemas.openxmlformats.org/drawingml/2006/main">
              <a:ext uri="{FF2B5EF4-FFF2-40B4-BE49-F238E27FC236}">
                <a16:creationId xmlns:a16="http://schemas.microsoft.com/office/drawing/2014/main" id="{068A0C20-51FF-48DD-8C20-0F5DBB22ECA6}"/>
              </a:ext>
            </a:extLst>
          </p:cNvPr>
          <p:cNvSpPr>
            <a:spLocks xmlns:a="http://schemas.openxmlformats.org/drawingml/2006/main" noGrp="1"/>
          </p:cNvSpPr>
          <p:nvPr/>
        </p:nvSpPr>
        <p:spPr>
          <a:xfrm xmlns:a="http://schemas.openxmlformats.org/drawingml/2006/main">
            <a:off x="4343400" y="2314575"/>
            <a:ext cx="2571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ngăn overflow</a:t>
            </a:r>
          </a:p>
        </p:txBody>
      </p:sp>
      <p:sp>
        <p:nvSpPr>
          <p:cNvPr id="14" name="S12_HARDEN_R1C0">
            <a:extLst xmlns:a="http://schemas.openxmlformats.org/drawingml/2006/main">
              <a:ext uri="{FF2B5EF4-FFF2-40B4-BE49-F238E27FC236}">
                <a16:creationId xmlns:a16="http://schemas.microsoft.com/office/drawing/2014/main" id="{9F435180-9E9C-4595-B644-BB0072C8DC17}"/>
              </a:ext>
            </a:extLst>
          </p:cNvPr>
          <p:cNvSpPr>
            <a:spLocks xmlns:a="http://schemas.openxmlformats.org/drawingml/2006/main" noGrp="1"/>
          </p:cNvSpPr>
          <p:nvPr/>
        </p:nvSpPr>
        <p:spPr>
          <a:xfrm xmlns:a="http://schemas.openxmlformats.org/drawingml/2006/main">
            <a:off x="533400" y="2933700"/>
            <a:ext cx="1428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Compiler</a:t>
            </a:r>
          </a:p>
        </p:txBody>
      </p:sp>
      <p:sp>
        <p:nvSpPr>
          <p:cNvPr id="15" name="S12_HARDEN_R1C1">
            <a:extLst xmlns:a="http://schemas.openxmlformats.org/drawingml/2006/main">
              <a:ext uri="{FF2B5EF4-FFF2-40B4-BE49-F238E27FC236}">
                <a16:creationId xmlns:a16="http://schemas.microsoft.com/office/drawing/2014/main" id="{D820792E-4F98-4687-ACA1-91267BA04CE4}"/>
              </a:ext>
            </a:extLst>
          </p:cNvPr>
          <p:cNvSpPr>
            <a:spLocks xmlns:a="http://schemas.openxmlformats.org/drawingml/2006/main" noGrp="1"/>
          </p:cNvSpPr>
          <p:nvPr/>
        </p:nvSpPr>
        <p:spPr>
          <a:xfrm xmlns:a="http://schemas.openxmlformats.org/drawingml/2006/main">
            <a:off x="1962150" y="2933700"/>
            <a:ext cx="23812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stack protector · FORTIFY</a:t>
            </a:r>
          </a:p>
        </p:txBody>
      </p:sp>
      <p:sp>
        <p:nvSpPr>
          <p:cNvPr id="16" name="S12_HARDEN_R1C2">
            <a:extLst xmlns:a="http://schemas.openxmlformats.org/drawingml/2006/main">
              <a:ext uri="{FF2B5EF4-FFF2-40B4-BE49-F238E27FC236}">
                <a16:creationId xmlns:a16="http://schemas.microsoft.com/office/drawing/2014/main" id="{055560CE-2D91-48E9-98BC-CE48C9E4E455}"/>
              </a:ext>
            </a:extLst>
          </p:cNvPr>
          <p:cNvSpPr>
            <a:spLocks xmlns:a="http://schemas.openxmlformats.org/drawingml/2006/main" noGrp="1"/>
          </p:cNvSpPr>
          <p:nvPr/>
        </p:nvSpPr>
        <p:spPr>
          <a:xfrm xmlns:a="http://schemas.openxmlformats.org/drawingml/2006/main">
            <a:off x="4343400" y="2933700"/>
            <a:ext cx="2571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phát hiện / abort</a:t>
            </a:r>
          </a:p>
        </p:txBody>
      </p:sp>
      <p:sp>
        <p:nvSpPr>
          <p:cNvPr id="17" name="S12_HARDEN_R2C0">
            <a:extLst xmlns:a="http://schemas.openxmlformats.org/drawingml/2006/main">
              <a:ext uri="{FF2B5EF4-FFF2-40B4-BE49-F238E27FC236}">
                <a16:creationId xmlns:a16="http://schemas.microsoft.com/office/drawing/2014/main" id="{36F0A38E-CEDC-40FA-8C2E-006A6003BCA8}"/>
              </a:ext>
            </a:extLst>
          </p:cNvPr>
          <p:cNvSpPr>
            <a:spLocks xmlns:a="http://schemas.openxmlformats.org/drawingml/2006/main" noGrp="1"/>
          </p:cNvSpPr>
          <p:nvPr/>
        </p:nvSpPr>
        <p:spPr>
          <a:xfrm xmlns:a="http://schemas.openxmlformats.org/drawingml/2006/main">
            <a:off x="533400" y="3552825"/>
            <a:ext cx="1428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Binary</a:t>
            </a:r>
          </a:p>
        </p:txBody>
      </p:sp>
      <p:sp>
        <p:nvSpPr>
          <p:cNvPr id="18" name="S12_HARDEN_R2C1">
            <a:extLst xmlns:a="http://schemas.openxmlformats.org/drawingml/2006/main">
              <a:ext uri="{FF2B5EF4-FFF2-40B4-BE49-F238E27FC236}">
                <a16:creationId xmlns:a16="http://schemas.microsoft.com/office/drawing/2014/main" id="{AAE06E75-1F94-4893-AC27-9A8ED0272D23}"/>
              </a:ext>
            </a:extLst>
          </p:cNvPr>
          <p:cNvSpPr>
            <a:spLocks xmlns:a="http://schemas.openxmlformats.org/drawingml/2006/main" noGrp="1"/>
          </p:cNvSpPr>
          <p:nvPr/>
        </p:nvSpPr>
        <p:spPr>
          <a:xfrm xmlns:a="http://schemas.openxmlformats.org/drawingml/2006/main">
            <a:off x="1962150" y="3552825"/>
            <a:ext cx="23812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PIE · RELRO · NOW</a:t>
            </a:r>
          </a:p>
        </p:txBody>
      </p:sp>
      <p:sp>
        <p:nvSpPr>
          <p:cNvPr id="19" name="S12_HARDEN_R2C2">
            <a:extLst xmlns:a="http://schemas.openxmlformats.org/drawingml/2006/main">
              <a:ext uri="{FF2B5EF4-FFF2-40B4-BE49-F238E27FC236}">
                <a16:creationId xmlns:a16="http://schemas.microsoft.com/office/drawing/2014/main" id="{9B200E5F-1372-4DC2-BD97-A6481FBFB48C}"/>
              </a:ext>
            </a:extLst>
          </p:cNvPr>
          <p:cNvSpPr>
            <a:spLocks xmlns:a="http://schemas.openxmlformats.org/drawingml/2006/main" noGrp="1"/>
          </p:cNvSpPr>
          <p:nvPr/>
        </p:nvSpPr>
        <p:spPr>
          <a:xfrm xmlns:a="http://schemas.openxmlformats.org/drawingml/2006/main">
            <a:off x="4343400" y="3552825"/>
            <a:ext cx="2571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 tái định vị/ghi GOT</a:t>
            </a:r>
          </a:p>
        </p:txBody>
      </p:sp>
      <p:sp>
        <p:nvSpPr>
          <p:cNvPr id="20" name="S12_HARDEN_R3C0">
            <a:extLst xmlns:a="http://schemas.openxmlformats.org/drawingml/2006/main">
              <a:ext uri="{FF2B5EF4-FFF2-40B4-BE49-F238E27FC236}">
                <a16:creationId xmlns:a16="http://schemas.microsoft.com/office/drawing/2014/main" id="{5924F96F-12F8-4959-8B65-680BA8D10D3A}"/>
              </a:ext>
            </a:extLst>
          </p:cNvPr>
          <p:cNvSpPr>
            <a:spLocks xmlns:a="http://schemas.openxmlformats.org/drawingml/2006/main" noGrp="1"/>
          </p:cNvSpPr>
          <p:nvPr/>
        </p:nvSpPr>
        <p:spPr>
          <a:xfrm xmlns:a="http://schemas.openxmlformats.org/drawingml/2006/main">
            <a:off x="533400" y="4171950"/>
            <a:ext cx="1428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OS</a:t>
            </a:r>
          </a:p>
        </p:txBody>
      </p:sp>
      <p:sp>
        <p:nvSpPr>
          <p:cNvPr id="21" name="S12_HARDEN_R3C1">
            <a:extLst xmlns:a="http://schemas.openxmlformats.org/drawingml/2006/main">
              <a:ext uri="{FF2B5EF4-FFF2-40B4-BE49-F238E27FC236}">
                <a16:creationId xmlns:a16="http://schemas.microsoft.com/office/drawing/2014/main" id="{3CC8540C-3539-43CF-8E9E-DC9CD766C54E}"/>
              </a:ext>
            </a:extLst>
          </p:cNvPr>
          <p:cNvSpPr>
            <a:spLocks xmlns:a="http://schemas.openxmlformats.org/drawingml/2006/main" noGrp="1"/>
          </p:cNvSpPr>
          <p:nvPr/>
        </p:nvSpPr>
        <p:spPr>
          <a:xfrm xmlns:a="http://schemas.openxmlformats.org/drawingml/2006/main">
            <a:off x="1962150" y="4171950"/>
            <a:ext cx="23812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ASLR · NX/DEP</a:t>
            </a:r>
          </a:p>
        </p:txBody>
      </p:sp>
      <p:sp>
        <p:nvSpPr>
          <p:cNvPr id="22" name="S12_HARDEN_R3C2">
            <a:extLst xmlns:a="http://schemas.openxmlformats.org/drawingml/2006/main">
              <a:ext uri="{FF2B5EF4-FFF2-40B4-BE49-F238E27FC236}">
                <a16:creationId xmlns:a16="http://schemas.microsoft.com/office/drawing/2014/main" id="{CB4F74BA-D40F-41C4-9D23-E47786C93257}"/>
              </a:ext>
            </a:extLst>
          </p:cNvPr>
          <p:cNvSpPr>
            <a:spLocks xmlns:a="http://schemas.openxmlformats.org/drawingml/2006/main" noGrp="1"/>
          </p:cNvSpPr>
          <p:nvPr/>
        </p:nvSpPr>
        <p:spPr>
          <a:xfrm xmlns:a="http://schemas.openxmlformats.org/drawingml/2006/main">
            <a:off x="4343400" y="4171950"/>
            <a:ext cx="2571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 dự đoán / chạy code</a:t>
            </a:r>
          </a:p>
        </p:txBody>
      </p:sp>
      <p:sp>
        <p:nvSpPr>
          <p:cNvPr id="23" name="S12_HARDEN_R4C0">
            <a:extLst xmlns:a="http://schemas.openxmlformats.org/drawingml/2006/main">
              <a:ext uri="{FF2B5EF4-FFF2-40B4-BE49-F238E27FC236}">
                <a16:creationId xmlns:a16="http://schemas.microsoft.com/office/drawing/2014/main" id="{56A7CF72-1700-48C4-BE62-884D25049637}"/>
              </a:ext>
            </a:extLst>
          </p:cNvPr>
          <p:cNvSpPr>
            <a:spLocks xmlns:a="http://schemas.openxmlformats.org/drawingml/2006/main" noGrp="1"/>
          </p:cNvSpPr>
          <p:nvPr/>
        </p:nvSpPr>
        <p:spPr>
          <a:xfrm xmlns:a="http://schemas.openxmlformats.org/drawingml/2006/main">
            <a:off x="533400" y="4791075"/>
            <a:ext cx="1428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Language</a:t>
            </a:r>
          </a:p>
        </p:txBody>
      </p:sp>
      <p:sp>
        <p:nvSpPr>
          <p:cNvPr id="24" name="S12_HARDEN_R4C1">
            <a:extLst xmlns:a="http://schemas.openxmlformats.org/drawingml/2006/main">
              <a:ext uri="{FF2B5EF4-FFF2-40B4-BE49-F238E27FC236}">
                <a16:creationId xmlns:a16="http://schemas.microsoft.com/office/drawing/2014/main" id="{34C1EC28-31FA-4AE7-B02D-55C2784C52B5}"/>
              </a:ext>
            </a:extLst>
          </p:cNvPr>
          <p:cNvSpPr>
            <a:spLocks xmlns:a="http://schemas.openxmlformats.org/drawingml/2006/main" noGrp="1"/>
          </p:cNvSpPr>
          <p:nvPr/>
        </p:nvSpPr>
        <p:spPr>
          <a:xfrm xmlns:a="http://schemas.openxmlformats.org/drawingml/2006/main">
            <a:off x="1962150" y="4791075"/>
            <a:ext cx="23812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memory-safe runtime</a:t>
            </a:r>
          </a:p>
        </p:txBody>
      </p:sp>
      <p:sp>
        <p:nvSpPr>
          <p:cNvPr id="25" name="S12_HARDEN_R4C2">
            <a:extLst xmlns:a="http://schemas.openxmlformats.org/drawingml/2006/main">
              <a:ext uri="{FF2B5EF4-FFF2-40B4-BE49-F238E27FC236}">
                <a16:creationId xmlns:a16="http://schemas.microsoft.com/office/drawing/2014/main" id="{D13F223A-EC27-4D52-8C0F-771E3B5474BA}"/>
              </a:ext>
            </a:extLst>
          </p:cNvPr>
          <p:cNvSpPr>
            <a:spLocks xmlns:a="http://schemas.openxmlformats.org/drawingml/2006/main" noGrp="1"/>
          </p:cNvSpPr>
          <p:nvPr/>
        </p:nvSpPr>
        <p:spPr>
          <a:xfrm xmlns:a="http://schemas.openxmlformats.org/drawingml/2006/main">
            <a:off x="4343400" y="4791075"/>
            <a:ext cx="2571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loại lớp lỗi phổ biến</a:t>
            </a:r>
          </a:p>
        </p:txBody>
      </p:sp>
      <p:sp>
        <p:nvSpPr>
          <p:cNvPr id="26" name="S12_QA_1">
            <a:extLst xmlns:a="http://schemas.openxmlformats.org/drawingml/2006/main">
              <a:ext uri="{FF2B5EF4-FFF2-40B4-BE49-F238E27FC236}">
                <a16:creationId xmlns:a16="http://schemas.microsoft.com/office/drawing/2014/main" id="{0F4793CB-0A89-4FBA-9BA1-9837005A1DD0}"/>
              </a:ext>
            </a:extLst>
          </p:cNvPr>
          <p:cNvSpPr>
            <a:spLocks xmlns:a="http://schemas.openxmlformats.org/drawingml/2006/main" noGrp="1"/>
          </p:cNvSpPr>
          <p:nvPr/>
        </p:nvSpPr>
        <p:spPr>
          <a:xfrm xmlns:a="http://schemas.openxmlformats.org/drawingml/2006/main">
            <a:off x="7181850" y="16954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CRASH XẢY RA Ở ĐÂU?</a:t>
            </a:r>
          </a:p>
        </p:txBody>
      </p:sp>
      <p:sp>
        <p:nvSpPr>
          <p:cNvPr id="27" name="S12_QA_2">
            <a:extLst xmlns:a="http://schemas.openxmlformats.org/drawingml/2006/main">
              <a:ext uri="{FF2B5EF4-FFF2-40B4-BE49-F238E27FC236}">
                <a16:creationId xmlns:a16="http://schemas.microsoft.com/office/drawing/2014/main" id="{3745778B-09AF-4D8C-ABEB-D5F7A50D16C4}"/>
              </a:ext>
            </a:extLst>
          </p:cNvPr>
          <p:cNvSpPr>
            <a:spLocks xmlns:a="http://schemas.openxmlformats.org/drawingml/2006/main" noGrp="1"/>
          </p:cNvSpPr>
          <p:nvPr/>
        </p:nvSpPr>
        <p:spPr>
          <a:xfrm xmlns:a="http://schemas.openxmlformats.org/drawingml/2006/main">
            <a:off x="9496425" y="16954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STACK CÓ BỊ GHI ĐÈ KHÔNG?</a:t>
            </a:r>
          </a:p>
        </p:txBody>
      </p:sp>
      <p:sp>
        <p:nvSpPr>
          <p:cNvPr id="28" name="S12_QA_3">
            <a:extLst xmlns:a="http://schemas.openxmlformats.org/drawingml/2006/main">
              <a:ext uri="{FF2B5EF4-FFF2-40B4-BE49-F238E27FC236}">
                <a16:creationId xmlns:a16="http://schemas.microsoft.com/office/drawing/2014/main" id="{5E642599-C1E4-4771-BFC6-3D46E29219DE}"/>
              </a:ext>
            </a:extLst>
          </p:cNvPr>
          <p:cNvSpPr>
            <a:spLocks xmlns:a="http://schemas.openxmlformats.org/drawingml/2006/main" noGrp="1"/>
          </p:cNvSpPr>
          <p:nvPr/>
        </p:nvSpPr>
        <p:spPr>
          <a:xfrm xmlns:a="http://schemas.openxmlformats.org/drawingml/2006/main">
            <a:off x="7181850" y="313690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ĐỘ DÀI INPUT BẮT ĐẦU LỖI?</a:t>
            </a:r>
          </a:p>
        </p:txBody>
      </p:sp>
      <p:sp>
        <p:nvSpPr>
          <p:cNvPr id="29" name="S12_QA_4">
            <a:extLst xmlns:a="http://schemas.openxmlformats.org/drawingml/2006/main">
              <a:ext uri="{FF2B5EF4-FFF2-40B4-BE49-F238E27FC236}">
                <a16:creationId xmlns:a16="http://schemas.microsoft.com/office/drawing/2014/main" id="{AD4391D2-A7E7-4F73-8E90-892BAAF1947F}"/>
              </a:ext>
            </a:extLst>
          </p:cNvPr>
          <p:cNvSpPr>
            <a:spLocks xmlns:a="http://schemas.openxmlformats.org/drawingml/2006/main" noGrp="1"/>
          </p:cNvSpPr>
          <p:nvPr/>
        </p:nvSpPr>
        <p:spPr>
          <a:xfrm xmlns:a="http://schemas.openxmlformats.org/drawingml/2006/main">
            <a:off x="9496425" y="313690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Bản vá hiệu quả vì chặn trước copy.</a:t>
            </a:r>
          </a:p>
        </p:txBody>
      </p:sp>
      <p:sp>
        <p:nvSpPr>
          <p:cNvPr id="30" name="S12_QA_5">
            <a:extLst xmlns:a="http://schemas.openxmlformats.org/drawingml/2006/main">
              <a:ext uri="{FF2B5EF4-FFF2-40B4-BE49-F238E27FC236}">
                <a16:creationId xmlns:a16="http://schemas.microsoft.com/office/drawing/2014/main" id="{B36308B7-03CA-42A4-8D5E-276E853DB468}"/>
              </a:ext>
            </a:extLst>
          </p:cNvPr>
          <p:cNvSpPr>
            <a:spLocks xmlns:a="http://schemas.openxmlformats.org/drawingml/2006/main" noGrp="1"/>
          </p:cNvSpPr>
          <p:nvPr/>
        </p:nvSpPr>
        <p:spPr>
          <a:xfrm xmlns:a="http://schemas.openxmlformats.org/drawingml/2006/main">
            <a:off x="7181850" y="45783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Canary/PIE/RELRO/NX là hardening, không root fix.</a:t>
            </a:r>
          </a:p>
        </p:txBody>
      </p:sp>
      <p:sp>
        <p:nvSpPr>
          <p:cNvPr id="31" name="S12_QA_6">
            <a:extLst xmlns:a="http://schemas.openxmlformats.org/drawingml/2006/main">
              <a:ext uri="{FF2B5EF4-FFF2-40B4-BE49-F238E27FC236}">
                <a16:creationId xmlns:a16="http://schemas.microsoft.com/office/drawing/2014/main" id="{B5E713C5-5064-4ED3-8BF9-A1613C2D1D97}"/>
              </a:ext>
            </a:extLst>
          </p:cNvPr>
          <p:cNvSpPr>
            <a:spLocks xmlns:a="http://schemas.openxmlformats.org/drawingml/2006/main" noGrp="1"/>
          </p:cNvSpPr>
          <p:nvPr/>
        </p:nvSpPr>
        <p:spPr>
          <a:xfrm xmlns:a="http://schemas.openxmlformats.org/drawingml/2006/main">
            <a:off x="9496425" y="45783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Retest input ngắn, 31 byte, 32+, 64 byte.</a:t>
            </a:r>
          </a:p>
        </p:txBody>
      </p:sp>
      <p:sp>
        <p:nvSpPr>
          <p:cNvPr id="32" name="S12_ORDER_BAR">
            <a:extLst xmlns:a="http://schemas.openxmlformats.org/drawingml/2006/main">
              <a:ext uri="{FF2B5EF4-FFF2-40B4-BE49-F238E27FC236}">
                <a16:creationId xmlns:a16="http://schemas.microsoft.com/office/drawing/2014/main" id="{549C9786-80EF-4B38-93A0-DBF64ED1058F}"/>
              </a:ext>
            </a:extLst>
          </p:cNvPr>
          <p:cNvSpPr>
            <a:spLocks xmlns:a="http://schemas.openxmlformats.org/drawingml/2006/main" noGrp="1"/>
          </p:cNvSpPr>
          <p:nvPr/>
        </p:nvSpPr>
        <p:spPr>
          <a:xfrm xmlns:a="http://schemas.openxmlformats.org/drawingml/2006/main">
            <a:off x="533400" y="5657850"/>
            <a:ext cx="76200" cy="0"/>
          </a:xfrm>
          <a:prstGeom xmlns:a="http://schemas.openxmlformats.org/drawingml/2006/main" prst="rect">
            <a:avLst/>
          </a:prstGeom>
          <a:ln xmlns:a="http://schemas.openxmlformats.org/drawingml/2006/main" w="0">
            <a:noFill/>
            <a:prstDash val="solid"/>
          </a:ln>
        </p:spPr>
      </p:sp>
      <p:sp>
        <p:nvSpPr>
          <p:cNvPr id="33" name="S12_ORDER_LABEL">
            <a:extLst xmlns:a="http://schemas.openxmlformats.org/drawingml/2006/main">
              <a:ext uri="{FF2B5EF4-FFF2-40B4-BE49-F238E27FC236}">
                <a16:creationId xmlns:a16="http://schemas.microsoft.com/office/drawing/2014/main" id="{500C8F49-5844-4E39-AEAC-E84F9DD45332}"/>
              </a:ext>
            </a:extLst>
          </p:cNvPr>
          <p:cNvSpPr>
            <a:spLocks xmlns:a="http://schemas.openxmlformats.org/drawingml/2006/main" noGrp="1"/>
          </p:cNvSpPr>
          <p:nvPr/>
        </p:nvSpPr>
        <p:spPr>
          <a:xfrm xmlns:a="http://schemas.openxmlformats.org/drawingml/2006/main">
            <a:off x="704850" y="5657850"/>
            <a:ext cx="1638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THỨ TỰ</a:t>
            </a:r>
          </a:p>
        </p:txBody>
      </p:sp>
      <p:sp>
        <p:nvSpPr>
          <p:cNvPr id="34" name="S12_ORDER_BODY">
            <a:extLst xmlns:a="http://schemas.openxmlformats.org/drawingml/2006/main">
              <a:ext uri="{FF2B5EF4-FFF2-40B4-BE49-F238E27FC236}">
                <a16:creationId xmlns:a16="http://schemas.microsoft.com/office/drawing/2014/main" id="{45BD0CF4-D77C-442A-A45D-52E38F901023}"/>
              </a:ext>
            </a:extLst>
          </p:cNvPr>
          <p:cNvSpPr>
            <a:spLocks xmlns:a="http://schemas.openxmlformats.org/drawingml/2006/main" noGrp="1"/>
          </p:cNvSpPr>
          <p:nvPr/>
        </p:nvSpPr>
        <p:spPr>
          <a:xfrm xmlns:a="http://schemas.openxmlformats.org/drawingml/2006/main">
            <a:off x="2438400" y="5657850"/>
            <a:ext cx="4457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Vá code → build hardening → kiểm thử boundary → ghi bằng chứng.</a:t>
            </a:r>
          </a:p>
        </p:txBody>
      </p:sp>
    </p:spTree>
    <p:extLst>
      <p:ext uri="{BB962C8B-B14F-4D97-AF65-F5344CB8AC3E}">
        <p14:creationId xmlns:p14="http://schemas.microsoft.com/office/powerpoint/2010/main" val="668487801"/>
      </p:ext>
    </p:extLst>
  </p:cSld>
</p:sld>
</file>

<file path=ppt/slides/slide1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2" name="S13_EYEBROW">
            <a:extLst xmlns:a="http://schemas.openxmlformats.org/drawingml/2006/main">
              <a:ext uri="{FF2B5EF4-FFF2-40B4-BE49-F238E27FC236}">
                <a16:creationId xmlns:a16="http://schemas.microsoft.com/office/drawing/2014/main" id="{262F5125-1751-4E00-A8F6-D10BB0E6EE94}"/>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3_TITLE">
            <a:extLst xmlns:a="http://schemas.openxmlformats.org/drawingml/2006/main">
              <a:ext uri="{FF2B5EF4-FFF2-40B4-BE49-F238E27FC236}">
                <a16:creationId xmlns:a16="http://schemas.microsoft.com/office/drawing/2014/main" id="{97E716A4-32B6-49B7-81A4-FD62FEC8B5C5}"/>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Kiểu dữ liệu hợp lệ vẫn có thể trái policy</a:t>
            </a:r>
          </a:p>
        </p:txBody>
      </p:sp>
      <p:sp>
        <p:nvSpPr>
          <p:cNvPr id="3" name="S13_SUBTITLE">
            <a:extLst xmlns:a="http://schemas.openxmlformats.org/drawingml/2006/main">
              <a:ext uri="{FF2B5EF4-FFF2-40B4-BE49-F238E27FC236}">
                <a16:creationId xmlns:a16="http://schemas.microsoft.com/office/drawing/2014/main" id="{CB25282B-9BD6-47BC-BFED-C071107D99CB}"/>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Price, invoice id, user id và role đều do browser kiểm soát cho tới khi server xác minh.</a:t>
            </a:r>
          </a:p>
        </p:txBody>
      </p:sp>
      <p:sp>
        <p:nvSpPr>
          <p:cNvPr id="4" name="S13_TITLE_RULE">
            <a:extLst xmlns:a="http://schemas.openxmlformats.org/drawingml/2006/main">
              <a:ext uri="{FF2B5EF4-FFF2-40B4-BE49-F238E27FC236}">
                <a16:creationId xmlns:a16="http://schemas.microsoft.com/office/drawing/2014/main" id="{5A587164-E5F4-4AE3-B9B1-1171CFF4C736}"/>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3_FOOTER_RULE">
            <a:extLst xmlns:a="http://schemas.openxmlformats.org/drawingml/2006/main">
              <a:ext uri="{FF2B5EF4-FFF2-40B4-BE49-F238E27FC236}">
                <a16:creationId xmlns:a16="http://schemas.microsoft.com/office/drawing/2014/main" id="{623AACF2-9C15-46B7-B4F4-3C7760151D2D}"/>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3_SOURCE">
            <a:extLst xmlns:a="http://schemas.openxmlformats.org/drawingml/2006/main">
              <a:ext uri="{FF2B5EF4-FFF2-40B4-BE49-F238E27FC236}">
                <a16:creationId xmlns:a16="http://schemas.microsoft.com/office/drawing/2014/main" id="{8221A6EE-BAD1-418E-8983-14FB922554F5}"/>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Lab03/app.py · services.py · authorization.py</a:t>
            </a:r>
          </a:p>
        </p:txBody>
      </p:sp>
      <p:sp>
        <p:nvSpPr>
          <p:cNvPr id="7" name="S13_NUMBER">
            <a:extLst xmlns:a="http://schemas.openxmlformats.org/drawingml/2006/main">
              <a:ext uri="{FF2B5EF4-FFF2-40B4-BE49-F238E27FC236}">
                <a16:creationId xmlns:a16="http://schemas.microsoft.com/office/drawing/2014/main" id="{1EBBC8D9-9C7B-4A0D-B9F4-3844D44EE2C9}"/>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13</a:t>
            </a:r>
          </a:p>
        </p:txBody>
      </p:sp>
      <p:sp>
        <p:nvSpPr>
          <p:cNvPr id="8" name="S13_BOUNDARY_ARROW_1">
            <a:extLst xmlns:a="http://schemas.openxmlformats.org/drawingml/2006/main">
              <a:ext uri="{FF2B5EF4-FFF2-40B4-BE49-F238E27FC236}">
                <a16:creationId xmlns:a16="http://schemas.microsoft.com/office/drawing/2014/main" id="{162AC180-D924-44AF-939E-63997E95B099}"/>
              </a:ext>
            </a:extLst>
          </p:cNvPr>
          <p:cNvSpPr>
            <a:spLocks xmlns:a="http://schemas.openxmlformats.org/drawingml/2006/main" noGrp="1"/>
          </p:cNvSpPr>
          <p:nvPr/>
        </p:nvSpPr>
        <p:spPr>
          <a:xfrm xmlns:a="http://schemas.openxmlformats.org/drawingml/2006/main">
            <a:off x="257175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3_BOUNDARY_ARROW_2">
            <a:extLst xmlns:a="http://schemas.openxmlformats.org/drawingml/2006/main">
              <a:ext uri="{FF2B5EF4-FFF2-40B4-BE49-F238E27FC236}">
                <a16:creationId xmlns:a16="http://schemas.microsoft.com/office/drawing/2014/main" id="{9A5D5139-2903-4881-B4DA-C22754CAC90A}"/>
              </a:ext>
            </a:extLst>
          </p:cNvPr>
          <p:cNvSpPr>
            <a:spLocks xmlns:a="http://schemas.openxmlformats.org/drawingml/2006/main" noGrp="1"/>
          </p:cNvSpPr>
          <p:nvPr/>
        </p:nvSpPr>
        <p:spPr>
          <a:xfrm xmlns:a="http://schemas.openxmlformats.org/drawingml/2006/main">
            <a:off x="487680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3_BOUNDARY_ARROW_3">
            <a:extLst xmlns:a="http://schemas.openxmlformats.org/drawingml/2006/main">
              <a:ext uri="{FF2B5EF4-FFF2-40B4-BE49-F238E27FC236}">
                <a16:creationId xmlns:a16="http://schemas.microsoft.com/office/drawing/2014/main" id="{F4EEDDA1-04FA-4FEC-AE2A-A8D03850535D}"/>
              </a:ext>
            </a:extLst>
          </p:cNvPr>
          <p:cNvSpPr>
            <a:spLocks xmlns:a="http://schemas.openxmlformats.org/drawingml/2006/main" noGrp="1"/>
          </p:cNvSpPr>
          <p:nvPr/>
        </p:nvSpPr>
        <p:spPr>
          <a:xfrm xmlns:a="http://schemas.openxmlformats.org/drawingml/2006/main">
            <a:off x="718185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13_BOUNDARY_ARROW_4">
            <a:extLst xmlns:a="http://schemas.openxmlformats.org/drawingml/2006/main">
              <a:ext uri="{FF2B5EF4-FFF2-40B4-BE49-F238E27FC236}">
                <a16:creationId xmlns:a16="http://schemas.microsoft.com/office/drawing/2014/main" id="{D437C859-01E2-4974-91B2-921824BC2CFE}"/>
              </a:ext>
            </a:extLst>
          </p:cNvPr>
          <p:cNvSpPr>
            <a:spLocks xmlns:a="http://schemas.openxmlformats.org/drawingml/2006/main" noGrp="1"/>
          </p:cNvSpPr>
          <p:nvPr/>
        </p:nvSpPr>
        <p:spPr>
          <a:xfrm xmlns:a="http://schemas.openxmlformats.org/drawingml/2006/main">
            <a:off x="948690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13_BOUNDARY_NODE_1">
            <a:extLst xmlns:a="http://schemas.openxmlformats.org/drawingml/2006/main">
              <a:ext uri="{FF2B5EF4-FFF2-40B4-BE49-F238E27FC236}">
                <a16:creationId xmlns:a16="http://schemas.microsoft.com/office/drawing/2014/main" id="{61169FDF-6DD0-45BC-A271-4E38DEFB7DDC}"/>
              </a:ext>
            </a:extLst>
          </p:cNvPr>
          <p:cNvSpPr>
            <a:spLocks xmlns:a="http://schemas.openxmlformats.org/drawingml/2006/main" noGrp="1"/>
          </p:cNvSpPr>
          <p:nvPr/>
        </p:nvSpPr>
        <p:spPr>
          <a:xfrm xmlns:a="http://schemas.openxmlformats.org/drawingml/2006/main">
            <a:off x="53340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FORM / URL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HIDDEN / COOKIE</a:t>
            </a:r>
          </a:p>
        </p:txBody>
      </p:sp>
      <p:sp>
        <p:nvSpPr>
          <p:cNvPr id="13" name="S13_BOUNDARY_NODE_2">
            <a:extLst xmlns:a="http://schemas.openxmlformats.org/drawingml/2006/main">
              <a:ext uri="{FF2B5EF4-FFF2-40B4-BE49-F238E27FC236}">
                <a16:creationId xmlns:a16="http://schemas.microsoft.com/office/drawing/2014/main" id="{727A17FE-0642-4592-9AA8-05AC92DE722D}"/>
              </a:ext>
            </a:extLst>
          </p:cNvPr>
          <p:cNvSpPr>
            <a:spLocks xmlns:a="http://schemas.openxmlformats.org/drawingml/2006/main" noGrp="1"/>
          </p:cNvSpPr>
          <p:nvPr/>
        </p:nvSpPr>
        <p:spPr>
          <a:xfrm xmlns:a="http://schemas.openxmlformats.org/drawingml/2006/main">
            <a:off x="283845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14" name="S13_BOUNDARY_NODE_3">
            <a:extLst xmlns:a="http://schemas.openxmlformats.org/drawingml/2006/main">
              <a:ext uri="{FF2B5EF4-FFF2-40B4-BE49-F238E27FC236}">
                <a16:creationId xmlns:a16="http://schemas.microsoft.com/office/drawing/2014/main" id="{8BF558FB-BC91-4F11-8053-2311704DA109}"/>
              </a:ext>
            </a:extLst>
          </p:cNvPr>
          <p:cNvSpPr>
            <a:spLocks xmlns:a="http://schemas.openxmlformats.org/drawingml/2006/main" noGrp="1"/>
          </p:cNvSpPr>
          <p:nvPr/>
        </p:nvSpPr>
        <p:spPr>
          <a:xfrm xmlns:a="http://schemas.openxmlformats.org/drawingml/2006/main">
            <a:off x="514350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VALIDATION</a:t>
            </a:r>
          </a:p>
        </p:txBody>
      </p:sp>
      <p:sp>
        <p:nvSpPr>
          <p:cNvPr id="15" name="S13_BOUNDARY_NODE_4">
            <a:extLst xmlns:a="http://schemas.openxmlformats.org/drawingml/2006/main">
              <a:ext uri="{FF2B5EF4-FFF2-40B4-BE49-F238E27FC236}">
                <a16:creationId xmlns:a16="http://schemas.microsoft.com/office/drawing/2014/main" id="{3CCBFB9E-CC01-4110-BC9F-0EB5B53842A7}"/>
              </a:ext>
            </a:extLst>
          </p:cNvPr>
          <p:cNvSpPr>
            <a:spLocks xmlns:a="http://schemas.openxmlformats.org/drawingml/2006/main" noGrp="1"/>
          </p:cNvSpPr>
          <p:nvPr/>
        </p:nvSpPr>
        <p:spPr>
          <a:xfrm xmlns:a="http://schemas.openxmlformats.org/drawingml/2006/main">
            <a:off x="744855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AUTHORIZATION</a:t>
            </a:r>
          </a:p>
        </p:txBody>
      </p:sp>
      <p:sp>
        <p:nvSpPr>
          <p:cNvPr id="16" name="S13_BOUNDARY_NODE_5">
            <a:extLst xmlns:a="http://schemas.openxmlformats.org/drawingml/2006/main">
              <a:ext uri="{FF2B5EF4-FFF2-40B4-BE49-F238E27FC236}">
                <a16:creationId xmlns:a16="http://schemas.microsoft.com/office/drawing/2014/main" id="{ACADDBA9-94F1-40E9-AA33-6F075A7CEC8C}"/>
              </a:ext>
            </a:extLst>
          </p:cNvPr>
          <p:cNvSpPr>
            <a:spLocks xmlns:a="http://schemas.openxmlformats.org/drawingml/2006/main" noGrp="1"/>
          </p:cNvSpPr>
          <p:nvPr/>
        </p:nvSpPr>
        <p:spPr>
          <a:xfrm xmlns:a="http://schemas.openxmlformats.org/drawingml/2006/main">
            <a:off x="975360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 RESPONSE</a:t>
            </a:r>
          </a:p>
        </p:txBody>
      </p:sp>
      <p:sp>
        <p:nvSpPr>
          <p:cNvPr id="17" name="S13_PARAMS_H0">
            <a:extLst xmlns:a="http://schemas.openxmlformats.org/drawingml/2006/main">
              <a:ext uri="{FF2B5EF4-FFF2-40B4-BE49-F238E27FC236}">
                <a16:creationId xmlns:a16="http://schemas.microsoft.com/office/drawing/2014/main" id="{25A5EDBA-2420-4557-8482-0DF7E9CB9C5C}"/>
              </a:ext>
            </a:extLst>
          </p:cNvPr>
          <p:cNvSpPr>
            <a:spLocks xmlns:a="http://schemas.openxmlformats.org/drawingml/2006/main" noGrp="1"/>
          </p:cNvSpPr>
          <p:nvPr/>
        </p:nvSpPr>
        <p:spPr>
          <a:xfrm xmlns:a="http://schemas.openxmlformats.org/drawingml/2006/main">
            <a:off x="533400" y="3181350"/>
            <a:ext cx="2095500" cy="5762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PARAMETER</a:t>
            </a:r>
          </a:p>
        </p:txBody>
      </p:sp>
      <p:sp>
        <p:nvSpPr>
          <p:cNvPr id="18" name="S13_PARAMS_H1">
            <a:extLst xmlns:a="http://schemas.openxmlformats.org/drawingml/2006/main">
              <a:ext uri="{FF2B5EF4-FFF2-40B4-BE49-F238E27FC236}">
                <a16:creationId xmlns:a16="http://schemas.microsoft.com/office/drawing/2014/main" id="{7FFF570F-8F24-461C-81B7-2EA66D3FE2E1}"/>
              </a:ext>
            </a:extLst>
          </p:cNvPr>
          <p:cNvSpPr>
            <a:spLocks xmlns:a="http://schemas.openxmlformats.org/drawingml/2006/main" noGrp="1"/>
          </p:cNvSpPr>
          <p:nvPr/>
        </p:nvSpPr>
        <p:spPr>
          <a:xfrm xmlns:a="http://schemas.openxmlformats.org/drawingml/2006/main">
            <a:off x="2628900" y="3181350"/>
            <a:ext cx="3048000" cy="5762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HỢP LỆ VỀ KIỂU</a:t>
            </a:r>
          </a:p>
        </p:txBody>
      </p:sp>
      <p:sp>
        <p:nvSpPr>
          <p:cNvPr id="19" name="S13_PARAMS_H2">
            <a:extLst xmlns:a="http://schemas.openxmlformats.org/drawingml/2006/main">
              <a:ext uri="{FF2B5EF4-FFF2-40B4-BE49-F238E27FC236}">
                <a16:creationId xmlns:a16="http://schemas.microsoft.com/office/drawing/2014/main" id="{EF588B82-C360-474E-8EB6-BE9693EF5E9C}"/>
              </a:ext>
            </a:extLst>
          </p:cNvPr>
          <p:cNvSpPr>
            <a:spLocks xmlns:a="http://schemas.openxmlformats.org/drawingml/2006/main" noGrp="1"/>
          </p:cNvSpPr>
          <p:nvPr/>
        </p:nvSpPr>
        <p:spPr>
          <a:xfrm xmlns:a="http://schemas.openxmlformats.org/drawingml/2006/main">
            <a:off x="5676900" y="3181350"/>
            <a:ext cx="5981700" cy="5762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CÂU HỎI POLICY</a:t>
            </a:r>
          </a:p>
        </p:txBody>
      </p:sp>
      <p:sp>
        <p:nvSpPr>
          <p:cNvPr id="20" name="S13_PARAMS_R0C0">
            <a:extLst xmlns:a="http://schemas.openxmlformats.org/drawingml/2006/main">
              <a:ext uri="{FF2B5EF4-FFF2-40B4-BE49-F238E27FC236}">
                <a16:creationId xmlns:a16="http://schemas.microsoft.com/office/drawing/2014/main" id="{359C9BBE-8000-4888-9004-378032E24BCA}"/>
              </a:ext>
            </a:extLst>
          </p:cNvPr>
          <p:cNvSpPr>
            <a:spLocks xmlns:a="http://schemas.openxmlformats.org/drawingml/2006/main" noGrp="1"/>
          </p:cNvSpPr>
          <p:nvPr/>
        </p:nvSpPr>
        <p:spPr>
          <a:xfrm xmlns:a="http://schemas.openxmlformats.org/drawingml/2006/main">
            <a:off x="533400" y="3757613"/>
            <a:ext cx="20955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price=1</a:t>
            </a:r>
          </a:p>
        </p:txBody>
      </p:sp>
      <p:sp>
        <p:nvSpPr>
          <p:cNvPr id="21" name="S13_PARAMS_R0C1">
            <a:extLst xmlns:a="http://schemas.openxmlformats.org/drawingml/2006/main">
              <a:ext uri="{FF2B5EF4-FFF2-40B4-BE49-F238E27FC236}">
                <a16:creationId xmlns:a16="http://schemas.microsoft.com/office/drawing/2014/main" id="{880B2089-727F-4ED3-870F-4F7C1F1AA0EE}"/>
              </a:ext>
            </a:extLst>
          </p:cNvPr>
          <p:cNvSpPr>
            <a:spLocks xmlns:a="http://schemas.openxmlformats.org/drawingml/2006/main" noGrp="1"/>
          </p:cNvSpPr>
          <p:nvPr/>
        </p:nvSpPr>
        <p:spPr>
          <a:xfrm xmlns:a="http://schemas.openxmlformats.org/drawingml/2006/main">
            <a:off x="2628900" y="3757613"/>
            <a:ext cx="30480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integer</a:t>
            </a:r>
          </a:p>
        </p:txBody>
      </p:sp>
      <p:sp>
        <p:nvSpPr>
          <p:cNvPr id="22" name="S13_PARAMS_R0C2">
            <a:extLst xmlns:a="http://schemas.openxmlformats.org/drawingml/2006/main">
              <a:ext uri="{FF2B5EF4-FFF2-40B4-BE49-F238E27FC236}">
                <a16:creationId xmlns:a16="http://schemas.microsoft.com/office/drawing/2014/main" id="{8ABA5AB8-A753-4C76-8D68-88F8C5279C93}"/>
              </a:ext>
            </a:extLst>
          </p:cNvPr>
          <p:cNvSpPr>
            <a:spLocks xmlns:a="http://schemas.openxmlformats.org/drawingml/2006/main" noGrp="1"/>
          </p:cNvSpPr>
          <p:nvPr/>
        </p:nvSpPr>
        <p:spPr>
          <a:xfrm xmlns:a="http://schemas.openxmlformats.org/drawingml/2006/main">
            <a:off x="5676900" y="3757613"/>
            <a:ext cx="59817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 phải giá từ DB?</a:t>
            </a:r>
          </a:p>
        </p:txBody>
      </p:sp>
      <p:sp>
        <p:nvSpPr>
          <p:cNvPr id="23" name="S13_PARAMS_R1C0">
            <a:extLst xmlns:a="http://schemas.openxmlformats.org/drawingml/2006/main">
              <a:ext uri="{FF2B5EF4-FFF2-40B4-BE49-F238E27FC236}">
                <a16:creationId xmlns:a16="http://schemas.microsoft.com/office/drawing/2014/main" id="{75D66B7E-794A-4F1C-8A01-AFCEB440EF21}"/>
              </a:ext>
            </a:extLst>
          </p:cNvPr>
          <p:cNvSpPr>
            <a:spLocks xmlns:a="http://schemas.openxmlformats.org/drawingml/2006/main" noGrp="1"/>
          </p:cNvSpPr>
          <p:nvPr/>
        </p:nvSpPr>
        <p:spPr>
          <a:xfrm xmlns:a="http://schemas.openxmlformats.org/drawingml/2006/main">
            <a:off x="533400" y="4333875"/>
            <a:ext cx="2095500" cy="5762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id=1002</a:t>
            </a:r>
          </a:p>
        </p:txBody>
      </p:sp>
      <p:sp>
        <p:nvSpPr>
          <p:cNvPr id="24" name="S13_PARAMS_R1C1">
            <a:extLst xmlns:a="http://schemas.openxmlformats.org/drawingml/2006/main">
              <a:ext uri="{FF2B5EF4-FFF2-40B4-BE49-F238E27FC236}">
                <a16:creationId xmlns:a16="http://schemas.microsoft.com/office/drawing/2014/main" id="{2E4F987B-CF4D-46E0-8920-9B3CD573905B}"/>
              </a:ext>
            </a:extLst>
          </p:cNvPr>
          <p:cNvSpPr>
            <a:spLocks xmlns:a="http://schemas.openxmlformats.org/drawingml/2006/main" noGrp="1"/>
          </p:cNvSpPr>
          <p:nvPr/>
        </p:nvSpPr>
        <p:spPr>
          <a:xfrm xmlns:a="http://schemas.openxmlformats.org/drawingml/2006/main">
            <a:off x="2628900" y="4333875"/>
            <a:ext cx="3048000" cy="5762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integer</a:t>
            </a:r>
          </a:p>
        </p:txBody>
      </p:sp>
      <p:sp>
        <p:nvSpPr>
          <p:cNvPr id="25" name="S13_PARAMS_R1C2">
            <a:extLst xmlns:a="http://schemas.openxmlformats.org/drawingml/2006/main">
              <a:ext uri="{FF2B5EF4-FFF2-40B4-BE49-F238E27FC236}">
                <a16:creationId xmlns:a16="http://schemas.microsoft.com/office/drawing/2014/main" id="{BF9297DA-AFC0-452F-86BC-B45A2DED6890}"/>
              </a:ext>
            </a:extLst>
          </p:cNvPr>
          <p:cNvSpPr>
            <a:spLocks xmlns:a="http://schemas.openxmlformats.org/drawingml/2006/main" noGrp="1"/>
          </p:cNvSpPr>
          <p:nvPr/>
        </p:nvSpPr>
        <p:spPr>
          <a:xfrm xmlns:a="http://schemas.openxmlformats.org/drawingml/2006/main">
            <a:off x="5676900" y="4333875"/>
            <a:ext cx="5981700" cy="5762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user có sở hữu invoice?</a:t>
            </a:r>
          </a:p>
        </p:txBody>
      </p:sp>
      <p:sp>
        <p:nvSpPr>
          <p:cNvPr id="26" name="S13_PARAMS_R2C0">
            <a:extLst xmlns:a="http://schemas.openxmlformats.org/drawingml/2006/main">
              <a:ext uri="{FF2B5EF4-FFF2-40B4-BE49-F238E27FC236}">
                <a16:creationId xmlns:a16="http://schemas.microsoft.com/office/drawing/2014/main" id="{FC3EAF0F-D158-4C3F-BD78-AC189CD25A27}"/>
              </a:ext>
            </a:extLst>
          </p:cNvPr>
          <p:cNvSpPr>
            <a:spLocks xmlns:a="http://schemas.openxmlformats.org/drawingml/2006/main" noGrp="1"/>
          </p:cNvSpPr>
          <p:nvPr/>
        </p:nvSpPr>
        <p:spPr>
          <a:xfrm xmlns:a="http://schemas.openxmlformats.org/drawingml/2006/main">
            <a:off x="533400" y="4910138"/>
            <a:ext cx="20955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role=admin</a:t>
            </a:r>
          </a:p>
        </p:txBody>
      </p:sp>
      <p:sp>
        <p:nvSpPr>
          <p:cNvPr id="27" name="S13_PARAMS_R2C1">
            <a:extLst xmlns:a="http://schemas.openxmlformats.org/drawingml/2006/main">
              <a:ext uri="{FF2B5EF4-FFF2-40B4-BE49-F238E27FC236}">
                <a16:creationId xmlns:a16="http://schemas.microsoft.com/office/drawing/2014/main" id="{773B6A48-0563-406B-AF2E-4E851CB15801}"/>
              </a:ext>
            </a:extLst>
          </p:cNvPr>
          <p:cNvSpPr>
            <a:spLocks xmlns:a="http://schemas.openxmlformats.org/drawingml/2006/main" noGrp="1"/>
          </p:cNvSpPr>
          <p:nvPr/>
        </p:nvSpPr>
        <p:spPr>
          <a:xfrm xmlns:a="http://schemas.openxmlformats.org/drawingml/2006/main">
            <a:off x="2628900" y="4910138"/>
            <a:ext cx="30480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enum/string</a:t>
            </a:r>
          </a:p>
        </p:txBody>
      </p:sp>
      <p:sp>
        <p:nvSpPr>
          <p:cNvPr id="28" name="S13_PARAMS_R2C2">
            <a:extLst xmlns:a="http://schemas.openxmlformats.org/drawingml/2006/main">
              <a:ext uri="{FF2B5EF4-FFF2-40B4-BE49-F238E27FC236}">
                <a16:creationId xmlns:a16="http://schemas.microsoft.com/office/drawing/2014/main" id="{33743FBD-B5FF-4D85-A281-77F48FDB626B}"/>
              </a:ext>
            </a:extLst>
          </p:cNvPr>
          <p:cNvSpPr>
            <a:spLocks xmlns:a="http://schemas.openxmlformats.org/drawingml/2006/main" noGrp="1"/>
          </p:cNvSpPr>
          <p:nvPr/>
        </p:nvSpPr>
        <p:spPr>
          <a:xfrm xmlns:a="http://schemas.openxmlformats.org/drawingml/2006/main">
            <a:off x="5676900" y="4910138"/>
            <a:ext cx="59817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client có quyền đổi role?</a:t>
            </a:r>
          </a:p>
        </p:txBody>
      </p:sp>
      <p:sp>
        <p:nvSpPr>
          <p:cNvPr id="29" name="S13_KEY_BAR">
            <a:extLst xmlns:a="http://schemas.openxmlformats.org/drawingml/2006/main">
              <a:ext uri="{FF2B5EF4-FFF2-40B4-BE49-F238E27FC236}">
                <a16:creationId xmlns:a16="http://schemas.microsoft.com/office/drawing/2014/main" id="{01589CF9-B837-4566-A639-99BF21139E8B}"/>
              </a:ext>
            </a:extLst>
          </p:cNvPr>
          <p:cNvSpPr>
            <a:spLocks xmlns:a="http://schemas.openxmlformats.org/drawingml/2006/main" noGrp="1"/>
          </p:cNvSpPr>
          <p:nvPr/>
        </p:nvSpPr>
        <p:spPr>
          <a:xfrm xmlns:a="http://schemas.openxmlformats.org/drawingml/2006/main">
            <a:off x="533400" y="5753100"/>
            <a:ext cx="76200" cy="0"/>
          </a:xfrm>
          <a:prstGeom xmlns:a="http://schemas.openxmlformats.org/drawingml/2006/main" prst="rect">
            <a:avLst/>
          </a:prstGeom>
          <a:ln xmlns:a="http://schemas.openxmlformats.org/drawingml/2006/main" w="0">
            <a:noFill/>
            <a:prstDash val="solid"/>
          </a:ln>
        </p:spPr>
      </p:sp>
      <p:sp>
        <p:nvSpPr>
          <p:cNvPr id="30" name="S13_KEY_LABEL">
            <a:extLst xmlns:a="http://schemas.openxmlformats.org/drawingml/2006/main">
              <a:ext uri="{FF2B5EF4-FFF2-40B4-BE49-F238E27FC236}">
                <a16:creationId xmlns:a16="http://schemas.microsoft.com/office/drawing/2014/main" id="{736D0D33-835C-4578-87C8-69D4CE38DB4B}"/>
              </a:ext>
            </a:extLst>
          </p:cNvPr>
          <p:cNvSpPr>
            <a:spLocks xmlns:a="http://schemas.openxmlformats.org/drawingml/2006/main" noGrp="1"/>
          </p:cNvSpPr>
          <p:nvPr/>
        </p:nvSpPr>
        <p:spPr>
          <a:xfrm xmlns:a="http://schemas.openxmlformats.org/drawingml/2006/main">
            <a:off x="704850" y="5753100"/>
            <a:ext cx="1638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KEY IDEA</a:t>
            </a:r>
          </a:p>
        </p:txBody>
      </p:sp>
      <p:sp>
        <p:nvSpPr>
          <p:cNvPr id="31" name="S13_KEY_BODY">
            <a:extLst xmlns:a="http://schemas.openxmlformats.org/drawingml/2006/main">
              <a:ext uri="{FF2B5EF4-FFF2-40B4-BE49-F238E27FC236}">
                <a16:creationId xmlns:a16="http://schemas.microsoft.com/office/drawing/2014/main" id="{D54622B2-79C5-4C3B-872F-B1942F5145E4}"/>
              </a:ext>
            </a:extLst>
          </p:cNvPr>
          <p:cNvSpPr>
            <a:spLocks xmlns:a="http://schemas.openxmlformats.org/drawingml/2006/main" noGrp="1"/>
          </p:cNvSpPr>
          <p:nvPr/>
        </p:nvSpPr>
        <p:spPr>
          <a:xfrm xmlns:a="http://schemas.openxmlformats.org/drawingml/2006/main">
            <a:off x="2438400" y="5753100"/>
            <a:ext cx="9201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Hidden field chỉ ẩn khỏi giao diện; nó không trở thành dữ liệu tin cậy.</a:t>
            </a:r>
          </a:p>
        </p:txBody>
      </p:sp>
    </p:spTree>
    <p:extLst>
      <p:ext uri="{BB962C8B-B14F-4D97-AF65-F5344CB8AC3E}">
        <p14:creationId xmlns:p14="http://schemas.microsoft.com/office/powerpoint/2010/main" val="1722208701"/>
      </p:ext>
    </p:extLst>
  </p:cSld>
</p:sld>
</file>

<file path=ppt/slides/slide1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3" name="S14_EYEBROW">
            <a:extLst xmlns:a="http://schemas.openxmlformats.org/drawingml/2006/main">
              <a:ext uri="{FF2B5EF4-FFF2-40B4-BE49-F238E27FC236}">
                <a16:creationId xmlns:a16="http://schemas.microsoft.com/office/drawing/2014/main" id="{4CD5E26E-57D4-48FD-AD9A-854B9B3691DB}"/>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4_TITLE">
            <a:extLst xmlns:a="http://schemas.openxmlformats.org/drawingml/2006/main">
              <a:ext uri="{FF2B5EF4-FFF2-40B4-BE49-F238E27FC236}">
                <a16:creationId xmlns:a16="http://schemas.microsoft.com/office/drawing/2014/main" id="{8FA8EBB8-4EAB-4511-867C-622364EFC9F1}"/>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Giá phải được quyết định ở server</a:t>
            </a:r>
          </a:p>
        </p:txBody>
      </p:sp>
      <p:sp>
        <p:nvSpPr>
          <p:cNvPr id="3" name="S14_SUBTITLE">
            <a:extLst xmlns:a="http://schemas.openxmlformats.org/drawingml/2006/main">
              <a:ext uri="{FF2B5EF4-FFF2-40B4-BE49-F238E27FC236}">
                <a16:creationId xmlns:a16="http://schemas.microsoft.com/office/drawing/2014/main" id="{399CCAC9-4538-48C9-B9CE-9371BF71D38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Client chỉ gửi product_id và quantity; server đọc price_vnd từ products.</a:t>
            </a:r>
          </a:p>
        </p:txBody>
      </p:sp>
      <p:sp>
        <p:nvSpPr>
          <p:cNvPr id="4" name="S14_TITLE_RULE">
            <a:extLst xmlns:a="http://schemas.openxmlformats.org/drawingml/2006/main">
              <a:ext uri="{FF2B5EF4-FFF2-40B4-BE49-F238E27FC236}">
                <a16:creationId xmlns:a16="http://schemas.microsoft.com/office/drawing/2014/main" id="{1C81C691-418D-4AA1-A1EE-3C92EEAFD74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4_FOOTER_RULE">
            <a:extLst xmlns:a="http://schemas.openxmlformats.org/drawingml/2006/main">
              <a:ext uri="{FF2B5EF4-FFF2-40B4-BE49-F238E27FC236}">
                <a16:creationId xmlns:a16="http://schemas.microsoft.com/office/drawing/2014/main" id="{C345D8B1-0F58-4CC4-9A06-8528FE51FE07}"/>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4_SOURCE">
            <a:extLst xmlns:a="http://schemas.openxmlformats.org/drawingml/2006/main">
              <a:ext uri="{FF2B5EF4-FFF2-40B4-BE49-F238E27FC236}">
                <a16:creationId xmlns:a16="http://schemas.microsoft.com/office/drawing/2014/main" id="{DE04DA1D-D909-4FB8-8F56-F99125FF5A2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Lab03/services.py · seed.py product 5</a:t>
            </a:r>
          </a:p>
        </p:txBody>
      </p:sp>
      <p:sp>
        <p:nvSpPr>
          <p:cNvPr id="7" name="S14_NUMBER">
            <a:extLst xmlns:a="http://schemas.openxmlformats.org/drawingml/2006/main">
              <a:ext uri="{FF2B5EF4-FFF2-40B4-BE49-F238E27FC236}">
                <a16:creationId xmlns:a16="http://schemas.microsoft.com/office/drawing/2014/main" id="{1D844B35-AB43-4C8C-B464-02038C16D1C4}"/>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14</a:t>
            </a:r>
          </a:p>
        </p:txBody>
      </p:sp>
      <p:sp>
        <p:nvSpPr>
          <p:cNvPr id="8" name="S14_VULN_ARROW_1">
            <a:extLst xmlns:a="http://schemas.openxmlformats.org/drawingml/2006/main">
              <a:ext uri="{FF2B5EF4-FFF2-40B4-BE49-F238E27FC236}">
                <a16:creationId xmlns:a16="http://schemas.microsoft.com/office/drawing/2014/main" id="{393E578B-116B-40C8-8F1A-16BC1B8007B6}"/>
              </a:ext>
            </a:extLst>
          </p:cNvPr>
          <p:cNvSpPr>
            <a:spLocks xmlns:a="http://schemas.openxmlformats.org/drawingml/2006/main" noGrp="1"/>
          </p:cNvSpPr>
          <p:nvPr/>
        </p:nvSpPr>
        <p:spPr>
          <a:xfrm xmlns:a="http://schemas.openxmlformats.org/drawingml/2006/main">
            <a:off x="191452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14_VULN_ARROW_2">
            <a:extLst xmlns:a="http://schemas.openxmlformats.org/drawingml/2006/main">
              <a:ext uri="{FF2B5EF4-FFF2-40B4-BE49-F238E27FC236}">
                <a16:creationId xmlns:a16="http://schemas.microsoft.com/office/drawing/2014/main" id="{38833924-8D12-4873-BE03-405E535B01D8}"/>
              </a:ext>
            </a:extLst>
          </p:cNvPr>
          <p:cNvSpPr>
            <a:spLocks xmlns:a="http://schemas.openxmlformats.org/drawingml/2006/main" noGrp="1"/>
          </p:cNvSpPr>
          <p:nvPr/>
        </p:nvSpPr>
        <p:spPr>
          <a:xfrm xmlns:a="http://schemas.openxmlformats.org/drawingml/2006/main">
            <a:off x="3562350"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14_VULN_ARROW_3">
            <a:extLst xmlns:a="http://schemas.openxmlformats.org/drawingml/2006/main">
              <a:ext uri="{FF2B5EF4-FFF2-40B4-BE49-F238E27FC236}">
                <a16:creationId xmlns:a16="http://schemas.microsoft.com/office/drawing/2014/main" id="{B27774CB-FDA5-478F-A61E-4D98CFF6477C}"/>
              </a:ext>
            </a:extLst>
          </p:cNvPr>
          <p:cNvSpPr>
            <a:spLocks xmlns:a="http://schemas.openxmlformats.org/drawingml/2006/main" noGrp="1"/>
          </p:cNvSpPr>
          <p:nvPr/>
        </p:nvSpPr>
        <p:spPr>
          <a:xfrm xmlns:a="http://schemas.openxmlformats.org/drawingml/2006/main">
            <a:off x="521017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14_VULN_NODE_1">
            <a:extLst xmlns:a="http://schemas.openxmlformats.org/drawingml/2006/main">
              <a:ext uri="{FF2B5EF4-FFF2-40B4-BE49-F238E27FC236}">
                <a16:creationId xmlns:a16="http://schemas.microsoft.com/office/drawing/2014/main" id="{931D239F-CD6F-4DC7-A273-BC2AB34D3489}"/>
              </a:ext>
            </a:extLst>
          </p:cNvPr>
          <p:cNvSpPr>
            <a:spLocks xmlns:a="http://schemas.openxmlformats.org/drawingml/2006/main" noGrp="1"/>
          </p:cNvSpPr>
          <p:nvPr/>
        </p:nvSpPr>
        <p:spPr>
          <a:xfrm xmlns:a="http://schemas.openxmlformats.org/drawingml/2006/main">
            <a:off x="53340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price=1</a:t>
            </a:r>
          </a:p>
        </p:txBody>
      </p:sp>
      <p:sp>
        <p:nvSpPr>
          <p:cNvPr id="12" name="S14_VULN_NODE_2">
            <a:extLst xmlns:a="http://schemas.openxmlformats.org/drawingml/2006/main">
              <a:ext uri="{FF2B5EF4-FFF2-40B4-BE49-F238E27FC236}">
                <a16:creationId xmlns:a16="http://schemas.microsoft.com/office/drawing/2014/main" id="{B658DCB1-D686-48FB-A7D4-B83562C38F81}"/>
              </a:ext>
            </a:extLst>
          </p:cNvPr>
          <p:cNvSpPr>
            <a:spLocks xmlns:a="http://schemas.openxmlformats.org/drawingml/2006/main" noGrp="1"/>
          </p:cNvSpPr>
          <p:nvPr/>
        </p:nvSpPr>
        <p:spPr>
          <a:xfrm xmlns:a="http://schemas.openxmlformats.org/drawingml/2006/main">
            <a:off x="218122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request.form</a:t>
            </a:r>
          </a:p>
        </p:txBody>
      </p:sp>
      <p:sp>
        <p:nvSpPr>
          <p:cNvPr id="13" name="S14_VULN_NODE_3">
            <a:extLst xmlns:a="http://schemas.openxmlformats.org/drawingml/2006/main">
              <a:ext uri="{FF2B5EF4-FFF2-40B4-BE49-F238E27FC236}">
                <a16:creationId xmlns:a16="http://schemas.microsoft.com/office/drawing/2014/main" id="{E05840FA-CAF5-4AEF-96B8-9349CE5AE53F}"/>
              </a:ext>
            </a:extLst>
          </p:cNvPr>
          <p:cNvSpPr>
            <a:spLocks xmlns:a="http://schemas.openxmlformats.org/drawingml/2006/main" noGrp="1"/>
          </p:cNvSpPr>
          <p:nvPr/>
        </p:nvSpPr>
        <p:spPr>
          <a:xfrm xmlns:a="http://schemas.openxmlformats.org/drawingml/2006/main">
            <a:off x="382905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total=1×qty</a:t>
            </a:r>
          </a:p>
        </p:txBody>
      </p:sp>
      <p:sp>
        <p:nvSpPr>
          <p:cNvPr id="14" name="S14_VULN_NODE_4">
            <a:extLst xmlns:a="http://schemas.openxmlformats.org/drawingml/2006/main">
              <a:ext uri="{FF2B5EF4-FFF2-40B4-BE49-F238E27FC236}">
                <a16:creationId xmlns:a16="http://schemas.microsoft.com/office/drawing/2014/main" id="{FE321A6C-520A-4C1B-88B4-C933299AA40B}"/>
              </a:ext>
            </a:extLst>
          </p:cNvPr>
          <p:cNvSpPr>
            <a:spLocks xmlns:a="http://schemas.openxmlformats.org/drawingml/2006/main" noGrp="1"/>
          </p:cNvSpPr>
          <p:nvPr/>
        </p:nvSpPr>
        <p:spPr>
          <a:xfrm xmlns:a="http://schemas.openxmlformats.org/drawingml/2006/main">
            <a:off x="547687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ORDER SAI</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price=1 được chấp nhận</a:t>
            </a:r>
          </a:p>
        </p:txBody>
      </p:sp>
      <p:sp>
        <p:nvSpPr>
          <p:cNvPr id="15" name="S14_SAFE_ARROW_1">
            <a:extLst xmlns:a="http://schemas.openxmlformats.org/drawingml/2006/main">
              <a:ext uri="{FF2B5EF4-FFF2-40B4-BE49-F238E27FC236}">
                <a16:creationId xmlns:a16="http://schemas.microsoft.com/office/drawing/2014/main" id="{BD1BB788-C9C1-4F63-B150-8D1103C23074}"/>
              </a:ext>
            </a:extLst>
          </p:cNvPr>
          <p:cNvSpPr>
            <a:spLocks xmlns:a="http://schemas.openxmlformats.org/drawingml/2006/main" noGrp="1"/>
          </p:cNvSpPr>
          <p:nvPr/>
        </p:nvSpPr>
        <p:spPr>
          <a:xfrm xmlns:a="http://schemas.openxmlformats.org/drawingml/2006/main">
            <a:off x="191452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6" name="S14_SAFE_ARROW_2">
            <a:extLst xmlns:a="http://schemas.openxmlformats.org/drawingml/2006/main">
              <a:ext uri="{FF2B5EF4-FFF2-40B4-BE49-F238E27FC236}">
                <a16:creationId xmlns:a16="http://schemas.microsoft.com/office/drawing/2014/main" id="{0B4965CE-CB3A-41AC-B6EF-75EC0057EC7A}"/>
              </a:ext>
            </a:extLst>
          </p:cNvPr>
          <p:cNvSpPr>
            <a:spLocks xmlns:a="http://schemas.openxmlformats.org/drawingml/2006/main" noGrp="1"/>
          </p:cNvSpPr>
          <p:nvPr/>
        </p:nvSpPr>
        <p:spPr>
          <a:xfrm xmlns:a="http://schemas.openxmlformats.org/drawingml/2006/main">
            <a:off x="3562350"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7" name="S14_SAFE_ARROW_3">
            <a:extLst xmlns:a="http://schemas.openxmlformats.org/drawingml/2006/main">
              <a:ext uri="{FF2B5EF4-FFF2-40B4-BE49-F238E27FC236}">
                <a16:creationId xmlns:a16="http://schemas.microsoft.com/office/drawing/2014/main" id="{9FD21EFD-DD4D-4A5E-900E-DD366999E4AC}"/>
              </a:ext>
            </a:extLst>
          </p:cNvPr>
          <p:cNvSpPr>
            <a:spLocks xmlns:a="http://schemas.openxmlformats.org/drawingml/2006/main" noGrp="1"/>
          </p:cNvSpPr>
          <p:nvPr/>
        </p:nvSpPr>
        <p:spPr>
          <a:xfrm xmlns:a="http://schemas.openxmlformats.org/drawingml/2006/main">
            <a:off x="521017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8" name="S14_SAFE_NODE_1">
            <a:extLst xmlns:a="http://schemas.openxmlformats.org/drawingml/2006/main">
              <a:ext uri="{FF2B5EF4-FFF2-40B4-BE49-F238E27FC236}">
                <a16:creationId xmlns:a16="http://schemas.microsoft.com/office/drawing/2014/main" id="{23E814B9-7E0C-4729-8241-CC15D2CD25A4}"/>
              </a:ext>
            </a:extLst>
          </p:cNvPr>
          <p:cNvSpPr>
            <a:spLocks xmlns:a="http://schemas.openxmlformats.org/drawingml/2006/main" noGrp="1"/>
          </p:cNvSpPr>
          <p:nvPr/>
        </p:nvSpPr>
        <p:spPr>
          <a:xfrm xmlns:a="http://schemas.openxmlformats.org/drawingml/2006/main">
            <a:off x="53340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product_id=5</a:t>
            </a:r>
          </a:p>
        </p:txBody>
      </p:sp>
      <p:sp>
        <p:nvSpPr>
          <p:cNvPr id="19" name="S14_SAFE_NODE_2">
            <a:extLst xmlns:a="http://schemas.openxmlformats.org/drawingml/2006/main">
              <a:ext uri="{FF2B5EF4-FFF2-40B4-BE49-F238E27FC236}">
                <a16:creationId xmlns:a16="http://schemas.microsoft.com/office/drawing/2014/main" id="{5C8D94C9-459C-4777-85B3-1B88582F65F0}"/>
              </a:ext>
            </a:extLst>
          </p:cNvPr>
          <p:cNvSpPr>
            <a:spLocks xmlns:a="http://schemas.openxmlformats.org/drawingml/2006/main" noGrp="1"/>
          </p:cNvSpPr>
          <p:nvPr/>
        </p:nvSpPr>
        <p:spPr>
          <a:xfrm xmlns:a="http://schemas.openxmlformats.org/drawingml/2006/main">
            <a:off x="218122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price=100000</a:t>
            </a:r>
          </a:p>
        </p:txBody>
      </p:sp>
      <p:sp>
        <p:nvSpPr>
          <p:cNvPr id="20" name="S14_SAFE_NODE_3">
            <a:extLst xmlns:a="http://schemas.openxmlformats.org/drawingml/2006/main">
              <a:ext uri="{FF2B5EF4-FFF2-40B4-BE49-F238E27FC236}">
                <a16:creationId xmlns:a16="http://schemas.microsoft.com/office/drawing/2014/main" id="{F884875E-3C77-4243-A00C-7C95A83BA03D}"/>
              </a:ext>
            </a:extLst>
          </p:cNvPr>
          <p:cNvSpPr>
            <a:spLocks xmlns:a="http://schemas.openxmlformats.org/drawingml/2006/main" noGrp="1"/>
          </p:cNvSpPr>
          <p:nvPr/>
        </p:nvSpPr>
        <p:spPr>
          <a:xfrm xmlns:a="http://schemas.openxmlformats.org/drawingml/2006/main">
            <a:off x="382905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total=price×qty</a:t>
            </a:r>
          </a:p>
        </p:txBody>
      </p:sp>
      <p:sp>
        <p:nvSpPr>
          <p:cNvPr id="21" name="S14_SAFE_NODE_4">
            <a:extLst xmlns:a="http://schemas.openxmlformats.org/drawingml/2006/main">
              <a:ext uri="{FF2B5EF4-FFF2-40B4-BE49-F238E27FC236}">
                <a16:creationId xmlns:a16="http://schemas.microsoft.com/office/drawing/2014/main" id="{46728CD3-8099-4467-A663-DC77DEE5CEF3}"/>
              </a:ext>
            </a:extLst>
          </p:cNvPr>
          <p:cNvSpPr>
            <a:spLocks xmlns:a="http://schemas.openxmlformats.org/drawingml/2006/main" noGrp="1"/>
          </p:cNvSpPr>
          <p:nvPr/>
        </p:nvSpPr>
        <p:spPr>
          <a:xfrm xmlns:a="http://schemas.openxmlformats.org/drawingml/2006/main">
            <a:off x="547687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order đúng</a:t>
            </a:r>
          </a:p>
        </p:txBody>
      </p:sp>
      <p:sp>
        <p:nvSpPr>
          <p:cNvPr id="22" name="PH_S14_Lab03_45_checkout_tampered_payload_png_FRAME">
            <a:extLst xmlns:a="http://schemas.openxmlformats.org/drawingml/2006/main">
              <a:ext uri="{FF2B5EF4-FFF2-40B4-BE49-F238E27FC236}">
                <a16:creationId xmlns:a16="http://schemas.microsoft.com/office/drawing/2014/main" id="{658838AA-54FD-40F1-A1F7-40395D5726E9}"/>
              </a:ext>
            </a:extLst>
          </p:cNvPr>
          <p:cNvSpPr>
            <a:spLocks xmlns:a="http://schemas.openxmlformats.org/drawingml/2006/main" noGrp="1"/>
          </p:cNvSpPr>
          <p:nvPr/>
        </p:nvSpPr>
        <p:spPr>
          <a:xfrm xmlns:a="http://schemas.openxmlformats.org/drawingml/2006/main">
            <a:off x="7096125" y="1724025"/>
            <a:ext cx="4591050" cy="18288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14_Lab03_45_checkout_tampered_payload_png_IMAGE">
            <a:extLst xmlns:a="http://schemas.openxmlformats.org/drawingml/2006/main">
              <a:ext uri="{FF2B5EF4-FFF2-40B4-BE49-F238E27FC236}">
                <a16:creationId xmlns:a16="http://schemas.microsoft.com/office/drawing/2014/main" id="{76BA5B94-0DA1-4F08-BEC1-F1D20784FA47}"/>
              </a:ext>
            </a:extLst>
          </p:cNvPr>
          <p:cNvSpPr>
            <a:spLocks xmlns:a="http://schemas.openxmlformats.org/drawingml/2006/main" noGrp="1"/>
          </p:cNvSpPr>
          <p:nvPr/>
        </p:nvSpPr>
        <p:spPr>
          <a:xfrm xmlns:a="http://schemas.openxmlformats.org/drawingml/2006/main">
            <a:off x="7124700" y="1752600"/>
            <a:ext cx="4533900" cy="17716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14_Lab03_45_checkout_tampered_payload_png_ICON">
            <a:extLst xmlns:a="http://schemas.openxmlformats.org/drawingml/2006/main">
              <a:ext uri="{FF2B5EF4-FFF2-40B4-BE49-F238E27FC236}">
                <a16:creationId xmlns:a16="http://schemas.microsoft.com/office/drawing/2014/main" id="{6A01FA65-6B74-4BC4-ADC0-B2F21278B7DF}"/>
              </a:ext>
            </a:extLst>
          </p:cNvPr>
          <p:cNvSpPr>
            <a:spLocks xmlns:a="http://schemas.openxmlformats.org/drawingml/2006/main" noGrp="1"/>
          </p:cNvSpPr>
          <p:nvPr/>
        </p:nvSpPr>
        <p:spPr>
          <a:xfrm xmlns:a="http://schemas.openxmlformats.org/drawingml/2006/main">
            <a:off x="727710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14_Lab03_45_checkout_tampered_payload_png_INSTRUCTION">
            <a:extLst xmlns:a="http://schemas.openxmlformats.org/drawingml/2006/main">
              <a:ext uri="{FF2B5EF4-FFF2-40B4-BE49-F238E27FC236}">
                <a16:creationId xmlns:a16="http://schemas.microsoft.com/office/drawing/2014/main" id="{7C16D8D6-171A-4A7A-A475-2EB5FD3F3A19}"/>
              </a:ext>
            </a:extLst>
          </p:cNvPr>
          <p:cNvSpPr>
            <a:spLocks xmlns:a="http://schemas.openxmlformats.org/drawingml/2006/main" noGrp="1"/>
          </p:cNvSpPr>
          <p:nvPr/>
        </p:nvSpPr>
        <p:spPr>
          <a:xfrm xmlns:a="http://schemas.openxmlformats.org/drawingml/2006/main">
            <a:off x="7791450" y="1924050"/>
            <a:ext cx="3695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45_checkout_tampered_payload.png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14_Lab03_45_checkout_tampered_payload_png_CAPTION">
            <a:extLst xmlns:a="http://schemas.openxmlformats.org/drawingml/2006/main">
              <a:ext uri="{FF2B5EF4-FFF2-40B4-BE49-F238E27FC236}">
                <a16:creationId xmlns:a16="http://schemas.microsoft.com/office/drawing/2014/main" id="{DDF57BA3-4577-4ED8-87E3-0BF8E4A76791}"/>
              </a:ext>
            </a:extLst>
          </p:cNvPr>
          <p:cNvSpPr>
            <a:spLocks xmlns:a="http://schemas.openxmlformats.org/drawingml/2006/main" noGrp="1"/>
          </p:cNvSpPr>
          <p:nvPr/>
        </p:nvSpPr>
        <p:spPr>
          <a:xfrm xmlns:a="http://schemas.openxmlformats.org/drawingml/2006/main">
            <a:off x="7124700" y="31146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Payload checkout sau sửa giá</a:t>
            </a:r>
          </a:p>
        </p:txBody>
      </p:sp>
      <p:sp>
        <p:nvSpPr>
          <p:cNvPr id="27" name="PH_S14_Lab03_Lab03_checkout_vulnerable_accepted_png_FRAME">
            <a:extLst xmlns:a="http://schemas.openxmlformats.org/drawingml/2006/main">
              <a:ext uri="{FF2B5EF4-FFF2-40B4-BE49-F238E27FC236}">
                <a16:creationId xmlns:a16="http://schemas.microsoft.com/office/drawing/2014/main" id="{B2F96D34-DD61-4187-833A-76BBF2D88638}"/>
              </a:ext>
            </a:extLst>
          </p:cNvPr>
          <p:cNvSpPr>
            <a:spLocks xmlns:a="http://schemas.openxmlformats.org/drawingml/2006/main" noGrp="1"/>
          </p:cNvSpPr>
          <p:nvPr/>
        </p:nvSpPr>
        <p:spPr>
          <a:xfrm xmlns:a="http://schemas.openxmlformats.org/drawingml/2006/main">
            <a:off x="7096125" y="3857625"/>
            <a:ext cx="4591050" cy="18288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8" name="PH_S14_Lab03_Lab03_checkout_vulnerable_accepted_png_IMAGE">
            <a:extLst xmlns:a="http://schemas.openxmlformats.org/drawingml/2006/main">
              <a:ext uri="{FF2B5EF4-FFF2-40B4-BE49-F238E27FC236}">
                <a16:creationId xmlns:a16="http://schemas.microsoft.com/office/drawing/2014/main" id="{67F94E1B-20A0-42B4-823F-F1BAEBBA3F87}"/>
              </a:ext>
            </a:extLst>
          </p:cNvPr>
          <p:cNvSpPr>
            <a:spLocks xmlns:a="http://schemas.openxmlformats.org/drawingml/2006/main" noGrp="1"/>
          </p:cNvSpPr>
          <p:nvPr/>
        </p:nvSpPr>
        <p:spPr>
          <a:xfrm xmlns:a="http://schemas.openxmlformats.org/drawingml/2006/main">
            <a:off x="7124700" y="3886200"/>
            <a:ext cx="4533900" cy="17716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9" name="PH_S14_Lab03_Lab03_checkout_vulnerable_accepted_png_ICON">
            <a:extLst xmlns:a="http://schemas.openxmlformats.org/drawingml/2006/main">
              <a:ext uri="{FF2B5EF4-FFF2-40B4-BE49-F238E27FC236}">
                <a16:creationId xmlns:a16="http://schemas.microsoft.com/office/drawing/2014/main" id="{2F04B1FE-D4D5-4B62-967E-6CEF8CB7FE58}"/>
              </a:ext>
            </a:extLst>
          </p:cNvPr>
          <p:cNvSpPr>
            <a:spLocks xmlns:a="http://schemas.openxmlformats.org/drawingml/2006/main" noGrp="1"/>
          </p:cNvSpPr>
          <p:nvPr/>
        </p:nvSpPr>
        <p:spPr>
          <a:xfrm xmlns:a="http://schemas.openxmlformats.org/drawingml/2006/main">
            <a:off x="7277100" y="40290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30" name="PH_S14_Lab03_Lab03_checkout_vulnerable_accepted_png_INSTRUCTION">
            <a:extLst xmlns:a="http://schemas.openxmlformats.org/drawingml/2006/main">
              <a:ext uri="{FF2B5EF4-FFF2-40B4-BE49-F238E27FC236}">
                <a16:creationId xmlns:a16="http://schemas.microsoft.com/office/drawing/2014/main" id="{BBC50ED6-CB65-4503-957B-CF7E3ED31392}"/>
              </a:ext>
            </a:extLst>
          </p:cNvPr>
          <p:cNvSpPr>
            <a:spLocks xmlns:a="http://schemas.openxmlformats.org/drawingml/2006/main" noGrp="1"/>
          </p:cNvSpPr>
          <p:nvPr/>
        </p:nvSpPr>
        <p:spPr>
          <a:xfrm xmlns:a="http://schemas.openxmlformats.org/drawingml/2006/main">
            <a:off x="7791450" y="4057650"/>
            <a:ext cx="3695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Lab03_checkout_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vulnerable_accepted.png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31" name="PH_S14_Lab03_Lab03_checkout_vulnerable_accepted_png_CAPTION">
            <a:extLst xmlns:a="http://schemas.openxmlformats.org/drawingml/2006/main">
              <a:ext uri="{FF2B5EF4-FFF2-40B4-BE49-F238E27FC236}">
                <a16:creationId xmlns:a16="http://schemas.microsoft.com/office/drawing/2014/main" id="{DD0111A6-5379-4855-865F-4A764676B737}"/>
              </a:ext>
            </a:extLst>
          </p:cNvPr>
          <p:cNvSpPr>
            <a:spLocks xmlns:a="http://schemas.openxmlformats.org/drawingml/2006/main" noGrp="1"/>
          </p:cNvSpPr>
          <p:nvPr/>
        </p:nvSpPr>
        <p:spPr>
          <a:xfrm xmlns:a="http://schemas.openxmlformats.org/drawingml/2006/main">
            <a:off x="7124700" y="52482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Vulnerable chấp nhận price=1</a:t>
            </a:r>
          </a:p>
        </p:txBody>
      </p:sp>
      <p:sp>
        <p:nvSpPr>
          <p:cNvPr id="32" name="S14_CODE">
            <a:extLst xmlns:a="http://schemas.openxmlformats.org/drawingml/2006/main">
              <a:ext uri="{FF2B5EF4-FFF2-40B4-BE49-F238E27FC236}">
                <a16:creationId xmlns:a16="http://schemas.microsoft.com/office/drawing/2014/main" id="{DDEB0A7B-F781-4EF2-A7A8-AC86309E5BDF}"/>
              </a:ext>
            </a:extLst>
          </p:cNvPr>
          <p:cNvSpPr>
            <a:spLocks xmlns:a="http://schemas.openxmlformats.org/drawingml/2006/main" noGrp="1"/>
          </p:cNvSpPr>
          <p:nvPr/>
        </p:nvSpPr>
        <p:spPr>
          <a:xfrm xmlns:a="http://schemas.openxmlformats.org/drawingml/2006/main">
            <a:off x="533400" y="4114800"/>
            <a:ext cx="6191250" cy="1543050"/>
          </a:xfrm>
          <a:prstGeom xmlns:a="http://schemas.openxmlformats.org/drawingml/2006/main" prst="rect">
            <a:avLst/>
          </a:prstGeom>
          <a:solidFill xmlns:a="http://schemas.openxmlformats.org/drawingml/2006/main">
            <a:srgbClr val="0B0B0B"/>
          </a:solidFill>
          <a:ln xmlns:a="http://schemas.openxmlformats.org/drawingml/2006/main" w="9525">
            <a:solidFill>
              <a:srgbClr val="E85D26"/>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VULNERABLE: request.form["price"] → chấp nhận price=1 → tạo order sai.</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SECURE: SELECT price_vnd FROM products WHERE id =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INVARIANT: total = server_price × quantity</a:t>
            </a:r>
          </a:p>
        </p:txBody>
      </p:sp>
    </p:spTree>
    <p:extLst>
      <p:ext uri="{BB962C8B-B14F-4D97-AF65-F5344CB8AC3E}">
        <p14:creationId xmlns:p14="http://schemas.microsoft.com/office/powerpoint/2010/main" val="2117597309"/>
      </p:ext>
    </p:extLst>
  </p:cSld>
</p:sld>
</file>

<file path=ppt/slides/slide1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3" name="S15_EYEBROW">
            <a:extLst xmlns:a="http://schemas.openxmlformats.org/drawingml/2006/main">
              <a:ext uri="{FF2B5EF4-FFF2-40B4-BE49-F238E27FC236}">
                <a16:creationId xmlns:a16="http://schemas.microsoft.com/office/drawing/2014/main" id="{379AE830-BEE8-4AB3-A5A5-7D8DDD9E01A3}"/>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5_TITLE">
            <a:extLst xmlns:a="http://schemas.openxmlformats.org/drawingml/2006/main">
              <a:ext uri="{FF2B5EF4-FFF2-40B4-BE49-F238E27FC236}">
                <a16:creationId xmlns:a16="http://schemas.microsoft.com/office/drawing/2014/main" id="{06343012-DB46-4869-9131-D497F693FD39}"/>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IDOR là thiếu object-level authorization</a:t>
            </a:r>
          </a:p>
        </p:txBody>
      </p:sp>
      <p:sp>
        <p:nvSpPr>
          <p:cNvPr id="3" name="S15_SUBTITLE">
            <a:extLst xmlns:a="http://schemas.openxmlformats.org/drawingml/2006/main">
              <a:ext uri="{FF2B5EF4-FFF2-40B4-BE49-F238E27FC236}">
                <a16:creationId xmlns:a16="http://schemas.microsoft.com/office/drawing/2014/main" id="{1F088744-9593-4917-9E31-7DC2497ED29B}"/>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IDOR thuộc OWASP Broken Access Control: tìm thấy object không đồng nghĩa được phép đọc.</a:t>
            </a:r>
          </a:p>
        </p:txBody>
      </p:sp>
      <p:sp>
        <p:nvSpPr>
          <p:cNvPr id="4" name="S15_TITLE_RULE">
            <a:extLst xmlns:a="http://schemas.openxmlformats.org/drawingml/2006/main">
              <a:ext uri="{FF2B5EF4-FFF2-40B4-BE49-F238E27FC236}">
                <a16:creationId xmlns:a16="http://schemas.microsoft.com/office/drawing/2014/main" id="{9D0FD599-B72E-4AC2-A7D8-FDDAB849CE4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5_FOOTER_RULE">
            <a:extLst xmlns:a="http://schemas.openxmlformats.org/drawingml/2006/main">
              <a:ext uri="{FF2B5EF4-FFF2-40B4-BE49-F238E27FC236}">
                <a16:creationId xmlns:a16="http://schemas.microsoft.com/office/drawing/2014/main" id="{009FC35B-AACC-4DEA-A426-4DAB073E55A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5_SOURCE">
            <a:extLst xmlns:a="http://schemas.openxmlformats.org/drawingml/2006/main">
              <a:ext uri="{FF2B5EF4-FFF2-40B4-BE49-F238E27FC236}">
                <a16:creationId xmlns:a16="http://schemas.microsoft.com/office/drawing/2014/main" id="{B9010524-2916-467D-B46D-731DFE51E678}"/>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Lab03/services.py · authorization.py · seed.py</a:t>
            </a:r>
          </a:p>
        </p:txBody>
      </p:sp>
      <p:sp>
        <p:nvSpPr>
          <p:cNvPr id="7" name="S15_NUMBER">
            <a:extLst xmlns:a="http://schemas.openxmlformats.org/drawingml/2006/main">
              <a:ext uri="{FF2B5EF4-FFF2-40B4-BE49-F238E27FC236}">
                <a16:creationId xmlns:a16="http://schemas.microsoft.com/office/drawing/2014/main" id="{A33AB85B-9520-4A8D-86A0-BC8EF30CE8DA}"/>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15</a:t>
            </a:r>
          </a:p>
        </p:txBody>
      </p:sp>
      <p:sp>
        <p:nvSpPr>
          <p:cNvPr id="8" name="S15_VULN_ARROW_1">
            <a:extLst xmlns:a="http://schemas.openxmlformats.org/drawingml/2006/main">
              <a:ext uri="{FF2B5EF4-FFF2-40B4-BE49-F238E27FC236}">
                <a16:creationId xmlns:a16="http://schemas.microsoft.com/office/drawing/2014/main" id="{58C5049D-484A-4D34-B10D-5D38FBB1DF1B}"/>
              </a:ext>
            </a:extLst>
          </p:cNvPr>
          <p:cNvSpPr>
            <a:spLocks xmlns:a="http://schemas.openxmlformats.org/drawingml/2006/main" noGrp="1"/>
          </p:cNvSpPr>
          <p:nvPr/>
        </p:nvSpPr>
        <p:spPr>
          <a:xfrm xmlns:a="http://schemas.openxmlformats.org/drawingml/2006/main">
            <a:off x="191452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15_VULN_ARROW_2">
            <a:extLst xmlns:a="http://schemas.openxmlformats.org/drawingml/2006/main">
              <a:ext uri="{FF2B5EF4-FFF2-40B4-BE49-F238E27FC236}">
                <a16:creationId xmlns:a16="http://schemas.microsoft.com/office/drawing/2014/main" id="{6D6F28A4-6369-42C3-AAF5-BD42FA4D9D03}"/>
              </a:ext>
            </a:extLst>
          </p:cNvPr>
          <p:cNvSpPr>
            <a:spLocks xmlns:a="http://schemas.openxmlformats.org/drawingml/2006/main" noGrp="1"/>
          </p:cNvSpPr>
          <p:nvPr/>
        </p:nvSpPr>
        <p:spPr>
          <a:xfrm xmlns:a="http://schemas.openxmlformats.org/drawingml/2006/main">
            <a:off x="3562350"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15_VULN_ARROW_3">
            <a:extLst xmlns:a="http://schemas.openxmlformats.org/drawingml/2006/main">
              <a:ext uri="{FF2B5EF4-FFF2-40B4-BE49-F238E27FC236}">
                <a16:creationId xmlns:a16="http://schemas.microsoft.com/office/drawing/2014/main" id="{945741A8-D92B-40C4-B3A2-6B912946A569}"/>
              </a:ext>
            </a:extLst>
          </p:cNvPr>
          <p:cNvSpPr>
            <a:spLocks xmlns:a="http://schemas.openxmlformats.org/drawingml/2006/main" noGrp="1"/>
          </p:cNvSpPr>
          <p:nvPr/>
        </p:nvSpPr>
        <p:spPr>
          <a:xfrm xmlns:a="http://schemas.openxmlformats.org/drawingml/2006/main">
            <a:off x="521017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15_VULN_NODE_1">
            <a:extLst xmlns:a="http://schemas.openxmlformats.org/drawingml/2006/main">
              <a:ext uri="{FF2B5EF4-FFF2-40B4-BE49-F238E27FC236}">
                <a16:creationId xmlns:a16="http://schemas.microsoft.com/office/drawing/2014/main" id="{46EEC5A1-7246-43C2-92E3-CAAC1E307F67}"/>
              </a:ext>
            </a:extLst>
          </p:cNvPr>
          <p:cNvSpPr>
            <a:spLocks xmlns:a="http://schemas.openxmlformats.org/drawingml/2006/main" noGrp="1"/>
          </p:cNvSpPr>
          <p:nvPr/>
        </p:nvSpPr>
        <p:spPr>
          <a:xfrm xmlns:a="http://schemas.openxmlformats.org/drawingml/2006/main">
            <a:off x="53340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user_a</a:t>
            </a:r>
          </a:p>
        </p:txBody>
      </p:sp>
      <p:sp>
        <p:nvSpPr>
          <p:cNvPr id="12" name="S15_VULN_NODE_2">
            <a:extLst xmlns:a="http://schemas.openxmlformats.org/drawingml/2006/main">
              <a:ext uri="{FF2B5EF4-FFF2-40B4-BE49-F238E27FC236}">
                <a16:creationId xmlns:a16="http://schemas.microsoft.com/office/drawing/2014/main" id="{C64A3C35-BF62-4008-BE70-973D5AC51FCB}"/>
              </a:ext>
            </a:extLst>
          </p:cNvPr>
          <p:cNvSpPr>
            <a:spLocks xmlns:a="http://schemas.openxmlformats.org/drawingml/2006/main" noGrp="1"/>
          </p:cNvSpPr>
          <p:nvPr/>
        </p:nvSpPr>
        <p:spPr>
          <a:xfrm xmlns:a="http://schemas.openxmlformats.org/drawingml/2006/main">
            <a:off x="218122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id=1002</a:t>
            </a:r>
          </a:p>
        </p:txBody>
      </p:sp>
      <p:sp>
        <p:nvSpPr>
          <p:cNvPr id="13" name="S15_VULN_NODE_3">
            <a:extLst xmlns:a="http://schemas.openxmlformats.org/drawingml/2006/main">
              <a:ext uri="{FF2B5EF4-FFF2-40B4-BE49-F238E27FC236}">
                <a16:creationId xmlns:a16="http://schemas.microsoft.com/office/drawing/2014/main" id="{54DE9789-E9AF-404F-88E4-6103B7E69101}"/>
              </a:ext>
            </a:extLst>
          </p:cNvPr>
          <p:cNvSpPr>
            <a:spLocks xmlns:a="http://schemas.openxmlformats.org/drawingml/2006/main" noGrp="1"/>
          </p:cNvSpPr>
          <p:nvPr/>
        </p:nvSpPr>
        <p:spPr>
          <a:xfrm xmlns:a="http://schemas.openxmlformats.org/drawingml/2006/main">
            <a:off x="382905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SELECT by id</a:t>
            </a:r>
          </a:p>
        </p:txBody>
      </p:sp>
      <p:sp>
        <p:nvSpPr>
          <p:cNvPr id="14" name="S15_VULN_NODE_4">
            <a:extLst xmlns:a="http://schemas.openxmlformats.org/drawingml/2006/main">
              <a:ext uri="{FF2B5EF4-FFF2-40B4-BE49-F238E27FC236}">
                <a16:creationId xmlns:a16="http://schemas.microsoft.com/office/drawing/2014/main" id="{4B4A9C6B-31D5-4CF6-93C8-D69E5003BB72}"/>
              </a:ext>
            </a:extLst>
          </p:cNvPr>
          <p:cNvSpPr>
            <a:spLocks xmlns:a="http://schemas.openxmlformats.org/drawingml/2006/main" noGrp="1"/>
          </p:cNvSpPr>
          <p:nvPr/>
        </p:nvSpPr>
        <p:spPr>
          <a:xfrm xmlns:a="http://schemas.openxmlformats.org/drawingml/2006/main">
            <a:off x="547687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invoice user_b</a:t>
            </a:r>
          </a:p>
        </p:txBody>
      </p:sp>
      <p:sp>
        <p:nvSpPr>
          <p:cNvPr id="15" name="S15_SAFE_ARROW_1">
            <a:extLst xmlns:a="http://schemas.openxmlformats.org/drawingml/2006/main">
              <a:ext uri="{FF2B5EF4-FFF2-40B4-BE49-F238E27FC236}">
                <a16:creationId xmlns:a16="http://schemas.microsoft.com/office/drawing/2014/main" id="{ADD5F75C-2445-4EA7-83BC-A46FB2B25534}"/>
              </a:ext>
            </a:extLst>
          </p:cNvPr>
          <p:cNvSpPr>
            <a:spLocks xmlns:a="http://schemas.openxmlformats.org/drawingml/2006/main" noGrp="1"/>
          </p:cNvSpPr>
          <p:nvPr/>
        </p:nvSpPr>
        <p:spPr>
          <a:xfrm xmlns:a="http://schemas.openxmlformats.org/drawingml/2006/main">
            <a:off x="191452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6" name="S15_SAFE_ARROW_2">
            <a:extLst xmlns:a="http://schemas.openxmlformats.org/drawingml/2006/main">
              <a:ext uri="{FF2B5EF4-FFF2-40B4-BE49-F238E27FC236}">
                <a16:creationId xmlns:a16="http://schemas.microsoft.com/office/drawing/2014/main" id="{348CA3A0-9EA9-43A0-8062-9BF1309F922D}"/>
              </a:ext>
            </a:extLst>
          </p:cNvPr>
          <p:cNvSpPr>
            <a:spLocks xmlns:a="http://schemas.openxmlformats.org/drawingml/2006/main" noGrp="1"/>
          </p:cNvSpPr>
          <p:nvPr/>
        </p:nvSpPr>
        <p:spPr>
          <a:xfrm xmlns:a="http://schemas.openxmlformats.org/drawingml/2006/main">
            <a:off x="3562350"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7" name="S15_SAFE_ARROW_3">
            <a:extLst xmlns:a="http://schemas.openxmlformats.org/drawingml/2006/main">
              <a:ext uri="{FF2B5EF4-FFF2-40B4-BE49-F238E27FC236}">
                <a16:creationId xmlns:a16="http://schemas.microsoft.com/office/drawing/2014/main" id="{0F69E75F-FFBE-4105-A38E-C7BDE7CEFE2F}"/>
              </a:ext>
            </a:extLst>
          </p:cNvPr>
          <p:cNvSpPr>
            <a:spLocks xmlns:a="http://schemas.openxmlformats.org/drawingml/2006/main" noGrp="1"/>
          </p:cNvSpPr>
          <p:nvPr/>
        </p:nvSpPr>
        <p:spPr>
          <a:xfrm xmlns:a="http://schemas.openxmlformats.org/drawingml/2006/main">
            <a:off x="521017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8" name="S15_SAFE_NODE_1">
            <a:extLst xmlns:a="http://schemas.openxmlformats.org/drawingml/2006/main">
              <a:ext uri="{FF2B5EF4-FFF2-40B4-BE49-F238E27FC236}">
                <a16:creationId xmlns:a16="http://schemas.microsoft.com/office/drawing/2014/main" id="{D6E5C281-C0D0-42E4-8784-6D7229760186}"/>
              </a:ext>
            </a:extLst>
          </p:cNvPr>
          <p:cNvSpPr>
            <a:spLocks xmlns:a="http://schemas.openxmlformats.org/drawingml/2006/main" noGrp="1"/>
          </p:cNvSpPr>
          <p:nvPr/>
        </p:nvSpPr>
        <p:spPr>
          <a:xfrm xmlns:a="http://schemas.openxmlformats.org/drawingml/2006/main">
            <a:off x="53340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user_a</a:t>
            </a:r>
          </a:p>
        </p:txBody>
      </p:sp>
      <p:sp>
        <p:nvSpPr>
          <p:cNvPr id="19" name="S15_SAFE_NODE_2">
            <a:extLst xmlns:a="http://schemas.openxmlformats.org/drawingml/2006/main">
              <a:ext uri="{FF2B5EF4-FFF2-40B4-BE49-F238E27FC236}">
                <a16:creationId xmlns:a16="http://schemas.microsoft.com/office/drawing/2014/main" id="{955D80C8-53E0-416F-AAD9-BE0A694CF210}"/>
              </a:ext>
            </a:extLst>
          </p:cNvPr>
          <p:cNvSpPr>
            <a:spLocks xmlns:a="http://schemas.openxmlformats.org/drawingml/2006/main" noGrp="1"/>
          </p:cNvSpPr>
          <p:nvPr/>
        </p:nvSpPr>
        <p:spPr>
          <a:xfrm xmlns:a="http://schemas.openxmlformats.org/drawingml/2006/main">
            <a:off x="218122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id=1002</a:t>
            </a:r>
          </a:p>
        </p:txBody>
      </p:sp>
      <p:sp>
        <p:nvSpPr>
          <p:cNvPr id="20" name="S15_SAFE_NODE_3">
            <a:extLst xmlns:a="http://schemas.openxmlformats.org/drawingml/2006/main">
              <a:ext uri="{FF2B5EF4-FFF2-40B4-BE49-F238E27FC236}">
                <a16:creationId xmlns:a16="http://schemas.microsoft.com/office/drawing/2014/main" id="{5289A80C-70C7-412E-B233-CD57181D7FCE}"/>
              </a:ext>
            </a:extLst>
          </p:cNvPr>
          <p:cNvSpPr>
            <a:spLocks xmlns:a="http://schemas.openxmlformats.org/drawingml/2006/main" noGrp="1"/>
          </p:cNvSpPr>
          <p:nvPr/>
        </p:nvSpPr>
        <p:spPr>
          <a:xfrm xmlns:a="http://schemas.openxmlformats.org/drawingml/2006/main">
            <a:off x="382905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owner/admin?</a:t>
            </a:r>
          </a:p>
        </p:txBody>
      </p:sp>
      <p:sp>
        <p:nvSpPr>
          <p:cNvPr id="21" name="S15_SAFE_NODE_4">
            <a:extLst xmlns:a="http://schemas.openxmlformats.org/drawingml/2006/main">
              <a:ext uri="{FF2B5EF4-FFF2-40B4-BE49-F238E27FC236}">
                <a16:creationId xmlns:a16="http://schemas.microsoft.com/office/drawing/2014/main" id="{81DEA8D3-6E96-40B7-949B-0F6EE37390A8}"/>
              </a:ext>
            </a:extLst>
          </p:cNvPr>
          <p:cNvSpPr>
            <a:spLocks xmlns:a="http://schemas.openxmlformats.org/drawingml/2006/main" noGrp="1"/>
          </p:cNvSpPr>
          <p:nvPr/>
        </p:nvSpPr>
        <p:spPr>
          <a:xfrm xmlns:a="http://schemas.openxmlformats.org/drawingml/2006/main">
            <a:off x="547687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403</a:t>
            </a:r>
          </a:p>
        </p:txBody>
      </p:sp>
      <p:sp>
        <p:nvSpPr>
          <p:cNvPr id="22" name="PH_S15_Lab03_51_invoice_secure_403_response_png_FRAME">
            <a:extLst xmlns:a="http://schemas.openxmlformats.org/drawingml/2006/main">
              <a:ext uri="{FF2B5EF4-FFF2-40B4-BE49-F238E27FC236}">
                <a16:creationId xmlns:a16="http://schemas.microsoft.com/office/drawing/2014/main" id="{69893945-C52B-4231-AFA9-7E654DAB2BBE}"/>
              </a:ext>
            </a:extLst>
          </p:cNvPr>
          <p:cNvSpPr>
            <a:spLocks xmlns:a="http://schemas.openxmlformats.org/drawingml/2006/main" noGrp="1"/>
          </p:cNvSpPr>
          <p:nvPr/>
        </p:nvSpPr>
        <p:spPr>
          <a:xfrm xmlns:a="http://schemas.openxmlformats.org/drawingml/2006/main">
            <a:off x="7096125" y="1724025"/>
            <a:ext cx="4591050" cy="24574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15_Lab03_51_invoice_secure_403_response_png_IMAGE">
            <a:extLst xmlns:a="http://schemas.openxmlformats.org/drawingml/2006/main">
              <a:ext uri="{FF2B5EF4-FFF2-40B4-BE49-F238E27FC236}">
                <a16:creationId xmlns:a16="http://schemas.microsoft.com/office/drawing/2014/main" id="{6E0FED35-3BEB-4925-8CFE-E59ED14AA93D}"/>
              </a:ext>
            </a:extLst>
          </p:cNvPr>
          <p:cNvSpPr>
            <a:spLocks xmlns:a="http://schemas.openxmlformats.org/drawingml/2006/main" noGrp="1"/>
          </p:cNvSpPr>
          <p:nvPr/>
        </p:nvSpPr>
        <p:spPr>
          <a:xfrm xmlns:a="http://schemas.openxmlformats.org/drawingml/2006/main">
            <a:off x="7124700" y="1752600"/>
            <a:ext cx="4533900" cy="2400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15_Lab03_51_invoice_secure_403_response_png_ICON">
            <a:extLst xmlns:a="http://schemas.openxmlformats.org/drawingml/2006/main">
              <a:ext uri="{FF2B5EF4-FFF2-40B4-BE49-F238E27FC236}">
                <a16:creationId xmlns:a16="http://schemas.microsoft.com/office/drawing/2014/main" id="{951E72ED-ED39-4522-820F-A9EC8B283D22}"/>
              </a:ext>
            </a:extLst>
          </p:cNvPr>
          <p:cNvSpPr>
            <a:spLocks xmlns:a="http://schemas.openxmlformats.org/drawingml/2006/main" noGrp="1"/>
          </p:cNvSpPr>
          <p:nvPr/>
        </p:nvSpPr>
        <p:spPr>
          <a:xfrm xmlns:a="http://schemas.openxmlformats.org/drawingml/2006/main">
            <a:off x="727710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15_Lab03_51_invoice_secure_403_response_png_INSTRUCTION">
            <a:extLst xmlns:a="http://schemas.openxmlformats.org/drawingml/2006/main">
              <a:ext uri="{FF2B5EF4-FFF2-40B4-BE49-F238E27FC236}">
                <a16:creationId xmlns:a16="http://schemas.microsoft.com/office/drawing/2014/main" id="{BCC09BEA-3865-4A56-BA66-889323489E3F}"/>
              </a:ext>
            </a:extLst>
          </p:cNvPr>
          <p:cNvSpPr>
            <a:spLocks xmlns:a="http://schemas.openxmlformats.org/drawingml/2006/main" noGrp="1"/>
          </p:cNvSpPr>
          <p:nvPr/>
        </p:nvSpPr>
        <p:spPr>
          <a:xfrm xmlns:a="http://schemas.openxmlformats.org/drawingml/2006/main">
            <a:off x="7791450" y="1924050"/>
            <a:ext cx="36957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51_invoice_secure_403_response.png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15_Lab03_51_invoice_secure_403_response_png_CAPTION">
            <a:extLst xmlns:a="http://schemas.openxmlformats.org/drawingml/2006/main">
              <a:ext uri="{FF2B5EF4-FFF2-40B4-BE49-F238E27FC236}">
                <a16:creationId xmlns:a16="http://schemas.microsoft.com/office/drawing/2014/main" id="{8EE2E1D5-D566-482F-9C0E-F89B5BB55839}"/>
              </a:ext>
            </a:extLst>
          </p:cNvPr>
          <p:cNvSpPr>
            <a:spLocks xmlns:a="http://schemas.openxmlformats.org/drawingml/2006/main" noGrp="1"/>
          </p:cNvSpPr>
          <p:nvPr/>
        </p:nvSpPr>
        <p:spPr>
          <a:xfrm xmlns:a="http://schemas.openxmlformats.org/drawingml/2006/main">
            <a:off x="7124700" y="374332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secure trả 403 cho invoice khác chủ</a:t>
            </a:r>
          </a:p>
        </p:txBody>
      </p:sp>
      <p:sp>
        <p:nvSpPr>
          <p:cNvPr id="27" name="S15_POLICY_H0">
            <a:extLst xmlns:a="http://schemas.openxmlformats.org/drawingml/2006/main">
              <a:ext uri="{FF2B5EF4-FFF2-40B4-BE49-F238E27FC236}">
                <a16:creationId xmlns:a16="http://schemas.microsoft.com/office/drawing/2014/main" id="{DC5CBCF7-1B15-4598-B231-B39CA5B425F6}"/>
              </a:ext>
            </a:extLst>
          </p:cNvPr>
          <p:cNvSpPr>
            <a:spLocks xmlns:a="http://schemas.openxmlformats.org/drawingml/2006/main" noGrp="1"/>
          </p:cNvSpPr>
          <p:nvPr/>
        </p:nvSpPr>
        <p:spPr>
          <a:xfrm xmlns:a="http://schemas.openxmlformats.org/drawingml/2006/main">
            <a:off x="533400" y="4533900"/>
            <a:ext cx="18097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OBJECT</a:t>
            </a:r>
          </a:p>
        </p:txBody>
      </p:sp>
      <p:sp>
        <p:nvSpPr>
          <p:cNvPr id="28" name="S15_POLICY_H1">
            <a:extLst xmlns:a="http://schemas.openxmlformats.org/drawingml/2006/main">
              <a:ext uri="{FF2B5EF4-FFF2-40B4-BE49-F238E27FC236}">
                <a16:creationId xmlns:a16="http://schemas.microsoft.com/office/drawing/2014/main" id="{90B5ADD2-BC0F-4E76-9377-A9C8E28EB347}"/>
              </a:ext>
            </a:extLst>
          </p:cNvPr>
          <p:cNvSpPr>
            <a:spLocks xmlns:a="http://schemas.openxmlformats.org/drawingml/2006/main" noGrp="1"/>
          </p:cNvSpPr>
          <p:nvPr/>
        </p:nvSpPr>
        <p:spPr>
          <a:xfrm xmlns:a="http://schemas.openxmlformats.org/drawingml/2006/main">
            <a:off x="2343150" y="4533900"/>
            <a:ext cx="20002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REQUESTER</a:t>
            </a:r>
          </a:p>
        </p:txBody>
      </p:sp>
      <p:sp>
        <p:nvSpPr>
          <p:cNvPr id="29" name="S15_POLICY_H2">
            <a:extLst xmlns:a="http://schemas.openxmlformats.org/drawingml/2006/main">
              <a:ext uri="{FF2B5EF4-FFF2-40B4-BE49-F238E27FC236}">
                <a16:creationId xmlns:a16="http://schemas.microsoft.com/office/drawing/2014/main" id="{0521763A-468E-4F83-8795-997D9F7387F2}"/>
              </a:ext>
            </a:extLst>
          </p:cNvPr>
          <p:cNvSpPr>
            <a:spLocks xmlns:a="http://schemas.openxmlformats.org/drawingml/2006/main" noGrp="1"/>
          </p:cNvSpPr>
          <p:nvPr/>
        </p:nvSpPr>
        <p:spPr>
          <a:xfrm xmlns:a="http://schemas.openxmlformats.org/drawingml/2006/main">
            <a:off x="4343400" y="4533900"/>
            <a:ext cx="44767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POLICY</a:t>
            </a:r>
          </a:p>
        </p:txBody>
      </p:sp>
      <p:sp>
        <p:nvSpPr>
          <p:cNvPr id="30" name="S15_POLICY_H3">
            <a:extLst xmlns:a="http://schemas.openxmlformats.org/drawingml/2006/main">
              <a:ext uri="{FF2B5EF4-FFF2-40B4-BE49-F238E27FC236}">
                <a16:creationId xmlns:a16="http://schemas.microsoft.com/office/drawing/2014/main" id="{ADD3CFE0-9EBB-4313-9C3A-7FB23DF4B711}"/>
              </a:ext>
            </a:extLst>
          </p:cNvPr>
          <p:cNvSpPr>
            <a:spLocks xmlns:a="http://schemas.openxmlformats.org/drawingml/2006/main" noGrp="1"/>
          </p:cNvSpPr>
          <p:nvPr/>
        </p:nvSpPr>
        <p:spPr>
          <a:xfrm xmlns:a="http://schemas.openxmlformats.org/drawingml/2006/main">
            <a:off x="8820150" y="4533900"/>
            <a:ext cx="28384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RESULT</a:t>
            </a:r>
          </a:p>
        </p:txBody>
      </p:sp>
      <p:sp>
        <p:nvSpPr>
          <p:cNvPr id="31" name="S15_POLICY_R0C0">
            <a:extLst xmlns:a="http://schemas.openxmlformats.org/drawingml/2006/main">
              <a:ext uri="{FF2B5EF4-FFF2-40B4-BE49-F238E27FC236}">
                <a16:creationId xmlns:a16="http://schemas.microsoft.com/office/drawing/2014/main" id="{92A12E21-98D3-4136-A549-0B160E043DE8}"/>
              </a:ext>
            </a:extLst>
          </p:cNvPr>
          <p:cNvSpPr>
            <a:spLocks xmlns:a="http://schemas.openxmlformats.org/drawingml/2006/main" noGrp="1"/>
          </p:cNvSpPr>
          <p:nvPr/>
        </p:nvSpPr>
        <p:spPr>
          <a:xfrm xmlns:a="http://schemas.openxmlformats.org/drawingml/2006/main">
            <a:off x="533400" y="4891088"/>
            <a:ext cx="1809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1001</a:t>
            </a:r>
          </a:p>
        </p:txBody>
      </p:sp>
      <p:sp>
        <p:nvSpPr>
          <p:cNvPr id="32" name="S15_POLICY_R0C1">
            <a:extLst xmlns:a="http://schemas.openxmlformats.org/drawingml/2006/main">
              <a:ext uri="{FF2B5EF4-FFF2-40B4-BE49-F238E27FC236}">
                <a16:creationId xmlns:a16="http://schemas.microsoft.com/office/drawing/2014/main" id="{024F09AE-217F-4BD5-AA5A-27CE31A183AB}"/>
              </a:ext>
            </a:extLst>
          </p:cNvPr>
          <p:cNvSpPr>
            <a:spLocks xmlns:a="http://schemas.openxmlformats.org/drawingml/2006/main" noGrp="1"/>
          </p:cNvSpPr>
          <p:nvPr/>
        </p:nvSpPr>
        <p:spPr>
          <a:xfrm xmlns:a="http://schemas.openxmlformats.org/drawingml/2006/main">
            <a:off x="2343150" y="4891088"/>
            <a:ext cx="20002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user_a</a:t>
            </a:r>
          </a:p>
        </p:txBody>
      </p:sp>
      <p:sp>
        <p:nvSpPr>
          <p:cNvPr id="33" name="S15_POLICY_R0C2">
            <a:extLst xmlns:a="http://schemas.openxmlformats.org/drawingml/2006/main">
              <a:ext uri="{FF2B5EF4-FFF2-40B4-BE49-F238E27FC236}">
                <a16:creationId xmlns:a16="http://schemas.microsoft.com/office/drawing/2014/main" id="{B40E1DBE-D103-49E2-8642-4B71B4320B2C}"/>
              </a:ext>
            </a:extLst>
          </p:cNvPr>
          <p:cNvSpPr>
            <a:spLocks xmlns:a="http://schemas.openxmlformats.org/drawingml/2006/main" noGrp="1"/>
          </p:cNvSpPr>
          <p:nvPr/>
        </p:nvSpPr>
        <p:spPr>
          <a:xfrm xmlns:a="http://schemas.openxmlformats.org/drawingml/2006/main">
            <a:off x="4343400" y="4891088"/>
            <a:ext cx="4476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owner</a:t>
            </a:r>
          </a:p>
        </p:txBody>
      </p:sp>
      <p:sp>
        <p:nvSpPr>
          <p:cNvPr id="34" name="S15_POLICY_R0C3">
            <a:extLst xmlns:a="http://schemas.openxmlformats.org/drawingml/2006/main">
              <a:ext uri="{FF2B5EF4-FFF2-40B4-BE49-F238E27FC236}">
                <a16:creationId xmlns:a16="http://schemas.microsoft.com/office/drawing/2014/main" id="{20D5CFE5-AC94-4FBA-95E0-0C2996D89213}"/>
              </a:ext>
            </a:extLst>
          </p:cNvPr>
          <p:cNvSpPr>
            <a:spLocks xmlns:a="http://schemas.openxmlformats.org/drawingml/2006/main" noGrp="1"/>
          </p:cNvSpPr>
          <p:nvPr/>
        </p:nvSpPr>
        <p:spPr>
          <a:xfrm xmlns:a="http://schemas.openxmlformats.org/drawingml/2006/main">
            <a:off x="8820150" y="4891088"/>
            <a:ext cx="28384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allow</a:t>
            </a:r>
          </a:p>
        </p:txBody>
      </p:sp>
      <p:sp>
        <p:nvSpPr>
          <p:cNvPr id="35" name="S15_POLICY_R1C0">
            <a:extLst xmlns:a="http://schemas.openxmlformats.org/drawingml/2006/main">
              <a:ext uri="{FF2B5EF4-FFF2-40B4-BE49-F238E27FC236}">
                <a16:creationId xmlns:a16="http://schemas.microsoft.com/office/drawing/2014/main" id="{EDB0E01E-DD39-4100-B76A-575F001BE2D1}"/>
              </a:ext>
            </a:extLst>
          </p:cNvPr>
          <p:cNvSpPr>
            <a:spLocks xmlns:a="http://schemas.openxmlformats.org/drawingml/2006/main" noGrp="1"/>
          </p:cNvSpPr>
          <p:nvPr/>
        </p:nvSpPr>
        <p:spPr>
          <a:xfrm xmlns:a="http://schemas.openxmlformats.org/drawingml/2006/main">
            <a:off x="533400" y="5248275"/>
            <a:ext cx="18097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1002</a:t>
            </a:r>
          </a:p>
        </p:txBody>
      </p:sp>
      <p:sp>
        <p:nvSpPr>
          <p:cNvPr id="36" name="S15_POLICY_R1C1">
            <a:extLst xmlns:a="http://schemas.openxmlformats.org/drawingml/2006/main">
              <a:ext uri="{FF2B5EF4-FFF2-40B4-BE49-F238E27FC236}">
                <a16:creationId xmlns:a16="http://schemas.microsoft.com/office/drawing/2014/main" id="{4114C371-2898-4388-B5E2-91D6FF5E7ACD}"/>
              </a:ext>
            </a:extLst>
          </p:cNvPr>
          <p:cNvSpPr>
            <a:spLocks xmlns:a="http://schemas.openxmlformats.org/drawingml/2006/main" noGrp="1"/>
          </p:cNvSpPr>
          <p:nvPr/>
        </p:nvSpPr>
        <p:spPr>
          <a:xfrm xmlns:a="http://schemas.openxmlformats.org/drawingml/2006/main">
            <a:off x="2343150" y="5248275"/>
            <a:ext cx="20002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user_a</a:t>
            </a:r>
          </a:p>
        </p:txBody>
      </p:sp>
      <p:sp>
        <p:nvSpPr>
          <p:cNvPr id="37" name="S15_POLICY_R1C2">
            <a:extLst xmlns:a="http://schemas.openxmlformats.org/drawingml/2006/main">
              <a:ext uri="{FF2B5EF4-FFF2-40B4-BE49-F238E27FC236}">
                <a16:creationId xmlns:a16="http://schemas.microsoft.com/office/drawing/2014/main" id="{9BF9DA22-D3FB-4A13-B65C-65AFE1DAF167}"/>
              </a:ext>
            </a:extLst>
          </p:cNvPr>
          <p:cNvSpPr>
            <a:spLocks xmlns:a="http://schemas.openxmlformats.org/drawingml/2006/main" noGrp="1"/>
          </p:cNvSpPr>
          <p:nvPr/>
        </p:nvSpPr>
        <p:spPr>
          <a:xfrm xmlns:a="http://schemas.openxmlformats.org/drawingml/2006/main">
            <a:off x="4343400" y="5248275"/>
            <a:ext cx="44767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not owner/admin</a:t>
            </a:r>
          </a:p>
        </p:txBody>
      </p:sp>
      <p:sp>
        <p:nvSpPr>
          <p:cNvPr id="38" name="S15_POLICY_R1C3">
            <a:extLst xmlns:a="http://schemas.openxmlformats.org/drawingml/2006/main">
              <a:ext uri="{FF2B5EF4-FFF2-40B4-BE49-F238E27FC236}">
                <a16:creationId xmlns:a16="http://schemas.microsoft.com/office/drawing/2014/main" id="{5CD9A5E3-CB5D-4F0E-98C3-66504E68C11F}"/>
              </a:ext>
            </a:extLst>
          </p:cNvPr>
          <p:cNvSpPr>
            <a:spLocks xmlns:a="http://schemas.openxmlformats.org/drawingml/2006/main" noGrp="1"/>
          </p:cNvSpPr>
          <p:nvPr/>
        </p:nvSpPr>
        <p:spPr>
          <a:xfrm xmlns:a="http://schemas.openxmlformats.org/drawingml/2006/main">
            <a:off x="8820150" y="5248275"/>
            <a:ext cx="28384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403</a:t>
            </a:r>
          </a:p>
        </p:txBody>
      </p:sp>
      <p:sp>
        <p:nvSpPr>
          <p:cNvPr id="39" name="S15_POLICY_R2C0">
            <a:extLst xmlns:a="http://schemas.openxmlformats.org/drawingml/2006/main">
              <a:ext uri="{FF2B5EF4-FFF2-40B4-BE49-F238E27FC236}">
                <a16:creationId xmlns:a16="http://schemas.microsoft.com/office/drawing/2014/main" id="{64101588-53FD-4EF4-AC19-E1B061B061B3}"/>
              </a:ext>
            </a:extLst>
          </p:cNvPr>
          <p:cNvSpPr>
            <a:spLocks xmlns:a="http://schemas.openxmlformats.org/drawingml/2006/main" noGrp="1"/>
          </p:cNvSpPr>
          <p:nvPr/>
        </p:nvSpPr>
        <p:spPr>
          <a:xfrm xmlns:a="http://schemas.openxmlformats.org/drawingml/2006/main">
            <a:off x="533400" y="5605463"/>
            <a:ext cx="1809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1002</a:t>
            </a:r>
          </a:p>
        </p:txBody>
      </p:sp>
      <p:sp>
        <p:nvSpPr>
          <p:cNvPr id="40" name="S15_POLICY_R2C1">
            <a:extLst xmlns:a="http://schemas.openxmlformats.org/drawingml/2006/main">
              <a:ext uri="{FF2B5EF4-FFF2-40B4-BE49-F238E27FC236}">
                <a16:creationId xmlns:a16="http://schemas.microsoft.com/office/drawing/2014/main" id="{5FBFE8F2-EBD9-4F8E-977D-9855E32430F0}"/>
              </a:ext>
            </a:extLst>
          </p:cNvPr>
          <p:cNvSpPr>
            <a:spLocks xmlns:a="http://schemas.openxmlformats.org/drawingml/2006/main" noGrp="1"/>
          </p:cNvSpPr>
          <p:nvPr/>
        </p:nvSpPr>
        <p:spPr>
          <a:xfrm xmlns:a="http://schemas.openxmlformats.org/drawingml/2006/main">
            <a:off x="2343150" y="5605463"/>
            <a:ext cx="20002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admin</a:t>
            </a:r>
          </a:p>
        </p:txBody>
      </p:sp>
      <p:sp>
        <p:nvSpPr>
          <p:cNvPr id="41" name="S15_POLICY_R2C2">
            <a:extLst xmlns:a="http://schemas.openxmlformats.org/drawingml/2006/main">
              <a:ext uri="{FF2B5EF4-FFF2-40B4-BE49-F238E27FC236}">
                <a16:creationId xmlns:a16="http://schemas.microsoft.com/office/drawing/2014/main" id="{DAAF5DC5-D679-4DF5-9465-7BDFB638F483}"/>
              </a:ext>
            </a:extLst>
          </p:cNvPr>
          <p:cNvSpPr>
            <a:spLocks xmlns:a="http://schemas.openxmlformats.org/drawingml/2006/main" noGrp="1"/>
          </p:cNvSpPr>
          <p:nvPr/>
        </p:nvSpPr>
        <p:spPr>
          <a:xfrm xmlns:a="http://schemas.openxmlformats.org/drawingml/2006/main">
            <a:off x="4343400" y="5605463"/>
            <a:ext cx="4476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admin</a:t>
            </a:r>
          </a:p>
        </p:txBody>
      </p:sp>
      <p:sp>
        <p:nvSpPr>
          <p:cNvPr id="42" name="S15_POLICY_R2C3">
            <a:extLst xmlns:a="http://schemas.openxmlformats.org/drawingml/2006/main">
              <a:ext uri="{FF2B5EF4-FFF2-40B4-BE49-F238E27FC236}">
                <a16:creationId xmlns:a16="http://schemas.microsoft.com/office/drawing/2014/main" id="{C33B71C5-485F-47FD-8A20-F3B5696A0C35}"/>
              </a:ext>
            </a:extLst>
          </p:cNvPr>
          <p:cNvSpPr>
            <a:spLocks xmlns:a="http://schemas.openxmlformats.org/drawingml/2006/main" noGrp="1"/>
          </p:cNvSpPr>
          <p:nvPr/>
        </p:nvSpPr>
        <p:spPr>
          <a:xfrm xmlns:a="http://schemas.openxmlformats.org/drawingml/2006/main">
            <a:off x="8820150" y="5605463"/>
            <a:ext cx="28384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allow + audit</a:t>
            </a:r>
          </a:p>
        </p:txBody>
      </p:sp>
    </p:spTree>
    <p:extLst>
      <p:ext uri="{BB962C8B-B14F-4D97-AF65-F5344CB8AC3E}">
        <p14:creationId xmlns:p14="http://schemas.microsoft.com/office/powerpoint/2010/main" val="1674343413"/>
      </p:ext>
    </p:extLst>
  </p:cSld>
</p:sld>
</file>

<file path=ppt/slides/slide1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7" name="S16_EYEBROW">
            <a:extLst xmlns:a="http://schemas.openxmlformats.org/drawingml/2006/main">
              <a:ext uri="{FF2B5EF4-FFF2-40B4-BE49-F238E27FC236}">
                <a16:creationId xmlns:a16="http://schemas.microsoft.com/office/drawing/2014/main" id="{E7B66B6F-D152-477A-B523-010BD6D10202}"/>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6_TITLE">
            <a:extLst xmlns:a="http://schemas.openxmlformats.org/drawingml/2006/main">
              <a:ext uri="{FF2B5EF4-FFF2-40B4-BE49-F238E27FC236}">
                <a16:creationId xmlns:a16="http://schemas.microsoft.com/office/drawing/2014/main" id="{AAB5533C-7015-4308-8CF3-4C6EC8D97E3D}"/>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Mass assignment biến profile thành privilege escalation</a:t>
            </a:r>
          </a:p>
        </p:txBody>
      </p:sp>
      <p:sp>
        <p:nvSpPr>
          <p:cNvPr id="3" name="S16_SUBTITLE">
            <a:extLst xmlns:a="http://schemas.openxmlformats.org/drawingml/2006/main">
              <a:ext uri="{FF2B5EF4-FFF2-40B4-BE49-F238E27FC236}">
                <a16:creationId xmlns:a16="http://schemas.microsoft.com/office/drawing/2014/main" id="{797316C1-2CD6-4036-B6BF-AB1BF8740B47}"/>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Nếu server bind mọi field, role từ form có thể đi thẳng vào database.</a:t>
            </a:r>
          </a:p>
        </p:txBody>
      </p:sp>
      <p:sp>
        <p:nvSpPr>
          <p:cNvPr id="4" name="S16_TITLE_RULE">
            <a:extLst xmlns:a="http://schemas.openxmlformats.org/drawingml/2006/main">
              <a:ext uri="{FF2B5EF4-FFF2-40B4-BE49-F238E27FC236}">
                <a16:creationId xmlns:a16="http://schemas.microsoft.com/office/drawing/2014/main" id="{1AAE0974-8AB6-4B14-9CFB-26DDCC61F38B}"/>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6_FOOTER_RULE">
            <a:extLst xmlns:a="http://schemas.openxmlformats.org/drawingml/2006/main">
              <a:ext uri="{FF2B5EF4-FFF2-40B4-BE49-F238E27FC236}">
                <a16:creationId xmlns:a16="http://schemas.microsoft.com/office/drawing/2014/main" id="{17BA79E1-706B-4FD4-B88B-E88619264A9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6_SOURCE">
            <a:extLst xmlns:a="http://schemas.openxmlformats.org/drawingml/2006/main">
              <a:ext uri="{FF2B5EF4-FFF2-40B4-BE49-F238E27FC236}">
                <a16:creationId xmlns:a16="http://schemas.microsoft.com/office/drawing/2014/main" id="{0C66AF46-942F-493D-9469-54C92DD7185B}"/>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Lab03/services.py · authorization.py</a:t>
            </a:r>
          </a:p>
        </p:txBody>
      </p:sp>
      <p:sp>
        <p:nvSpPr>
          <p:cNvPr id="7" name="S16_NUMBER">
            <a:extLst xmlns:a="http://schemas.openxmlformats.org/drawingml/2006/main">
              <a:ext uri="{FF2B5EF4-FFF2-40B4-BE49-F238E27FC236}">
                <a16:creationId xmlns:a16="http://schemas.microsoft.com/office/drawing/2014/main" id="{10DA08EE-97AB-45AF-9FC3-1BD4A582ACE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16</a:t>
            </a:r>
          </a:p>
        </p:txBody>
      </p:sp>
      <p:sp>
        <p:nvSpPr>
          <p:cNvPr id="8" name="S16_VULN">
            <a:extLst xmlns:a="http://schemas.openxmlformats.org/drawingml/2006/main">
              <a:ext uri="{FF2B5EF4-FFF2-40B4-BE49-F238E27FC236}">
                <a16:creationId xmlns:a16="http://schemas.microsoft.com/office/drawing/2014/main" id="{06A52953-3CD6-4B62-892F-E532CBD2E390}"/>
              </a:ext>
            </a:extLst>
          </p:cNvPr>
          <p:cNvSpPr>
            <a:spLocks xmlns:a="http://schemas.openxmlformats.org/drawingml/2006/main" noGrp="1"/>
          </p:cNvSpPr>
          <p:nvPr/>
        </p:nvSpPr>
        <p:spPr>
          <a:xfrm xmlns:a="http://schemas.openxmlformats.org/drawingml/2006/main">
            <a:off x="533400" y="1752600"/>
            <a:ext cx="5238750" cy="18097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email = form["email"]</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role  = form["role"]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UPDATE users SET email=?, role=?</a:t>
            </a:r>
          </a:p>
        </p:txBody>
      </p:sp>
      <p:sp>
        <p:nvSpPr>
          <p:cNvPr id="9" name="S16_SAFE">
            <a:extLst xmlns:a="http://schemas.openxmlformats.org/drawingml/2006/main">
              <a:ext uri="{FF2B5EF4-FFF2-40B4-BE49-F238E27FC236}">
                <a16:creationId xmlns:a16="http://schemas.microsoft.com/office/drawing/2014/main" id="{18328260-04DF-4DF8-99A3-C52396B2543C}"/>
              </a:ext>
            </a:extLst>
          </p:cNvPr>
          <p:cNvSpPr>
            <a:spLocks xmlns:a="http://schemas.openxmlformats.org/drawingml/2006/main" noGrp="1"/>
          </p:cNvSpPr>
          <p:nvPr/>
        </p:nvSpPr>
        <p:spPr>
          <a:xfrm xmlns:a="http://schemas.openxmlformats.org/drawingml/2006/main">
            <a:off x="6000750" y="1752600"/>
            <a:ext cx="5657850" cy="18097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 allowlist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allowed = {"email"}</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reject role, is_admin, balance, user_id</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UPDATE users SET email=? WHERE id=session.user_id</a:t>
            </a:r>
          </a:p>
        </p:txBody>
      </p:sp>
      <p:sp>
        <p:nvSpPr>
          <p:cNvPr id="10" name="S16_FLOW_ARROW_1">
            <a:extLst xmlns:a="http://schemas.openxmlformats.org/drawingml/2006/main">
              <a:ext uri="{FF2B5EF4-FFF2-40B4-BE49-F238E27FC236}">
                <a16:creationId xmlns:a16="http://schemas.microsoft.com/office/drawing/2014/main" id="{B911ACDF-EDAB-4DBA-987A-C255D84D3C57}"/>
              </a:ext>
            </a:extLst>
          </p:cNvPr>
          <p:cNvSpPr>
            <a:spLocks xmlns:a="http://schemas.openxmlformats.org/drawingml/2006/main" noGrp="1"/>
          </p:cNvSpPr>
          <p:nvPr/>
        </p:nvSpPr>
        <p:spPr>
          <a:xfrm xmlns:a="http://schemas.openxmlformats.org/drawingml/2006/main">
            <a:off x="1700213" y="4343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16_FLOW_ARROW_2">
            <a:extLst xmlns:a="http://schemas.openxmlformats.org/drawingml/2006/main">
              <a:ext uri="{FF2B5EF4-FFF2-40B4-BE49-F238E27FC236}">
                <a16:creationId xmlns:a16="http://schemas.microsoft.com/office/drawing/2014/main" id="{ADB45905-315A-463A-8228-04D035C38FC3}"/>
              </a:ext>
            </a:extLst>
          </p:cNvPr>
          <p:cNvSpPr>
            <a:spLocks xmlns:a="http://schemas.openxmlformats.org/drawingml/2006/main" noGrp="1"/>
          </p:cNvSpPr>
          <p:nvPr/>
        </p:nvSpPr>
        <p:spPr>
          <a:xfrm xmlns:a="http://schemas.openxmlformats.org/drawingml/2006/main">
            <a:off x="3133725" y="4343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16_FLOW_ARROW_3">
            <a:extLst xmlns:a="http://schemas.openxmlformats.org/drawingml/2006/main">
              <a:ext uri="{FF2B5EF4-FFF2-40B4-BE49-F238E27FC236}">
                <a16:creationId xmlns:a16="http://schemas.microsoft.com/office/drawing/2014/main" id="{2E2EB765-1A78-4F9F-96D0-FD39BE90AC0A}"/>
              </a:ext>
            </a:extLst>
          </p:cNvPr>
          <p:cNvSpPr>
            <a:spLocks xmlns:a="http://schemas.openxmlformats.org/drawingml/2006/main" noGrp="1"/>
          </p:cNvSpPr>
          <p:nvPr/>
        </p:nvSpPr>
        <p:spPr>
          <a:xfrm xmlns:a="http://schemas.openxmlformats.org/drawingml/2006/main">
            <a:off x="4567238" y="4343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3" name="S16_FLOW_NODE_1">
            <a:extLst xmlns:a="http://schemas.openxmlformats.org/drawingml/2006/main">
              <a:ext uri="{FF2B5EF4-FFF2-40B4-BE49-F238E27FC236}">
                <a16:creationId xmlns:a16="http://schemas.microsoft.com/office/drawing/2014/main" id="{3E5CCB84-6ACE-47DB-A368-FC797211A0AC}"/>
              </a:ext>
            </a:extLst>
          </p:cNvPr>
          <p:cNvSpPr>
            <a:spLocks xmlns:a="http://schemas.openxmlformats.org/drawingml/2006/main" noGrp="1"/>
          </p:cNvSpPr>
          <p:nvPr/>
        </p:nvSpPr>
        <p:spPr>
          <a:xfrm xmlns:a="http://schemas.openxmlformats.org/drawingml/2006/main">
            <a:off x="533400"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admin</a:t>
            </a:r>
          </a:p>
        </p:txBody>
      </p:sp>
      <p:sp>
        <p:nvSpPr>
          <p:cNvPr id="14" name="S16_FLOW_NODE_2">
            <a:extLst xmlns:a="http://schemas.openxmlformats.org/drawingml/2006/main">
              <a:ext uri="{FF2B5EF4-FFF2-40B4-BE49-F238E27FC236}">
                <a16:creationId xmlns:a16="http://schemas.microsoft.com/office/drawing/2014/main" id="{484FD762-41A3-43DA-B030-5E96FBC0A34B}"/>
              </a:ext>
            </a:extLst>
          </p:cNvPr>
          <p:cNvSpPr>
            <a:spLocks xmlns:a="http://schemas.openxmlformats.org/drawingml/2006/main" noGrp="1"/>
          </p:cNvSpPr>
          <p:nvPr/>
        </p:nvSpPr>
        <p:spPr>
          <a:xfrm xmlns:a="http://schemas.openxmlformats.org/drawingml/2006/main">
            <a:off x="1966913"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generic binder</a:t>
            </a:r>
          </a:p>
        </p:txBody>
      </p:sp>
      <p:sp>
        <p:nvSpPr>
          <p:cNvPr id="15" name="S16_FLOW_NODE_3">
            <a:extLst xmlns:a="http://schemas.openxmlformats.org/drawingml/2006/main">
              <a:ext uri="{FF2B5EF4-FFF2-40B4-BE49-F238E27FC236}">
                <a16:creationId xmlns:a16="http://schemas.microsoft.com/office/drawing/2014/main" id="{4E293258-EF79-4371-8EE3-8A1089088A55}"/>
              </a:ext>
            </a:extLst>
          </p:cNvPr>
          <p:cNvSpPr>
            <a:spLocks xmlns:a="http://schemas.openxmlformats.org/drawingml/2006/main" noGrp="1"/>
          </p:cNvSpPr>
          <p:nvPr/>
        </p:nvSpPr>
        <p:spPr>
          <a:xfrm xmlns:a="http://schemas.openxmlformats.org/drawingml/2006/main">
            <a:off x="3400425"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users.role</a:t>
            </a:r>
          </a:p>
        </p:txBody>
      </p:sp>
      <p:sp>
        <p:nvSpPr>
          <p:cNvPr id="16" name="S16_FLOW_NODE_4">
            <a:extLst xmlns:a="http://schemas.openxmlformats.org/drawingml/2006/main">
              <a:ext uri="{FF2B5EF4-FFF2-40B4-BE49-F238E27FC236}">
                <a16:creationId xmlns:a16="http://schemas.microsoft.com/office/drawing/2014/main" id="{3FCF68E2-2480-46D9-8D18-A24738A385E6}"/>
              </a:ext>
            </a:extLst>
          </p:cNvPr>
          <p:cNvSpPr>
            <a:spLocks xmlns:a="http://schemas.openxmlformats.org/drawingml/2006/main" noGrp="1"/>
          </p:cNvSpPr>
          <p:nvPr/>
        </p:nvSpPr>
        <p:spPr>
          <a:xfrm xmlns:a="http://schemas.openxmlformats.org/drawingml/2006/main">
            <a:off x="4833938"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privilege ↑</a:t>
            </a:r>
          </a:p>
        </p:txBody>
      </p:sp>
      <p:sp>
        <p:nvSpPr>
          <p:cNvPr id="17" name="S16_FLOW2_ARROW_1">
            <a:extLst xmlns:a="http://schemas.openxmlformats.org/drawingml/2006/main">
              <a:ext uri="{FF2B5EF4-FFF2-40B4-BE49-F238E27FC236}">
                <a16:creationId xmlns:a16="http://schemas.microsoft.com/office/drawing/2014/main" id="{B0EE0DC3-5AE3-4A58-82A3-F55E62135326}"/>
              </a:ext>
            </a:extLst>
          </p:cNvPr>
          <p:cNvSpPr>
            <a:spLocks xmlns:a="http://schemas.openxmlformats.org/drawingml/2006/main" noGrp="1"/>
          </p:cNvSpPr>
          <p:nvPr/>
        </p:nvSpPr>
        <p:spPr>
          <a:xfrm xmlns:a="http://schemas.openxmlformats.org/drawingml/2006/main">
            <a:off x="7462838" y="434340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8" name="S16_FLOW2_ARROW_2">
            <a:extLst xmlns:a="http://schemas.openxmlformats.org/drawingml/2006/main">
              <a:ext uri="{FF2B5EF4-FFF2-40B4-BE49-F238E27FC236}">
                <a16:creationId xmlns:a16="http://schemas.microsoft.com/office/drawing/2014/main" id="{E8F429F3-4A8B-4BFB-9501-51D169E034F6}"/>
              </a:ext>
            </a:extLst>
          </p:cNvPr>
          <p:cNvSpPr>
            <a:spLocks xmlns:a="http://schemas.openxmlformats.org/drawingml/2006/main" noGrp="1"/>
          </p:cNvSpPr>
          <p:nvPr/>
        </p:nvSpPr>
        <p:spPr>
          <a:xfrm xmlns:a="http://schemas.openxmlformats.org/drawingml/2006/main">
            <a:off x="8905875" y="434340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9" name="S16_FLOW2_ARROW_3">
            <a:extLst xmlns:a="http://schemas.openxmlformats.org/drawingml/2006/main">
              <a:ext uri="{FF2B5EF4-FFF2-40B4-BE49-F238E27FC236}">
                <a16:creationId xmlns:a16="http://schemas.microsoft.com/office/drawing/2014/main" id="{EED59954-A24E-4F77-A622-6B0DAE90A47C}"/>
              </a:ext>
            </a:extLst>
          </p:cNvPr>
          <p:cNvSpPr>
            <a:spLocks xmlns:a="http://schemas.openxmlformats.org/drawingml/2006/main" noGrp="1"/>
          </p:cNvSpPr>
          <p:nvPr/>
        </p:nvSpPr>
        <p:spPr>
          <a:xfrm xmlns:a="http://schemas.openxmlformats.org/drawingml/2006/main">
            <a:off x="10348913" y="434340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20" name="S16_FLOW2_NODE_1">
            <a:extLst xmlns:a="http://schemas.openxmlformats.org/drawingml/2006/main">
              <a:ext uri="{FF2B5EF4-FFF2-40B4-BE49-F238E27FC236}">
                <a16:creationId xmlns:a16="http://schemas.microsoft.com/office/drawing/2014/main" id="{48232EF9-4B5E-4E05-A347-E7C9C31882D4}"/>
              </a:ext>
            </a:extLst>
          </p:cNvPr>
          <p:cNvSpPr>
            <a:spLocks xmlns:a="http://schemas.openxmlformats.org/drawingml/2006/main" noGrp="1"/>
          </p:cNvSpPr>
          <p:nvPr/>
        </p:nvSpPr>
        <p:spPr>
          <a:xfrm xmlns:a="http://schemas.openxmlformats.org/drawingml/2006/main">
            <a:off x="6286500"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email only</a:t>
            </a:r>
          </a:p>
        </p:txBody>
      </p:sp>
      <p:sp>
        <p:nvSpPr>
          <p:cNvPr id="21" name="S16_FLOW2_NODE_2">
            <a:extLst xmlns:a="http://schemas.openxmlformats.org/drawingml/2006/main">
              <a:ext uri="{FF2B5EF4-FFF2-40B4-BE49-F238E27FC236}">
                <a16:creationId xmlns:a16="http://schemas.microsoft.com/office/drawing/2014/main" id="{19CC4A4E-F79C-4C4A-807F-8290FB0E8DB1}"/>
              </a:ext>
            </a:extLst>
          </p:cNvPr>
          <p:cNvSpPr>
            <a:spLocks xmlns:a="http://schemas.openxmlformats.org/drawingml/2006/main" noGrp="1"/>
          </p:cNvSpPr>
          <p:nvPr/>
        </p:nvSpPr>
        <p:spPr>
          <a:xfrm xmlns:a="http://schemas.openxmlformats.org/drawingml/2006/main">
            <a:off x="7729538"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allowlist</a:t>
            </a:r>
          </a:p>
        </p:txBody>
      </p:sp>
      <p:sp>
        <p:nvSpPr>
          <p:cNvPr id="22" name="S16_FLOW2_NODE_3">
            <a:extLst xmlns:a="http://schemas.openxmlformats.org/drawingml/2006/main">
              <a:ext uri="{FF2B5EF4-FFF2-40B4-BE49-F238E27FC236}">
                <a16:creationId xmlns:a16="http://schemas.microsoft.com/office/drawing/2014/main" id="{FAA81724-7151-4CE8-9984-9EB521409326}"/>
              </a:ext>
            </a:extLst>
          </p:cNvPr>
          <p:cNvSpPr>
            <a:spLocks xmlns:a="http://schemas.openxmlformats.org/drawingml/2006/main" noGrp="1"/>
          </p:cNvSpPr>
          <p:nvPr/>
        </p:nvSpPr>
        <p:spPr>
          <a:xfrm xmlns:a="http://schemas.openxmlformats.org/drawingml/2006/main">
            <a:off x="9172575"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 id</a:t>
            </a:r>
          </a:p>
        </p:txBody>
      </p:sp>
      <p:sp>
        <p:nvSpPr>
          <p:cNvPr id="23" name="S16_FLOW2_NODE_4">
            <a:extLst xmlns:a="http://schemas.openxmlformats.org/drawingml/2006/main">
              <a:ext uri="{FF2B5EF4-FFF2-40B4-BE49-F238E27FC236}">
                <a16:creationId xmlns:a16="http://schemas.microsoft.com/office/drawing/2014/main" id="{4FAA975F-1028-4175-973E-713BEA3378AD}"/>
              </a:ext>
            </a:extLst>
          </p:cNvPr>
          <p:cNvSpPr>
            <a:spLocks xmlns:a="http://schemas.openxmlformats.org/drawingml/2006/main" noGrp="1"/>
          </p:cNvSpPr>
          <p:nvPr/>
        </p:nvSpPr>
        <p:spPr>
          <a:xfrm xmlns:a="http://schemas.openxmlformats.org/drawingml/2006/main">
            <a:off x="10615613"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audit</a:t>
            </a:r>
          </a:p>
        </p:txBody>
      </p:sp>
      <p:sp>
        <p:nvSpPr>
          <p:cNvPr id="24" name="S16_AUTH_BAR">
            <a:extLst xmlns:a="http://schemas.openxmlformats.org/drawingml/2006/main">
              <a:ext uri="{FF2B5EF4-FFF2-40B4-BE49-F238E27FC236}">
                <a16:creationId xmlns:a16="http://schemas.microsoft.com/office/drawing/2014/main" id="{1F5BFA04-BFBA-483A-95CA-8AFA1F77DB03}"/>
              </a:ext>
            </a:extLst>
          </p:cNvPr>
          <p:cNvSpPr>
            <a:spLocks xmlns:a="http://schemas.openxmlformats.org/drawingml/2006/main" noGrp="1"/>
          </p:cNvSpPr>
          <p:nvPr/>
        </p:nvSpPr>
        <p:spPr>
          <a:xfrm xmlns:a="http://schemas.openxmlformats.org/drawingml/2006/main">
            <a:off x="533400" y="5276850"/>
            <a:ext cx="76200" cy="0"/>
          </a:xfrm>
          <a:prstGeom xmlns:a="http://schemas.openxmlformats.org/drawingml/2006/main" prst="rect">
            <a:avLst/>
          </a:prstGeom>
          <a:ln xmlns:a="http://schemas.openxmlformats.org/drawingml/2006/main" w="0">
            <a:noFill/>
            <a:prstDash val="solid"/>
          </a:ln>
        </p:spPr>
      </p:sp>
      <p:sp>
        <p:nvSpPr>
          <p:cNvPr id="25" name="S16_AUTH_LABEL">
            <a:extLst xmlns:a="http://schemas.openxmlformats.org/drawingml/2006/main">
              <a:ext uri="{FF2B5EF4-FFF2-40B4-BE49-F238E27FC236}">
                <a16:creationId xmlns:a16="http://schemas.microsoft.com/office/drawing/2014/main" id="{62CCBCA6-1996-4EA8-9B1A-46D5370664EC}"/>
              </a:ext>
            </a:extLst>
          </p:cNvPr>
          <p:cNvSpPr>
            <a:spLocks xmlns:a="http://schemas.openxmlformats.org/drawingml/2006/main" noGrp="1"/>
          </p:cNvSpPr>
          <p:nvPr/>
        </p:nvSpPr>
        <p:spPr>
          <a:xfrm xmlns:a="http://schemas.openxmlformats.org/drawingml/2006/main">
            <a:off x="704850" y="5276850"/>
            <a:ext cx="1638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AUTHN ≠ AUTHZ</a:t>
            </a:r>
          </a:p>
        </p:txBody>
      </p:sp>
      <p:sp>
        <p:nvSpPr>
          <p:cNvPr id="26" name="S16_AUTH_BODY">
            <a:extLst xmlns:a="http://schemas.openxmlformats.org/drawingml/2006/main">
              <a:ext uri="{FF2B5EF4-FFF2-40B4-BE49-F238E27FC236}">
                <a16:creationId xmlns:a16="http://schemas.microsoft.com/office/drawing/2014/main" id="{624F5F29-7D4B-4A7B-87A1-CC22F65D8E2D}"/>
              </a:ext>
            </a:extLst>
          </p:cNvPr>
          <p:cNvSpPr>
            <a:spLocks xmlns:a="http://schemas.openxmlformats.org/drawingml/2006/main" noGrp="1"/>
          </p:cNvSpPr>
          <p:nvPr/>
        </p:nvSpPr>
        <p:spPr>
          <a:xfrm xmlns:a="http://schemas.openxmlformats.org/drawingml/2006/main">
            <a:off x="2438400" y="5276850"/>
            <a:ext cx="9201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Đăng nhập xác định bạn là ai; authorization quyết định bạn được đổi field nào trên object nào.</a:t>
            </a:r>
          </a:p>
        </p:txBody>
      </p:sp>
    </p:spTree>
    <p:extLst>
      <p:ext uri="{BB962C8B-B14F-4D97-AF65-F5344CB8AC3E}">
        <p14:creationId xmlns:p14="http://schemas.microsoft.com/office/powerpoint/2010/main" val="764605967"/>
      </p:ext>
    </p:extLst>
  </p:cSld>
</p:sld>
</file>

<file path=ppt/slides/slide1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3" name="S17_EYEBROW">
            <a:extLst xmlns:a="http://schemas.openxmlformats.org/drawingml/2006/main">
              <a:ext uri="{FF2B5EF4-FFF2-40B4-BE49-F238E27FC236}">
                <a16:creationId xmlns:a16="http://schemas.microsoft.com/office/drawing/2014/main" id="{F64AE683-B1D7-4A9A-A335-41CD8BA0C74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7_TITLE">
            <a:extLst xmlns:a="http://schemas.openxmlformats.org/drawingml/2006/main">
              <a:ext uri="{FF2B5EF4-FFF2-40B4-BE49-F238E27FC236}">
                <a16:creationId xmlns:a16="http://schemas.microsoft.com/office/drawing/2014/main" id="{21F7651B-7F7F-4A94-8519-EE3B32705E3F}"/>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Ba tampering — ba kiểm tra authoritative</a:t>
            </a:r>
          </a:p>
        </p:txBody>
      </p:sp>
      <p:sp>
        <p:nvSpPr>
          <p:cNvPr id="3" name="S17_SUBTITLE">
            <a:extLst xmlns:a="http://schemas.openxmlformats.org/drawingml/2006/main">
              <a:ext uri="{FF2B5EF4-FFF2-40B4-BE49-F238E27FC236}">
                <a16:creationId xmlns:a16="http://schemas.microsoft.com/office/drawing/2014/main" id="{12869FA8-2883-404E-9FE4-D296D9ACCF18}"/>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Kiểu/range là cần thiết; policy và ownership mới quyết định an toàn.</a:t>
            </a:r>
          </a:p>
        </p:txBody>
      </p:sp>
      <p:sp>
        <p:nvSpPr>
          <p:cNvPr id="4" name="S17_TITLE_RULE">
            <a:extLst xmlns:a="http://schemas.openxmlformats.org/drawingml/2006/main">
              <a:ext uri="{FF2B5EF4-FFF2-40B4-BE49-F238E27FC236}">
                <a16:creationId xmlns:a16="http://schemas.microsoft.com/office/drawing/2014/main" id="{8DB91071-804A-4989-875D-3F6AD13296E8}"/>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7_FOOTER_RULE">
            <a:extLst xmlns:a="http://schemas.openxmlformats.org/drawingml/2006/main">
              <a:ext uri="{FF2B5EF4-FFF2-40B4-BE49-F238E27FC236}">
                <a16:creationId xmlns:a16="http://schemas.microsoft.com/office/drawing/2014/main" id="{6F74DA39-1556-4984-914A-73BAD639D704}"/>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7_SOURCE">
            <a:extLst xmlns:a="http://schemas.openxmlformats.org/drawingml/2006/main">
              <a:ext uri="{FF2B5EF4-FFF2-40B4-BE49-F238E27FC236}">
                <a16:creationId xmlns:a16="http://schemas.microsoft.com/office/drawing/2014/main" id="{DD88CCBC-2244-45B6-A226-0EE60229BACC}"/>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Lab03 · report Lab03</a:t>
            </a:r>
          </a:p>
        </p:txBody>
      </p:sp>
      <p:sp>
        <p:nvSpPr>
          <p:cNvPr id="7" name="S17_NUMBER">
            <a:extLst xmlns:a="http://schemas.openxmlformats.org/drawingml/2006/main">
              <a:ext uri="{FF2B5EF4-FFF2-40B4-BE49-F238E27FC236}">
                <a16:creationId xmlns:a16="http://schemas.microsoft.com/office/drawing/2014/main" id="{143D68FF-DB3D-4D40-972A-D59FEBD618F0}"/>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17</a:t>
            </a:r>
          </a:p>
        </p:txBody>
      </p:sp>
      <p:sp>
        <p:nvSpPr>
          <p:cNvPr id="8" name="S17_MATRIX_H0">
            <a:extLst xmlns:a="http://schemas.openxmlformats.org/drawingml/2006/main">
              <a:ext uri="{FF2B5EF4-FFF2-40B4-BE49-F238E27FC236}">
                <a16:creationId xmlns:a16="http://schemas.microsoft.com/office/drawing/2014/main" id="{E63D4036-F825-4D04-9A34-088EAE6F2817}"/>
              </a:ext>
            </a:extLst>
          </p:cNvPr>
          <p:cNvSpPr>
            <a:spLocks xmlns:a="http://schemas.openxmlformats.org/drawingml/2006/main" noGrp="1"/>
          </p:cNvSpPr>
          <p:nvPr/>
        </p:nvSpPr>
        <p:spPr>
          <a:xfrm xmlns:a="http://schemas.openxmlformats.org/drawingml/2006/main">
            <a:off x="533400" y="1695450"/>
            <a:ext cx="1333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SCENARIO</a:t>
            </a:r>
          </a:p>
        </p:txBody>
      </p:sp>
      <p:sp>
        <p:nvSpPr>
          <p:cNvPr id="9" name="S17_MATRIX_H1">
            <a:extLst xmlns:a="http://schemas.openxmlformats.org/drawingml/2006/main">
              <a:ext uri="{FF2B5EF4-FFF2-40B4-BE49-F238E27FC236}">
                <a16:creationId xmlns:a16="http://schemas.microsoft.com/office/drawing/2014/main" id="{2E28A634-363E-4425-864F-C641A0FABAC7}"/>
              </a:ext>
            </a:extLst>
          </p:cNvPr>
          <p:cNvSpPr>
            <a:spLocks xmlns:a="http://schemas.openxmlformats.org/drawingml/2006/main" noGrp="1"/>
          </p:cNvSpPr>
          <p:nvPr/>
        </p:nvSpPr>
        <p:spPr>
          <a:xfrm xmlns:a="http://schemas.openxmlformats.org/drawingml/2006/main">
            <a:off x="1866900" y="1695450"/>
            <a:ext cx="1333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CLIENT SỬA</a:t>
            </a:r>
          </a:p>
        </p:txBody>
      </p:sp>
      <p:sp>
        <p:nvSpPr>
          <p:cNvPr id="10" name="S17_MATRIX_H2">
            <a:extLst xmlns:a="http://schemas.openxmlformats.org/drawingml/2006/main">
              <a:ext uri="{FF2B5EF4-FFF2-40B4-BE49-F238E27FC236}">
                <a16:creationId xmlns:a16="http://schemas.microsoft.com/office/drawing/2014/main" id="{76B5BFF4-4ABE-4DFD-8DD2-D166083B86F6}"/>
              </a:ext>
            </a:extLst>
          </p:cNvPr>
          <p:cNvSpPr>
            <a:spLocks xmlns:a="http://schemas.openxmlformats.org/drawingml/2006/main" noGrp="1"/>
          </p:cNvSpPr>
          <p:nvPr/>
        </p:nvSpPr>
        <p:spPr>
          <a:xfrm xmlns:a="http://schemas.openxmlformats.org/drawingml/2006/main">
            <a:off x="3200400" y="1695450"/>
            <a:ext cx="2857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SERVER PHẢI LÀM</a:t>
            </a:r>
          </a:p>
        </p:txBody>
      </p:sp>
      <p:sp>
        <p:nvSpPr>
          <p:cNvPr id="11" name="S17_MATRIX_H3">
            <a:extLst xmlns:a="http://schemas.openxmlformats.org/drawingml/2006/main">
              <a:ext uri="{FF2B5EF4-FFF2-40B4-BE49-F238E27FC236}">
                <a16:creationId xmlns:a16="http://schemas.microsoft.com/office/drawing/2014/main" id="{27DA635E-A08B-421C-AE97-C936799B387C}"/>
              </a:ext>
            </a:extLst>
          </p:cNvPr>
          <p:cNvSpPr>
            <a:spLocks xmlns:a="http://schemas.openxmlformats.org/drawingml/2006/main" noGrp="1"/>
          </p:cNvSpPr>
          <p:nvPr/>
        </p:nvSpPr>
        <p:spPr>
          <a:xfrm xmlns:a="http://schemas.openxmlformats.org/drawingml/2006/main">
            <a:off x="6057900" y="1695450"/>
            <a:ext cx="11430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SECURE</a:t>
            </a:r>
          </a:p>
        </p:txBody>
      </p:sp>
      <p:sp>
        <p:nvSpPr>
          <p:cNvPr id="12" name="S17_MATRIX_R0C0">
            <a:extLst xmlns:a="http://schemas.openxmlformats.org/drawingml/2006/main">
              <a:ext uri="{FF2B5EF4-FFF2-40B4-BE49-F238E27FC236}">
                <a16:creationId xmlns:a16="http://schemas.microsoft.com/office/drawing/2014/main" id="{2EC07A13-1C41-46DE-955B-F87F47127AC0}"/>
              </a:ext>
            </a:extLst>
          </p:cNvPr>
          <p:cNvSpPr>
            <a:spLocks xmlns:a="http://schemas.openxmlformats.org/drawingml/2006/main" noGrp="1"/>
          </p:cNvSpPr>
          <p:nvPr/>
        </p:nvSpPr>
        <p:spPr>
          <a:xfrm xmlns:a="http://schemas.openxmlformats.org/drawingml/2006/main">
            <a:off x="533400" y="2262188"/>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a:t>
            </a:r>
          </a:p>
        </p:txBody>
      </p:sp>
      <p:sp>
        <p:nvSpPr>
          <p:cNvPr id="13" name="S17_MATRIX_R0C1">
            <a:extLst xmlns:a="http://schemas.openxmlformats.org/drawingml/2006/main">
              <a:ext uri="{FF2B5EF4-FFF2-40B4-BE49-F238E27FC236}">
                <a16:creationId xmlns:a16="http://schemas.microsoft.com/office/drawing/2014/main" id="{EE67C013-D120-4860-A1F5-3DB924F6A77D}"/>
              </a:ext>
            </a:extLst>
          </p:cNvPr>
          <p:cNvSpPr>
            <a:spLocks xmlns:a="http://schemas.openxmlformats.org/drawingml/2006/main" noGrp="1"/>
          </p:cNvSpPr>
          <p:nvPr/>
        </p:nvSpPr>
        <p:spPr>
          <a:xfrm xmlns:a="http://schemas.openxmlformats.org/drawingml/2006/main">
            <a:off x="1866900" y="2262188"/>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price=1</a:t>
            </a:r>
          </a:p>
        </p:txBody>
      </p:sp>
      <p:sp>
        <p:nvSpPr>
          <p:cNvPr id="14" name="S17_MATRIX_R0C2">
            <a:extLst xmlns:a="http://schemas.openxmlformats.org/drawingml/2006/main">
              <a:ext uri="{FF2B5EF4-FFF2-40B4-BE49-F238E27FC236}">
                <a16:creationId xmlns:a16="http://schemas.microsoft.com/office/drawing/2014/main" id="{CB930CC9-8045-42B5-9F0D-55AC3AEAC992}"/>
              </a:ext>
            </a:extLst>
          </p:cNvPr>
          <p:cNvSpPr>
            <a:spLocks xmlns:a="http://schemas.openxmlformats.org/drawingml/2006/main" noGrp="1"/>
          </p:cNvSpPr>
          <p:nvPr/>
        </p:nvSpPr>
        <p:spPr>
          <a:xfrm xmlns:a="http://schemas.openxmlformats.org/drawingml/2006/main">
            <a:off x="3200400" y="2262188"/>
            <a:ext cx="2857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đọc giá từ DB</a:t>
            </a:r>
          </a:p>
        </p:txBody>
      </p:sp>
      <p:sp>
        <p:nvSpPr>
          <p:cNvPr id="15" name="S17_MATRIX_R0C3">
            <a:extLst xmlns:a="http://schemas.openxmlformats.org/drawingml/2006/main">
              <a:ext uri="{FF2B5EF4-FFF2-40B4-BE49-F238E27FC236}">
                <a16:creationId xmlns:a16="http://schemas.microsoft.com/office/drawing/2014/main" id="{048EFD5A-C9EF-4673-BE95-9F3A99ABB35A}"/>
              </a:ext>
            </a:extLst>
          </p:cNvPr>
          <p:cNvSpPr>
            <a:spLocks xmlns:a="http://schemas.openxmlformats.org/drawingml/2006/main" noGrp="1"/>
          </p:cNvSpPr>
          <p:nvPr/>
        </p:nvSpPr>
        <p:spPr>
          <a:xfrm xmlns:a="http://schemas.openxmlformats.org/drawingml/2006/main">
            <a:off x="6057900" y="2262188"/>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server total</a:t>
            </a:r>
          </a:p>
        </p:txBody>
      </p:sp>
      <p:sp>
        <p:nvSpPr>
          <p:cNvPr id="16" name="S17_MATRIX_R1C0">
            <a:extLst xmlns:a="http://schemas.openxmlformats.org/drawingml/2006/main">
              <a:ext uri="{FF2B5EF4-FFF2-40B4-BE49-F238E27FC236}">
                <a16:creationId xmlns:a16="http://schemas.microsoft.com/office/drawing/2014/main" id="{64F94291-4102-4332-9625-BDCE620E511B}"/>
              </a:ext>
            </a:extLst>
          </p:cNvPr>
          <p:cNvSpPr>
            <a:spLocks xmlns:a="http://schemas.openxmlformats.org/drawingml/2006/main" noGrp="1"/>
          </p:cNvSpPr>
          <p:nvPr/>
        </p:nvSpPr>
        <p:spPr>
          <a:xfrm xmlns:a="http://schemas.openxmlformats.org/drawingml/2006/main">
            <a:off x="533400" y="2828925"/>
            <a:ext cx="1333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IDOR</a:t>
            </a:r>
          </a:p>
        </p:txBody>
      </p:sp>
      <p:sp>
        <p:nvSpPr>
          <p:cNvPr id="17" name="S17_MATRIX_R1C1">
            <a:extLst xmlns:a="http://schemas.openxmlformats.org/drawingml/2006/main">
              <a:ext uri="{FF2B5EF4-FFF2-40B4-BE49-F238E27FC236}">
                <a16:creationId xmlns:a16="http://schemas.microsoft.com/office/drawing/2014/main" id="{2EB7C368-F45F-4878-B58F-69E8DE193901}"/>
              </a:ext>
            </a:extLst>
          </p:cNvPr>
          <p:cNvSpPr>
            <a:spLocks xmlns:a="http://schemas.openxmlformats.org/drawingml/2006/main" noGrp="1"/>
          </p:cNvSpPr>
          <p:nvPr/>
        </p:nvSpPr>
        <p:spPr>
          <a:xfrm xmlns:a="http://schemas.openxmlformats.org/drawingml/2006/main">
            <a:off x="1866900" y="2828925"/>
            <a:ext cx="1333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id=1002</a:t>
            </a:r>
          </a:p>
        </p:txBody>
      </p:sp>
      <p:sp>
        <p:nvSpPr>
          <p:cNvPr id="18" name="S17_MATRIX_R1C2">
            <a:extLst xmlns:a="http://schemas.openxmlformats.org/drawingml/2006/main">
              <a:ext uri="{FF2B5EF4-FFF2-40B4-BE49-F238E27FC236}">
                <a16:creationId xmlns:a16="http://schemas.microsoft.com/office/drawing/2014/main" id="{8330B0A3-676A-45EC-887C-32AF24CEC17B}"/>
              </a:ext>
            </a:extLst>
          </p:cNvPr>
          <p:cNvSpPr>
            <a:spLocks xmlns:a="http://schemas.openxmlformats.org/drawingml/2006/main" noGrp="1"/>
          </p:cNvSpPr>
          <p:nvPr/>
        </p:nvSpPr>
        <p:spPr>
          <a:xfrm xmlns:a="http://schemas.openxmlformats.org/drawingml/2006/main">
            <a:off x="3200400" y="2828925"/>
            <a:ext cx="2857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owner/admin · OWASP Broken Access Control</a:t>
            </a:r>
          </a:p>
        </p:txBody>
      </p:sp>
      <p:sp>
        <p:nvSpPr>
          <p:cNvPr id="19" name="S17_MATRIX_R1C3">
            <a:extLst xmlns:a="http://schemas.openxmlformats.org/drawingml/2006/main">
              <a:ext uri="{FF2B5EF4-FFF2-40B4-BE49-F238E27FC236}">
                <a16:creationId xmlns:a16="http://schemas.microsoft.com/office/drawing/2014/main" id="{06D4836E-8AB4-4151-9481-BE2AA671D9B2}"/>
              </a:ext>
            </a:extLst>
          </p:cNvPr>
          <p:cNvSpPr>
            <a:spLocks xmlns:a="http://schemas.openxmlformats.org/drawingml/2006/main" noGrp="1"/>
          </p:cNvSpPr>
          <p:nvPr/>
        </p:nvSpPr>
        <p:spPr>
          <a:xfrm xmlns:a="http://schemas.openxmlformats.org/drawingml/2006/main">
            <a:off x="6057900" y="2828925"/>
            <a:ext cx="11430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403</a:t>
            </a:r>
          </a:p>
        </p:txBody>
      </p:sp>
      <p:sp>
        <p:nvSpPr>
          <p:cNvPr id="20" name="S17_MATRIX_R2C0">
            <a:extLst xmlns:a="http://schemas.openxmlformats.org/drawingml/2006/main">
              <a:ext uri="{FF2B5EF4-FFF2-40B4-BE49-F238E27FC236}">
                <a16:creationId xmlns:a16="http://schemas.microsoft.com/office/drawing/2014/main" id="{5FAE84CC-CF91-4707-BA5F-C2D1794798C3}"/>
              </a:ext>
            </a:extLst>
          </p:cNvPr>
          <p:cNvSpPr>
            <a:spLocks xmlns:a="http://schemas.openxmlformats.org/drawingml/2006/main" noGrp="1"/>
          </p:cNvSpPr>
          <p:nvPr/>
        </p:nvSpPr>
        <p:spPr>
          <a:xfrm xmlns:a="http://schemas.openxmlformats.org/drawingml/2006/main">
            <a:off x="533400" y="3395663"/>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Profile</a:t>
            </a:r>
          </a:p>
        </p:txBody>
      </p:sp>
      <p:sp>
        <p:nvSpPr>
          <p:cNvPr id="21" name="S17_MATRIX_R2C1">
            <a:extLst xmlns:a="http://schemas.openxmlformats.org/drawingml/2006/main">
              <a:ext uri="{FF2B5EF4-FFF2-40B4-BE49-F238E27FC236}">
                <a16:creationId xmlns:a16="http://schemas.microsoft.com/office/drawing/2014/main" id="{CE770FFF-119D-4DBA-B3C8-D40B96338644}"/>
              </a:ext>
            </a:extLst>
          </p:cNvPr>
          <p:cNvSpPr>
            <a:spLocks xmlns:a="http://schemas.openxmlformats.org/drawingml/2006/main" noGrp="1"/>
          </p:cNvSpPr>
          <p:nvPr/>
        </p:nvSpPr>
        <p:spPr>
          <a:xfrm xmlns:a="http://schemas.openxmlformats.org/drawingml/2006/main">
            <a:off x="1866900" y="3395663"/>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role=admin</a:t>
            </a:r>
          </a:p>
        </p:txBody>
      </p:sp>
      <p:sp>
        <p:nvSpPr>
          <p:cNvPr id="22" name="S17_MATRIX_R2C2">
            <a:extLst xmlns:a="http://schemas.openxmlformats.org/drawingml/2006/main">
              <a:ext uri="{FF2B5EF4-FFF2-40B4-BE49-F238E27FC236}">
                <a16:creationId xmlns:a16="http://schemas.microsoft.com/office/drawing/2014/main" id="{96D27934-65B7-4143-850D-303E9F880095}"/>
              </a:ext>
            </a:extLst>
          </p:cNvPr>
          <p:cNvSpPr>
            <a:spLocks xmlns:a="http://schemas.openxmlformats.org/drawingml/2006/main" noGrp="1"/>
          </p:cNvSpPr>
          <p:nvPr/>
        </p:nvSpPr>
        <p:spPr>
          <a:xfrm xmlns:a="http://schemas.openxmlformats.org/drawingml/2006/main">
            <a:off x="3200400" y="3395663"/>
            <a:ext cx="2857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field allowlist</a:t>
            </a:r>
          </a:p>
        </p:txBody>
      </p:sp>
      <p:sp>
        <p:nvSpPr>
          <p:cNvPr id="23" name="S17_MATRIX_R2C3">
            <a:extLst xmlns:a="http://schemas.openxmlformats.org/drawingml/2006/main">
              <a:ext uri="{FF2B5EF4-FFF2-40B4-BE49-F238E27FC236}">
                <a16:creationId xmlns:a16="http://schemas.microsoft.com/office/drawing/2014/main" id="{27FD7CCE-4457-46E0-B10E-91C7392766D3}"/>
              </a:ext>
            </a:extLst>
          </p:cNvPr>
          <p:cNvSpPr>
            <a:spLocks xmlns:a="http://schemas.openxmlformats.org/drawingml/2006/main" noGrp="1"/>
          </p:cNvSpPr>
          <p:nvPr/>
        </p:nvSpPr>
        <p:spPr>
          <a:xfrm xmlns:a="http://schemas.openxmlformats.org/drawingml/2006/main">
            <a:off x="6057900" y="3395663"/>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email only</a:t>
            </a:r>
          </a:p>
        </p:txBody>
      </p:sp>
      <p:sp>
        <p:nvSpPr>
          <p:cNvPr id="24" name="S17_QA_1">
            <a:extLst xmlns:a="http://schemas.openxmlformats.org/drawingml/2006/main">
              <a:ext uri="{FF2B5EF4-FFF2-40B4-BE49-F238E27FC236}">
                <a16:creationId xmlns:a16="http://schemas.microsoft.com/office/drawing/2014/main" id="{AB27CF33-927B-426E-9BBD-83D2231593E7}"/>
              </a:ext>
            </a:extLst>
          </p:cNvPr>
          <p:cNvSpPr>
            <a:spLocks xmlns:a="http://schemas.openxmlformats.org/drawingml/2006/main" noGrp="1"/>
          </p:cNvSpPr>
          <p:nvPr/>
        </p:nvSpPr>
        <p:spPr>
          <a:xfrm xmlns:a="http://schemas.openxmlformats.org/drawingml/2006/main">
            <a:off x="7467600" y="16954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Không tin giá client vì người dùng kiểm soát request.</a:t>
            </a:r>
          </a:p>
        </p:txBody>
      </p:sp>
      <p:sp>
        <p:nvSpPr>
          <p:cNvPr id="25" name="S17_QA_2">
            <a:extLst xmlns:a="http://schemas.openxmlformats.org/drawingml/2006/main">
              <a:ext uri="{FF2B5EF4-FFF2-40B4-BE49-F238E27FC236}">
                <a16:creationId xmlns:a16="http://schemas.microsoft.com/office/drawing/2014/main" id="{BC70BCC5-A76B-4995-915A-209A00D78F49}"/>
              </a:ext>
            </a:extLst>
          </p:cNvPr>
          <p:cNvSpPr>
            <a:spLocks xmlns:a="http://schemas.openxmlformats.org/drawingml/2006/main" noGrp="1"/>
          </p:cNvSpPr>
          <p:nvPr/>
        </p:nvSpPr>
        <p:spPr>
          <a:xfrm xmlns:a="http://schemas.openxmlformats.org/drawingml/2006/main">
            <a:off x="9639300" y="16954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IDOR thiếu authorization theo object.</a:t>
            </a:r>
          </a:p>
        </p:txBody>
      </p:sp>
      <p:sp>
        <p:nvSpPr>
          <p:cNvPr id="26" name="S17_QA_3">
            <a:extLst xmlns:a="http://schemas.openxmlformats.org/drawingml/2006/main">
              <a:ext uri="{FF2B5EF4-FFF2-40B4-BE49-F238E27FC236}">
                <a16:creationId xmlns:a16="http://schemas.microsoft.com/office/drawing/2014/main" id="{0DE42E21-712C-49B8-AAEC-A078FC1F9DB9}"/>
              </a:ext>
            </a:extLst>
          </p:cNvPr>
          <p:cNvSpPr>
            <a:spLocks xmlns:a="http://schemas.openxmlformats.org/drawingml/2006/main" noGrp="1"/>
          </p:cNvSpPr>
          <p:nvPr/>
        </p:nvSpPr>
        <p:spPr>
          <a:xfrm xmlns:a="http://schemas.openxmlformats.org/drawingml/2006/main">
            <a:off x="7467600" y="313690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Role tampering là privilege escalation.</a:t>
            </a:r>
          </a:p>
        </p:txBody>
      </p:sp>
      <p:sp>
        <p:nvSpPr>
          <p:cNvPr id="27" name="S17_QA_4">
            <a:extLst xmlns:a="http://schemas.openxmlformats.org/drawingml/2006/main">
              <a:ext uri="{FF2B5EF4-FFF2-40B4-BE49-F238E27FC236}">
                <a16:creationId xmlns:a16="http://schemas.microsoft.com/office/drawing/2014/main" id="{433FB8DB-2FA2-4723-88F7-531376B6E313}"/>
              </a:ext>
            </a:extLst>
          </p:cNvPr>
          <p:cNvSpPr>
            <a:spLocks xmlns:a="http://schemas.openxmlformats.org/drawingml/2006/main" noGrp="1"/>
          </p:cNvSpPr>
          <p:nvPr/>
        </p:nvSpPr>
        <p:spPr>
          <a:xfrm xmlns:a="http://schemas.openxmlformats.org/drawingml/2006/main">
            <a:off x="9639300" y="313690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Tampering khác SQLi: policy vs query syntax.</a:t>
            </a:r>
          </a:p>
        </p:txBody>
      </p:sp>
      <p:sp>
        <p:nvSpPr>
          <p:cNvPr id="28" name="S17_QA_5">
            <a:extLst xmlns:a="http://schemas.openxmlformats.org/drawingml/2006/main">
              <a:ext uri="{FF2B5EF4-FFF2-40B4-BE49-F238E27FC236}">
                <a16:creationId xmlns:a16="http://schemas.microsoft.com/office/drawing/2014/main" id="{BF384C2F-187A-43B2-8771-D29F1E04A51E}"/>
              </a:ext>
            </a:extLst>
          </p:cNvPr>
          <p:cNvSpPr>
            <a:spLocks xmlns:a="http://schemas.openxmlformats.org/drawingml/2006/main" noGrp="1"/>
          </p:cNvSpPr>
          <p:nvPr/>
        </p:nvSpPr>
        <p:spPr>
          <a:xfrm xmlns:a="http://schemas.openxmlformats.org/drawingml/2006/main">
            <a:off x="7467600" y="45783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Hidden field không phải security control.</a:t>
            </a:r>
          </a:p>
        </p:txBody>
      </p:sp>
      <p:sp>
        <p:nvSpPr>
          <p:cNvPr id="29" name="S17_QA_6">
            <a:extLst xmlns:a="http://schemas.openxmlformats.org/drawingml/2006/main">
              <a:ext uri="{FF2B5EF4-FFF2-40B4-BE49-F238E27FC236}">
                <a16:creationId xmlns:a16="http://schemas.microsoft.com/office/drawing/2014/main" id="{43CBD29B-7111-4D9F-935F-EBF9149A9954}"/>
              </a:ext>
            </a:extLst>
          </p:cNvPr>
          <p:cNvSpPr>
            <a:spLocks xmlns:a="http://schemas.openxmlformats.org/drawingml/2006/main" noGrp="1"/>
          </p:cNvSpPr>
          <p:nvPr/>
        </p:nvSpPr>
        <p:spPr>
          <a:xfrm xmlns:a="http://schemas.openxmlformats.org/drawingml/2006/main">
            <a:off x="9639300" y="45783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Audit: ai · object · field · before/after · result.</a:t>
            </a:r>
          </a:p>
        </p:txBody>
      </p:sp>
      <p:sp>
        <p:nvSpPr>
          <p:cNvPr id="30" name="S17_CONTROLS_BAR">
            <a:extLst xmlns:a="http://schemas.openxmlformats.org/drawingml/2006/main">
              <a:ext uri="{FF2B5EF4-FFF2-40B4-BE49-F238E27FC236}">
                <a16:creationId xmlns:a16="http://schemas.microsoft.com/office/drawing/2014/main" id="{AAE90A4A-32BF-444E-A12D-D30BAC068998}"/>
              </a:ext>
            </a:extLst>
          </p:cNvPr>
          <p:cNvSpPr>
            <a:spLocks xmlns:a="http://schemas.openxmlformats.org/drawingml/2006/main" noGrp="1"/>
          </p:cNvSpPr>
          <p:nvPr/>
        </p:nvSpPr>
        <p:spPr>
          <a:xfrm xmlns:a="http://schemas.openxmlformats.org/drawingml/2006/main">
            <a:off x="533400" y="4324350"/>
            <a:ext cx="76200" cy="0"/>
          </a:xfrm>
          <a:prstGeom xmlns:a="http://schemas.openxmlformats.org/drawingml/2006/main" prst="rect">
            <a:avLst/>
          </a:prstGeom>
          <a:ln xmlns:a="http://schemas.openxmlformats.org/drawingml/2006/main" w="0">
            <a:noFill/>
            <a:prstDash val="solid"/>
          </a:ln>
        </p:spPr>
      </p:sp>
      <p:sp>
        <p:nvSpPr>
          <p:cNvPr id="31" name="S17_CONTROLS_LABEL">
            <a:extLst xmlns:a="http://schemas.openxmlformats.org/drawingml/2006/main">
              <a:ext uri="{FF2B5EF4-FFF2-40B4-BE49-F238E27FC236}">
                <a16:creationId xmlns:a16="http://schemas.microsoft.com/office/drawing/2014/main" id="{3CA25202-C126-43AF-989A-26F89F3463EB}"/>
              </a:ext>
            </a:extLst>
          </p:cNvPr>
          <p:cNvSpPr>
            <a:spLocks xmlns:a="http://schemas.openxmlformats.org/drawingml/2006/main" noGrp="1"/>
          </p:cNvSpPr>
          <p:nvPr/>
        </p:nvSpPr>
        <p:spPr>
          <a:xfrm xmlns:a="http://schemas.openxmlformats.org/drawingml/2006/main">
            <a:off x="704850" y="43434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CHUỖI THỰC HÀNH</a:t>
            </a:r>
          </a:p>
        </p:txBody>
      </p:sp>
      <p:sp>
        <p:nvSpPr>
          <p:cNvPr id="32" name="S17_CONTROLS_BODY">
            <a:extLst xmlns:a="http://schemas.openxmlformats.org/drawingml/2006/main">
              <a:ext uri="{FF2B5EF4-FFF2-40B4-BE49-F238E27FC236}">
                <a16:creationId xmlns:a16="http://schemas.microsoft.com/office/drawing/2014/main" id="{2D4B48BD-3E09-4FA8-86DD-9486E110688D}"/>
              </a:ext>
            </a:extLst>
          </p:cNvPr>
          <p:cNvSpPr>
            <a:spLocks xmlns:a="http://schemas.openxmlformats.org/drawingml/2006/main" noGrp="1"/>
          </p:cNvSpPr>
          <p:nvPr/>
        </p:nvSpPr>
        <p:spPr>
          <a:xfrm xmlns:a="http://schemas.openxmlformats.org/drawingml/2006/main">
            <a:off x="704850" y="4648200"/>
            <a:ext cx="647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Login user A → xem invoice 1001 → đổi id=1002 → vulnerable lộ dữ liệu → secure 403.</a:t>
            </a:r>
          </a:p>
        </p:txBody>
      </p:sp>
    </p:spTree>
    <p:extLst>
      <p:ext uri="{BB962C8B-B14F-4D97-AF65-F5344CB8AC3E}">
        <p14:creationId xmlns:p14="http://schemas.microsoft.com/office/powerpoint/2010/main" val="1137039280"/>
      </p:ext>
    </p:extLst>
  </p:cSld>
</p:sld>
</file>

<file path=ppt/slides/slide1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S18_EYEBROW">
            <a:extLst xmlns:a="http://schemas.openxmlformats.org/drawingml/2006/main">
              <a:ext uri="{FF2B5EF4-FFF2-40B4-BE49-F238E27FC236}">
                <a16:creationId xmlns:a16="http://schemas.microsoft.com/office/drawing/2014/main" id="{CB01395E-19AD-4F76-9D08-7C79316C61E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18_TITLE">
            <a:extLst xmlns:a="http://schemas.openxmlformats.org/drawingml/2006/main">
              <a:ext uri="{FF2B5EF4-FFF2-40B4-BE49-F238E27FC236}">
                <a16:creationId xmlns:a16="http://schemas.microsoft.com/office/drawing/2014/main" id="{7FCDA73E-460B-46B0-8EEA-50A5556EA0AD}"/>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CSRF lợi dụng credential browser tự gửi</a:t>
            </a:r>
          </a:p>
        </p:txBody>
      </p:sp>
      <p:sp>
        <p:nvSpPr>
          <p:cNvPr id="3" name="S18_SUBTITLE">
            <a:extLst xmlns:a="http://schemas.openxmlformats.org/drawingml/2006/main">
              <a:ext uri="{FF2B5EF4-FFF2-40B4-BE49-F238E27FC236}">
                <a16:creationId xmlns:a16="http://schemas.microsoft.com/office/drawing/2014/main" id="{34C87249-A0C3-4B5A-BFA7-B095ED08C06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 không cần biết mật khẩu; chỉ cần khiến victim phát sinh state-changing request.</a:t>
            </a:r>
          </a:p>
        </p:txBody>
      </p:sp>
      <p:sp>
        <p:nvSpPr>
          <p:cNvPr id="4" name="S18_TITLE_RULE">
            <a:extLst xmlns:a="http://schemas.openxmlformats.org/drawingml/2006/main">
              <a:ext uri="{FF2B5EF4-FFF2-40B4-BE49-F238E27FC236}">
                <a16:creationId xmlns:a16="http://schemas.microsoft.com/office/drawing/2014/main" id="{43C3E280-FDC6-4C00-BC63-48AC293988B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8_FOOTER_RULE">
            <a:extLst xmlns:a="http://schemas.openxmlformats.org/drawingml/2006/main">
              <a:ext uri="{FF2B5EF4-FFF2-40B4-BE49-F238E27FC236}">
                <a16:creationId xmlns:a16="http://schemas.microsoft.com/office/drawing/2014/main" id="{B3E0DD59-3797-48E0-BDAA-E6447ACFD625}"/>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8_SOURCE">
            <a:extLst xmlns:a="http://schemas.openxmlformats.org/drawingml/2006/main">
              <a:ext uri="{FF2B5EF4-FFF2-40B4-BE49-F238E27FC236}">
                <a16:creationId xmlns:a16="http://schemas.microsoft.com/office/drawing/2014/main" id="{C82A9530-8B12-459B-B078-9330D5AED418}"/>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Lab04/victim_app.py · attacker_app.py</a:t>
            </a:r>
          </a:p>
        </p:txBody>
      </p:sp>
      <p:sp>
        <p:nvSpPr>
          <p:cNvPr id="7" name="S18_NUMBER">
            <a:extLst xmlns:a="http://schemas.openxmlformats.org/drawingml/2006/main">
              <a:ext uri="{FF2B5EF4-FFF2-40B4-BE49-F238E27FC236}">
                <a16:creationId xmlns:a16="http://schemas.microsoft.com/office/drawing/2014/main" id="{E85BD439-AFA0-4970-9A13-8248A9D57E7B}"/>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18</a:t>
            </a:r>
          </a:p>
        </p:txBody>
      </p:sp>
      <p:sp>
        <p:nvSpPr>
          <p:cNvPr id="8" name="S18_TRIANGLE_ARROW_1">
            <a:extLst xmlns:a="http://schemas.openxmlformats.org/drawingml/2006/main">
              <a:ext uri="{FF2B5EF4-FFF2-40B4-BE49-F238E27FC236}">
                <a16:creationId xmlns:a16="http://schemas.microsoft.com/office/drawing/2014/main" id="{26195C2F-665F-4D0C-AAC6-50FCBAF87D57}"/>
              </a:ext>
            </a:extLst>
          </p:cNvPr>
          <p:cNvSpPr>
            <a:spLocks xmlns:a="http://schemas.openxmlformats.org/drawingml/2006/main" noGrp="1"/>
          </p:cNvSpPr>
          <p:nvPr/>
        </p:nvSpPr>
        <p:spPr>
          <a:xfrm xmlns:a="http://schemas.openxmlformats.org/drawingml/2006/main">
            <a:off x="4470400" y="22574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8_TRIANGLE_ARROW_2">
            <a:extLst xmlns:a="http://schemas.openxmlformats.org/drawingml/2006/main">
              <a:ext uri="{FF2B5EF4-FFF2-40B4-BE49-F238E27FC236}">
                <a16:creationId xmlns:a16="http://schemas.microsoft.com/office/drawing/2014/main" id="{1D94335E-D802-4ABF-9C0D-91F13E578453}"/>
              </a:ext>
            </a:extLst>
          </p:cNvPr>
          <p:cNvSpPr>
            <a:spLocks xmlns:a="http://schemas.openxmlformats.org/drawingml/2006/main" noGrp="1"/>
          </p:cNvSpPr>
          <p:nvPr/>
        </p:nvSpPr>
        <p:spPr>
          <a:xfrm xmlns:a="http://schemas.openxmlformats.org/drawingml/2006/main">
            <a:off x="7588250" y="22574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8_TRIANGLE_NODE_1">
            <a:extLst xmlns:a="http://schemas.openxmlformats.org/drawingml/2006/main">
              <a:ext uri="{FF2B5EF4-FFF2-40B4-BE49-F238E27FC236}">
                <a16:creationId xmlns:a16="http://schemas.microsoft.com/office/drawing/2014/main" id="{D36BEA62-ACE7-4349-98A4-5DC8ADF30081}"/>
              </a:ext>
            </a:extLst>
          </p:cNvPr>
          <p:cNvSpPr>
            <a:spLocks xmlns:a="http://schemas.openxmlformats.org/drawingml/2006/main" noGrp="1"/>
          </p:cNvSpPr>
          <p:nvPr/>
        </p:nvSpPr>
        <p:spPr>
          <a:xfrm xmlns:a="http://schemas.openxmlformats.org/drawingml/2006/main">
            <a:off x="1619250" y="1809750"/>
            <a:ext cx="2717800" cy="1066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ATTACKER</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:9004</a:t>
            </a:r>
          </a:p>
        </p:txBody>
      </p:sp>
      <p:sp>
        <p:nvSpPr>
          <p:cNvPr id="11" name="S18_TRIANGLE_NODE_2">
            <a:extLst xmlns:a="http://schemas.openxmlformats.org/drawingml/2006/main">
              <a:ext uri="{FF2B5EF4-FFF2-40B4-BE49-F238E27FC236}">
                <a16:creationId xmlns:a16="http://schemas.microsoft.com/office/drawing/2014/main" id="{F6ACC015-9A4F-4692-82F1-3C7043A55543}"/>
              </a:ext>
            </a:extLst>
          </p:cNvPr>
          <p:cNvSpPr>
            <a:spLocks xmlns:a="http://schemas.openxmlformats.org/drawingml/2006/main" noGrp="1"/>
          </p:cNvSpPr>
          <p:nvPr/>
        </p:nvSpPr>
        <p:spPr>
          <a:xfrm xmlns:a="http://schemas.openxmlformats.org/drawingml/2006/main">
            <a:off x="4737100" y="1809750"/>
            <a:ext cx="2717800" cy="1066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VICTIM</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BROWSER</a:t>
            </a:r>
          </a:p>
        </p:txBody>
      </p:sp>
      <p:sp>
        <p:nvSpPr>
          <p:cNvPr id="12" name="S18_TRIANGLE_NODE_3">
            <a:extLst xmlns:a="http://schemas.openxmlformats.org/drawingml/2006/main">
              <a:ext uri="{FF2B5EF4-FFF2-40B4-BE49-F238E27FC236}">
                <a16:creationId xmlns:a16="http://schemas.microsoft.com/office/drawing/2014/main" id="{6368935C-CBEF-42F2-8089-D684A10E5529}"/>
              </a:ext>
            </a:extLst>
          </p:cNvPr>
          <p:cNvSpPr>
            <a:spLocks xmlns:a="http://schemas.openxmlformats.org/drawingml/2006/main" noGrp="1"/>
          </p:cNvSpPr>
          <p:nvPr/>
        </p:nvSpPr>
        <p:spPr>
          <a:xfrm xmlns:a="http://schemas.openxmlformats.org/drawingml/2006/main">
            <a:off x="7854950" y="1809750"/>
            <a:ext cx="2717800" cy="1066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TARGET</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:5004</a:t>
            </a:r>
          </a:p>
        </p:txBody>
      </p:sp>
      <p:sp>
        <p:nvSpPr>
          <p:cNvPr id="13" name="S18_COND_H0">
            <a:extLst xmlns:a="http://schemas.openxmlformats.org/drawingml/2006/main">
              <a:ext uri="{FF2B5EF4-FFF2-40B4-BE49-F238E27FC236}">
                <a16:creationId xmlns:a16="http://schemas.microsoft.com/office/drawing/2014/main" id="{A35D66F4-1387-4715-9AAB-FEB4248F7516}"/>
              </a:ext>
            </a:extLst>
          </p:cNvPr>
          <p:cNvSpPr>
            <a:spLocks xmlns:a="http://schemas.openxmlformats.org/drawingml/2006/main" noGrp="1"/>
          </p:cNvSpPr>
          <p:nvPr/>
        </p:nvSpPr>
        <p:spPr>
          <a:xfrm xmlns:a="http://schemas.openxmlformats.org/drawingml/2006/main">
            <a:off x="533400" y="3390900"/>
            <a:ext cx="2476500" cy="4953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ĐIỀU KIỆN</a:t>
            </a:r>
          </a:p>
        </p:txBody>
      </p:sp>
      <p:sp>
        <p:nvSpPr>
          <p:cNvPr id="14" name="S18_COND_H1">
            <a:extLst xmlns:a="http://schemas.openxmlformats.org/drawingml/2006/main">
              <a:ext uri="{FF2B5EF4-FFF2-40B4-BE49-F238E27FC236}">
                <a16:creationId xmlns:a16="http://schemas.microsoft.com/office/drawing/2014/main" id="{D7A37C49-AB2E-4D14-A9A5-5F7FF907A89F}"/>
              </a:ext>
            </a:extLst>
          </p:cNvPr>
          <p:cNvSpPr>
            <a:spLocks xmlns:a="http://schemas.openxmlformats.org/drawingml/2006/main" noGrp="1"/>
          </p:cNvSpPr>
          <p:nvPr/>
        </p:nvSpPr>
        <p:spPr>
          <a:xfrm xmlns:a="http://schemas.openxmlformats.org/drawingml/2006/main">
            <a:off x="3009900" y="3390900"/>
            <a:ext cx="2857500" cy="4953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CÓ TRONG LAB</a:t>
            </a:r>
          </a:p>
        </p:txBody>
      </p:sp>
      <p:sp>
        <p:nvSpPr>
          <p:cNvPr id="15" name="S18_COND_H2">
            <a:extLst xmlns:a="http://schemas.openxmlformats.org/drawingml/2006/main">
              <a:ext uri="{FF2B5EF4-FFF2-40B4-BE49-F238E27FC236}">
                <a16:creationId xmlns:a16="http://schemas.microsoft.com/office/drawing/2014/main" id="{42B750E3-589D-4F10-BD3E-7C36D82B3794}"/>
              </a:ext>
            </a:extLst>
          </p:cNvPr>
          <p:cNvSpPr>
            <a:spLocks xmlns:a="http://schemas.openxmlformats.org/drawingml/2006/main" noGrp="1"/>
          </p:cNvSpPr>
          <p:nvPr/>
        </p:nvSpPr>
        <p:spPr>
          <a:xfrm xmlns:a="http://schemas.openxmlformats.org/drawingml/2006/main">
            <a:off x="5867400" y="3390900"/>
            <a:ext cx="5791200" cy="4953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Ý NGHĨA</a:t>
            </a:r>
          </a:p>
        </p:txBody>
      </p:sp>
      <p:sp>
        <p:nvSpPr>
          <p:cNvPr id="16" name="S18_COND_R0C0">
            <a:extLst xmlns:a="http://schemas.openxmlformats.org/drawingml/2006/main">
              <a:ext uri="{FF2B5EF4-FFF2-40B4-BE49-F238E27FC236}">
                <a16:creationId xmlns:a16="http://schemas.microsoft.com/office/drawing/2014/main" id="{A7389300-A084-4040-B9CA-73D59F483C38}"/>
              </a:ext>
            </a:extLst>
          </p:cNvPr>
          <p:cNvSpPr>
            <a:spLocks xmlns:a="http://schemas.openxmlformats.org/drawingml/2006/main" noGrp="1"/>
          </p:cNvSpPr>
          <p:nvPr/>
        </p:nvSpPr>
        <p:spPr>
          <a:xfrm xmlns:a="http://schemas.openxmlformats.org/drawingml/2006/main">
            <a:off x="533400" y="3886200"/>
            <a:ext cx="2476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 sống</a:t>
            </a:r>
          </a:p>
        </p:txBody>
      </p:sp>
      <p:sp>
        <p:nvSpPr>
          <p:cNvPr id="17" name="S18_COND_R0C1">
            <a:extLst xmlns:a="http://schemas.openxmlformats.org/drawingml/2006/main">
              <a:ext uri="{FF2B5EF4-FFF2-40B4-BE49-F238E27FC236}">
                <a16:creationId xmlns:a16="http://schemas.microsoft.com/office/drawing/2014/main" id="{84ECCEDE-04E0-42C7-AB04-933DB18115AC}"/>
              </a:ext>
            </a:extLst>
          </p:cNvPr>
          <p:cNvSpPr>
            <a:spLocks xmlns:a="http://schemas.openxmlformats.org/drawingml/2006/main" noGrp="1"/>
          </p:cNvSpPr>
          <p:nvPr/>
        </p:nvSpPr>
        <p:spPr>
          <a:xfrm xmlns:a="http://schemas.openxmlformats.org/drawingml/2006/main">
            <a:off x="3009900" y="3886200"/>
            <a:ext cx="2857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cookie victim</a:t>
            </a:r>
          </a:p>
        </p:txBody>
      </p:sp>
      <p:sp>
        <p:nvSpPr>
          <p:cNvPr id="18" name="S18_COND_R0C2">
            <a:extLst xmlns:a="http://schemas.openxmlformats.org/drawingml/2006/main">
              <a:ext uri="{FF2B5EF4-FFF2-40B4-BE49-F238E27FC236}">
                <a16:creationId xmlns:a16="http://schemas.microsoft.com/office/drawing/2014/main" id="{C9338DAA-7FD5-4ADC-9A48-1DCCE8036E51}"/>
              </a:ext>
            </a:extLst>
          </p:cNvPr>
          <p:cNvSpPr>
            <a:spLocks xmlns:a="http://schemas.openxmlformats.org/drawingml/2006/main" noGrp="1"/>
          </p:cNvSpPr>
          <p:nvPr/>
        </p:nvSpPr>
        <p:spPr>
          <a:xfrm xmlns:a="http://schemas.openxmlformats.org/drawingml/2006/main">
            <a:off x="5867400" y="3886200"/>
            <a:ext cx="57912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browser có credential</a:t>
            </a:r>
          </a:p>
        </p:txBody>
      </p:sp>
      <p:sp>
        <p:nvSpPr>
          <p:cNvPr id="19" name="S18_COND_R1C0">
            <a:extLst xmlns:a="http://schemas.openxmlformats.org/drawingml/2006/main">
              <a:ext uri="{FF2B5EF4-FFF2-40B4-BE49-F238E27FC236}">
                <a16:creationId xmlns:a16="http://schemas.microsoft.com/office/drawing/2014/main" id="{E57CBFC7-F851-452A-842C-7BA980E9FA18}"/>
              </a:ext>
            </a:extLst>
          </p:cNvPr>
          <p:cNvSpPr>
            <a:spLocks xmlns:a="http://schemas.openxmlformats.org/drawingml/2006/main" noGrp="1"/>
          </p:cNvSpPr>
          <p:nvPr/>
        </p:nvSpPr>
        <p:spPr>
          <a:xfrm xmlns:a="http://schemas.openxmlformats.org/drawingml/2006/main">
            <a:off x="533400" y="4381500"/>
            <a:ext cx="2476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State change</a:t>
            </a:r>
          </a:p>
        </p:txBody>
      </p:sp>
      <p:sp>
        <p:nvSpPr>
          <p:cNvPr id="20" name="S18_COND_R1C1">
            <a:extLst xmlns:a="http://schemas.openxmlformats.org/drawingml/2006/main">
              <a:ext uri="{FF2B5EF4-FFF2-40B4-BE49-F238E27FC236}">
                <a16:creationId xmlns:a16="http://schemas.microsoft.com/office/drawing/2014/main" id="{D417A780-85B9-41E6-832D-25FC6952175E}"/>
              </a:ext>
            </a:extLst>
          </p:cNvPr>
          <p:cNvSpPr>
            <a:spLocks xmlns:a="http://schemas.openxmlformats.org/drawingml/2006/main" noGrp="1"/>
          </p:cNvSpPr>
          <p:nvPr/>
        </p:nvSpPr>
        <p:spPr>
          <a:xfrm xmlns:a="http://schemas.openxmlformats.org/drawingml/2006/main">
            <a:off x="3009900" y="4381500"/>
            <a:ext cx="2857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đổi email</a:t>
            </a:r>
          </a:p>
        </p:txBody>
      </p:sp>
      <p:sp>
        <p:nvSpPr>
          <p:cNvPr id="21" name="S18_COND_R1C2">
            <a:extLst xmlns:a="http://schemas.openxmlformats.org/drawingml/2006/main">
              <a:ext uri="{FF2B5EF4-FFF2-40B4-BE49-F238E27FC236}">
                <a16:creationId xmlns:a16="http://schemas.microsoft.com/office/drawing/2014/main" id="{FF305566-6E69-417D-BA16-8BCD70267495}"/>
              </a:ext>
            </a:extLst>
          </p:cNvPr>
          <p:cNvSpPr>
            <a:spLocks xmlns:a="http://schemas.openxmlformats.org/drawingml/2006/main" noGrp="1"/>
          </p:cNvSpPr>
          <p:nvPr/>
        </p:nvSpPr>
        <p:spPr>
          <a:xfrm xmlns:a="http://schemas.openxmlformats.org/drawingml/2006/main">
            <a:off x="5867400" y="4381500"/>
            <a:ext cx="57912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tác động tài khoản</a:t>
            </a:r>
          </a:p>
        </p:txBody>
      </p:sp>
      <p:sp>
        <p:nvSpPr>
          <p:cNvPr id="22" name="S18_COND_R2C0">
            <a:extLst xmlns:a="http://schemas.openxmlformats.org/drawingml/2006/main">
              <a:ext uri="{FF2B5EF4-FFF2-40B4-BE49-F238E27FC236}">
                <a16:creationId xmlns:a16="http://schemas.microsoft.com/office/drawing/2014/main" id="{58BF02D1-EB22-4813-A89D-55A79B14CBC3}"/>
              </a:ext>
            </a:extLst>
          </p:cNvPr>
          <p:cNvSpPr>
            <a:spLocks xmlns:a="http://schemas.openxmlformats.org/drawingml/2006/main" noGrp="1"/>
          </p:cNvSpPr>
          <p:nvPr/>
        </p:nvSpPr>
        <p:spPr>
          <a:xfrm xmlns:a="http://schemas.openxmlformats.org/drawingml/2006/main">
            <a:off x="533400" y="4876800"/>
            <a:ext cx="2476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Thiếu token</a:t>
            </a:r>
          </a:p>
        </p:txBody>
      </p:sp>
      <p:sp>
        <p:nvSpPr>
          <p:cNvPr id="23" name="S18_COND_R2C1">
            <a:extLst xmlns:a="http://schemas.openxmlformats.org/drawingml/2006/main">
              <a:ext uri="{FF2B5EF4-FFF2-40B4-BE49-F238E27FC236}">
                <a16:creationId xmlns:a16="http://schemas.microsoft.com/office/drawing/2014/main" id="{F500E0CD-E243-4832-8AD7-416EB1EFE7C3}"/>
              </a:ext>
            </a:extLst>
          </p:cNvPr>
          <p:cNvSpPr>
            <a:spLocks xmlns:a="http://schemas.openxmlformats.org/drawingml/2006/main" noGrp="1"/>
          </p:cNvSpPr>
          <p:nvPr/>
        </p:nvSpPr>
        <p:spPr>
          <a:xfrm xmlns:a="http://schemas.openxmlformats.org/drawingml/2006/main">
            <a:off x="3009900" y="4876800"/>
            <a:ext cx="2857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vulnerable route</a:t>
            </a:r>
          </a:p>
        </p:txBody>
      </p:sp>
      <p:sp>
        <p:nvSpPr>
          <p:cNvPr id="24" name="S18_COND_R2C2">
            <a:extLst xmlns:a="http://schemas.openxmlformats.org/drawingml/2006/main">
              <a:ext uri="{FF2B5EF4-FFF2-40B4-BE49-F238E27FC236}">
                <a16:creationId xmlns:a16="http://schemas.microsoft.com/office/drawing/2014/main" id="{FAADD276-0EBD-43F6-89F0-3093AA2D22A9}"/>
              </a:ext>
            </a:extLst>
          </p:cNvPr>
          <p:cNvSpPr>
            <a:spLocks xmlns:a="http://schemas.openxmlformats.org/drawingml/2006/main" noGrp="1"/>
          </p:cNvSpPr>
          <p:nvPr/>
        </p:nvSpPr>
        <p:spPr>
          <a:xfrm xmlns:a="http://schemas.openxmlformats.org/drawingml/2006/main">
            <a:off x="5867400" y="4876800"/>
            <a:ext cx="57912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ràng buộc intent</a:t>
            </a:r>
          </a:p>
        </p:txBody>
      </p:sp>
      <p:sp>
        <p:nvSpPr>
          <p:cNvPr id="25" name="S18_COND_R3C0">
            <a:extLst xmlns:a="http://schemas.openxmlformats.org/drawingml/2006/main">
              <a:ext uri="{FF2B5EF4-FFF2-40B4-BE49-F238E27FC236}">
                <a16:creationId xmlns:a16="http://schemas.microsoft.com/office/drawing/2014/main" id="{DCB97AF3-4806-46C7-A63C-30FE8BA4E386}"/>
              </a:ext>
            </a:extLst>
          </p:cNvPr>
          <p:cNvSpPr>
            <a:spLocks xmlns:a="http://schemas.openxmlformats.org/drawingml/2006/main" noGrp="1"/>
          </p:cNvSpPr>
          <p:nvPr/>
        </p:nvSpPr>
        <p:spPr>
          <a:xfrm xmlns:a="http://schemas.openxmlformats.org/drawingml/2006/main">
            <a:off x="533400" y="5372100"/>
            <a:ext cx="2476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Cookie tự gửi</a:t>
            </a:r>
          </a:p>
        </p:txBody>
      </p:sp>
      <p:sp>
        <p:nvSpPr>
          <p:cNvPr id="26" name="S18_COND_R3C1">
            <a:extLst xmlns:a="http://schemas.openxmlformats.org/drawingml/2006/main">
              <a:ext uri="{FF2B5EF4-FFF2-40B4-BE49-F238E27FC236}">
                <a16:creationId xmlns:a16="http://schemas.microsoft.com/office/drawing/2014/main" id="{CFA465E7-F05A-431C-882E-D98744C5DFEE}"/>
              </a:ext>
            </a:extLst>
          </p:cNvPr>
          <p:cNvSpPr>
            <a:spLocks xmlns:a="http://schemas.openxmlformats.org/drawingml/2006/main" noGrp="1"/>
          </p:cNvSpPr>
          <p:nvPr/>
        </p:nvSpPr>
        <p:spPr>
          <a:xfrm xmlns:a="http://schemas.openxmlformats.org/drawingml/2006/main">
            <a:off x="3009900" y="5372100"/>
            <a:ext cx="2857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same target origin</a:t>
            </a:r>
          </a:p>
        </p:txBody>
      </p:sp>
      <p:sp>
        <p:nvSpPr>
          <p:cNvPr id="27" name="S18_COND_R3C2">
            <a:extLst xmlns:a="http://schemas.openxmlformats.org/drawingml/2006/main">
              <a:ext uri="{FF2B5EF4-FFF2-40B4-BE49-F238E27FC236}">
                <a16:creationId xmlns:a16="http://schemas.microsoft.com/office/drawing/2014/main" id="{A3924976-B17D-4596-B420-95C4A8A0AF26}"/>
              </a:ext>
            </a:extLst>
          </p:cNvPr>
          <p:cNvSpPr>
            <a:spLocks xmlns:a="http://schemas.openxmlformats.org/drawingml/2006/main" noGrp="1"/>
          </p:cNvSpPr>
          <p:nvPr/>
        </p:nvSpPr>
        <p:spPr>
          <a:xfrm xmlns:a="http://schemas.openxmlformats.org/drawingml/2006/main">
            <a:off x="5867400" y="5372100"/>
            <a:ext cx="57912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 không cần mật khẩu</a:t>
            </a:r>
          </a:p>
        </p:txBody>
      </p:sp>
    </p:spTree>
    <p:extLst>
      <p:ext uri="{BB962C8B-B14F-4D97-AF65-F5344CB8AC3E}">
        <p14:creationId xmlns:p14="http://schemas.microsoft.com/office/powerpoint/2010/main" val="50565850"/>
      </p:ext>
    </p:extLst>
  </p:cSld>
</p:sld>
</file>

<file path=ppt/slides/slide1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1" name="S19_EYEBROW">
            <a:extLst xmlns:a="http://schemas.openxmlformats.org/drawingml/2006/main">
              <a:ext uri="{FF2B5EF4-FFF2-40B4-BE49-F238E27FC236}">
                <a16:creationId xmlns:a16="http://schemas.microsoft.com/office/drawing/2014/main" id="{A62D0EBF-1C50-4271-ACF3-C80100CA66DA}"/>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19_TITLE">
            <a:extLst xmlns:a="http://schemas.openxmlformats.org/drawingml/2006/main">
              <a:ext uri="{FF2B5EF4-FFF2-40B4-BE49-F238E27FC236}">
                <a16:creationId xmlns:a16="http://schemas.microsoft.com/office/drawing/2014/main" id="{3BB9FFD1-1CAD-4BEC-AD4E-10F31002D304}"/>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SOP không ngăn request được gửi</a:t>
            </a:r>
          </a:p>
        </p:txBody>
      </p:sp>
      <p:sp>
        <p:nvSpPr>
          <p:cNvPr id="3" name="S19_SUBTITLE">
            <a:extLst xmlns:a="http://schemas.openxmlformats.org/drawingml/2006/main">
              <a:ext uri="{FF2B5EF4-FFF2-40B4-BE49-F238E27FC236}">
                <a16:creationId xmlns:a16="http://schemas.microsoft.com/office/drawing/2014/main" id="{526AA7FF-93A1-49F5-8C0D-17F531F51A12}"/>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Browser có thể chặn attacker đọc response nhưng vẫn gửi form cùng cookie target.</a:t>
            </a:r>
          </a:p>
        </p:txBody>
      </p:sp>
      <p:sp>
        <p:nvSpPr>
          <p:cNvPr id="4" name="S19_TITLE_RULE">
            <a:extLst xmlns:a="http://schemas.openxmlformats.org/drawingml/2006/main">
              <a:ext uri="{FF2B5EF4-FFF2-40B4-BE49-F238E27FC236}">
                <a16:creationId xmlns:a16="http://schemas.microsoft.com/office/drawing/2014/main" id="{2D8A029C-7D2D-4F5A-A82C-4C1F29ED2F9C}"/>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9_FOOTER_RULE">
            <a:extLst xmlns:a="http://schemas.openxmlformats.org/drawingml/2006/main">
              <a:ext uri="{FF2B5EF4-FFF2-40B4-BE49-F238E27FC236}">
                <a16:creationId xmlns:a16="http://schemas.microsoft.com/office/drawing/2014/main" id="{AC0BF6DD-CD79-4B93-B347-05EE6A3A17E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9_SOURCE">
            <a:extLst xmlns:a="http://schemas.openxmlformats.org/drawingml/2006/main">
              <a:ext uri="{FF2B5EF4-FFF2-40B4-BE49-F238E27FC236}">
                <a16:creationId xmlns:a16="http://schemas.microsoft.com/office/drawing/2014/main" id="{D665E2A2-94A7-4485-A993-D80E4EC21707}"/>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Lab04/attacker_templates · victim_app.py</a:t>
            </a:r>
          </a:p>
        </p:txBody>
      </p:sp>
      <p:sp>
        <p:nvSpPr>
          <p:cNvPr id="7" name="S19_NUMBER">
            <a:extLst xmlns:a="http://schemas.openxmlformats.org/drawingml/2006/main">
              <a:ext uri="{FF2B5EF4-FFF2-40B4-BE49-F238E27FC236}">
                <a16:creationId xmlns:a16="http://schemas.microsoft.com/office/drawing/2014/main" id="{07DB828A-B8AD-413E-8188-8243192D8320}"/>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19</a:t>
            </a:r>
          </a:p>
        </p:txBody>
      </p:sp>
      <p:sp>
        <p:nvSpPr>
          <p:cNvPr id="8" name="S19_FLOW_ARROW_1">
            <a:extLst xmlns:a="http://schemas.openxmlformats.org/drawingml/2006/main">
              <a:ext uri="{FF2B5EF4-FFF2-40B4-BE49-F238E27FC236}">
                <a16:creationId xmlns:a16="http://schemas.microsoft.com/office/drawing/2014/main" id="{F8683072-8147-4B1D-91F0-C1CD8BDAD667}"/>
              </a:ext>
            </a:extLst>
          </p:cNvPr>
          <p:cNvSpPr>
            <a:spLocks xmlns:a="http://schemas.openxmlformats.org/drawingml/2006/main" noGrp="1"/>
          </p:cNvSpPr>
          <p:nvPr/>
        </p:nvSpPr>
        <p:spPr>
          <a:xfrm xmlns:a="http://schemas.openxmlformats.org/drawingml/2006/main">
            <a:off x="1777365"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9_FLOW_ARROW_2">
            <a:extLst xmlns:a="http://schemas.openxmlformats.org/drawingml/2006/main">
              <a:ext uri="{FF2B5EF4-FFF2-40B4-BE49-F238E27FC236}">
                <a16:creationId xmlns:a16="http://schemas.microsoft.com/office/drawing/2014/main" id="{ED45E799-23AA-4F8C-B8C3-379067E0D19A}"/>
              </a:ext>
            </a:extLst>
          </p:cNvPr>
          <p:cNvSpPr>
            <a:spLocks xmlns:a="http://schemas.openxmlformats.org/drawingml/2006/main" noGrp="1"/>
          </p:cNvSpPr>
          <p:nvPr/>
        </p:nvSpPr>
        <p:spPr>
          <a:xfrm xmlns:a="http://schemas.openxmlformats.org/drawingml/2006/main">
            <a:off x="3192780"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9_FLOW_ARROW_3">
            <a:extLst xmlns:a="http://schemas.openxmlformats.org/drawingml/2006/main">
              <a:ext uri="{FF2B5EF4-FFF2-40B4-BE49-F238E27FC236}">
                <a16:creationId xmlns:a16="http://schemas.microsoft.com/office/drawing/2014/main" id="{E0A55BA9-B5A0-4674-BBE7-2E7A7831F3B9}"/>
              </a:ext>
            </a:extLst>
          </p:cNvPr>
          <p:cNvSpPr>
            <a:spLocks xmlns:a="http://schemas.openxmlformats.org/drawingml/2006/main" noGrp="1"/>
          </p:cNvSpPr>
          <p:nvPr/>
        </p:nvSpPr>
        <p:spPr>
          <a:xfrm xmlns:a="http://schemas.openxmlformats.org/drawingml/2006/main">
            <a:off x="4608195"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19_FLOW_ARROW_4">
            <a:extLst xmlns:a="http://schemas.openxmlformats.org/drawingml/2006/main">
              <a:ext uri="{FF2B5EF4-FFF2-40B4-BE49-F238E27FC236}">
                <a16:creationId xmlns:a16="http://schemas.microsoft.com/office/drawing/2014/main" id="{86A65911-F37B-4420-A661-CA3F1BF6B900}"/>
              </a:ext>
            </a:extLst>
          </p:cNvPr>
          <p:cNvSpPr>
            <a:spLocks xmlns:a="http://schemas.openxmlformats.org/drawingml/2006/main" noGrp="1"/>
          </p:cNvSpPr>
          <p:nvPr/>
        </p:nvSpPr>
        <p:spPr>
          <a:xfrm xmlns:a="http://schemas.openxmlformats.org/drawingml/2006/main">
            <a:off x="6023610"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19_FLOW_NODE_1">
            <a:extLst xmlns:a="http://schemas.openxmlformats.org/drawingml/2006/main">
              <a:ext uri="{FF2B5EF4-FFF2-40B4-BE49-F238E27FC236}">
                <a16:creationId xmlns:a16="http://schemas.microsoft.com/office/drawing/2014/main" id="{CFA1AFFE-7670-4D3B-A436-689F3DCFC5DC}"/>
              </a:ext>
            </a:extLst>
          </p:cNvPr>
          <p:cNvSpPr>
            <a:spLocks xmlns:a="http://schemas.openxmlformats.org/drawingml/2006/main" noGrp="1"/>
          </p:cNvSpPr>
          <p:nvPr/>
        </p:nvSpPr>
        <p:spPr>
          <a:xfrm xmlns:a="http://schemas.openxmlformats.org/drawingml/2006/main">
            <a:off x="533400"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Victim login</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:5004</a:t>
            </a:r>
          </a:p>
        </p:txBody>
      </p:sp>
      <p:sp>
        <p:nvSpPr>
          <p:cNvPr id="13" name="S19_FLOW_NODE_2">
            <a:extLst xmlns:a="http://schemas.openxmlformats.org/drawingml/2006/main">
              <a:ext uri="{FF2B5EF4-FFF2-40B4-BE49-F238E27FC236}">
                <a16:creationId xmlns:a16="http://schemas.microsoft.com/office/drawing/2014/main" id="{0500B1E3-2F52-46BE-BD04-42BAD950A32C}"/>
              </a:ext>
            </a:extLst>
          </p:cNvPr>
          <p:cNvSpPr>
            <a:spLocks xmlns:a="http://schemas.openxmlformats.org/drawingml/2006/main" noGrp="1"/>
          </p:cNvSpPr>
          <p:nvPr/>
        </p:nvSpPr>
        <p:spPr>
          <a:xfrm xmlns:a="http://schemas.openxmlformats.org/drawingml/2006/main">
            <a:off x="1948815"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Open attacker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:9004</a:t>
            </a:r>
          </a:p>
        </p:txBody>
      </p:sp>
      <p:sp>
        <p:nvSpPr>
          <p:cNvPr id="14" name="S19_FLOW_NODE_3">
            <a:extLst xmlns:a="http://schemas.openxmlformats.org/drawingml/2006/main">
              <a:ext uri="{FF2B5EF4-FFF2-40B4-BE49-F238E27FC236}">
                <a16:creationId xmlns:a16="http://schemas.microsoft.com/office/drawing/2014/main" id="{21AD2824-9F3F-4439-B7E7-68E0ACE453FB}"/>
              </a:ext>
            </a:extLst>
          </p:cNvPr>
          <p:cNvSpPr>
            <a:spLocks xmlns:a="http://schemas.openxmlformats.org/drawingml/2006/main" noGrp="1"/>
          </p:cNvSpPr>
          <p:nvPr/>
        </p:nvSpPr>
        <p:spPr>
          <a:xfrm xmlns:a="http://schemas.openxmlformats.org/drawingml/2006/main">
            <a:off x="3364230"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 BẤM</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SUBMIT</a:t>
            </a:r>
          </a:p>
        </p:txBody>
      </p:sp>
      <p:sp>
        <p:nvSpPr>
          <p:cNvPr id="15" name="S19_FLOW_NODE_4">
            <a:extLst xmlns:a="http://schemas.openxmlformats.org/drawingml/2006/main">
              <a:ext uri="{FF2B5EF4-FFF2-40B4-BE49-F238E27FC236}">
                <a16:creationId xmlns:a16="http://schemas.microsoft.com/office/drawing/2014/main" id="{8297036F-62FB-4E4D-B310-E049F35FDD81}"/>
              </a:ext>
            </a:extLst>
          </p:cNvPr>
          <p:cNvSpPr>
            <a:spLocks xmlns:a="http://schemas.openxmlformats.org/drawingml/2006/main" noGrp="1"/>
          </p:cNvSpPr>
          <p:nvPr/>
        </p:nvSpPr>
        <p:spPr>
          <a:xfrm xmlns:a="http://schemas.openxmlformats.org/drawingml/2006/main">
            <a:off x="4779645"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COOKIE</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TỰ GỬI</a:t>
            </a:r>
          </a:p>
        </p:txBody>
      </p:sp>
      <p:sp>
        <p:nvSpPr>
          <p:cNvPr id="16" name="S19_FLOW_NODE_5">
            <a:extLst xmlns:a="http://schemas.openxmlformats.org/drawingml/2006/main">
              <a:ext uri="{FF2B5EF4-FFF2-40B4-BE49-F238E27FC236}">
                <a16:creationId xmlns:a16="http://schemas.microsoft.com/office/drawing/2014/main" id="{5DE7927A-EE27-411B-A2F0-E8E1D1A989C4}"/>
              </a:ext>
            </a:extLst>
          </p:cNvPr>
          <p:cNvSpPr>
            <a:spLocks xmlns:a="http://schemas.openxmlformats.org/drawingml/2006/main" noGrp="1"/>
          </p:cNvSpPr>
          <p:nvPr/>
        </p:nvSpPr>
        <p:spPr>
          <a:xfrm xmlns:a="http://schemas.openxmlformats.org/drawingml/2006/main">
            <a:off x="6195060"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Email đổi</a:t>
            </a:r>
          </a:p>
        </p:txBody>
      </p:sp>
      <p:sp>
        <p:nvSpPr>
          <p:cNvPr id="17" name="PH_S19_Lab04_Lab04_email_before_csrf_png_FRAME">
            <a:extLst xmlns:a="http://schemas.openxmlformats.org/drawingml/2006/main">
              <a:ext uri="{FF2B5EF4-FFF2-40B4-BE49-F238E27FC236}">
                <a16:creationId xmlns:a16="http://schemas.microsoft.com/office/drawing/2014/main" id="{A5C2ACD8-B842-4700-8664-2EAD178AFF44}"/>
              </a:ext>
            </a:extLst>
          </p:cNvPr>
          <p:cNvSpPr>
            <a:spLocks xmlns:a="http://schemas.openxmlformats.org/drawingml/2006/main" noGrp="1"/>
          </p:cNvSpPr>
          <p:nvPr/>
        </p:nvSpPr>
        <p:spPr>
          <a:xfrm xmlns:a="http://schemas.openxmlformats.org/drawingml/2006/main">
            <a:off x="7724775" y="1724025"/>
            <a:ext cx="39624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8" name="PH_S19_Lab04_Lab04_email_before_csrf_png_IMAGE">
            <a:extLst xmlns:a="http://schemas.openxmlformats.org/drawingml/2006/main">
              <a:ext uri="{FF2B5EF4-FFF2-40B4-BE49-F238E27FC236}">
                <a16:creationId xmlns:a16="http://schemas.microsoft.com/office/drawing/2014/main" id="{5AE44C41-AF12-42D9-AC8D-6038DBFA3127}"/>
              </a:ext>
            </a:extLst>
          </p:cNvPr>
          <p:cNvSpPr>
            <a:spLocks xmlns:a="http://schemas.openxmlformats.org/drawingml/2006/main" noGrp="1"/>
          </p:cNvSpPr>
          <p:nvPr/>
        </p:nvSpPr>
        <p:spPr>
          <a:xfrm xmlns:a="http://schemas.openxmlformats.org/drawingml/2006/main">
            <a:off x="7753350" y="1752600"/>
            <a:ext cx="39052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9" name="PH_S19_Lab04_Lab04_email_before_csrf_png_ICON">
            <a:extLst xmlns:a="http://schemas.openxmlformats.org/drawingml/2006/main">
              <a:ext uri="{FF2B5EF4-FFF2-40B4-BE49-F238E27FC236}">
                <a16:creationId xmlns:a16="http://schemas.microsoft.com/office/drawing/2014/main" id="{249D6E4C-5A65-4236-96E6-BA3F6CE34F28}"/>
              </a:ext>
            </a:extLst>
          </p:cNvPr>
          <p:cNvSpPr>
            <a:spLocks xmlns:a="http://schemas.openxmlformats.org/drawingml/2006/main" noGrp="1"/>
          </p:cNvSpPr>
          <p:nvPr/>
        </p:nvSpPr>
        <p:spPr>
          <a:xfrm xmlns:a="http://schemas.openxmlformats.org/drawingml/2006/main">
            <a:off x="79057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0" name="PH_S19_Lab04_Lab04_email_before_csrf_png_INSTRUCTION">
            <a:extLst xmlns:a="http://schemas.openxmlformats.org/drawingml/2006/main">
              <a:ext uri="{FF2B5EF4-FFF2-40B4-BE49-F238E27FC236}">
                <a16:creationId xmlns:a16="http://schemas.microsoft.com/office/drawing/2014/main" id="{D5B2E51E-B2FF-4D1D-AA97-96EE66FD78BD}"/>
              </a:ext>
            </a:extLst>
          </p:cNvPr>
          <p:cNvSpPr>
            <a:spLocks xmlns:a="http://schemas.openxmlformats.org/drawingml/2006/main" noGrp="1"/>
          </p:cNvSpPr>
          <p:nvPr/>
        </p:nvSpPr>
        <p:spPr>
          <a:xfrm xmlns:a="http://schemas.openxmlformats.org/drawingml/2006/main">
            <a:off x="8420100" y="1924050"/>
            <a:ext cx="3067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Lab04_email_before_csrf.png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1" name="PH_S19_Lab04_Lab04_email_before_csrf_png_CAPTION">
            <a:extLst xmlns:a="http://schemas.openxmlformats.org/drawingml/2006/main">
              <a:ext uri="{FF2B5EF4-FFF2-40B4-BE49-F238E27FC236}">
                <a16:creationId xmlns:a16="http://schemas.microsoft.com/office/drawing/2014/main" id="{56E9BE33-6AFC-4210-8C91-041D9D7B1DE9}"/>
              </a:ext>
            </a:extLst>
          </p:cNvPr>
          <p:cNvSpPr>
            <a:spLocks xmlns:a="http://schemas.openxmlformats.org/drawingml/2006/main" noGrp="1"/>
          </p:cNvSpPr>
          <p:nvPr/>
        </p:nvSpPr>
        <p:spPr>
          <a:xfrm xmlns:a="http://schemas.openxmlformats.org/drawingml/2006/main">
            <a:off x="7753350" y="31337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Email victim trước CSRF</a:t>
            </a:r>
          </a:p>
        </p:txBody>
      </p:sp>
      <p:sp>
        <p:nvSpPr>
          <p:cNvPr id="22" name="PH_S19_Lab04_08_email_after_csrf_png_FRAME">
            <a:extLst xmlns:a="http://schemas.openxmlformats.org/drawingml/2006/main">
              <a:ext uri="{FF2B5EF4-FFF2-40B4-BE49-F238E27FC236}">
                <a16:creationId xmlns:a16="http://schemas.microsoft.com/office/drawing/2014/main" id="{C73B3F23-F5EB-47EE-A7E7-91072A934716}"/>
              </a:ext>
            </a:extLst>
          </p:cNvPr>
          <p:cNvSpPr>
            <a:spLocks xmlns:a="http://schemas.openxmlformats.org/drawingml/2006/main" noGrp="1"/>
          </p:cNvSpPr>
          <p:nvPr/>
        </p:nvSpPr>
        <p:spPr>
          <a:xfrm xmlns:a="http://schemas.openxmlformats.org/drawingml/2006/main">
            <a:off x="7724775" y="3857625"/>
            <a:ext cx="39624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19_Lab04_08_email_after_csrf_png_IMAGE">
            <a:extLst xmlns:a="http://schemas.openxmlformats.org/drawingml/2006/main">
              <a:ext uri="{FF2B5EF4-FFF2-40B4-BE49-F238E27FC236}">
                <a16:creationId xmlns:a16="http://schemas.microsoft.com/office/drawing/2014/main" id="{CC8549E4-341E-4D2A-B4BD-0AB1F7474198}"/>
              </a:ext>
            </a:extLst>
          </p:cNvPr>
          <p:cNvSpPr>
            <a:spLocks xmlns:a="http://schemas.openxmlformats.org/drawingml/2006/main" noGrp="1"/>
          </p:cNvSpPr>
          <p:nvPr/>
        </p:nvSpPr>
        <p:spPr>
          <a:xfrm xmlns:a="http://schemas.openxmlformats.org/drawingml/2006/main">
            <a:off x="7753350" y="3886200"/>
            <a:ext cx="39052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19_Lab04_08_email_after_csrf_png_ICON">
            <a:extLst xmlns:a="http://schemas.openxmlformats.org/drawingml/2006/main">
              <a:ext uri="{FF2B5EF4-FFF2-40B4-BE49-F238E27FC236}">
                <a16:creationId xmlns:a16="http://schemas.microsoft.com/office/drawing/2014/main" id="{FE457EAB-E69D-409C-B4E5-58D1F357377E}"/>
              </a:ext>
            </a:extLst>
          </p:cNvPr>
          <p:cNvSpPr>
            <a:spLocks xmlns:a="http://schemas.openxmlformats.org/drawingml/2006/main" noGrp="1"/>
          </p:cNvSpPr>
          <p:nvPr/>
        </p:nvSpPr>
        <p:spPr>
          <a:xfrm xmlns:a="http://schemas.openxmlformats.org/drawingml/2006/main">
            <a:off x="7905750" y="40290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19_Lab04_08_email_after_csrf_png_INSTRUCTION">
            <a:extLst xmlns:a="http://schemas.openxmlformats.org/drawingml/2006/main">
              <a:ext uri="{FF2B5EF4-FFF2-40B4-BE49-F238E27FC236}">
                <a16:creationId xmlns:a16="http://schemas.microsoft.com/office/drawing/2014/main" id="{8771F362-486D-478D-B75D-C25818240ABC}"/>
              </a:ext>
            </a:extLst>
          </p:cNvPr>
          <p:cNvSpPr>
            <a:spLocks xmlns:a="http://schemas.openxmlformats.org/drawingml/2006/main" noGrp="1"/>
          </p:cNvSpPr>
          <p:nvPr/>
        </p:nvSpPr>
        <p:spPr>
          <a:xfrm xmlns:a="http://schemas.openxmlformats.org/drawingml/2006/main">
            <a:off x="8420100" y="4057650"/>
            <a:ext cx="3067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08_email_after_csrf.png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19_Lab04_08_email_after_csrf_png_CAPTION">
            <a:extLst xmlns:a="http://schemas.openxmlformats.org/drawingml/2006/main">
              <a:ext uri="{FF2B5EF4-FFF2-40B4-BE49-F238E27FC236}">
                <a16:creationId xmlns:a16="http://schemas.microsoft.com/office/drawing/2014/main" id="{F06942A5-2CCF-4AB6-9D79-5F25DF8FEC1F}"/>
              </a:ext>
            </a:extLst>
          </p:cNvPr>
          <p:cNvSpPr>
            <a:spLocks xmlns:a="http://schemas.openxmlformats.org/drawingml/2006/main" noGrp="1"/>
          </p:cNvSpPr>
          <p:nvPr/>
        </p:nvSpPr>
        <p:spPr>
          <a:xfrm xmlns:a="http://schemas.openxmlformats.org/drawingml/2006/main">
            <a:off x="7753350" y="52673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Email victim sau request CSRF</a:t>
            </a:r>
          </a:p>
        </p:txBody>
      </p:sp>
      <p:sp>
        <p:nvSpPr>
          <p:cNvPr id="27" name="S19_FORM">
            <a:extLst xmlns:a="http://schemas.openxmlformats.org/drawingml/2006/main">
              <a:ext uri="{FF2B5EF4-FFF2-40B4-BE49-F238E27FC236}">
                <a16:creationId xmlns:a16="http://schemas.microsoft.com/office/drawing/2014/main" id="{6BF5577F-7BC6-407D-8BBE-A0045A231F5C}"/>
              </a:ext>
            </a:extLst>
          </p:cNvPr>
          <p:cNvSpPr>
            <a:spLocks xmlns:a="http://schemas.openxmlformats.org/drawingml/2006/main" noGrp="1"/>
          </p:cNvSpPr>
          <p:nvPr/>
        </p:nvSpPr>
        <p:spPr>
          <a:xfrm xmlns:a="http://schemas.openxmlformats.org/drawingml/2006/main">
            <a:off x="533400" y="3105150"/>
            <a:ext cx="6858000" cy="21336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&lt;form id="attack-form" method="POST" data-confirm-submit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action="http://127.0.0.1:5004/vulnerable/change-email"&gt;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&lt;input name="email" value="demo_changed@lab.local"&gt;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&lt;button type="submit"&gt;Gửi form&lt;/button&gt;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&lt;/form&gt;</a:t>
            </a:r>
          </a:p>
        </p:txBody>
      </p:sp>
      <p:sp>
        <p:nvSpPr>
          <p:cNvPr id="28" name="S19_SOP_BAR">
            <a:extLst xmlns:a="http://schemas.openxmlformats.org/drawingml/2006/main">
              <a:ext uri="{FF2B5EF4-FFF2-40B4-BE49-F238E27FC236}">
                <a16:creationId xmlns:a16="http://schemas.microsoft.com/office/drawing/2014/main" id="{AD3CC054-EE4E-4207-817C-176B6DED097D}"/>
              </a:ext>
            </a:extLst>
          </p:cNvPr>
          <p:cNvSpPr>
            <a:spLocks xmlns:a="http://schemas.openxmlformats.org/drawingml/2006/main" noGrp="1"/>
          </p:cNvSpPr>
          <p:nvPr/>
        </p:nvSpPr>
        <p:spPr>
          <a:xfrm xmlns:a="http://schemas.openxmlformats.org/drawingml/2006/main">
            <a:off x="533400" y="5467350"/>
            <a:ext cx="76200" cy="0"/>
          </a:xfrm>
          <a:prstGeom xmlns:a="http://schemas.openxmlformats.org/drawingml/2006/main" prst="rect">
            <a:avLst/>
          </a:prstGeom>
          <a:ln xmlns:a="http://schemas.openxmlformats.org/drawingml/2006/main" w="0">
            <a:noFill/>
            <a:prstDash val="solid"/>
          </a:ln>
        </p:spPr>
      </p:sp>
      <p:sp>
        <p:nvSpPr>
          <p:cNvPr id="29" name="S19_SOP_LABEL">
            <a:extLst xmlns:a="http://schemas.openxmlformats.org/drawingml/2006/main">
              <a:ext uri="{FF2B5EF4-FFF2-40B4-BE49-F238E27FC236}">
                <a16:creationId xmlns:a16="http://schemas.microsoft.com/office/drawing/2014/main" id="{BBC3A0FB-1FBB-406A-9E90-94E8525F8DBA}"/>
              </a:ext>
            </a:extLst>
          </p:cNvPr>
          <p:cNvSpPr>
            <a:spLocks xmlns:a="http://schemas.openxmlformats.org/drawingml/2006/main" noGrp="1"/>
          </p:cNvSpPr>
          <p:nvPr/>
        </p:nvSpPr>
        <p:spPr>
          <a:xfrm xmlns:a="http://schemas.openxmlformats.org/drawingml/2006/main">
            <a:off x="704850" y="5467350"/>
            <a:ext cx="1638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KHÁC ĐỀ BÀI</a:t>
            </a:r>
          </a:p>
        </p:txBody>
      </p:sp>
      <p:sp>
        <p:nvSpPr>
          <p:cNvPr id="30" name="S19_SOP_BODY">
            <a:extLst xmlns:a="http://schemas.openxmlformats.org/drawingml/2006/main">
              <a:ext uri="{FF2B5EF4-FFF2-40B4-BE49-F238E27FC236}">
                <a16:creationId xmlns:a16="http://schemas.microsoft.com/office/drawing/2014/main" id="{9F189706-F4F1-4E5E-B481-849B463BEC62}"/>
              </a:ext>
            </a:extLst>
          </p:cNvPr>
          <p:cNvSpPr>
            <a:spLocks xmlns:a="http://schemas.openxmlformats.org/drawingml/2006/main" noGrp="1"/>
          </p:cNvSpPr>
          <p:nvPr/>
        </p:nvSpPr>
        <p:spPr>
          <a:xfrm xmlns:a="http://schemas.openxmlformats.org/drawingml/2006/main">
            <a:off x="2438400" y="5467350"/>
            <a:ext cx="493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Đề yêu cầu auto-submit; source hiện dùng submit thủ công có xác nhận. Không khẳng định auto-submit đã chạy.</a:t>
            </a:r>
          </a:p>
        </p:txBody>
      </p:sp>
    </p:spTree>
    <p:extLst>
      <p:ext uri="{BB962C8B-B14F-4D97-AF65-F5344CB8AC3E}">
        <p14:creationId xmlns:p14="http://schemas.microsoft.com/office/powerpoint/2010/main" val="966014450"/>
      </p:ext>
    </p:extLst>
  </p:cSld>
</p:sld>
</file>

<file path=ppt/slides/slide2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7" name="S20_EYEBROW">
            <a:extLst xmlns:a="http://schemas.openxmlformats.org/drawingml/2006/main">
              <a:ext uri="{FF2B5EF4-FFF2-40B4-BE49-F238E27FC236}">
                <a16:creationId xmlns:a16="http://schemas.microsoft.com/office/drawing/2014/main" id="{28FFC82F-91B7-4550-A174-DFCDD133BFF3}"/>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20_TITLE">
            <a:extLst xmlns:a="http://schemas.openxmlformats.org/drawingml/2006/main">
              <a:ext uri="{FF2B5EF4-FFF2-40B4-BE49-F238E27FC236}">
                <a16:creationId xmlns:a16="http://schemas.microsoft.com/office/drawing/2014/main" id="{7EC77435-9940-4F5A-B88B-0DF9FB95D5D9}"/>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Request hợp lệ về HTTP nhưng thiếu bằng chứng intent</a:t>
            </a:r>
          </a:p>
        </p:txBody>
      </p:sp>
      <p:sp>
        <p:nvSpPr>
          <p:cNvPr id="3" name="S20_SUBTITLE">
            <a:extLst xmlns:a="http://schemas.openxmlformats.org/drawingml/2006/main">
              <a:ext uri="{FF2B5EF4-FFF2-40B4-BE49-F238E27FC236}">
                <a16:creationId xmlns:a16="http://schemas.microsoft.com/office/drawing/2014/main" id="{B4184C7F-81C5-448B-B74E-6B08A1EEF9EC}"/>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Cookie có mặt; token thiếu; Origin/Referer không thuộc allowlist — vulnerable route vẫn chấp nhận.</a:t>
            </a:r>
          </a:p>
        </p:txBody>
      </p:sp>
      <p:sp>
        <p:nvSpPr>
          <p:cNvPr id="4" name="S20_TITLE_RULE">
            <a:extLst xmlns:a="http://schemas.openxmlformats.org/drawingml/2006/main">
              <a:ext uri="{FF2B5EF4-FFF2-40B4-BE49-F238E27FC236}">
                <a16:creationId xmlns:a16="http://schemas.microsoft.com/office/drawing/2014/main" id="{85254616-C255-442B-A2A6-832071634EA9}"/>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0_FOOTER_RULE">
            <a:extLst xmlns:a="http://schemas.openxmlformats.org/drawingml/2006/main">
              <a:ext uri="{FF2B5EF4-FFF2-40B4-BE49-F238E27FC236}">
                <a16:creationId xmlns:a16="http://schemas.microsoft.com/office/drawing/2014/main" id="{A15D17EC-66EE-4CFB-91D1-F8C5066870D6}"/>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0_SOURCE">
            <a:extLst xmlns:a="http://schemas.openxmlformats.org/drawingml/2006/main">
              <a:ext uri="{FF2B5EF4-FFF2-40B4-BE49-F238E27FC236}">
                <a16:creationId xmlns:a16="http://schemas.microsoft.com/office/drawing/2014/main" id="{7DCE84F4-F4B1-4FFA-B36A-FF41412C830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Lab04/victim_app.py · csrf_service.py · origin_service.py</a:t>
            </a:r>
          </a:p>
        </p:txBody>
      </p:sp>
      <p:sp>
        <p:nvSpPr>
          <p:cNvPr id="7" name="S20_NUMBER">
            <a:extLst xmlns:a="http://schemas.openxmlformats.org/drawingml/2006/main">
              <a:ext uri="{FF2B5EF4-FFF2-40B4-BE49-F238E27FC236}">
                <a16:creationId xmlns:a16="http://schemas.microsoft.com/office/drawing/2014/main" id="{28BD9310-6FFC-43BE-95C9-7E095FA9832F}"/>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20</a:t>
            </a:r>
          </a:p>
        </p:txBody>
      </p:sp>
      <p:sp>
        <p:nvSpPr>
          <p:cNvPr id="8" name="S20_REQUEST">
            <a:extLst xmlns:a="http://schemas.openxmlformats.org/drawingml/2006/main">
              <a:ext uri="{FF2B5EF4-FFF2-40B4-BE49-F238E27FC236}">
                <a16:creationId xmlns:a16="http://schemas.microsoft.com/office/drawing/2014/main" id="{2CEDFA06-E066-4D6B-860C-D4DB6C01B063}"/>
              </a:ext>
            </a:extLst>
          </p:cNvPr>
          <p:cNvSpPr>
            <a:spLocks xmlns:a="http://schemas.openxmlformats.org/drawingml/2006/main" noGrp="1"/>
          </p:cNvSpPr>
          <p:nvPr/>
        </p:nvSpPr>
        <p:spPr>
          <a:xfrm xmlns:a="http://schemas.openxmlformats.org/drawingml/2006/main">
            <a:off x="533400" y="1752600"/>
            <a:ext cx="6191250" cy="29337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VALID REQUEST BAN ĐẦU</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Victim POST hợp lệ → có cookie → từ target origin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đổi email thành công.</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ATTACK REQUEST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POST /vulnerable/change-email HTTP/1.1</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Cookie: victim_session=...</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Origin: http://127.0.0.1:9004</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email=demo_changed%40lab.local</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csrf_token: MISSING</a:t>
            </a:r>
          </a:p>
        </p:txBody>
      </p:sp>
      <p:sp>
        <p:nvSpPr>
          <p:cNvPr id="9" name="S20_CHECKS_H0">
            <a:extLst xmlns:a="http://schemas.openxmlformats.org/drawingml/2006/main">
              <a:ext uri="{FF2B5EF4-FFF2-40B4-BE49-F238E27FC236}">
                <a16:creationId xmlns:a16="http://schemas.microsoft.com/office/drawing/2014/main" id="{EC0B3216-0A7A-4596-A89A-70A54E3C2668}"/>
              </a:ext>
            </a:extLst>
          </p:cNvPr>
          <p:cNvSpPr>
            <a:spLocks xmlns:a="http://schemas.openxmlformats.org/drawingml/2006/main" noGrp="1"/>
          </p:cNvSpPr>
          <p:nvPr/>
        </p:nvSpPr>
        <p:spPr>
          <a:xfrm xmlns:a="http://schemas.openxmlformats.org/drawingml/2006/main">
            <a:off x="7029450" y="1752600"/>
            <a:ext cx="1619250" cy="58674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TÍN HIỆU</a:t>
            </a:r>
          </a:p>
        </p:txBody>
      </p:sp>
      <p:sp>
        <p:nvSpPr>
          <p:cNvPr id="10" name="S20_CHECKS_H1">
            <a:extLst xmlns:a="http://schemas.openxmlformats.org/drawingml/2006/main">
              <a:ext uri="{FF2B5EF4-FFF2-40B4-BE49-F238E27FC236}">
                <a16:creationId xmlns:a16="http://schemas.microsoft.com/office/drawing/2014/main" id="{A48B663B-B1F6-4303-940F-6A3F243AC75D}"/>
              </a:ext>
            </a:extLst>
          </p:cNvPr>
          <p:cNvSpPr>
            <a:spLocks xmlns:a="http://schemas.openxmlformats.org/drawingml/2006/main" noGrp="1"/>
          </p:cNvSpPr>
          <p:nvPr/>
        </p:nvSpPr>
        <p:spPr>
          <a:xfrm xmlns:a="http://schemas.openxmlformats.org/drawingml/2006/main">
            <a:off x="8648700" y="1752600"/>
            <a:ext cx="1428750" cy="58674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VULNERABLE</a:t>
            </a:r>
          </a:p>
        </p:txBody>
      </p:sp>
      <p:sp>
        <p:nvSpPr>
          <p:cNvPr id="11" name="S20_CHECKS_H2">
            <a:extLst xmlns:a="http://schemas.openxmlformats.org/drawingml/2006/main">
              <a:ext uri="{FF2B5EF4-FFF2-40B4-BE49-F238E27FC236}">
                <a16:creationId xmlns:a16="http://schemas.microsoft.com/office/drawing/2014/main" id="{68F17F9C-63B0-4869-9E5A-B378D7DE27A4}"/>
              </a:ext>
            </a:extLst>
          </p:cNvPr>
          <p:cNvSpPr>
            <a:spLocks xmlns:a="http://schemas.openxmlformats.org/drawingml/2006/main" noGrp="1"/>
          </p:cNvSpPr>
          <p:nvPr/>
        </p:nvSpPr>
        <p:spPr>
          <a:xfrm xmlns:a="http://schemas.openxmlformats.org/drawingml/2006/main">
            <a:off x="10077450" y="1752600"/>
            <a:ext cx="1581150" cy="58674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SECURE</a:t>
            </a:r>
          </a:p>
        </p:txBody>
      </p:sp>
      <p:sp>
        <p:nvSpPr>
          <p:cNvPr id="12" name="S20_CHECKS_R0C0">
            <a:extLst xmlns:a="http://schemas.openxmlformats.org/drawingml/2006/main">
              <a:ext uri="{FF2B5EF4-FFF2-40B4-BE49-F238E27FC236}">
                <a16:creationId xmlns:a16="http://schemas.microsoft.com/office/drawing/2014/main" id="{6CC68912-2F26-4B9E-8146-CA7C377AC9A9}"/>
              </a:ext>
            </a:extLst>
          </p:cNvPr>
          <p:cNvSpPr>
            <a:spLocks xmlns:a="http://schemas.openxmlformats.org/drawingml/2006/main" noGrp="1"/>
          </p:cNvSpPr>
          <p:nvPr/>
        </p:nvSpPr>
        <p:spPr>
          <a:xfrm xmlns:a="http://schemas.openxmlformats.org/drawingml/2006/main">
            <a:off x="7029450" y="2339340"/>
            <a:ext cx="16192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 cookie</a:t>
            </a:r>
          </a:p>
        </p:txBody>
      </p:sp>
      <p:sp>
        <p:nvSpPr>
          <p:cNvPr id="13" name="S20_CHECKS_R0C1">
            <a:extLst xmlns:a="http://schemas.openxmlformats.org/drawingml/2006/main">
              <a:ext uri="{FF2B5EF4-FFF2-40B4-BE49-F238E27FC236}">
                <a16:creationId xmlns:a16="http://schemas.microsoft.com/office/drawing/2014/main" id="{6BCD3125-F0B0-4F60-95C5-42810187C295}"/>
              </a:ext>
            </a:extLst>
          </p:cNvPr>
          <p:cNvSpPr>
            <a:spLocks xmlns:a="http://schemas.openxmlformats.org/drawingml/2006/main" noGrp="1"/>
          </p:cNvSpPr>
          <p:nvPr/>
        </p:nvSpPr>
        <p:spPr>
          <a:xfrm xmlns:a="http://schemas.openxmlformats.org/drawingml/2006/main">
            <a:off x="8648700" y="2339340"/>
            <a:ext cx="14287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tin là đủ</a:t>
            </a:r>
          </a:p>
        </p:txBody>
      </p:sp>
      <p:sp>
        <p:nvSpPr>
          <p:cNvPr id="14" name="S20_CHECKS_R0C2">
            <a:extLst xmlns:a="http://schemas.openxmlformats.org/drawingml/2006/main">
              <a:ext uri="{FF2B5EF4-FFF2-40B4-BE49-F238E27FC236}">
                <a16:creationId xmlns:a16="http://schemas.microsoft.com/office/drawing/2014/main" id="{D1A5E0CD-D915-4E70-AEAE-9E36C40CA258}"/>
              </a:ext>
            </a:extLst>
          </p:cNvPr>
          <p:cNvSpPr>
            <a:spLocks xmlns:a="http://schemas.openxmlformats.org/drawingml/2006/main" noGrp="1"/>
          </p:cNvSpPr>
          <p:nvPr/>
        </p:nvSpPr>
        <p:spPr>
          <a:xfrm xmlns:a="http://schemas.openxmlformats.org/drawingml/2006/main">
            <a:off x="10077450" y="2339340"/>
            <a:ext cx="15811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chỉ xác thực user</a:t>
            </a:r>
          </a:p>
        </p:txBody>
      </p:sp>
      <p:sp>
        <p:nvSpPr>
          <p:cNvPr id="15" name="S20_CHECKS_R1C0">
            <a:extLst xmlns:a="http://schemas.openxmlformats.org/drawingml/2006/main">
              <a:ext uri="{FF2B5EF4-FFF2-40B4-BE49-F238E27FC236}">
                <a16:creationId xmlns:a16="http://schemas.microsoft.com/office/drawing/2014/main" id="{4721636D-08F3-44D1-B3C2-377921594DAD}"/>
              </a:ext>
            </a:extLst>
          </p:cNvPr>
          <p:cNvSpPr>
            <a:spLocks xmlns:a="http://schemas.openxmlformats.org/drawingml/2006/main" noGrp="1"/>
          </p:cNvSpPr>
          <p:nvPr/>
        </p:nvSpPr>
        <p:spPr>
          <a:xfrm xmlns:a="http://schemas.openxmlformats.org/drawingml/2006/main">
            <a:off x="7029450" y="2926080"/>
            <a:ext cx="16192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CSRF token</a:t>
            </a:r>
          </a:p>
        </p:txBody>
      </p:sp>
      <p:sp>
        <p:nvSpPr>
          <p:cNvPr id="16" name="S20_CHECKS_R1C1">
            <a:extLst xmlns:a="http://schemas.openxmlformats.org/drawingml/2006/main">
              <a:ext uri="{FF2B5EF4-FFF2-40B4-BE49-F238E27FC236}">
                <a16:creationId xmlns:a16="http://schemas.microsoft.com/office/drawing/2014/main" id="{5D0B788A-A658-4484-979A-A9BD2A3B5690}"/>
              </a:ext>
            </a:extLst>
          </p:cNvPr>
          <p:cNvSpPr>
            <a:spLocks xmlns:a="http://schemas.openxmlformats.org/drawingml/2006/main" noGrp="1"/>
          </p:cNvSpPr>
          <p:nvPr/>
        </p:nvSpPr>
        <p:spPr>
          <a:xfrm xmlns:a="http://schemas.openxmlformats.org/drawingml/2006/main">
            <a:off x="8648700" y="2926080"/>
            <a:ext cx="14287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kiểm</a:t>
            </a:r>
          </a:p>
        </p:txBody>
      </p:sp>
      <p:sp>
        <p:nvSpPr>
          <p:cNvPr id="17" name="S20_CHECKS_R1C2">
            <a:extLst xmlns:a="http://schemas.openxmlformats.org/drawingml/2006/main">
              <a:ext uri="{FF2B5EF4-FFF2-40B4-BE49-F238E27FC236}">
                <a16:creationId xmlns:a16="http://schemas.microsoft.com/office/drawing/2014/main" id="{88B45435-3A4B-45BC-A4B8-757BE77F775B}"/>
              </a:ext>
            </a:extLst>
          </p:cNvPr>
          <p:cNvSpPr>
            <a:spLocks xmlns:a="http://schemas.openxmlformats.org/drawingml/2006/main" noGrp="1"/>
          </p:cNvSpPr>
          <p:nvPr/>
        </p:nvSpPr>
        <p:spPr>
          <a:xfrm xmlns:a="http://schemas.openxmlformats.org/drawingml/2006/main">
            <a:off x="10077450" y="2926080"/>
            <a:ext cx="15811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session-bound + compare</a:t>
            </a:r>
          </a:p>
        </p:txBody>
      </p:sp>
      <p:sp>
        <p:nvSpPr>
          <p:cNvPr id="18" name="S20_CHECKS_R2C0">
            <a:extLst xmlns:a="http://schemas.openxmlformats.org/drawingml/2006/main">
              <a:ext uri="{FF2B5EF4-FFF2-40B4-BE49-F238E27FC236}">
                <a16:creationId xmlns:a16="http://schemas.microsoft.com/office/drawing/2014/main" id="{19BEA09D-2296-4F8B-8C8D-90303CED4E45}"/>
              </a:ext>
            </a:extLst>
          </p:cNvPr>
          <p:cNvSpPr>
            <a:spLocks xmlns:a="http://schemas.openxmlformats.org/drawingml/2006/main" noGrp="1"/>
          </p:cNvSpPr>
          <p:nvPr/>
        </p:nvSpPr>
        <p:spPr>
          <a:xfrm xmlns:a="http://schemas.openxmlformats.org/drawingml/2006/main">
            <a:off x="7029450" y="3512820"/>
            <a:ext cx="16192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Origin/Referer</a:t>
            </a:r>
          </a:p>
        </p:txBody>
      </p:sp>
      <p:sp>
        <p:nvSpPr>
          <p:cNvPr id="19" name="S20_CHECKS_R2C1">
            <a:extLst xmlns:a="http://schemas.openxmlformats.org/drawingml/2006/main">
              <a:ext uri="{FF2B5EF4-FFF2-40B4-BE49-F238E27FC236}">
                <a16:creationId xmlns:a16="http://schemas.microsoft.com/office/drawing/2014/main" id="{79AFAAD2-4B6E-461C-880E-8BA4F0D237AF}"/>
              </a:ext>
            </a:extLst>
          </p:cNvPr>
          <p:cNvSpPr>
            <a:spLocks xmlns:a="http://schemas.openxmlformats.org/drawingml/2006/main" noGrp="1"/>
          </p:cNvSpPr>
          <p:nvPr/>
        </p:nvSpPr>
        <p:spPr>
          <a:xfrm xmlns:a="http://schemas.openxmlformats.org/drawingml/2006/main">
            <a:off x="8648700" y="3512820"/>
            <a:ext cx="14287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bỏ qua</a:t>
            </a:r>
          </a:p>
        </p:txBody>
      </p:sp>
      <p:sp>
        <p:nvSpPr>
          <p:cNvPr id="20" name="S20_CHECKS_R2C2">
            <a:extLst xmlns:a="http://schemas.openxmlformats.org/drawingml/2006/main">
              <a:ext uri="{FF2B5EF4-FFF2-40B4-BE49-F238E27FC236}">
                <a16:creationId xmlns:a16="http://schemas.microsoft.com/office/drawing/2014/main" id="{86CD9267-74EC-41F7-BF42-F4CEF4527910}"/>
              </a:ext>
            </a:extLst>
          </p:cNvPr>
          <p:cNvSpPr>
            <a:spLocks xmlns:a="http://schemas.openxmlformats.org/drawingml/2006/main" noGrp="1"/>
          </p:cNvSpPr>
          <p:nvPr/>
        </p:nvSpPr>
        <p:spPr>
          <a:xfrm xmlns:a="http://schemas.openxmlformats.org/drawingml/2006/main">
            <a:off x="10077450" y="3512820"/>
            <a:ext cx="15811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exact allowlist</a:t>
            </a:r>
          </a:p>
        </p:txBody>
      </p:sp>
      <p:sp>
        <p:nvSpPr>
          <p:cNvPr id="21" name="S20_CHECKS_R3C0">
            <a:extLst xmlns:a="http://schemas.openxmlformats.org/drawingml/2006/main">
              <a:ext uri="{FF2B5EF4-FFF2-40B4-BE49-F238E27FC236}">
                <a16:creationId xmlns:a16="http://schemas.microsoft.com/office/drawing/2014/main" id="{769E35E2-4E0A-44E4-8F2E-93019464E0D9}"/>
              </a:ext>
            </a:extLst>
          </p:cNvPr>
          <p:cNvSpPr>
            <a:spLocks xmlns:a="http://schemas.openxmlformats.org/drawingml/2006/main" noGrp="1"/>
          </p:cNvSpPr>
          <p:nvPr/>
        </p:nvSpPr>
        <p:spPr>
          <a:xfrm xmlns:a="http://schemas.openxmlformats.org/drawingml/2006/main">
            <a:off x="7029450" y="4099560"/>
            <a:ext cx="16192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Method</a:t>
            </a:r>
          </a:p>
        </p:txBody>
      </p:sp>
      <p:sp>
        <p:nvSpPr>
          <p:cNvPr id="22" name="S20_CHECKS_R3C1">
            <a:extLst xmlns:a="http://schemas.openxmlformats.org/drawingml/2006/main">
              <a:ext uri="{FF2B5EF4-FFF2-40B4-BE49-F238E27FC236}">
                <a16:creationId xmlns:a16="http://schemas.microsoft.com/office/drawing/2014/main" id="{2D96CD2A-694C-41C9-8E34-6A0230E05491}"/>
              </a:ext>
            </a:extLst>
          </p:cNvPr>
          <p:cNvSpPr>
            <a:spLocks xmlns:a="http://schemas.openxmlformats.org/drawingml/2006/main" noGrp="1"/>
          </p:cNvSpPr>
          <p:nvPr/>
        </p:nvSpPr>
        <p:spPr>
          <a:xfrm xmlns:a="http://schemas.openxmlformats.org/drawingml/2006/main">
            <a:off x="8648700" y="4099560"/>
            <a:ext cx="14287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POST</a:t>
            </a:r>
          </a:p>
        </p:txBody>
      </p:sp>
      <p:sp>
        <p:nvSpPr>
          <p:cNvPr id="23" name="S20_CHECKS_R3C2">
            <a:extLst xmlns:a="http://schemas.openxmlformats.org/drawingml/2006/main">
              <a:ext uri="{FF2B5EF4-FFF2-40B4-BE49-F238E27FC236}">
                <a16:creationId xmlns:a16="http://schemas.microsoft.com/office/drawing/2014/main" id="{4A930CED-3846-463A-9DC9-D7C97D0A9BBF}"/>
              </a:ext>
            </a:extLst>
          </p:cNvPr>
          <p:cNvSpPr>
            <a:spLocks xmlns:a="http://schemas.openxmlformats.org/drawingml/2006/main" noGrp="1"/>
          </p:cNvSpPr>
          <p:nvPr/>
        </p:nvSpPr>
        <p:spPr>
          <a:xfrm xmlns:a="http://schemas.openxmlformats.org/drawingml/2006/main">
            <a:off x="10077450" y="4099560"/>
            <a:ext cx="15811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POST + policy</a:t>
            </a:r>
          </a:p>
        </p:txBody>
      </p:sp>
      <p:sp>
        <p:nvSpPr>
          <p:cNvPr id="24" name="S20_DECISION_BAR">
            <a:extLst xmlns:a="http://schemas.openxmlformats.org/drawingml/2006/main">
              <a:ext uri="{FF2B5EF4-FFF2-40B4-BE49-F238E27FC236}">
                <a16:creationId xmlns:a16="http://schemas.microsoft.com/office/drawing/2014/main" id="{D0A43067-E19E-4C36-A33E-7F01F208929E}"/>
              </a:ext>
            </a:extLst>
          </p:cNvPr>
          <p:cNvSpPr>
            <a:spLocks xmlns:a="http://schemas.openxmlformats.org/drawingml/2006/main" noGrp="1"/>
          </p:cNvSpPr>
          <p:nvPr/>
        </p:nvSpPr>
        <p:spPr>
          <a:xfrm xmlns:a="http://schemas.openxmlformats.org/drawingml/2006/main">
            <a:off x="533400" y="5105400"/>
            <a:ext cx="76200" cy="0"/>
          </a:xfrm>
          <a:prstGeom xmlns:a="http://schemas.openxmlformats.org/drawingml/2006/main" prst="rect">
            <a:avLst/>
          </a:prstGeom>
          <a:ln xmlns:a="http://schemas.openxmlformats.org/drawingml/2006/main" w="0">
            <a:noFill/>
            <a:prstDash val="solid"/>
          </a:ln>
        </p:spPr>
      </p:sp>
      <p:sp>
        <p:nvSpPr>
          <p:cNvPr id="25" name="S20_DECISION_LABEL">
            <a:extLst xmlns:a="http://schemas.openxmlformats.org/drawingml/2006/main">
              <a:ext uri="{FF2B5EF4-FFF2-40B4-BE49-F238E27FC236}">
                <a16:creationId xmlns:a16="http://schemas.microsoft.com/office/drawing/2014/main" id="{9672E96D-5980-413D-B56F-BE086A454EED}"/>
              </a:ext>
            </a:extLst>
          </p:cNvPr>
          <p:cNvSpPr>
            <a:spLocks xmlns:a="http://schemas.openxmlformats.org/drawingml/2006/main" noGrp="1"/>
          </p:cNvSpPr>
          <p:nvPr/>
        </p:nvSpPr>
        <p:spPr>
          <a:xfrm xmlns:a="http://schemas.openxmlformats.org/drawingml/2006/main">
            <a:off x="704850" y="5105400"/>
            <a:ext cx="1638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DECISION</a:t>
            </a:r>
          </a:p>
        </p:txBody>
      </p:sp>
      <p:sp>
        <p:nvSpPr>
          <p:cNvPr id="26" name="S20_DECISION_BODY">
            <a:extLst xmlns:a="http://schemas.openxmlformats.org/drawingml/2006/main">
              <a:ext uri="{FF2B5EF4-FFF2-40B4-BE49-F238E27FC236}">
                <a16:creationId xmlns:a16="http://schemas.microsoft.com/office/drawing/2014/main" id="{A3672C5F-0B51-4461-9DAC-F5C40AD63075}"/>
              </a:ext>
            </a:extLst>
          </p:cNvPr>
          <p:cNvSpPr>
            <a:spLocks xmlns:a="http://schemas.openxmlformats.org/drawingml/2006/main" noGrp="1"/>
          </p:cNvSpPr>
          <p:nvPr/>
        </p:nvSpPr>
        <p:spPr>
          <a:xfrm xmlns:a="http://schemas.openxmlformats.org/drawingml/2006/main">
            <a:off x="2438400" y="5105400"/>
            <a:ext cx="9201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Credential trả lời “ai”; CSRF defense trả lời “request này có phản ánh ý định của chính user hay không?”.</a:t>
            </a:r>
          </a:p>
        </p:txBody>
      </p:sp>
    </p:spTree>
    <p:extLst>
      <p:ext uri="{BB962C8B-B14F-4D97-AF65-F5344CB8AC3E}">
        <p14:creationId xmlns:p14="http://schemas.microsoft.com/office/powerpoint/2010/main" val="926290714"/>
      </p:ext>
    </p:extLst>
  </p:cSld>
</p:sld>
</file>

<file path=ppt/slides/slide2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2" name="S21_EYEBROW">
            <a:extLst xmlns:a="http://schemas.openxmlformats.org/drawingml/2006/main">
              <a:ext uri="{FF2B5EF4-FFF2-40B4-BE49-F238E27FC236}">
                <a16:creationId xmlns:a16="http://schemas.microsoft.com/office/drawing/2014/main" id="{62388122-E2EC-45FD-986E-581C47C98506}"/>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21_TITLE">
            <a:extLst xmlns:a="http://schemas.openxmlformats.org/drawingml/2006/main">
              <a:ext uri="{FF2B5EF4-FFF2-40B4-BE49-F238E27FC236}">
                <a16:creationId xmlns:a16="http://schemas.microsoft.com/office/drawing/2014/main" id="{46A36C19-DD3F-4274-9454-DCA8CCFC4FC4}"/>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Secure route buộc request gắn với session và origin</a:t>
            </a:r>
          </a:p>
        </p:txBody>
      </p:sp>
      <p:sp>
        <p:nvSpPr>
          <p:cNvPr id="3" name="S21_SUBTITLE">
            <a:extLst xmlns:a="http://schemas.openxmlformats.org/drawingml/2006/main">
              <a:ext uri="{FF2B5EF4-FFF2-40B4-BE49-F238E27FC236}">
                <a16:creationId xmlns:a16="http://schemas.microsoft.com/office/drawing/2014/main" id="{03CC6ED1-B00D-47D8-9D6C-265DE115488A}"/>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Token mạnh theo session + Origin/Referer exact + SameSite + re-auth cho hành động nhạy cảm.</a:t>
            </a:r>
          </a:p>
        </p:txBody>
      </p:sp>
      <p:sp>
        <p:nvSpPr>
          <p:cNvPr id="4" name="S21_TITLE_RULE">
            <a:extLst xmlns:a="http://schemas.openxmlformats.org/drawingml/2006/main">
              <a:ext uri="{FF2B5EF4-FFF2-40B4-BE49-F238E27FC236}">
                <a16:creationId xmlns:a16="http://schemas.microsoft.com/office/drawing/2014/main" id="{41359167-27D4-41B4-897B-3646A60B7E8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1_FOOTER_RULE">
            <a:extLst xmlns:a="http://schemas.openxmlformats.org/drawingml/2006/main">
              <a:ext uri="{FF2B5EF4-FFF2-40B4-BE49-F238E27FC236}">
                <a16:creationId xmlns:a16="http://schemas.microsoft.com/office/drawing/2014/main" id="{AB7D1B81-A3D6-4480-B1A2-9FF933311748}"/>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1_SOURCE">
            <a:extLst xmlns:a="http://schemas.openxmlformats.org/drawingml/2006/main">
              <a:ext uri="{FF2B5EF4-FFF2-40B4-BE49-F238E27FC236}">
                <a16:creationId xmlns:a16="http://schemas.microsoft.com/office/drawing/2014/main" id="{764A8100-3828-4389-802A-A7A7AA79B04D}"/>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Lab04/csrf_service.py · origin_service.py · config.py</a:t>
            </a:r>
          </a:p>
        </p:txBody>
      </p:sp>
      <p:sp>
        <p:nvSpPr>
          <p:cNvPr id="7" name="S21_NUMBER">
            <a:extLst xmlns:a="http://schemas.openxmlformats.org/drawingml/2006/main">
              <a:ext uri="{FF2B5EF4-FFF2-40B4-BE49-F238E27FC236}">
                <a16:creationId xmlns:a16="http://schemas.microsoft.com/office/drawing/2014/main" id="{3E2C7245-7216-40B4-B0EF-07C62CB25249}"/>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21</a:t>
            </a:r>
          </a:p>
        </p:txBody>
      </p:sp>
      <p:sp>
        <p:nvSpPr>
          <p:cNvPr id="8" name="S21_SECURE_ARROW_1">
            <a:extLst xmlns:a="http://schemas.openxmlformats.org/drawingml/2006/main">
              <a:ext uri="{FF2B5EF4-FFF2-40B4-BE49-F238E27FC236}">
                <a16:creationId xmlns:a16="http://schemas.microsoft.com/office/drawing/2014/main" id="{0081B5DD-F1A3-4E36-A6BA-53BA31BE0ADF}"/>
              </a:ext>
            </a:extLst>
          </p:cNvPr>
          <p:cNvSpPr>
            <a:spLocks xmlns:a="http://schemas.openxmlformats.org/drawingml/2006/main" noGrp="1"/>
          </p:cNvSpPr>
          <p:nvPr/>
        </p:nvSpPr>
        <p:spPr>
          <a:xfrm xmlns:a="http://schemas.openxmlformats.org/drawingml/2006/main">
            <a:off x="1579562"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9" name="S21_SECURE_ARROW_2">
            <a:extLst xmlns:a="http://schemas.openxmlformats.org/drawingml/2006/main">
              <a:ext uri="{FF2B5EF4-FFF2-40B4-BE49-F238E27FC236}">
                <a16:creationId xmlns:a16="http://schemas.microsoft.com/office/drawing/2014/main" id="{BA01E46F-BA0D-4369-8812-218508223950}"/>
              </a:ext>
            </a:extLst>
          </p:cNvPr>
          <p:cNvSpPr>
            <a:spLocks xmlns:a="http://schemas.openxmlformats.org/drawingml/2006/main" noGrp="1"/>
          </p:cNvSpPr>
          <p:nvPr/>
        </p:nvSpPr>
        <p:spPr>
          <a:xfrm xmlns:a="http://schemas.openxmlformats.org/drawingml/2006/main">
            <a:off x="2768600"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0" name="S21_SECURE_ARROW_3">
            <a:extLst xmlns:a="http://schemas.openxmlformats.org/drawingml/2006/main">
              <a:ext uri="{FF2B5EF4-FFF2-40B4-BE49-F238E27FC236}">
                <a16:creationId xmlns:a16="http://schemas.microsoft.com/office/drawing/2014/main" id="{4137EB7B-9D57-46FE-A351-8032026F310E}"/>
              </a:ext>
            </a:extLst>
          </p:cNvPr>
          <p:cNvSpPr>
            <a:spLocks xmlns:a="http://schemas.openxmlformats.org/drawingml/2006/main" noGrp="1"/>
          </p:cNvSpPr>
          <p:nvPr/>
        </p:nvSpPr>
        <p:spPr>
          <a:xfrm xmlns:a="http://schemas.openxmlformats.org/drawingml/2006/main">
            <a:off x="3957638"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1" name="S21_SECURE_ARROW_4">
            <a:extLst xmlns:a="http://schemas.openxmlformats.org/drawingml/2006/main">
              <a:ext uri="{FF2B5EF4-FFF2-40B4-BE49-F238E27FC236}">
                <a16:creationId xmlns:a16="http://schemas.microsoft.com/office/drawing/2014/main" id="{B8DCACEC-1EDE-4E31-A31F-B96E497BB01B}"/>
              </a:ext>
            </a:extLst>
          </p:cNvPr>
          <p:cNvSpPr>
            <a:spLocks xmlns:a="http://schemas.openxmlformats.org/drawingml/2006/main" noGrp="1"/>
          </p:cNvSpPr>
          <p:nvPr/>
        </p:nvSpPr>
        <p:spPr>
          <a:xfrm xmlns:a="http://schemas.openxmlformats.org/drawingml/2006/main">
            <a:off x="5146675"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2" name="S21_SECURE_ARROW_5">
            <a:extLst xmlns:a="http://schemas.openxmlformats.org/drawingml/2006/main">
              <a:ext uri="{FF2B5EF4-FFF2-40B4-BE49-F238E27FC236}">
                <a16:creationId xmlns:a16="http://schemas.microsoft.com/office/drawing/2014/main" id="{CF44D579-01E8-4598-AB55-572FF9E99003}"/>
              </a:ext>
            </a:extLst>
          </p:cNvPr>
          <p:cNvSpPr>
            <a:spLocks xmlns:a="http://schemas.openxmlformats.org/drawingml/2006/main" noGrp="1"/>
          </p:cNvSpPr>
          <p:nvPr/>
        </p:nvSpPr>
        <p:spPr>
          <a:xfrm xmlns:a="http://schemas.openxmlformats.org/drawingml/2006/main">
            <a:off x="6335713"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3" name="S21_SECURE_NODE_1">
            <a:extLst xmlns:a="http://schemas.openxmlformats.org/drawingml/2006/main">
              <a:ext uri="{FF2B5EF4-FFF2-40B4-BE49-F238E27FC236}">
                <a16:creationId xmlns:a16="http://schemas.microsoft.com/office/drawing/2014/main" id="{7285E955-3F97-461E-82FA-3B4F1ADD3D01}"/>
              </a:ext>
            </a:extLst>
          </p:cNvPr>
          <p:cNvSpPr>
            <a:spLocks xmlns:a="http://schemas.openxmlformats.org/drawingml/2006/main" noGrp="1"/>
          </p:cNvSpPr>
          <p:nvPr/>
        </p:nvSpPr>
        <p:spPr>
          <a:xfrm xmlns:a="http://schemas.openxmlformats.org/drawingml/2006/main">
            <a:off x="53340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form</a:t>
            </a:r>
          </a:p>
        </p:txBody>
      </p:sp>
      <p:sp>
        <p:nvSpPr>
          <p:cNvPr id="14" name="S21_SECURE_NODE_2">
            <a:extLst xmlns:a="http://schemas.openxmlformats.org/drawingml/2006/main">
              <a:ext uri="{FF2B5EF4-FFF2-40B4-BE49-F238E27FC236}">
                <a16:creationId xmlns:a16="http://schemas.microsoft.com/office/drawing/2014/main" id="{D609A227-C611-44D8-B8EA-C1157CA511E9}"/>
              </a:ext>
            </a:extLst>
          </p:cNvPr>
          <p:cNvSpPr>
            <a:spLocks xmlns:a="http://schemas.openxmlformats.org/drawingml/2006/main" noGrp="1"/>
          </p:cNvSpPr>
          <p:nvPr/>
        </p:nvSpPr>
        <p:spPr>
          <a:xfrm xmlns:a="http://schemas.openxmlformats.org/drawingml/2006/main">
            <a:off x="1722437"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token_urlsafe(32)</a:t>
            </a:r>
          </a:p>
        </p:txBody>
      </p:sp>
      <p:sp>
        <p:nvSpPr>
          <p:cNvPr id="15" name="S21_SECURE_NODE_3">
            <a:extLst xmlns:a="http://schemas.openxmlformats.org/drawingml/2006/main">
              <a:ext uri="{FF2B5EF4-FFF2-40B4-BE49-F238E27FC236}">
                <a16:creationId xmlns:a16="http://schemas.microsoft.com/office/drawing/2014/main" id="{F2793D40-4F68-4D91-9629-93607D704756}"/>
              </a:ext>
            </a:extLst>
          </p:cNvPr>
          <p:cNvSpPr>
            <a:spLocks xmlns:a="http://schemas.openxmlformats.org/drawingml/2006/main" noGrp="1"/>
          </p:cNvSpPr>
          <p:nvPr/>
        </p:nvSpPr>
        <p:spPr>
          <a:xfrm xmlns:a="http://schemas.openxmlformats.org/drawingml/2006/main">
            <a:off x="2911475"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 + token</a:t>
            </a:r>
          </a:p>
        </p:txBody>
      </p:sp>
      <p:sp>
        <p:nvSpPr>
          <p:cNvPr id="16" name="S21_SECURE_NODE_4">
            <a:extLst xmlns:a="http://schemas.openxmlformats.org/drawingml/2006/main">
              <a:ext uri="{FF2B5EF4-FFF2-40B4-BE49-F238E27FC236}">
                <a16:creationId xmlns:a16="http://schemas.microsoft.com/office/drawing/2014/main" id="{37DD8CDA-FA97-4F7B-B56E-61D7E6FF8FF2}"/>
              </a:ext>
            </a:extLst>
          </p:cNvPr>
          <p:cNvSpPr>
            <a:spLocks xmlns:a="http://schemas.openxmlformats.org/drawingml/2006/main" noGrp="1"/>
          </p:cNvSpPr>
          <p:nvPr/>
        </p:nvSpPr>
        <p:spPr>
          <a:xfrm xmlns:a="http://schemas.openxmlformats.org/drawingml/2006/main">
            <a:off x="4100513"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Origin exact</a:t>
            </a:r>
          </a:p>
        </p:txBody>
      </p:sp>
      <p:sp>
        <p:nvSpPr>
          <p:cNvPr id="17" name="S21_SECURE_NODE_5">
            <a:extLst xmlns:a="http://schemas.openxmlformats.org/drawingml/2006/main">
              <a:ext uri="{FF2B5EF4-FFF2-40B4-BE49-F238E27FC236}">
                <a16:creationId xmlns:a16="http://schemas.microsoft.com/office/drawing/2014/main" id="{D93ACB4C-6A44-408F-8C85-4C4B3AA2D667}"/>
              </a:ext>
            </a:extLst>
          </p:cNvPr>
          <p:cNvSpPr>
            <a:spLocks xmlns:a="http://schemas.openxmlformats.org/drawingml/2006/main" noGrp="1"/>
          </p:cNvSpPr>
          <p:nvPr/>
        </p:nvSpPr>
        <p:spPr>
          <a:xfrm xmlns:a="http://schemas.openxmlformats.org/drawingml/2006/main">
            <a:off x="528955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compare_digest</a:t>
            </a:r>
          </a:p>
        </p:txBody>
      </p:sp>
      <p:sp>
        <p:nvSpPr>
          <p:cNvPr id="18" name="S21_SECURE_NODE_6">
            <a:extLst xmlns:a="http://schemas.openxmlformats.org/drawingml/2006/main">
              <a:ext uri="{FF2B5EF4-FFF2-40B4-BE49-F238E27FC236}">
                <a16:creationId xmlns:a16="http://schemas.microsoft.com/office/drawing/2014/main" id="{191099B7-46C1-4919-BF9A-A0F652EC45DB}"/>
              </a:ext>
            </a:extLst>
          </p:cNvPr>
          <p:cNvSpPr>
            <a:spLocks xmlns:a="http://schemas.openxmlformats.org/drawingml/2006/main" noGrp="1"/>
          </p:cNvSpPr>
          <p:nvPr/>
        </p:nvSpPr>
        <p:spPr>
          <a:xfrm xmlns:a="http://schemas.openxmlformats.org/drawingml/2006/main">
            <a:off x="6478588"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ALLOW / 403</a:t>
            </a:r>
          </a:p>
        </p:txBody>
      </p:sp>
      <p:sp>
        <p:nvSpPr>
          <p:cNvPr id="19" name="PH_S21_Lab04_13_secure_missing_token_403_png_FRAME">
            <a:extLst xmlns:a="http://schemas.openxmlformats.org/drawingml/2006/main">
              <a:ext uri="{FF2B5EF4-FFF2-40B4-BE49-F238E27FC236}">
                <a16:creationId xmlns:a16="http://schemas.microsoft.com/office/drawing/2014/main" id="{B4832275-EC08-4898-84ED-F679B531FDD8}"/>
              </a:ext>
            </a:extLst>
          </p:cNvPr>
          <p:cNvSpPr>
            <a:spLocks xmlns:a="http://schemas.openxmlformats.org/drawingml/2006/main" noGrp="1"/>
          </p:cNvSpPr>
          <p:nvPr/>
        </p:nvSpPr>
        <p:spPr>
          <a:xfrm xmlns:a="http://schemas.openxmlformats.org/drawingml/2006/main">
            <a:off x="7800975" y="1724025"/>
            <a:ext cx="3886200" cy="23812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0" name="PH_S21_Lab04_13_secure_missing_token_403_png_IMAGE">
            <a:extLst xmlns:a="http://schemas.openxmlformats.org/drawingml/2006/main">
              <a:ext uri="{FF2B5EF4-FFF2-40B4-BE49-F238E27FC236}">
                <a16:creationId xmlns:a16="http://schemas.microsoft.com/office/drawing/2014/main" id="{F8B7C5FE-2513-4027-80F8-07173969FD20}"/>
              </a:ext>
            </a:extLst>
          </p:cNvPr>
          <p:cNvSpPr>
            <a:spLocks xmlns:a="http://schemas.openxmlformats.org/drawingml/2006/main" noGrp="1"/>
          </p:cNvSpPr>
          <p:nvPr/>
        </p:nvSpPr>
        <p:spPr>
          <a:xfrm xmlns:a="http://schemas.openxmlformats.org/drawingml/2006/main">
            <a:off x="7829550" y="1752600"/>
            <a:ext cx="3829050" cy="23241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1" name="PH_S21_Lab04_13_secure_missing_token_403_png_ICON">
            <a:extLst xmlns:a="http://schemas.openxmlformats.org/drawingml/2006/main">
              <a:ext uri="{FF2B5EF4-FFF2-40B4-BE49-F238E27FC236}">
                <a16:creationId xmlns:a16="http://schemas.microsoft.com/office/drawing/2014/main" id="{E25A8903-E055-423E-A850-3E82D337123C}"/>
              </a:ext>
            </a:extLst>
          </p:cNvPr>
          <p:cNvSpPr>
            <a:spLocks xmlns:a="http://schemas.openxmlformats.org/drawingml/2006/main" noGrp="1"/>
          </p:cNvSpPr>
          <p:nvPr/>
        </p:nvSpPr>
        <p:spPr>
          <a:xfrm xmlns:a="http://schemas.openxmlformats.org/drawingml/2006/main">
            <a:off x="79819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2" name="PH_S21_Lab04_13_secure_missing_token_403_png_INSTRUCTION">
            <a:extLst xmlns:a="http://schemas.openxmlformats.org/drawingml/2006/main">
              <a:ext uri="{FF2B5EF4-FFF2-40B4-BE49-F238E27FC236}">
                <a16:creationId xmlns:a16="http://schemas.microsoft.com/office/drawing/2014/main" id="{861E5FBF-7F2D-4E55-98D7-409894FC7C3A}"/>
              </a:ext>
            </a:extLst>
          </p:cNvPr>
          <p:cNvSpPr>
            <a:spLocks xmlns:a="http://schemas.openxmlformats.org/drawingml/2006/main" noGrp="1"/>
          </p:cNvSpPr>
          <p:nvPr/>
        </p:nvSpPr>
        <p:spPr>
          <a:xfrm xmlns:a="http://schemas.openxmlformats.org/drawingml/2006/main">
            <a:off x="8496300" y="1924050"/>
            <a:ext cx="29908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13_secure_missing_token_403.png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3" name="PH_S21_Lab04_13_secure_missing_token_403_png_CAPTION">
            <a:extLst xmlns:a="http://schemas.openxmlformats.org/drawingml/2006/main">
              <a:ext uri="{FF2B5EF4-FFF2-40B4-BE49-F238E27FC236}">
                <a16:creationId xmlns:a16="http://schemas.microsoft.com/office/drawing/2014/main" id="{840C9E9B-E757-478B-AF2F-6093824359F8}"/>
              </a:ext>
            </a:extLst>
          </p:cNvPr>
          <p:cNvSpPr>
            <a:spLocks xmlns:a="http://schemas.openxmlformats.org/drawingml/2006/main" noGrp="1"/>
          </p:cNvSpPr>
          <p:nvPr/>
        </p:nvSpPr>
        <p:spPr>
          <a:xfrm xmlns:a="http://schemas.openxmlformats.org/drawingml/2006/main">
            <a:off x="7829550" y="3667125"/>
            <a:ext cx="3829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403 khi thiếu CSRF token</a:t>
            </a:r>
          </a:p>
        </p:txBody>
      </p:sp>
      <p:sp>
        <p:nvSpPr>
          <p:cNvPr id="24" name="S21_LAYERS_H0">
            <a:extLst xmlns:a="http://schemas.openxmlformats.org/drawingml/2006/main">
              <a:ext uri="{FF2B5EF4-FFF2-40B4-BE49-F238E27FC236}">
                <a16:creationId xmlns:a16="http://schemas.microsoft.com/office/drawing/2014/main" id="{400AFA4C-645A-434B-9ABF-B0509CE8E409}"/>
              </a:ext>
            </a:extLst>
          </p:cNvPr>
          <p:cNvSpPr>
            <a:spLocks xmlns:a="http://schemas.openxmlformats.org/drawingml/2006/main" noGrp="1"/>
          </p:cNvSpPr>
          <p:nvPr/>
        </p:nvSpPr>
        <p:spPr>
          <a:xfrm xmlns:a="http://schemas.openxmlformats.org/drawingml/2006/main">
            <a:off x="533400" y="3105150"/>
            <a:ext cx="15240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25" name="S21_LAYERS_H1">
            <a:extLst xmlns:a="http://schemas.openxmlformats.org/drawingml/2006/main">
              <a:ext uri="{FF2B5EF4-FFF2-40B4-BE49-F238E27FC236}">
                <a16:creationId xmlns:a16="http://schemas.microsoft.com/office/drawing/2014/main" id="{9D2A2D61-8CC1-483D-A3E0-6A62576BAC10}"/>
              </a:ext>
            </a:extLst>
          </p:cNvPr>
          <p:cNvSpPr>
            <a:spLocks xmlns:a="http://schemas.openxmlformats.org/drawingml/2006/main" noGrp="1"/>
          </p:cNvSpPr>
          <p:nvPr/>
        </p:nvSpPr>
        <p:spPr>
          <a:xfrm xmlns:a="http://schemas.openxmlformats.org/drawingml/2006/main">
            <a:off x="2057400" y="3105150"/>
            <a:ext cx="28575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VAI TRÒ</a:t>
            </a:r>
          </a:p>
        </p:txBody>
      </p:sp>
      <p:sp>
        <p:nvSpPr>
          <p:cNvPr id="26" name="S21_LAYERS_H2">
            <a:extLst xmlns:a="http://schemas.openxmlformats.org/drawingml/2006/main">
              <a:ext uri="{FF2B5EF4-FFF2-40B4-BE49-F238E27FC236}">
                <a16:creationId xmlns:a16="http://schemas.microsoft.com/office/drawing/2014/main" id="{657387AC-1BC1-48D3-A796-C7CEE1C68E7F}"/>
              </a:ext>
            </a:extLst>
          </p:cNvPr>
          <p:cNvSpPr>
            <a:spLocks xmlns:a="http://schemas.openxmlformats.org/drawingml/2006/main" noGrp="1"/>
          </p:cNvSpPr>
          <p:nvPr/>
        </p:nvSpPr>
        <p:spPr>
          <a:xfrm xmlns:a="http://schemas.openxmlformats.org/drawingml/2006/main">
            <a:off x="4914900" y="3105150"/>
            <a:ext cx="25717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KHÔNG THAY THẾ</a:t>
            </a:r>
          </a:p>
        </p:txBody>
      </p:sp>
      <p:sp>
        <p:nvSpPr>
          <p:cNvPr id="27" name="S21_LAYERS_R0C0">
            <a:extLst xmlns:a="http://schemas.openxmlformats.org/drawingml/2006/main">
              <a:ext uri="{FF2B5EF4-FFF2-40B4-BE49-F238E27FC236}">
                <a16:creationId xmlns:a16="http://schemas.microsoft.com/office/drawing/2014/main" id="{BD1C3F87-9EB2-4C6E-A379-0DC81BC94AF3}"/>
              </a:ext>
            </a:extLst>
          </p:cNvPr>
          <p:cNvSpPr>
            <a:spLocks xmlns:a="http://schemas.openxmlformats.org/drawingml/2006/main" noGrp="1"/>
          </p:cNvSpPr>
          <p:nvPr/>
        </p:nvSpPr>
        <p:spPr>
          <a:xfrm xmlns:a="http://schemas.openxmlformats.org/drawingml/2006/main">
            <a:off x="533400" y="364998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Token</a:t>
            </a:r>
          </a:p>
        </p:txBody>
      </p:sp>
      <p:sp>
        <p:nvSpPr>
          <p:cNvPr id="28" name="S21_LAYERS_R0C1">
            <a:extLst xmlns:a="http://schemas.openxmlformats.org/drawingml/2006/main">
              <a:ext uri="{FF2B5EF4-FFF2-40B4-BE49-F238E27FC236}">
                <a16:creationId xmlns:a16="http://schemas.microsoft.com/office/drawing/2014/main" id="{BCDB5597-358A-4C76-BC2F-22506E23FFC5}"/>
              </a:ext>
            </a:extLst>
          </p:cNvPr>
          <p:cNvSpPr>
            <a:spLocks xmlns:a="http://schemas.openxmlformats.org/drawingml/2006/main" noGrp="1"/>
          </p:cNvSpPr>
          <p:nvPr/>
        </p:nvSpPr>
        <p:spPr>
          <a:xfrm xmlns:a="http://schemas.openxmlformats.org/drawingml/2006/main">
            <a:off x="2057400" y="3649980"/>
            <a:ext cx="2857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ràng buộc intent/session</a:t>
            </a:r>
          </a:p>
        </p:txBody>
      </p:sp>
      <p:sp>
        <p:nvSpPr>
          <p:cNvPr id="29" name="S21_LAYERS_R0C2">
            <a:extLst xmlns:a="http://schemas.openxmlformats.org/drawingml/2006/main">
              <a:ext uri="{FF2B5EF4-FFF2-40B4-BE49-F238E27FC236}">
                <a16:creationId xmlns:a16="http://schemas.microsoft.com/office/drawing/2014/main" id="{937F81CD-B95E-46A3-9185-58EC9FB8A9EF}"/>
              </a:ext>
            </a:extLst>
          </p:cNvPr>
          <p:cNvSpPr>
            <a:spLocks xmlns:a="http://schemas.openxmlformats.org/drawingml/2006/main" noGrp="1"/>
          </p:cNvSpPr>
          <p:nvPr/>
        </p:nvSpPr>
        <p:spPr>
          <a:xfrm xmlns:a="http://schemas.openxmlformats.org/drawingml/2006/main">
            <a:off x="4914900" y="3649980"/>
            <a:ext cx="2571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authn</a:t>
            </a:r>
          </a:p>
        </p:txBody>
      </p:sp>
      <p:sp>
        <p:nvSpPr>
          <p:cNvPr id="30" name="S21_LAYERS_R1C0">
            <a:extLst xmlns:a="http://schemas.openxmlformats.org/drawingml/2006/main">
              <a:ext uri="{FF2B5EF4-FFF2-40B4-BE49-F238E27FC236}">
                <a16:creationId xmlns:a16="http://schemas.microsoft.com/office/drawing/2014/main" id="{9EF18921-D645-4D71-A76D-BBB9DC29A721}"/>
              </a:ext>
            </a:extLst>
          </p:cNvPr>
          <p:cNvSpPr>
            <a:spLocks xmlns:a="http://schemas.openxmlformats.org/drawingml/2006/main" noGrp="1"/>
          </p:cNvSpPr>
          <p:nvPr/>
        </p:nvSpPr>
        <p:spPr>
          <a:xfrm xmlns:a="http://schemas.openxmlformats.org/drawingml/2006/main">
            <a:off x="533400" y="419481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Origin/Referer</a:t>
            </a:r>
          </a:p>
        </p:txBody>
      </p:sp>
      <p:sp>
        <p:nvSpPr>
          <p:cNvPr id="31" name="S21_LAYERS_R1C1">
            <a:extLst xmlns:a="http://schemas.openxmlformats.org/drawingml/2006/main">
              <a:ext uri="{FF2B5EF4-FFF2-40B4-BE49-F238E27FC236}">
                <a16:creationId xmlns:a16="http://schemas.microsoft.com/office/drawing/2014/main" id="{D06D39DA-4AC3-4D87-A9F1-43550A41DED9}"/>
              </a:ext>
            </a:extLst>
          </p:cNvPr>
          <p:cNvSpPr>
            <a:spLocks xmlns:a="http://schemas.openxmlformats.org/drawingml/2006/main" noGrp="1"/>
          </p:cNvSpPr>
          <p:nvPr/>
        </p:nvSpPr>
        <p:spPr>
          <a:xfrm xmlns:a="http://schemas.openxmlformats.org/drawingml/2006/main">
            <a:off x="2057400" y="4194810"/>
            <a:ext cx="2857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xác minh nguồn</a:t>
            </a:r>
          </a:p>
        </p:txBody>
      </p:sp>
      <p:sp>
        <p:nvSpPr>
          <p:cNvPr id="32" name="S21_LAYERS_R1C2">
            <a:extLst xmlns:a="http://schemas.openxmlformats.org/drawingml/2006/main">
              <a:ext uri="{FF2B5EF4-FFF2-40B4-BE49-F238E27FC236}">
                <a16:creationId xmlns:a16="http://schemas.microsoft.com/office/drawing/2014/main" id="{59B5E470-1B59-4864-801B-C010ECDE9450}"/>
              </a:ext>
            </a:extLst>
          </p:cNvPr>
          <p:cNvSpPr>
            <a:spLocks xmlns:a="http://schemas.openxmlformats.org/drawingml/2006/main" noGrp="1"/>
          </p:cNvSpPr>
          <p:nvPr/>
        </p:nvSpPr>
        <p:spPr>
          <a:xfrm xmlns:a="http://schemas.openxmlformats.org/drawingml/2006/main">
            <a:off x="4914900" y="4194810"/>
            <a:ext cx="2571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token</a:t>
            </a:r>
          </a:p>
        </p:txBody>
      </p:sp>
      <p:sp>
        <p:nvSpPr>
          <p:cNvPr id="33" name="S21_LAYERS_R2C0">
            <a:extLst xmlns:a="http://schemas.openxmlformats.org/drawingml/2006/main">
              <a:ext uri="{FF2B5EF4-FFF2-40B4-BE49-F238E27FC236}">
                <a16:creationId xmlns:a16="http://schemas.microsoft.com/office/drawing/2014/main" id="{CAA544C7-3206-4C60-90D1-02DF0307BFE0}"/>
              </a:ext>
            </a:extLst>
          </p:cNvPr>
          <p:cNvSpPr>
            <a:spLocks xmlns:a="http://schemas.openxmlformats.org/drawingml/2006/main" noGrp="1"/>
          </p:cNvSpPr>
          <p:nvPr/>
        </p:nvSpPr>
        <p:spPr>
          <a:xfrm xmlns:a="http://schemas.openxmlformats.org/drawingml/2006/main">
            <a:off x="533400" y="473964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SameSite</a:t>
            </a:r>
          </a:p>
        </p:txBody>
      </p:sp>
      <p:sp>
        <p:nvSpPr>
          <p:cNvPr id="34" name="S21_LAYERS_R2C1">
            <a:extLst xmlns:a="http://schemas.openxmlformats.org/drawingml/2006/main">
              <a:ext uri="{FF2B5EF4-FFF2-40B4-BE49-F238E27FC236}">
                <a16:creationId xmlns:a16="http://schemas.microsoft.com/office/drawing/2014/main" id="{EC96B45C-0B80-4933-B204-727F041AFFB6}"/>
              </a:ext>
            </a:extLst>
          </p:cNvPr>
          <p:cNvSpPr>
            <a:spLocks xmlns:a="http://schemas.openxmlformats.org/drawingml/2006/main" noGrp="1"/>
          </p:cNvSpPr>
          <p:nvPr/>
        </p:nvSpPr>
        <p:spPr>
          <a:xfrm xmlns:a="http://schemas.openxmlformats.org/drawingml/2006/main">
            <a:off x="2057400" y="4739640"/>
            <a:ext cx="2857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giảm cookie cross-site</a:t>
            </a:r>
          </a:p>
        </p:txBody>
      </p:sp>
      <p:sp>
        <p:nvSpPr>
          <p:cNvPr id="35" name="S21_LAYERS_R2C2">
            <a:extLst xmlns:a="http://schemas.openxmlformats.org/drawingml/2006/main">
              <a:ext uri="{FF2B5EF4-FFF2-40B4-BE49-F238E27FC236}">
                <a16:creationId xmlns:a16="http://schemas.microsoft.com/office/drawing/2014/main" id="{2D29091C-5CBA-459C-A776-1C6C704C9A92}"/>
              </a:ext>
            </a:extLst>
          </p:cNvPr>
          <p:cNvSpPr>
            <a:spLocks xmlns:a="http://schemas.openxmlformats.org/drawingml/2006/main" noGrp="1"/>
          </p:cNvSpPr>
          <p:nvPr/>
        </p:nvSpPr>
        <p:spPr>
          <a:xfrm xmlns:a="http://schemas.openxmlformats.org/drawingml/2006/main">
            <a:off x="4914900" y="4739640"/>
            <a:ext cx="2571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server check</a:t>
            </a:r>
          </a:p>
        </p:txBody>
      </p:sp>
      <p:sp>
        <p:nvSpPr>
          <p:cNvPr id="36" name="S21_LAYERS_R3C0">
            <a:extLst xmlns:a="http://schemas.openxmlformats.org/drawingml/2006/main">
              <a:ext uri="{FF2B5EF4-FFF2-40B4-BE49-F238E27FC236}">
                <a16:creationId xmlns:a16="http://schemas.microsoft.com/office/drawing/2014/main" id="{1771B019-BA0D-4EF6-B765-45D77B50D683}"/>
              </a:ext>
            </a:extLst>
          </p:cNvPr>
          <p:cNvSpPr>
            <a:spLocks xmlns:a="http://schemas.openxmlformats.org/drawingml/2006/main" noGrp="1"/>
          </p:cNvSpPr>
          <p:nvPr/>
        </p:nvSpPr>
        <p:spPr>
          <a:xfrm xmlns:a="http://schemas.openxmlformats.org/drawingml/2006/main">
            <a:off x="533400" y="528447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Re-auth</a:t>
            </a:r>
          </a:p>
        </p:txBody>
      </p:sp>
      <p:sp>
        <p:nvSpPr>
          <p:cNvPr id="37" name="S21_LAYERS_R3C1">
            <a:extLst xmlns:a="http://schemas.openxmlformats.org/drawingml/2006/main">
              <a:ext uri="{FF2B5EF4-FFF2-40B4-BE49-F238E27FC236}">
                <a16:creationId xmlns:a16="http://schemas.microsoft.com/office/drawing/2014/main" id="{CF4270BB-8A9E-41A7-9BF4-C6E8927EFD46}"/>
              </a:ext>
            </a:extLst>
          </p:cNvPr>
          <p:cNvSpPr>
            <a:spLocks xmlns:a="http://schemas.openxmlformats.org/drawingml/2006/main" noGrp="1"/>
          </p:cNvSpPr>
          <p:nvPr/>
        </p:nvSpPr>
        <p:spPr>
          <a:xfrm xmlns:a="http://schemas.openxmlformats.org/drawingml/2006/main">
            <a:off x="2057400" y="5284470"/>
            <a:ext cx="2857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step-up hành động nhạy cảm</a:t>
            </a:r>
          </a:p>
        </p:txBody>
      </p:sp>
      <p:sp>
        <p:nvSpPr>
          <p:cNvPr id="38" name="S21_LAYERS_R3C2">
            <a:extLst xmlns:a="http://schemas.openxmlformats.org/drawingml/2006/main">
              <a:ext uri="{FF2B5EF4-FFF2-40B4-BE49-F238E27FC236}">
                <a16:creationId xmlns:a16="http://schemas.microsoft.com/office/drawing/2014/main" id="{E7E99648-F59B-485E-8DBE-9839692772A7}"/>
              </a:ext>
            </a:extLst>
          </p:cNvPr>
          <p:cNvSpPr>
            <a:spLocks xmlns:a="http://schemas.openxmlformats.org/drawingml/2006/main" noGrp="1"/>
          </p:cNvSpPr>
          <p:nvPr/>
        </p:nvSpPr>
        <p:spPr>
          <a:xfrm xmlns:a="http://schemas.openxmlformats.org/drawingml/2006/main">
            <a:off x="4914900" y="5284470"/>
            <a:ext cx="2571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mọi request</a:t>
            </a:r>
          </a:p>
        </p:txBody>
      </p:sp>
      <p:sp>
        <p:nvSpPr>
          <p:cNvPr id="39" name="S21_NOTE_BAR">
            <a:extLst xmlns:a="http://schemas.openxmlformats.org/drawingml/2006/main">
              <a:ext uri="{FF2B5EF4-FFF2-40B4-BE49-F238E27FC236}">
                <a16:creationId xmlns:a16="http://schemas.microsoft.com/office/drawing/2014/main" id="{4CA3DB0B-6B8E-4867-8A35-D557BEA8B5A2}"/>
              </a:ext>
            </a:extLst>
          </p:cNvPr>
          <p:cNvSpPr>
            <a:spLocks xmlns:a="http://schemas.openxmlformats.org/drawingml/2006/main" noGrp="1"/>
          </p:cNvSpPr>
          <p:nvPr/>
        </p:nvSpPr>
        <p:spPr>
          <a:xfrm xmlns:a="http://schemas.openxmlformats.org/drawingml/2006/main">
            <a:off x="7829550" y="4476750"/>
            <a:ext cx="76200" cy="0"/>
          </a:xfrm>
          <a:prstGeom xmlns:a="http://schemas.openxmlformats.org/drawingml/2006/main" prst="rect">
            <a:avLst/>
          </a:prstGeom>
          <a:ln xmlns:a="http://schemas.openxmlformats.org/drawingml/2006/main" w="0">
            <a:noFill/>
            <a:prstDash val="solid"/>
          </a:ln>
        </p:spPr>
      </p:sp>
      <p:sp>
        <p:nvSpPr>
          <p:cNvPr id="40" name="S21_NOTE_LABEL">
            <a:extLst xmlns:a="http://schemas.openxmlformats.org/drawingml/2006/main">
              <a:ext uri="{FF2B5EF4-FFF2-40B4-BE49-F238E27FC236}">
                <a16:creationId xmlns:a16="http://schemas.microsoft.com/office/drawing/2014/main" id="{AA2E8D8B-83E3-43AE-A679-F9DB2F3B18E7}"/>
              </a:ext>
            </a:extLst>
          </p:cNvPr>
          <p:cNvSpPr>
            <a:spLocks xmlns:a="http://schemas.openxmlformats.org/drawingml/2006/main" noGrp="1"/>
          </p:cNvSpPr>
          <p:nvPr/>
        </p:nvSpPr>
        <p:spPr>
          <a:xfrm xmlns:a="http://schemas.openxmlformats.org/drawingml/2006/main">
            <a:off x="8001000" y="44958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ROTATE + DENY</a:t>
            </a:r>
          </a:p>
        </p:txBody>
      </p:sp>
      <p:sp>
        <p:nvSpPr>
          <p:cNvPr id="41" name="S21_NOTE_BODY">
            <a:extLst xmlns:a="http://schemas.openxmlformats.org/drawingml/2006/main">
              <a:ext uri="{FF2B5EF4-FFF2-40B4-BE49-F238E27FC236}">
                <a16:creationId xmlns:a16="http://schemas.microsoft.com/office/drawing/2014/main" id="{C5BBD173-1A6A-4D44-A8A0-5F7889F9B38F}"/>
              </a:ext>
            </a:extLst>
          </p:cNvPr>
          <p:cNvSpPr>
            <a:spLocks xmlns:a="http://schemas.openxmlformats.org/drawingml/2006/main" noGrp="1"/>
          </p:cNvSpPr>
          <p:nvPr/>
        </p:nvSpPr>
        <p:spPr>
          <a:xfrm xmlns:a="http://schemas.openxmlformats.org/drawingml/2006/main">
            <a:off x="8001000" y="4800600"/>
            <a:ext cx="3638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Token sai/thiếu hoặc origin không hợp lệ → 403; không cập nhật email.</a:t>
            </a:r>
          </a:p>
        </p:txBody>
      </p:sp>
    </p:spTree>
    <p:extLst>
      <p:ext uri="{BB962C8B-B14F-4D97-AF65-F5344CB8AC3E}">
        <p14:creationId xmlns:p14="http://schemas.microsoft.com/office/powerpoint/2010/main" val="77264660"/>
      </p:ext>
    </p:extLst>
  </p:cSld>
</p:sld>
</file>

<file path=ppt/slides/slide2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7" name="S22_EYEBROW">
            <a:extLst xmlns:a="http://schemas.openxmlformats.org/drawingml/2006/main">
              <a:ext uri="{FF2B5EF4-FFF2-40B4-BE49-F238E27FC236}">
                <a16:creationId xmlns:a16="http://schemas.microsoft.com/office/drawing/2014/main" id="{E36F6EF0-9B08-4B07-8913-BD467DF1D9D0}"/>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22_TITLE">
            <a:extLst xmlns:a="http://schemas.openxmlformats.org/drawingml/2006/main">
              <a:ext uri="{FF2B5EF4-FFF2-40B4-BE49-F238E27FC236}">
                <a16:creationId xmlns:a16="http://schemas.microsoft.com/office/drawing/2014/main" id="{755E9F73-5D5A-4205-BDB7-ACCA7E176A3C}"/>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So sánh request và trả lời báo cáo</a:t>
            </a:r>
          </a:p>
        </p:txBody>
      </p:sp>
      <p:sp>
        <p:nvSpPr>
          <p:cNvPr id="3" name="S22_SUBTITLE">
            <a:extLst xmlns:a="http://schemas.openxmlformats.org/drawingml/2006/main">
              <a:ext uri="{FF2B5EF4-FFF2-40B4-BE49-F238E27FC236}">
                <a16:creationId xmlns:a16="http://schemas.microsoft.com/office/drawing/2014/main" id="{17770918-0FEA-43DA-BAB3-9842DAFA71DC}"/>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Chỉ secure request có đồng thời session, token đúng và origin hợp lệ.</a:t>
            </a:r>
          </a:p>
        </p:txBody>
      </p:sp>
      <p:sp>
        <p:nvSpPr>
          <p:cNvPr id="4" name="S22_TITLE_RULE">
            <a:extLst xmlns:a="http://schemas.openxmlformats.org/drawingml/2006/main">
              <a:ext uri="{FF2B5EF4-FFF2-40B4-BE49-F238E27FC236}">
                <a16:creationId xmlns:a16="http://schemas.microsoft.com/office/drawing/2014/main" id="{73E16518-F0EF-4F3C-ABEF-D294EA961440}"/>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2_FOOTER_RULE">
            <a:extLst xmlns:a="http://schemas.openxmlformats.org/drawingml/2006/main">
              <a:ext uri="{FF2B5EF4-FFF2-40B4-BE49-F238E27FC236}">
                <a16:creationId xmlns:a16="http://schemas.microsoft.com/office/drawing/2014/main" id="{D7E3B942-F4D0-4802-87D3-4F7A4EFB1B16}"/>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2_SOURCE">
            <a:extLst xmlns:a="http://schemas.openxmlformats.org/drawingml/2006/main">
              <a:ext uri="{FF2B5EF4-FFF2-40B4-BE49-F238E27FC236}">
                <a16:creationId xmlns:a16="http://schemas.microsoft.com/office/drawing/2014/main" id="{1135B21B-1ADC-436F-8A41-F3AC7C1786B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Lab04 · report Lab04</a:t>
            </a:r>
          </a:p>
        </p:txBody>
      </p:sp>
      <p:sp>
        <p:nvSpPr>
          <p:cNvPr id="7" name="S22_NUMBER">
            <a:extLst xmlns:a="http://schemas.openxmlformats.org/drawingml/2006/main">
              <a:ext uri="{FF2B5EF4-FFF2-40B4-BE49-F238E27FC236}">
                <a16:creationId xmlns:a16="http://schemas.microsoft.com/office/drawing/2014/main" id="{B1159577-136D-4AB0-BA14-91A94408078A}"/>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22</a:t>
            </a:r>
          </a:p>
        </p:txBody>
      </p:sp>
      <p:sp>
        <p:nvSpPr>
          <p:cNvPr id="8" name="S22_MATRIX_H0">
            <a:extLst xmlns:a="http://schemas.openxmlformats.org/drawingml/2006/main">
              <a:ext uri="{FF2B5EF4-FFF2-40B4-BE49-F238E27FC236}">
                <a16:creationId xmlns:a16="http://schemas.microsoft.com/office/drawing/2014/main" id="{D8A8F073-DEDD-4463-889E-C7FB63FC703B}"/>
              </a:ext>
            </a:extLst>
          </p:cNvPr>
          <p:cNvSpPr>
            <a:spLocks xmlns:a="http://schemas.openxmlformats.org/drawingml/2006/main" noGrp="1"/>
          </p:cNvSpPr>
          <p:nvPr/>
        </p:nvSpPr>
        <p:spPr>
          <a:xfrm xmlns:a="http://schemas.openxmlformats.org/drawingml/2006/main">
            <a:off x="533400" y="1695450"/>
            <a:ext cx="18097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REQUEST</a:t>
            </a:r>
          </a:p>
        </p:txBody>
      </p:sp>
      <p:sp>
        <p:nvSpPr>
          <p:cNvPr id="9" name="S22_MATRIX_H1">
            <a:extLst xmlns:a="http://schemas.openxmlformats.org/drawingml/2006/main">
              <a:ext uri="{FF2B5EF4-FFF2-40B4-BE49-F238E27FC236}">
                <a16:creationId xmlns:a16="http://schemas.microsoft.com/office/drawing/2014/main" id="{AF886269-3A3B-4379-845B-F3C5D1356F33}"/>
              </a:ext>
            </a:extLst>
          </p:cNvPr>
          <p:cNvSpPr>
            <a:spLocks xmlns:a="http://schemas.openxmlformats.org/drawingml/2006/main" noGrp="1"/>
          </p:cNvSpPr>
          <p:nvPr/>
        </p:nvSpPr>
        <p:spPr>
          <a:xfrm xmlns:a="http://schemas.openxmlformats.org/drawingml/2006/main">
            <a:off x="2343150" y="1695450"/>
            <a:ext cx="952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COOKIE</a:t>
            </a:r>
          </a:p>
        </p:txBody>
      </p:sp>
      <p:sp>
        <p:nvSpPr>
          <p:cNvPr id="10" name="S22_MATRIX_H2">
            <a:extLst xmlns:a="http://schemas.openxmlformats.org/drawingml/2006/main">
              <a:ext uri="{FF2B5EF4-FFF2-40B4-BE49-F238E27FC236}">
                <a16:creationId xmlns:a16="http://schemas.microsoft.com/office/drawing/2014/main" id="{0ECAF67B-0760-4A50-A0F6-96DCD639F57B}"/>
              </a:ext>
            </a:extLst>
          </p:cNvPr>
          <p:cNvSpPr>
            <a:spLocks xmlns:a="http://schemas.openxmlformats.org/drawingml/2006/main" noGrp="1"/>
          </p:cNvSpPr>
          <p:nvPr/>
        </p:nvSpPr>
        <p:spPr>
          <a:xfrm xmlns:a="http://schemas.openxmlformats.org/drawingml/2006/main">
            <a:off x="3295650" y="1695450"/>
            <a:ext cx="952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TOKEN</a:t>
            </a:r>
          </a:p>
        </p:txBody>
      </p:sp>
      <p:sp>
        <p:nvSpPr>
          <p:cNvPr id="11" name="S22_MATRIX_H3">
            <a:extLst xmlns:a="http://schemas.openxmlformats.org/drawingml/2006/main">
              <a:ext uri="{FF2B5EF4-FFF2-40B4-BE49-F238E27FC236}">
                <a16:creationId xmlns:a16="http://schemas.microsoft.com/office/drawing/2014/main" id="{5B1473A1-81C3-40B0-8F44-37C19155C9EF}"/>
              </a:ext>
            </a:extLst>
          </p:cNvPr>
          <p:cNvSpPr>
            <a:spLocks xmlns:a="http://schemas.openxmlformats.org/drawingml/2006/main" noGrp="1"/>
          </p:cNvSpPr>
          <p:nvPr/>
        </p:nvSpPr>
        <p:spPr>
          <a:xfrm xmlns:a="http://schemas.openxmlformats.org/drawingml/2006/main">
            <a:off x="4248150" y="1695450"/>
            <a:ext cx="1333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ORIGIN</a:t>
            </a:r>
          </a:p>
        </p:txBody>
      </p:sp>
      <p:sp>
        <p:nvSpPr>
          <p:cNvPr id="12" name="S22_MATRIX_H4">
            <a:extLst xmlns:a="http://schemas.openxmlformats.org/drawingml/2006/main">
              <a:ext uri="{FF2B5EF4-FFF2-40B4-BE49-F238E27FC236}">
                <a16:creationId xmlns:a16="http://schemas.microsoft.com/office/drawing/2014/main" id="{EA35239B-1F6D-475A-9FA3-408248D17E08}"/>
              </a:ext>
            </a:extLst>
          </p:cNvPr>
          <p:cNvSpPr>
            <a:spLocks xmlns:a="http://schemas.openxmlformats.org/drawingml/2006/main" noGrp="1"/>
          </p:cNvSpPr>
          <p:nvPr/>
        </p:nvSpPr>
        <p:spPr>
          <a:xfrm xmlns:a="http://schemas.openxmlformats.org/drawingml/2006/main">
            <a:off x="5581650" y="1695450"/>
            <a:ext cx="14287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RESULT</a:t>
            </a:r>
          </a:p>
        </p:txBody>
      </p:sp>
      <p:sp>
        <p:nvSpPr>
          <p:cNvPr id="13" name="S22_MATRIX_R0C0">
            <a:extLst xmlns:a="http://schemas.openxmlformats.org/drawingml/2006/main">
              <a:ext uri="{FF2B5EF4-FFF2-40B4-BE49-F238E27FC236}">
                <a16:creationId xmlns:a16="http://schemas.microsoft.com/office/drawing/2014/main" id="{D03E2C96-2650-4A4F-ADE8-C5D0D0DBCF57}"/>
              </a:ext>
            </a:extLst>
          </p:cNvPr>
          <p:cNvSpPr>
            <a:spLocks xmlns:a="http://schemas.openxmlformats.org/drawingml/2006/main" noGrp="1"/>
          </p:cNvSpPr>
          <p:nvPr/>
        </p:nvSpPr>
        <p:spPr>
          <a:xfrm xmlns:a="http://schemas.openxmlformats.org/drawingml/2006/main">
            <a:off x="533400" y="2262188"/>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Victim form</a:t>
            </a:r>
          </a:p>
        </p:txBody>
      </p:sp>
      <p:sp>
        <p:nvSpPr>
          <p:cNvPr id="14" name="S22_MATRIX_R0C1">
            <a:extLst xmlns:a="http://schemas.openxmlformats.org/drawingml/2006/main">
              <a:ext uri="{FF2B5EF4-FFF2-40B4-BE49-F238E27FC236}">
                <a16:creationId xmlns:a16="http://schemas.microsoft.com/office/drawing/2014/main" id="{09C10607-B7FE-450C-BB70-482445D4F9FA}"/>
              </a:ext>
            </a:extLst>
          </p:cNvPr>
          <p:cNvSpPr>
            <a:spLocks xmlns:a="http://schemas.openxmlformats.org/drawingml/2006/main" noGrp="1"/>
          </p:cNvSpPr>
          <p:nvPr/>
        </p:nvSpPr>
        <p:spPr>
          <a:xfrm xmlns:a="http://schemas.openxmlformats.org/drawingml/2006/main">
            <a:off x="2343150" y="2262188"/>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15" name="S22_MATRIX_R0C2">
            <a:extLst xmlns:a="http://schemas.openxmlformats.org/drawingml/2006/main">
              <a:ext uri="{FF2B5EF4-FFF2-40B4-BE49-F238E27FC236}">
                <a16:creationId xmlns:a16="http://schemas.microsoft.com/office/drawing/2014/main" id="{01FDC0C2-1BB9-4947-B4D4-3D710BB29A0A}"/>
              </a:ext>
            </a:extLst>
          </p:cNvPr>
          <p:cNvSpPr>
            <a:spLocks xmlns:a="http://schemas.openxmlformats.org/drawingml/2006/main" noGrp="1"/>
          </p:cNvSpPr>
          <p:nvPr/>
        </p:nvSpPr>
        <p:spPr>
          <a:xfrm xmlns:a="http://schemas.openxmlformats.org/drawingml/2006/main">
            <a:off x="3295650" y="2262188"/>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đúng</a:t>
            </a:r>
          </a:p>
        </p:txBody>
      </p:sp>
      <p:sp>
        <p:nvSpPr>
          <p:cNvPr id="16" name="S22_MATRIX_R0C3">
            <a:extLst xmlns:a="http://schemas.openxmlformats.org/drawingml/2006/main">
              <a:ext uri="{FF2B5EF4-FFF2-40B4-BE49-F238E27FC236}">
                <a16:creationId xmlns:a16="http://schemas.microsoft.com/office/drawing/2014/main" id="{3AD72B8F-1715-43FF-A6E7-F33DA9905058}"/>
              </a:ext>
            </a:extLst>
          </p:cNvPr>
          <p:cNvSpPr>
            <a:spLocks xmlns:a="http://schemas.openxmlformats.org/drawingml/2006/main" noGrp="1"/>
          </p:cNvSpPr>
          <p:nvPr/>
        </p:nvSpPr>
        <p:spPr>
          <a:xfrm xmlns:a="http://schemas.openxmlformats.org/drawingml/2006/main">
            <a:off x="4248150" y="2262188"/>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allowed</a:t>
            </a:r>
          </a:p>
        </p:txBody>
      </p:sp>
      <p:sp>
        <p:nvSpPr>
          <p:cNvPr id="17" name="S22_MATRIX_R0C4">
            <a:extLst xmlns:a="http://schemas.openxmlformats.org/drawingml/2006/main">
              <a:ext uri="{FF2B5EF4-FFF2-40B4-BE49-F238E27FC236}">
                <a16:creationId xmlns:a16="http://schemas.microsoft.com/office/drawing/2014/main" id="{9EEF0274-2183-43D3-9CB5-426A4E885BD5}"/>
              </a:ext>
            </a:extLst>
          </p:cNvPr>
          <p:cNvSpPr>
            <a:spLocks xmlns:a="http://schemas.openxmlformats.org/drawingml/2006/main" noGrp="1"/>
          </p:cNvSpPr>
          <p:nvPr/>
        </p:nvSpPr>
        <p:spPr>
          <a:xfrm xmlns:a="http://schemas.openxmlformats.org/drawingml/2006/main">
            <a:off x="5581650" y="2262188"/>
            <a:ext cx="1428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200</a:t>
            </a:r>
          </a:p>
        </p:txBody>
      </p:sp>
      <p:sp>
        <p:nvSpPr>
          <p:cNvPr id="18" name="S22_MATRIX_R1C0">
            <a:extLst xmlns:a="http://schemas.openxmlformats.org/drawingml/2006/main">
              <a:ext uri="{FF2B5EF4-FFF2-40B4-BE49-F238E27FC236}">
                <a16:creationId xmlns:a16="http://schemas.microsoft.com/office/drawing/2014/main" id="{4E5F26C6-7A1C-4395-A43E-88C9153F2351}"/>
              </a:ext>
            </a:extLst>
          </p:cNvPr>
          <p:cNvSpPr>
            <a:spLocks xmlns:a="http://schemas.openxmlformats.org/drawingml/2006/main" noGrp="1"/>
          </p:cNvSpPr>
          <p:nvPr/>
        </p:nvSpPr>
        <p:spPr>
          <a:xfrm xmlns:a="http://schemas.openxmlformats.org/drawingml/2006/main">
            <a:off x="533400" y="2828925"/>
            <a:ext cx="18097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Attacker → vulnerable</a:t>
            </a:r>
          </a:p>
        </p:txBody>
      </p:sp>
      <p:sp>
        <p:nvSpPr>
          <p:cNvPr id="19" name="S22_MATRIX_R1C1">
            <a:extLst xmlns:a="http://schemas.openxmlformats.org/drawingml/2006/main">
              <a:ext uri="{FF2B5EF4-FFF2-40B4-BE49-F238E27FC236}">
                <a16:creationId xmlns:a16="http://schemas.microsoft.com/office/drawing/2014/main" id="{22924D9F-BC03-4C8F-B145-AC5C8935FB2F}"/>
              </a:ext>
            </a:extLst>
          </p:cNvPr>
          <p:cNvSpPr>
            <a:spLocks xmlns:a="http://schemas.openxmlformats.org/drawingml/2006/main" noGrp="1"/>
          </p:cNvSpPr>
          <p:nvPr/>
        </p:nvSpPr>
        <p:spPr>
          <a:xfrm xmlns:a="http://schemas.openxmlformats.org/drawingml/2006/main">
            <a:off x="2343150" y="2828925"/>
            <a:ext cx="952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20" name="S22_MATRIX_R1C2">
            <a:extLst xmlns:a="http://schemas.openxmlformats.org/drawingml/2006/main">
              <a:ext uri="{FF2B5EF4-FFF2-40B4-BE49-F238E27FC236}">
                <a16:creationId xmlns:a16="http://schemas.microsoft.com/office/drawing/2014/main" id="{BBE2CFA3-B7C1-41D1-ADC0-00C5D2591D5B}"/>
              </a:ext>
            </a:extLst>
          </p:cNvPr>
          <p:cNvSpPr>
            <a:spLocks xmlns:a="http://schemas.openxmlformats.org/drawingml/2006/main" noGrp="1"/>
          </p:cNvSpPr>
          <p:nvPr/>
        </p:nvSpPr>
        <p:spPr>
          <a:xfrm xmlns:a="http://schemas.openxmlformats.org/drawingml/2006/main">
            <a:off x="3295650" y="2828925"/>
            <a:ext cx="952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thiếu</a:t>
            </a:r>
          </a:p>
        </p:txBody>
      </p:sp>
      <p:sp>
        <p:nvSpPr>
          <p:cNvPr id="21" name="S22_MATRIX_R1C3">
            <a:extLst xmlns:a="http://schemas.openxmlformats.org/drawingml/2006/main">
              <a:ext uri="{FF2B5EF4-FFF2-40B4-BE49-F238E27FC236}">
                <a16:creationId xmlns:a16="http://schemas.microsoft.com/office/drawing/2014/main" id="{F3FE52D3-D746-4D4B-9DA1-56AAA588E144}"/>
              </a:ext>
            </a:extLst>
          </p:cNvPr>
          <p:cNvSpPr>
            <a:spLocks xmlns:a="http://schemas.openxmlformats.org/drawingml/2006/main" noGrp="1"/>
          </p:cNvSpPr>
          <p:nvPr/>
        </p:nvSpPr>
        <p:spPr>
          <a:xfrm xmlns:a="http://schemas.openxmlformats.org/drawingml/2006/main">
            <a:off x="4248150" y="2828925"/>
            <a:ext cx="1333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a:t>
            </a:r>
          </a:p>
        </p:txBody>
      </p:sp>
      <p:sp>
        <p:nvSpPr>
          <p:cNvPr id="22" name="S22_MATRIX_R1C4">
            <a:extLst xmlns:a="http://schemas.openxmlformats.org/drawingml/2006/main">
              <a:ext uri="{FF2B5EF4-FFF2-40B4-BE49-F238E27FC236}">
                <a16:creationId xmlns:a16="http://schemas.microsoft.com/office/drawing/2014/main" id="{AB84DD53-CD7B-449D-82D8-AA58B66B82EB}"/>
              </a:ext>
            </a:extLst>
          </p:cNvPr>
          <p:cNvSpPr>
            <a:spLocks xmlns:a="http://schemas.openxmlformats.org/drawingml/2006/main" noGrp="1"/>
          </p:cNvSpPr>
          <p:nvPr/>
        </p:nvSpPr>
        <p:spPr>
          <a:xfrm xmlns:a="http://schemas.openxmlformats.org/drawingml/2006/main">
            <a:off x="5581650" y="2828925"/>
            <a:ext cx="14287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email đổi</a:t>
            </a:r>
          </a:p>
        </p:txBody>
      </p:sp>
      <p:sp>
        <p:nvSpPr>
          <p:cNvPr id="23" name="S22_MATRIX_R2C0">
            <a:extLst xmlns:a="http://schemas.openxmlformats.org/drawingml/2006/main">
              <a:ext uri="{FF2B5EF4-FFF2-40B4-BE49-F238E27FC236}">
                <a16:creationId xmlns:a16="http://schemas.microsoft.com/office/drawing/2014/main" id="{0BB702A3-DCE4-4E8A-BBFE-28EB838C9BC7}"/>
              </a:ext>
            </a:extLst>
          </p:cNvPr>
          <p:cNvSpPr>
            <a:spLocks xmlns:a="http://schemas.openxmlformats.org/drawingml/2006/main" noGrp="1"/>
          </p:cNvSpPr>
          <p:nvPr/>
        </p:nvSpPr>
        <p:spPr>
          <a:xfrm xmlns:a="http://schemas.openxmlformats.org/drawingml/2006/main">
            <a:off x="533400" y="3395663"/>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Attacker → secure</a:t>
            </a:r>
          </a:p>
        </p:txBody>
      </p:sp>
      <p:sp>
        <p:nvSpPr>
          <p:cNvPr id="24" name="S22_MATRIX_R2C1">
            <a:extLst xmlns:a="http://schemas.openxmlformats.org/drawingml/2006/main">
              <a:ext uri="{FF2B5EF4-FFF2-40B4-BE49-F238E27FC236}">
                <a16:creationId xmlns:a16="http://schemas.microsoft.com/office/drawing/2014/main" id="{645D6F38-49DB-436B-9605-0F809BB08601}"/>
              </a:ext>
            </a:extLst>
          </p:cNvPr>
          <p:cNvSpPr>
            <a:spLocks xmlns:a="http://schemas.openxmlformats.org/drawingml/2006/main" noGrp="1"/>
          </p:cNvSpPr>
          <p:nvPr/>
        </p:nvSpPr>
        <p:spPr>
          <a:xfrm xmlns:a="http://schemas.openxmlformats.org/drawingml/2006/main">
            <a:off x="2343150" y="3395663"/>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25" name="S22_MATRIX_R2C2">
            <a:extLst xmlns:a="http://schemas.openxmlformats.org/drawingml/2006/main">
              <a:ext uri="{FF2B5EF4-FFF2-40B4-BE49-F238E27FC236}">
                <a16:creationId xmlns:a16="http://schemas.microsoft.com/office/drawing/2014/main" id="{DDAE7816-5E8D-4A6B-8464-2C087E7806E1}"/>
              </a:ext>
            </a:extLst>
          </p:cNvPr>
          <p:cNvSpPr>
            <a:spLocks xmlns:a="http://schemas.openxmlformats.org/drawingml/2006/main" noGrp="1"/>
          </p:cNvSpPr>
          <p:nvPr/>
        </p:nvSpPr>
        <p:spPr>
          <a:xfrm xmlns:a="http://schemas.openxmlformats.org/drawingml/2006/main">
            <a:off x="3295650" y="3395663"/>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thiếu</a:t>
            </a:r>
          </a:p>
        </p:txBody>
      </p:sp>
      <p:sp>
        <p:nvSpPr>
          <p:cNvPr id="26" name="S22_MATRIX_R2C3">
            <a:extLst xmlns:a="http://schemas.openxmlformats.org/drawingml/2006/main">
              <a:ext uri="{FF2B5EF4-FFF2-40B4-BE49-F238E27FC236}">
                <a16:creationId xmlns:a16="http://schemas.microsoft.com/office/drawing/2014/main" id="{6A326680-D8CE-4D0C-93E2-56FD751FA970}"/>
              </a:ext>
            </a:extLst>
          </p:cNvPr>
          <p:cNvSpPr>
            <a:spLocks xmlns:a="http://schemas.openxmlformats.org/drawingml/2006/main" noGrp="1"/>
          </p:cNvSpPr>
          <p:nvPr/>
        </p:nvSpPr>
        <p:spPr>
          <a:xfrm xmlns:a="http://schemas.openxmlformats.org/drawingml/2006/main">
            <a:off x="4248150" y="3395663"/>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a:t>
            </a:r>
          </a:p>
        </p:txBody>
      </p:sp>
      <p:sp>
        <p:nvSpPr>
          <p:cNvPr id="27" name="S22_MATRIX_R2C4">
            <a:extLst xmlns:a="http://schemas.openxmlformats.org/drawingml/2006/main">
              <a:ext uri="{FF2B5EF4-FFF2-40B4-BE49-F238E27FC236}">
                <a16:creationId xmlns:a16="http://schemas.microsoft.com/office/drawing/2014/main" id="{59103EB4-2373-4602-AA19-1614DF7C68DE}"/>
              </a:ext>
            </a:extLst>
          </p:cNvPr>
          <p:cNvSpPr>
            <a:spLocks xmlns:a="http://schemas.openxmlformats.org/drawingml/2006/main" noGrp="1"/>
          </p:cNvSpPr>
          <p:nvPr/>
        </p:nvSpPr>
        <p:spPr>
          <a:xfrm xmlns:a="http://schemas.openxmlformats.org/drawingml/2006/main">
            <a:off x="5581650" y="3395663"/>
            <a:ext cx="1428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403</a:t>
            </a:r>
          </a:p>
        </p:txBody>
      </p:sp>
      <p:sp>
        <p:nvSpPr>
          <p:cNvPr id="28" name="S22_QA_1">
            <a:extLst xmlns:a="http://schemas.openxmlformats.org/drawingml/2006/main">
              <a:ext uri="{FF2B5EF4-FFF2-40B4-BE49-F238E27FC236}">
                <a16:creationId xmlns:a16="http://schemas.microsoft.com/office/drawing/2014/main" id="{D694681A-3135-4B74-990F-3429B715E73A}"/>
              </a:ext>
            </a:extLst>
          </p:cNvPr>
          <p:cNvSpPr>
            <a:spLocks xmlns:a="http://schemas.openxmlformats.org/drawingml/2006/main" noGrp="1"/>
          </p:cNvSpPr>
          <p:nvPr/>
        </p:nvSpPr>
        <p:spPr>
          <a:xfrm xmlns:a="http://schemas.openxmlformats.org/drawingml/2006/main">
            <a:off x="7277100" y="16954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Browser tự gửi cookie theo target origin.</a:t>
            </a:r>
          </a:p>
        </p:txBody>
      </p:sp>
      <p:sp>
        <p:nvSpPr>
          <p:cNvPr id="29" name="S22_QA_2">
            <a:extLst xmlns:a="http://schemas.openxmlformats.org/drawingml/2006/main">
              <a:ext uri="{FF2B5EF4-FFF2-40B4-BE49-F238E27FC236}">
                <a16:creationId xmlns:a16="http://schemas.microsoft.com/office/drawing/2014/main" id="{D6906DAD-E801-4124-BA44-681E17B35DF8}"/>
              </a:ext>
            </a:extLst>
          </p:cNvPr>
          <p:cNvSpPr>
            <a:spLocks xmlns:a="http://schemas.openxmlformats.org/drawingml/2006/main" noGrp="1"/>
          </p:cNvSpPr>
          <p:nvPr/>
        </p:nvSpPr>
        <p:spPr>
          <a:xfrm xmlns:a="http://schemas.openxmlformats.org/drawingml/2006/main">
            <a:off x="9544050" y="16954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Attacker không cần biết mật khẩu.</a:t>
            </a:r>
          </a:p>
        </p:txBody>
      </p:sp>
      <p:sp>
        <p:nvSpPr>
          <p:cNvPr id="30" name="S22_QA_3">
            <a:extLst xmlns:a="http://schemas.openxmlformats.org/drawingml/2006/main">
              <a:ext uri="{FF2B5EF4-FFF2-40B4-BE49-F238E27FC236}">
                <a16:creationId xmlns:a16="http://schemas.microsoft.com/office/drawing/2014/main" id="{F368DC73-E141-4339-9607-9E72DE87FC6C}"/>
              </a:ext>
            </a:extLst>
          </p:cNvPr>
          <p:cNvSpPr>
            <a:spLocks xmlns:a="http://schemas.openxmlformats.org/drawingml/2006/main" noGrp="1"/>
          </p:cNvSpPr>
          <p:nvPr/>
        </p:nvSpPr>
        <p:spPr>
          <a:xfrm xmlns:a="http://schemas.openxmlformats.org/drawingml/2006/main">
            <a:off x="7277100" y="313690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CSRF thường không cần đọc response.</a:t>
            </a:r>
          </a:p>
        </p:txBody>
      </p:sp>
      <p:sp>
        <p:nvSpPr>
          <p:cNvPr id="31" name="S22_QA_4">
            <a:extLst xmlns:a="http://schemas.openxmlformats.org/drawingml/2006/main">
              <a:ext uri="{FF2B5EF4-FFF2-40B4-BE49-F238E27FC236}">
                <a16:creationId xmlns:a16="http://schemas.microsoft.com/office/drawing/2014/main" id="{E1EF3006-EBC4-4B00-B2D6-9AFAF7AF1714}"/>
              </a:ext>
            </a:extLst>
          </p:cNvPr>
          <p:cNvSpPr>
            <a:spLocks xmlns:a="http://schemas.openxmlformats.org/drawingml/2006/main" noGrp="1"/>
          </p:cNvSpPr>
          <p:nvPr/>
        </p:nvSpPr>
        <p:spPr>
          <a:xfrm xmlns:a="http://schemas.openxmlformats.org/drawingml/2006/main">
            <a:off x="9544050" y="313690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CSRF gửi request; XSS chạy script trong origin.</a:t>
            </a:r>
          </a:p>
        </p:txBody>
      </p:sp>
      <p:sp>
        <p:nvSpPr>
          <p:cNvPr id="32" name="S22_QA_5">
            <a:extLst xmlns:a="http://schemas.openxmlformats.org/drawingml/2006/main">
              <a:ext uri="{FF2B5EF4-FFF2-40B4-BE49-F238E27FC236}">
                <a16:creationId xmlns:a16="http://schemas.microsoft.com/office/drawing/2014/main" id="{EC7DB4FD-960E-491D-8BDD-517E8BE2525D}"/>
              </a:ext>
            </a:extLst>
          </p:cNvPr>
          <p:cNvSpPr>
            <a:spLocks xmlns:a="http://schemas.openxmlformats.org/drawingml/2006/main" noGrp="1"/>
          </p:cNvSpPr>
          <p:nvPr/>
        </p:nvSpPr>
        <p:spPr>
          <a:xfrm xmlns:a="http://schemas.openxmlformats.org/drawingml/2006/main">
            <a:off x="7277100" y="45783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GET không được làm state change.</a:t>
            </a:r>
          </a:p>
        </p:txBody>
      </p:sp>
      <p:sp>
        <p:nvSpPr>
          <p:cNvPr id="33" name="S22_QA_6">
            <a:extLst xmlns:a="http://schemas.openxmlformats.org/drawingml/2006/main">
              <a:ext uri="{FF2B5EF4-FFF2-40B4-BE49-F238E27FC236}">
                <a16:creationId xmlns:a16="http://schemas.microsoft.com/office/drawing/2014/main" id="{8AD40B78-DE85-4A22-9851-DB53477B26C3}"/>
              </a:ext>
            </a:extLst>
          </p:cNvPr>
          <p:cNvSpPr>
            <a:spLocks xmlns:a="http://schemas.openxmlformats.org/drawingml/2006/main" noGrp="1"/>
          </p:cNvSpPr>
          <p:nvPr/>
        </p:nvSpPr>
        <p:spPr>
          <a:xfrm xmlns:a="http://schemas.openxmlformats.org/drawingml/2006/main">
            <a:off x="9544050" y="45783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Evidence: before email · valid request · attacker form submit thủ công · after email · secure 403 · unchanged email.</a:t>
            </a:r>
          </a:p>
        </p:txBody>
      </p:sp>
      <p:sp>
        <p:nvSpPr>
          <p:cNvPr id="34" name="S22_PATCH_BAR">
            <a:extLst xmlns:a="http://schemas.openxmlformats.org/drawingml/2006/main">
              <a:ext uri="{FF2B5EF4-FFF2-40B4-BE49-F238E27FC236}">
                <a16:creationId xmlns:a16="http://schemas.microsoft.com/office/drawing/2014/main" id="{1A4F331B-9530-4894-AA0B-CD88CA0C17E1}"/>
              </a:ext>
            </a:extLst>
          </p:cNvPr>
          <p:cNvSpPr>
            <a:spLocks xmlns:a="http://schemas.openxmlformats.org/drawingml/2006/main" noGrp="1"/>
          </p:cNvSpPr>
          <p:nvPr/>
        </p:nvSpPr>
        <p:spPr>
          <a:xfrm xmlns:a="http://schemas.openxmlformats.org/drawingml/2006/main">
            <a:off x="533400" y="4343400"/>
            <a:ext cx="76200" cy="0"/>
          </a:xfrm>
          <a:prstGeom xmlns:a="http://schemas.openxmlformats.org/drawingml/2006/main" prst="rect">
            <a:avLst/>
          </a:prstGeom>
          <a:ln xmlns:a="http://schemas.openxmlformats.org/drawingml/2006/main" w="0">
            <a:noFill/>
            <a:prstDash val="solid"/>
          </a:ln>
        </p:spPr>
      </p:sp>
      <p:sp>
        <p:nvSpPr>
          <p:cNvPr id="35" name="S22_PATCH_LABEL">
            <a:extLst xmlns:a="http://schemas.openxmlformats.org/drawingml/2006/main">
              <a:ext uri="{FF2B5EF4-FFF2-40B4-BE49-F238E27FC236}">
                <a16:creationId xmlns:a16="http://schemas.microsoft.com/office/drawing/2014/main" id="{211E10A6-A610-48A2-AC44-EC795A657F6C}"/>
              </a:ext>
            </a:extLst>
          </p:cNvPr>
          <p:cNvSpPr>
            <a:spLocks xmlns:a="http://schemas.openxmlformats.org/drawingml/2006/main" noGrp="1"/>
          </p:cNvSpPr>
          <p:nvPr/>
        </p:nvSpPr>
        <p:spPr>
          <a:xfrm xmlns:a="http://schemas.openxmlformats.org/drawingml/2006/main">
            <a:off x="704850" y="43624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PATCH</a:t>
            </a:r>
          </a:p>
        </p:txBody>
      </p:sp>
      <p:sp>
        <p:nvSpPr>
          <p:cNvPr id="36" name="S22_PATCH_BODY">
            <a:extLst xmlns:a="http://schemas.openxmlformats.org/drawingml/2006/main">
              <a:ext uri="{FF2B5EF4-FFF2-40B4-BE49-F238E27FC236}">
                <a16:creationId xmlns:a16="http://schemas.microsoft.com/office/drawing/2014/main" id="{F1E6948E-FE10-4821-BA52-375B37BD0ED1}"/>
              </a:ext>
            </a:extLst>
          </p:cNvPr>
          <p:cNvSpPr>
            <a:spLocks xmlns:a="http://schemas.openxmlformats.org/drawingml/2006/main" noGrp="1"/>
          </p:cNvSpPr>
          <p:nvPr/>
        </p:nvSpPr>
        <p:spPr>
          <a:xfrm xmlns:a="http://schemas.openxmlformats.org/drawingml/2006/main">
            <a:off x="704850" y="4667250"/>
            <a:ext cx="6286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POST-only · session token · exact Origin/Referer · SameSite · re-auth · audit.</a:t>
            </a:r>
          </a:p>
        </p:txBody>
      </p:sp>
    </p:spTree>
    <p:extLst>
      <p:ext uri="{BB962C8B-B14F-4D97-AF65-F5344CB8AC3E}">
        <p14:creationId xmlns:p14="http://schemas.microsoft.com/office/powerpoint/2010/main" val="1213565687"/>
      </p:ext>
    </p:extLst>
  </p:cSld>
</p:sld>
</file>

<file path=ppt/slides/slide2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S23_EYEBROW">
            <a:extLst xmlns:a="http://schemas.openxmlformats.org/drawingml/2006/main">
              <a:ext uri="{FF2B5EF4-FFF2-40B4-BE49-F238E27FC236}">
                <a16:creationId xmlns:a16="http://schemas.microsoft.com/office/drawing/2014/main" id="{C1E3083E-7F2D-488E-BE1A-DC22148240A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3_TITLE">
            <a:extLst xmlns:a="http://schemas.openxmlformats.org/drawingml/2006/main">
              <a:ext uri="{FF2B5EF4-FFF2-40B4-BE49-F238E27FC236}">
                <a16:creationId xmlns:a16="http://schemas.microsoft.com/office/drawing/2014/main" id="{1B62A500-A486-4452-8447-EB9F07EFAEF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Lỗi xuất hiện trước SQL parser</a:t>
            </a:r>
          </a:p>
        </p:txBody>
      </p:sp>
      <p:sp>
        <p:nvSpPr>
          <p:cNvPr id="3" name="S23_SUBTITLE">
            <a:extLst xmlns:a="http://schemas.openxmlformats.org/drawingml/2006/main">
              <a:ext uri="{FF2B5EF4-FFF2-40B4-BE49-F238E27FC236}">
                <a16:creationId xmlns:a16="http://schemas.microsoft.com/office/drawing/2014/main" id="{B936DACC-7A66-41D3-85EB-FFD5002AA380}"/>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Nối chuỗi trộn code và data; parser nhận một câu lệnh có logic khác với ý định ban đầu.</a:t>
            </a:r>
          </a:p>
        </p:txBody>
      </p:sp>
      <p:sp>
        <p:nvSpPr>
          <p:cNvPr id="4" name="S23_TITLE_RULE">
            <a:extLst xmlns:a="http://schemas.openxmlformats.org/drawingml/2006/main">
              <a:ext uri="{FF2B5EF4-FFF2-40B4-BE49-F238E27FC236}">
                <a16:creationId xmlns:a16="http://schemas.microsoft.com/office/drawing/2014/main" id="{68C9B0F2-DCBA-454B-8049-5889B0A2A86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3_FOOTER_RULE">
            <a:extLst xmlns:a="http://schemas.openxmlformats.org/drawingml/2006/main">
              <a:ext uri="{FF2B5EF4-FFF2-40B4-BE49-F238E27FC236}">
                <a16:creationId xmlns:a16="http://schemas.microsoft.com/office/drawing/2014/main" id="{9899D03C-4FA2-4BA5-9072-02896125ED21}"/>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3_SOURCE">
            <a:extLst xmlns:a="http://schemas.openxmlformats.org/drawingml/2006/main">
              <a:ext uri="{FF2B5EF4-FFF2-40B4-BE49-F238E27FC236}">
                <a16:creationId xmlns:a16="http://schemas.microsoft.com/office/drawing/2014/main" id="{8D41DC6E-CF69-44A9-8A10-AAA130C5258B}"/>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Lab05/vulnerable_queries.py · secure_queries.py</a:t>
            </a:r>
          </a:p>
        </p:txBody>
      </p:sp>
      <p:sp>
        <p:nvSpPr>
          <p:cNvPr id="7" name="S23_NUMBER">
            <a:extLst xmlns:a="http://schemas.openxmlformats.org/drawingml/2006/main">
              <a:ext uri="{FF2B5EF4-FFF2-40B4-BE49-F238E27FC236}">
                <a16:creationId xmlns:a16="http://schemas.microsoft.com/office/drawing/2014/main" id="{03154DD0-F5C4-45D1-A073-3AF81E5F2028}"/>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23</a:t>
            </a:r>
          </a:p>
        </p:txBody>
      </p:sp>
      <p:sp>
        <p:nvSpPr>
          <p:cNvPr id="8" name="S23_FLOW_ARROW_1">
            <a:extLst xmlns:a="http://schemas.openxmlformats.org/drawingml/2006/main">
              <a:ext uri="{FF2B5EF4-FFF2-40B4-BE49-F238E27FC236}">
                <a16:creationId xmlns:a16="http://schemas.microsoft.com/office/drawing/2014/main" id="{760FD948-8695-44D6-8089-F6BD9CD6690B}"/>
              </a:ext>
            </a:extLst>
          </p:cNvPr>
          <p:cNvSpPr>
            <a:spLocks xmlns:a="http://schemas.openxmlformats.org/drawingml/2006/main" noGrp="1"/>
          </p:cNvSpPr>
          <p:nvPr/>
        </p:nvSpPr>
        <p:spPr>
          <a:xfrm xmlns:a="http://schemas.openxmlformats.org/drawingml/2006/main">
            <a:off x="257175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23_FLOW_ARROW_2">
            <a:extLst xmlns:a="http://schemas.openxmlformats.org/drawingml/2006/main">
              <a:ext uri="{FF2B5EF4-FFF2-40B4-BE49-F238E27FC236}">
                <a16:creationId xmlns:a16="http://schemas.microsoft.com/office/drawing/2014/main" id="{1E47074C-6659-4FAD-8485-1EFE3D3236FC}"/>
              </a:ext>
            </a:extLst>
          </p:cNvPr>
          <p:cNvSpPr>
            <a:spLocks xmlns:a="http://schemas.openxmlformats.org/drawingml/2006/main" noGrp="1"/>
          </p:cNvSpPr>
          <p:nvPr/>
        </p:nvSpPr>
        <p:spPr>
          <a:xfrm xmlns:a="http://schemas.openxmlformats.org/drawingml/2006/main">
            <a:off x="487680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23_FLOW_ARROW_3">
            <a:extLst xmlns:a="http://schemas.openxmlformats.org/drawingml/2006/main">
              <a:ext uri="{FF2B5EF4-FFF2-40B4-BE49-F238E27FC236}">
                <a16:creationId xmlns:a16="http://schemas.microsoft.com/office/drawing/2014/main" id="{FD298309-1C6B-4F95-8115-97297C513705}"/>
              </a:ext>
            </a:extLst>
          </p:cNvPr>
          <p:cNvSpPr>
            <a:spLocks xmlns:a="http://schemas.openxmlformats.org/drawingml/2006/main" noGrp="1"/>
          </p:cNvSpPr>
          <p:nvPr/>
        </p:nvSpPr>
        <p:spPr>
          <a:xfrm xmlns:a="http://schemas.openxmlformats.org/drawingml/2006/main">
            <a:off x="718185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23_FLOW_ARROW_4">
            <a:extLst xmlns:a="http://schemas.openxmlformats.org/drawingml/2006/main">
              <a:ext uri="{FF2B5EF4-FFF2-40B4-BE49-F238E27FC236}">
                <a16:creationId xmlns:a16="http://schemas.microsoft.com/office/drawing/2014/main" id="{A18CA5B7-82C5-4B70-81DA-85C5023E6688}"/>
              </a:ext>
            </a:extLst>
          </p:cNvPr>
          <p:cNvSpPr>
            <a:spLocks xmlns:a="http://schemas.openxmlformats.org/drawingml/2006/main" noGrp="1"/>
          </p:cNvSpPr>
          <p:nvPr/>
        </p:nvSpPr>
        <p:spPr>
          <a:xfrm xmlns:a="http://schemas.openxmlformats.org/drawingml/2006/main">
            <a:off x="948690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23_FLOW_NODE_1">
            <a:extLst xmlns:a="http://schemas.openxmlformats.org/drawingml/2006/main">
              <a:ext uri="{FF2B5EF4-FFF2-40B4-BE49-F238E27FC236}">
                <a16:creationId xmlns:a16="http://schemas.microsoft.com/office/drawing/2014/main" id="{F9C0105E-F27B-40E1-B0FA-E681E131D21C}"/>
              </a:ext>
            </a:extLst>
          </p:cNvPr>
          <p:cNvSpPr>
            <a:spLocks xmlns:a="http://schemas.openxmlformats.org/drawingml/2006/main" noGrp="1"/>
          </p:cNvSpPr>
          <p:nvPr/>
        </p:nvSpPr>
        <p:spPr>
          <a:xfrm xmlns:a="http://schemas.openxmlformats.org/drawingml/2006/main">
            <a:off x="53340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INPUT</a:t>
            </a:r>
          </a:p>
        </p:txBody>
      </p:sp>
      <p:sp>
        <p:nvSpPr>
          <p:cNvPr id="13" name="S23_FLOW_NODE_2">
            <a:extLst xmlns:a="http://schemas.openxmlformats.org/drawingml/2006/main">
              <a:ext uri="{FF2B5EF4-FFF2-40B4-BE49-F238E27FC236}">
                <a16:creationId xmlns:a16="http://schemas.microsoft.com/office/drawing/2014/main" id="{8713F9BD-79B2-42C9-86CC-2651E56ACB0C}"/>
              </a:ext>
            </a:extLst>
          </p:cNvPr>
          <p:cNvSpPr>
            <a:spLocks xmlns:a="http://schemas.openxmlformats.org/drawingml/2006/main" noGrp="1"/>
          </p:cNvSpPr>
          <p:nvPr/>
        </p:nvSpPr>
        <p:spPr>
          <a:xfrm xmlns:a="http://schemas.openxmlformats.org/drawingml/2006/main">
            <a:off x="283845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STRING</a:t>
            </a:r>
          </a:p>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CONCAT</a:t>
            </a:r>
          </a:p>
        </p:txBody>
      </p:sp>
      <p:sp>
        <p:nvSpPr>
          <p:cNvPr id="14" name="S23_FLOW_NODE_3">
            <a:extLst xmlns:a="http://schemas.openxmlformats.org/drawingml/2006/main">
              <a:ext uri="{FF2B5EF4-FFF2-40B4-BE49-F238E27FC236}">
                <a16:creationId xmlns:a16="http://schemas.microsoft.com/office/drawing/2014/main" id="{66725406-A4E8-4F10-91E9-DC91301D5F56}"/>
              </a:ext>
            </a:extLst>
          </p:cNvPr>
          <p:cNvSpPr>
            <a:spLocks xmlns:a="http://schemas.openxmlformats.org/drawingml/2006/main" noGrp="1"/>
          </p:cNvSpPr>
          <p:nvPr/>
        </p:nvSpPr>
        <p:spPr>
          <a:xfrm xmlns:a="http://schemas.openxmlformats.org/drawingml/2006/main">
            <a:off x="514350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SQL TEXT</a:t>
            </a:r>
          </a:p>
        </p:txBody>
      </p:sp>
      <p:sp>
        <p:nvSpPr>
          <p:cNvPr id="15" name="S23_FLOW_NODE_4">
            <a:extLst xmlns:a="http://schemas.openxmlformats.org/drawingml/2006/main">
              <a:ext uri="{FF2B5EF4-FFF2-40B4-BE49-F238E27FC236}">
                <a16:creationId xmlns:a16="http://schemas.microsoft.com/office/drawing/2014/main" id="{0591DDED-52A8-4FDE-A22E-B9ABF8F9CAB0}"/>
              </a:ext>
            </a:extLst>
          </p:cNvPr>
          <p:cNvSpPr>
            <a:spLocks xmlns:a="http://schemas.openxmlformats.org/drawingml/2006/main" noGrp="1"/>
          </p:cNvSpPr>
          <p:nvPr/>
        </p:nvSpPr>
        <p:spPr>
          <a:xfrm xmlns:a="http://schemas.openxmlformats.org/drawingml/2006/main">
            <a:off x="744855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PARSER</a:t>
            </a:r>
          </a:p>
        </p:txBody>
      </p:sp>
      <p:sp>
        <p:nvSpPr>
          <p:cNvPr id="16" name="S23_FLOW_NODE_5">
            <a:extLst xmlns:a="http://schemas.openxmlformats.org/drawingml/2006/main">
              <a:ext uri="{FF2B5EF4-FFF2-40B4-BE49-F238E27FC236}">
                <a16:creationId xmlns:a16="http://schemas.microsoft.com/office/drawing/2014/main" id="{D7FF1487-905B-4404-87A3-22F9717E9DA5}"/>
              </a:ext>
            </a:extLst>
          </p:cNvPr>
          <p:cNvSpPr>
            <a:spLocks xmlns:a="http://schemas.openxmlformats.org/drawingml/2006/main" noGrp="1"/>
          </p:cNvSpPr>
          <p:nvPr/>
        </p:nvSpPr>
        <p:spPr>
          <a:xfrm xmlns:a="http://schemas.openxmlformats.org/drawingml/2006/main">
            <a:off x="975360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CHANGED</a:t>
            </a:r>
          </a:p>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RESULT</a:t>
            </a:r>
          </a:p>
        </p:txBody>
      </p:sp>
      <p:sp>
        <p:nvSpPr>
          <p:cNvPr id="17" name="S23_SPLIT_LEFT">
            <a:extLst xmlns:a="http://schemas.openxmlformats.org/drawingml/2006/main">
              <a:ext uri="{FF2B5EF4-FFF2-40B4-BE49-F238E27FC236}">
                <a16:creationId xmlns:a16="http://schemas.microsoft.com/office/drawing/2014/main" id="{4CD48FBC-7662-4104-B635-B4F0965B1400}"/>
              </a:ext>
            </a:extLst>
          </p:cNvPr>
          <p:cNvSpPr>
            <a:spLocks xmlns:a="http://schemas.openxmlformats.org/drawingml/2006/main" noGrp="1"/>
          </p:cNvSpPr>
          <p:nvPr/>
        </p:nvSpPr>
        <p:spPr>
          <a:xfrm xmlns:a="http://schemas.openxmlformats.org/drawingml/2006/main">
            <a:off x="533400" y="32385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D96C5F"/>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PHẦN A: PHÁT HIỆN LỖI</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Nhập dữ liệu bình thường vào login/search.</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Thử dấu nháy đơn.</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Quan sát SQL error hoặc hành vi bất thường.</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Xác định input bị ảnh hưởng.</a:t>
            </a:r>
          </a:p>
        </p:txBody>
      </p:sp>
      <p:sp>
        <p:nvSpPr>
          <p:cNvPr id="18" name="S23_SPLIT_RIGHT">
            <a:extLst xmlns:a="http://schemas.openxmlformats.org/drawingml/2006/main">
              <a:ext uri="{FF2B5EF4-FFF2-40B4-BE49-F238E27FC236}">
                <a16:creationId xmlns:a16="http://schemas.microsoft.com/office/drawing/2014/main" id="{E6FA1E63-C2A8-4E1E-904C-87916CC6F3C3}"/>
              </a:ext>
            </a:extLst>
          </p:cNvPr>
          <p:cNvSpPr>
            <a:spLocks xmlns:a="http://schemas.openxmlformats.org/drawingml/2006/main" noGrp="1"/>
          </p:cNvSpPr>
          <p:nvPr/>
        </p:nvSpPr>
        <p:spPr>
          <a:xfrm xmlns:a="http://schemas.openxmlformats.org/drawingml/2006/main">
            <a:off x="6210300" y="32385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71B48D"/>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ERROR-BASED DETECTION</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Dấu nháy đơn làm query lỗi hoặc response bất thường.</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Không hiển thị lỗi SQL chi tiết cho user; ghi log an toàn phía server.</a:t>
            </a:r>
          </a:p>
        </p:txBody>
      </p:sp>
    </p:spTree>
    <p:extLst>
      <p:ext uri="{BB962C8B-B14F-4D97-AF65-F5344CB8AC3E}">
        <p14:creationId xmlns:p14="http://schemas.microsoft.com/office/powerpoint/2010/main" val="683241160"/>
      </p:ext>
    </p:extLst>
  </p:cSld>
</p:sld>
</file>

<file path=ppt/slides/slide2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0" name="S24_EYEBROW">
            <a:extLst xmlns:a="http://schemas.openxmlformats.org/drawingml/2006/main">
              <a:ext uri="{FF2B5EF4-FFF2-40B4-BE49-F238E27FC236}">
                <a16:creationId xmlns:a16="http://schemas.microsoft.com/office/drawing/2014/main" id="{C72C6F26-2409-4ABD-B93F-21E51559D036}"/>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4_TITLE">
            <a:extLst xmlns:a="http://schemas.openxmlformats.org/drawingml/2006/main">
              <a:ext uri="{FF2B5EF4-FFF2-40B4-BE49-F238E27FC236}">
                <a16:creationId xmlns:a16="http://schemas.microsoft.com/office/drawing/2014/main" id="{89477EF5-1315-46B3-8368-22A109F7D7A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Một comment thay đổi logic xác thực</a:t>
            </a:r>
          </a:p>
        </p:txBody>
      </p:sp>
      <p:sp>
        <p:nvSpPr>
          <p:cNvPr id="3" name="S24_SUBTITLE">
            <a:extLst xmlns:a="http://schemas.openxmlformats.org/drawingml/2006/main">
              <a:ext uri="{FF2B5EF4-FFF2-40B4-BE49-F238E27FC236}">
                <a16:creationId xmlns:a16="http://schemas.microsoft.com/office/drawing/2014/main" id="{C08D1279-1853-4C55-9C38-13CE244708DE}"/>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Payload local cố định chỉ dùng để chứng minh authentication bypass trong database demo.</a:t>
            </a:r>
          </a:p>
        </p:txBody>
      </p:sp>
      <p:sp>
        <p:nvSpPr>
          <p:cNvPr id="4" name="S24_TITLE_RULE">
            <a:extLst xmlns:a="http://schemas.openxmlformats.org/drawingml/2006/main">
              <a:ext uri="{FF2B5EF4-FFF2-40B4-BE49-F238E27FC236}">
                <a16:creationId xmlns:a16="http://schemas.microsoft.com/office/drawing/2014/main" id="{4D040EB0-9CB8-4AC3-B832-7360D50DD378}"/>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4_FOOTER_RULE">
            <a:extLst xmlns:a="http://schemas.openxmlformats.org/drawingml/2006/main">
              <a:ext uri="{FF2B5EF4-FFF2-40B4-BE49-F238E27FC236}">
                <a16:creationId xmlns:a16="http://schemas.microsoft.com/office/drawing/2014/main" id="{919E0ED7-001F-46C5-804B-41DF4701D87C}"/>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4_SOURCE">
            <a:extLst xmlns:a="http://schemas.openxmlformats.org/drawingml/2006/main">
              <a:ext uri="{FF2B5EF4-FFF2-40B4-BE49-F238E27FC236}">
                <a16:creationId xmlns:a16="http://schemas.microsoft.com/office/drawing/2014/main" id="{009391E4-B2FE-419E-8E70-55FDB123E0A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Lab05/config.py · auth_service.py · vulnerable_queries.py</a:t>
            </a:r>
          </a:p>
        </p:txBody>
      </p:sp>
      <p:sp>
        <p:nvSpPr>
          <p:cNvPr id="7" name="S24_NUMBER">
            <a:extLst xmlns:a="http://schemas.openxmlformats.org/drawingml/2006/main">
              <a:ext uri="{FF2B5EF4-FFF2-40B4-BE49-F238E27FC236}">
                <a16:creationId xmlns:a16="http://schemas.microsoft.com/office/drawing/2014/main" id="{E4E76060-27CF-485C-8651-808F7F68A562}"/>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24</a:t>
            </a:r>
          </a:p>
        </p:txBody>
      </p:sp>
      <p:sp>
        <p:nvSpPr>
          <p:cNvPr id="8" name="S24_QUERY">
            <a:extLst xmlns:a="http://schemas.openxmlformats.org/drawingml/2006/main">
              <a:ext uri="{FF2B5EF4-FFF2-40B4-BE49-F238E27FC236}">
                <a16:creationId xmlns:a16="http://schemas.microsoft.com/office/drawing/2014/main" id="{CA248AB4-BCE5-4BB9-BFDF-AECB312D8F03}"/>
              </a:ext>
            </a:extLst>
          </p:cNvPr>
          <p:cNvSpPr>
            <a:spLocks xmlns:a="http://schemas.openxmlformats.org/drawingml/2006/main" noGrp="1"/>
          </p:cNvSpPr>
          <p:nvPr/>
        </p:nvSpPr>
        <p:spPr>
          <a:xfrm xmlns:a="http://schemas.openxmlformats.org/drawingml/2006/main">
            <a:off x="533400" y="1752600"/>
            <a:ext cx="6381750" cy="30099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INPUT: admin_lab'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BEFORE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WHERE username = '&lt;input&gt;' AND password = '&lt;hash&gt;'</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AFTER CONCATENATION</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WHERE username = 'admin_lab' -- ' AND password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Phần kiểm tra password trở thành comment.</a:t>
            </a:r>
          </a:p>
        </p:txBody>
      </p:sp>
      <p:sp>
        <p:nvSpPr>
          <p:cNvPr id="9" name="PH_S24_Lab05_42_login_bypass_response_png_FRAME">
            <a:extLst xmlns:a="http://schemas.openxmlformats.org/drawingml/2006/main">
              <a:ext uri="{FF2B5EF4-FFF2-40B4-BE49-F238E27FC236}">
                <a16:creationId xmlns:a16="http://schemas.microsoft.com/office/drawing/2014/main" id="{36ACE7FA-73F5-47D9-B1AC-3C1890F4D398}"/>
              </a:ext>
            </a:extLst>
          </p:cNvPr>
          <p:cNvSpPr>
            <a:spLocks xmlns:a="http://schemas.openxmlformats.org/drawingml/2006/main" noGrp="1"/>
          </p:cNvSpPr>
          <p:nvPr/>
        </p:nvSpPr>
        <p:spPr>
          <a:xfrm xmlns:a="http://schemas.openxmlformats.org/drawingml/2006/main">
            <a:off x="7191375" y="1724025"/>
            <a:ext cx="4495800" cy="24574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0" name="PH_S24_Lab05_42_login_bypass_response_png_IMAGE">
            <a:extLst xmlns:a="http://schemas.openxmlformats.org/drawingml/2006/main">
              <a:ext uri="{FF2B5EF4-FFF2-40B4-BE49-F238E27FC236}">
                <a16:creationId xmlns:a16="http://schemas.microsoft.com/office/drawing/2014/main" id="{7C0C80CE-41C3-4B1A-9C92-69140C105F2F}"/>
              </a:ext>
            </a:extLst>
          </p:cNvPr>
          <p:cNvSpPr>
            <a:spLocks xmlns:a="http://schemas.openxmlformats.org/drawingml/2006/main" noGrp="1"/>
          </p:cNvSpPr>
          <p:nvPr/>
        </p:nvSpPr>
        <p:spPr>
          <a:xfrm xmlns:a="http://schemas.openxmlformats.org/drawingml/2006/main">
            <a:off x="7219950" y="1752600"/>
            <a:ext cx="4438650" cy="2400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1" name="PH_S24_Lab05_42_login_bypass_response_png_ICON">
            <a:extLst xmlns:a="http://schemas.openxmlformats.org/drawingml/2006/main">
              <a:ext uri="{FF2B5EF4-FFF2-40B4-BE49-F238E27FC236}">
                <a16:creationId xmlns:a16="http://schemas.microsoft.com/office/drawing/2014/main" id="{820EC8C7-7364-4764-A970-43E6E93E0D30}"/>
              </a:ext>
            </a:extLst>
          </p:cNvPr>
          <p:cNvSpPr>
            <a:spLocks xmlns:a="http://schemas.openxmlformats.org/drawingml/2006/main" noGrp="1"/>
          </p:cNvSpPr>
          <p:nvPr/>
        </p:nvSpPr>
        <p:spPr>
          <a:xfrm xmlns:a="http://schemas.openxmlformats.org/drawingml/2006/main">
            <a:off x="73723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2" name="PH_S24_Lab05_42_login_bypass_response_png_INSTRUCTION">
            <a:extLst xmlns:a="http://schemas.openxmlformats.org/drawingml/2006/main">
              <a:ext uri="{FF2B5EF4-FFF2-40B4-BE49-F238E27FC236}">
                <a16:creationId xmlns:a16="http://schemas.microsoft.com/office/drawing/2014/main" id="{062352EE-41B6-4470-924B-404E70B5E723}"/>
              </a:ext>
            </a:extLst>
          </p:cNvPr>
          <p:cNvSpPr>
            <a:spLocks xmlns:a="http://schemas.openxmlformats.org/drawingml/2006/main" noGrp="1"/>
          </p:cNvSpPr>
          <p:nvPr/>
        </p:nvSpPr>
        <p:spPr>
          <a:xfrm xmlns:a="http://schemas.openxmlformats.org/drawingml/2006/main">
            <a:off x="7886700" y="1924050"/>
            <a:ext cx="36004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42_login_bypass_response.png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3" name="PH_S24_Lab05_42_login_bypass_response_png_CAPTION">
            <a:extLst xmlns:a="http://schemas.openxmlformats.org/drawingml/2006/main">
              <a:ext uri="{FF2B5EF4-FFF2-40B4-BE49-F238E27FC236}">
                <a16:creationId xmlns:a16="http://schemas.microsoft.com/office/drawing/2014/main" id="{66CECD1B-D857-4032-B359-0D1F9080C993}"/>
              </a:ext>
            </a:extLst>
          </p:cNvPr>
          <p:cNvSpPr>
            <a:spLocks xmlns:a="http://schemas.openxmlformats.org/drawingml/2006/main" noGrp="1"/>
          </p:cNvSpPr>
          <p:nvPr/>
        </p:nvSpPr>
        <p:spPr>
          <a:xfrm xmlns:a="http://schemas.openxmlformats.org/drawingml/2006/main">
            <a:off x="7219950" y="3743325"/>
            <a:ext cx="4438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vulnerable authentication bypass</a:t>
            </a:r>
          </a:p>
        </p:txBody>
      </p:sp>
      <p:sp>
        <p:nvSpPr>
          <p:cNvPr id="14" name="S24_SCOPE_BAR">
            <a:extLst xmlns:a="http://schemas.openxmlformats.org/drawingml/2006/main">
              <a:ext uri="{FF2B5EF4-FFF2-40B4-BE49-F238E27FC236}">
                <a16:creationId xmlns:a16="http://schemas.microsoft.com/office/drawing/2014/main" id="{382ED835-9F87-4BF9-9F61-6DCABCAE483E}"/>
              </a:ext>
            </a:extLst>
          </p:cNvPr>
          <p:cNvSpPr>
            <a:spLocks xmlns:a="http://schemas.openxmlformats.org/drawingml/2006/main" noGrp="1"/>
          </p:cNvSpPr>
          <p:nvPr/>
        </p:nvSpPr>
        <p:spPr>
          <a:xfrm xmlns:a="http://schemas.openxmlformats.org/drawingml/2006/main">
            <a:off x="533400" y="5143500"/>
            <a:ext cx="76200" cy="0"/>
          </a:xfrm>
          <a:prstGeom xmlns:a="http://schemas.openxmlformats.org/drawingml/2006/main" prst="rect">
            <a:avLst/>
          </a:prstGeom>
          <a:ln xmlns:a="http://schemas.openxmlformats.org/drawingml/2006/main" w="0">
            <a:noFill/>
            <a:prstDash val="solid"/>
          </a:ln>
        </p:spPr>
      </p:sp>
      <p:sp>
        <p:nvSpPr>
          <p:cNvPr id="15" name="S24_SCOPE_LABEL">
            <a:extLst xmlns:a="http://schemas.openxmlformats.org/drawingml/2006/main">
              <a:ext uri="{FF2B5EF4-FFF2-40B4-BE49-F238E27FC236}">
                <a16:creationId xmlns:a16="http://schemas.microsoft.com/office/drawing/2014/main" id="{2490A5CF-BF1F-45F1-8DEC-7BB62538E4AA}"/>
              </a:ext>
            </a:extLst>
          </p:cNvPr>
          <p:cNvSpPr>
            <a:spLocks xmlns:a="http://schemas.openxmlformats.org/drawingml/2006/main" noGrp="1"/>
          </p:cNvSpPr>
          <p:nvPr/>
        </p:nvSpPr>
        <p:spPr>
          <a:xfrm xmlns:a="http://schemas.openxmlformats.org/drawingml/2006/main">
            <a:off x="704850" y="5143500"/>
            <a:ext cx="1638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SAFE LAB SCOPE</a:t>
            </a:r>
          </a:p>
        </p:txBody>
      </p:sp>
      <p:sp>
        <p:nvSpPr>
          <p:cNvPr id="16" name="S24_SCOPE_BODY">
            <a:extLst xmlns:a="http://schemas.openxmlformats.org/drawingml/2006/main">
              <a:ext uri="{FF2B5EF4-FFF2-40B4-BE49-F238E27FC236}">
                <a16:creationId xmlns:a16="http://schemas.microsoft.com/office/drawing/2014/main" id="{0031287A-E2D7-4B68-8713-C50DFD98482E}"/>
              </a:ext>
            </a:extLst>
          </p:cNvPr>
          <p:cNvSpPr>
            <a:spLocks xmlns:a="http://schemas.openxmlformats.org/drawingml/2006/main" noGrp="1"/>
          </p:cNvSpPr>
          <p:nvPr/>
        </p:nvSpPr>
        <p:spPr>
          <a:xfrm xmlns:a="http://schemas.openxmlformats.org/drawingml/2006/main">
            <a:off x="2438400" y="5143500"/>
            <a:ext cx="4457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Chỉ SELECT/auth bypass trên SQLite local. Không DROP, DELETE, phá dữ liệu, trích xuất ngoài dataset lab hoặc thử website thật.</a:t>
            </a:r>
          </a:p>
        </p:txBody>
      </p:sp>
      <p:sp>
        <p:nvSpPr>
          <p:cNvPr id="17" name="S24_CAUSE_BAR">
            <a:extLst xmlns:a="http://schemas.openxmlformats.org/drawingml/2006/main">
              <a:ext uri="{FF2B5EF4-FFF2-40B4-BE49-F238E27FC236}">
                <a16:creationId xmlns:a16="http://schemas.microsoft.com/office/drawing/2014/main" id="{6DBF4898-39A3-4580-BC57-57C5AC0C3051}"/>
              </a:ext>
            </a:extLst>
          </p:cNvPr>
          <p:cNvSpPr>
            <a:spLocks xmlns:a="http://schemas.openxmlformats.org/drawingml/2006/main" noGrp="1"/>
          </p:cNvSpPr>
          <p:nvPr/>
        </p:nvSpPr>
        <p:spPr>
          <a:xfrm xmlns:a="http://schemas.openxmlformats.org/drawingml/2006/main">
            <a:off x="7219950" y="4552950"/>
            <a:ext cx="76200" cy="0"/>
          </a:xfrm>
          <a:prstGeom xmlns:a="http://schemas.openxmlformats.org/drawingml/2006/main" prst="rect">
            <a:avLst/>
          </a:prstGeom>
          <a:ln xmlns:a="http://schemas.openxmlformats.org/drawingml/2006/main" w="0">
            <a:noFill/>
            <a:prstDash val="solid"/>
          </a:ln>
        </p:spPr>
      </p:sp>
      <p:sp>
        <p:nvSpPr>
          <p:cNvPr id="18" name="S24_CAUSE_LABEL">
            <a:extLst xmlns:a="http://schemas.openxmlformats.org/drawingml/2006/main">
              <a:ext uri="{FF2B5EF4-FFF2-40B4-BE49-F238E27FC236}">
                <a16:creationId xmlns:a16="http://schemas.microsoft.com/office/drawing/2014/main" id="{91CA341C-AAE2-4234-A985-9FF7B3080468}"/>
              </a:ext>
            </a:extLst>
          </p:cNvPr>
          <p:cNvSpPr>
            <a:spLocks xmlns:a="http://schemas.openxmlformats.org/drawingml/2006/main" noGrp="1"/>
          </p:cNvSpPr>
          <p:nvPr/>
        </p:nvSpPr>
        <p:spPr>
          <a:xfrm xmlns:a="http://schemas.openxmlformats.org/drawingml/2006/main">
            <a:off x="7391400" y="4572000"/>
            <a:ext cx="424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D96C5F"/>
                </a:solidFill>
                <a:latin typeface="Consolas"/>
                <a:ea typeface="Consolas"/>
                <a:cs typeface="Consolas"/>
              </a:defRPr>
            </a:pPr>
            <a:r>
              <a:rPr sz="1425" b="1">
                <a:solidFill>
                  <a:srgbClr val="D96C5F"/>
                </a:solidFill>
                <a:latin typeface="Consolas"/>
                <a:ea typeface="Consolas"/>
                <a:cs typeface="Consolas"/>
              </a:rPr>
              <a:t>AUTHENTICATION BYPASS</a:t>
            </a:r>
          </a:p>
        </p:txBody>
      </p:sp>
      <p:sp>
        <p:nvSpPr>
          <p:cNvPr id="19" name="S24_CAUSE_BODY">
            <a:extLst xmlns:a="http://schemas.openxmlformats.org/drawingml/2006/main">
              <a:ext uri="{FF2B5EF4-FFF2-40B4-BE49-F238E27FC236}">
                <a16:creationId xmlns:a16="http://schemas.microsoft.com/office/drawing/2014/main" id="{D4F5887D-62DF-4939-A00B-DCEA95133A62}"/>
              </a:ext>
            </a:extLst>
          </p:cNvPr>
          <p:cNvSpPr>
            <a:spLocks xmlns:a="http://schemas.openxmlformats.org/drawingml/2006/main" noGrp="1"/>
          </p:cNvSpPr>
          <p:nvPr/>
        </p:nvSpPr>
        <p:spPr>
          <a:xfrm xmlns:a="http://schemas.openxmlformats.org/drawingml/2006/main">
            <a:off x="7391400" y="4876800"/>
            <a:ext cx="42481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Mật khẩu hash không cứu được query đã bị đổi logic trước khi so sánh credential.</a:t>
            </a:r>
          </a:p>
        </p:txBody>
      </p:sp>
    </p:spTree>
    <p:extLst>
      <p:ext uri="{BB962C8B-B14F-4D97-AF65-F5344CB8AC3E}">
        <p14:creationId xmlns:p14="http://schemas.microsoft.com/office/powerpoint/2010/main" val="2117552956"/>
      </p:ext>
    </p:extLst>
  </p:cSld>
</p:sld>
</file>

<file path=ppt/slides/slide2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0" name="S25_EYEBROW">
            <a:extLst xmlns:a="http://schemas.openxmlformats.org/drawingml/2006/main">
              <a:ext uri="{FF2B5EF4-FFF2-40B4-BE49-F238E27FC236}">
                <a16:creationId xmlns:a16="http://schemas.microsoft.com/office/drawing/2014/main" id="{CF95912C-31C7-4567-A5EC-6B87EB9C508A}"/>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5_TITLE">
            <a:extLst xmlns:a="http://schemas.openxmlformats.org/drawingml/2006/main">
              <a:ext uri="{FF2B5EF4-FFF2-40B4-BE49-F238E27FC236}">
                <a16:creationId xmlns:a16="http://schemas.microsoft.com/office/drawing/2014/main" id="{8ECFAEC7-9FE2-49E8-A478-F25FE5E9F61B}"/>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Search injection mở rộng result set</a:t>
            </a:r>
          </a:p>
        </p:txBody>
      </p:sp>
      <p:sp>
        <p:nvSpPr>
          <p:cNvPr id="3" name="S25_SUBTITLE">
            <a:extLst xmlns:a="http://schemas.openxmlformats.org/drawingml/2006/main">
              <a:ext uri="{FF2B5EF4-FFF2-40B4-BE49-F238E27FC236}">
                <a16:creationId xmlns:a16="http://schemas.microsoft.com/office/drawing/2014/main" id="{90273157-B271-4F51-8DEE-3B694015B74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DATA EXTRACTION CƠ BẢN: expanded result set làm lộ nhiều hàng hơn dự kiến.</a:t>
            </a:r>
          </a:p>
        </p:txBody>
      </p:sp>
      <p:sp>
        <p:nvSpPr>
          <p:cNvPr id="4" name="S25_TITLE_RULE">
            <a:extLst xmlns:a="http://schemas.openxmlformats.org/drawingml/2006/main">
              <a:ext uri="{FF2B5EF4-FFF2-40B4-BE49-F238E27FC236}">
                <a16:creationId xmlns:a16="http://schemas.microsoft.com/office/drawing/2014/main" id="{A2A72057-4532-4A65-B853-8CA55CCBA2B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5_FOOTER_RULE">
            <a:extLst xmlns:a="http://schemas.openxmlformats.org/drawingml/2006/main">
              <a:ext uri="{FF2B5EF4-FFF2-40B4-BE49-F238E27FC236}">
                <a16:creationId xmlns:a16="http://schemas.microsoft.com/office/drawing/2014/main" id="{EB719FB5-F7CE-430E-A753-04CA723EF36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5_SOURCE">
            <a:extLst xmlns:a="http://schemas.openxmlformats.org/drawingml/2006/main">
              <a:ext uri="{FF2B5EF4-FFF2-40B4-BE49-F238E27FC236}">
                <a16:creationId xmlns:a16="http://schemas.microsoft.com/office/drawing/2014/main" id="{1BBD2DAF-1F2C-437D-A5CD-B45B4C36AA86}"/>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Lab05/config.py · vulnerable_queries.vulnerable_search</a:t>
            </a:r>
          </a:p>
        </p:txBody>
      </p:sp>
      <p:sp>
        <p:nvSpPr>
          <p:cNvPr id="7" name="S25_NUMBER">
            <a:extLst xmlns:a="http://schemas.openxmlformats.org/drawingml/2006/main">
              <a:ext uri="{FF2B5EF4-FFF2-40B4-BE49-F238E27FC236}">
                <a16:creationId xmlns:a16="http://schemas.microsoft.com/office/drawing/2014/main" id="{0577A97F-4418-4D2A-9DC2-2F26EEB19962}"/>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25</a:t>
            </a:r>
          </a:p>
        </p:txBody>
      </p:sp>
      <p:sp>
        <p:nvSpPr>
          <p:cNvPr id="8" name="S25_NORMAL_ARROW_1">
            <a:extLst xmlns:a="http://schemas.openxmlformats.org/drawingml/2006/main">
              <a:ext uri="{FF2B5EF4-FFF2-40B4-BE49-F238E27FC236}">
                <a16:creationId xmlns:a16="http://schemas.microsoft.com/office/drawing/2014/main" id="{5D2B7263-0891-45AE-90B5-3421AE0FB0DF}"/>
              </a:ext>
            </a:extLst>
          </p:cNvPr>
          <p:cNvSpPr>
            <a:spLocks xmlns:a="http://schemas.openxmlformats.org/drawingml/2006/main" noGrp="1"/>
          </p:cNvSpPr>
          <p:nvPr/>
        </p:nvSpPr>
        <p:spPr>
          <a:xfrm xmlns:a="http://schemas.openxmlformats.org/drawingml/2006/main">
            <a:off x="2051050" y="20764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9" name="S25_NORMAL_ARROW_2">
            <a:extLst xmlns:a="http://schemas.openxmlformats.org/drawingml/2006/main">
              <a:ext uri="{FF2B5EF4-FFF2-40B4-BE49-F238E27FC236}">
                <a16:creationId xmlns:a16="http://schemas.microsoft.com/office/drawing/2014/main" id="{6C06DFA9-1635-4788-AD7E-F027E252838F}"/>
              </a:ext>
            </a:extLst>
          </p:cNvPr>
          <p:cNvSpPr>
            <a:spLocks xmlns:a="http://schemas.openxmlformats.org/drawingml/2006/main" noGrp="1"/>
          </p:cNvSpPr>
          <p:nvPr/>
        </p:nvSpPr>
        <p:spPr>
          <a:xfrm xmlns:a="http://schemas.openxmlformats.org/drawingml/2006/main">
            <a:off x="3835400" y="20764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0" name="S25_NORMAL_NODE_1">
            <a:extLst xmlns:a="http://schemas.openxmlformats.org/drawingml/2006/main">
              <a:ext uri="{FF2B5EF4-FFF2-40B4-BE49-F238E27FC236}">
                <a16:creationId xmlns:a16="http://schemas.microsoft.com/office/drawing/2014/main" id="{735B1E90-2296-44CD-9CEB-E3A05B5F1BD8}"/>
              </a:ext>
            </a:extLst>
          </p:cNvPr>
          <p:cNvSpPr>
            <a:spLocks xmlns:a="http://schemas.openxmlformats.org/drawingml/2006/main" noGrp="1"/>
          </p:cNvSpPr>
          <p:nvPr/>
        </p:nvSpPr>
        <p:spPr>
          <a:xfrm xmlns:a="http://schemas.openxmlformats.org/drawingml/2006/main">
            <a:off x="5334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USB</a:t>
            </a:r>
          </a:p>
        </p:txBody>
      </p:sp>
      <p:sp>
        <p:nvSpPr>
          <p:cNvPr id="11" name="S25_NORMAL_NODE_2">
            <a:extLst xmlns:a="http://schemas.openxmlformats.org/drawingml/2006/main">
              <a:ext uri="{FF2B5EF4-FFF2-40B4-BE49-F238E27FC236}">
                <a16:creationId xmlns:a16="http://schemas.microsoft.com/office/drawing/2014/main" id="{157B7C05-0241-4C65-AB3A-6E9A3D16D199}"/>
              </a:ext>
            </a:extLst>
          </p:cNvPr>
          <p:cNvSpPr>
            <a:spLocks xmlns:a="http://schemas.openxmlformats.org/drawingml/2006/main" noGrp="1"/>
          </p:cNvSpPr>
          <p:nvPr/>
        </p:nvSpPr>
        <p:spPr>
          <a:xfrm xmlns:a="http://schemas.openxmlformats.org/drawingml/2006/main">
            <a:off x="231775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LIKE '%USB%'</a:t>
            </a:r>
          </a:p>
        </p:txBody>
      </p:sp>
      <p:sp>
        <p:nvSpPr>
          <p:cNvPr id="12" name="S25_NORMAL_NODE_3">
            <a:extLst xmlns:a="http://schemas.openxmlformats.org/drawingml/2006/main">
              <a:ext uri="{FF2B5EF4-FFF2-40B4-BE49-F238E27FC236}">
                <a16:creationId xmlns:a16="http://schemas.microsoft.com/office/drawing/2014/main" id="{AFD2F5D4-F9ED-4F63-ABE4-91A4CE602B68}"/>
              </a:ext>
            </a:extLst>
          </p:cNvPr>
          <p:cNvSpPr>
            <a:spLocks xmlns:a="http://schemas.openxmlformats.org/drawingml/2006/main" noGrp="1"/>
          </p:cNvSpPr>
          <p:nvPr/>
        </p:nvSpPr>
        <p:spPr>
          <a:xfrm xmlns:a="http://schemas.openxmlformats.org/drawingml/2006/main">
            <a:off x="41021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matching rows</a:t>
            </a:r>
          </a:p>
        </p:txBody>
      </p:sp>
      <p:sp>
        <p:nvSpPr>
          <p:cNvPr id="13" name="S25_ATTACK_ARROW_1">
            <a:extLst xmlns:a="http://schemas.openxmlformats.org/drawingml/2006/main">
              <a:ext uri="{FF2B5EF4-FFF2-40B4-BE49-F238E27FC236}">
                <a16:creationId xmlns:a16="http://schemas.microsoft.com/office/drawing/2014/main" id="{9DB4B5B3-B1AC-4D85-9E0A-B1A6FFE5B420}"/>
              </a:ext>
            </a:extLst>
          </p:cNvPr>
          <p:cNvSpPr>
            <a:spLocks xmlns:a="http://schemas.openxmlformats.org/drawingml/2006/main" noGrp="1"/>
          </p:cNvSpPr>
          <p:nvPr/>
        </p:nvSpPr>
        <p:spPr>
          <a:xfrm xmlns:a="http://schemas.openxmlformats.org/drawingml/2006/main">
            <a:off x="8223250" y="20764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4" name="S25_ATTACK_ARROW_2">
            <a:extLst xmlns:a="http://schemas.openxmlformats.org/drawingml/2006/main">
              <a:ext uri="{FF2B5EF4-FFF2-40B4-BE49-F238E27FC236}">
                <a16:creationId xmlns:a16="http://schemas.microsoft.com/office/drawing/2014/main" id="{0162A848-540D-49A7-9154-414D31A08BFE}"/>
              </a:ext>
            </a:extLst>
          </p:cNvPr>
          <p:cNvSpPr>
            <a:spLocks xmlns:a="http://schemas.openxmlformats.org/drawingml/2006/main" noGrp="1"/>
          </p:cNvSpPr>
          <p:nvPr/>
        </p:nvSpPr>
        <p:spPr>
          <a:xfrm xmlns:a="http://schemas.openxmlformats.org/drawingml/2006/main">
            <a:off x="10007600" y="20764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5" name="S25_ATTACK_NODE_1">
            <a:extLst xmlns:a="http://schemas.openxmlformats.org/drawingml/2006/main">
              <a:ext uri="{FF2B5EF4-FFF2-40B4-BE49-F238E27FC236}">
                <a16:creationId xmlns:a16="http://schemas.microsoft.com/office/drawing/2014/main" id="{8BA6B366-CB73-4055-9269-A94C7F3932D5}"/>
              </a:ext>
            </a:extLst>
          </p:cNvPr>
          <p:cNvSpPr>
            <a:spLocks xmlns:a="http://schemas.openxmlformats.org/drawingml/2006/main" noGrp="1"/>
          </p:cNvSpPr>
          <p:nvPr/>
        </p:nvSpPr>
        <p:spPr>
          <a:xfrm xmlns:a="http://schemas.openxmlformats.org/drawingml/2006/main">
            <a:off x="67056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 OR 1=1 -- </a:t>
            </a:r>
          </a:p>
        </p:txBody>
      </p:sp>
      <p:sp>
        <p:nvSpPr>
          <p:cNvPr id="16" name="S25_ATTACK_NODE_2">
            <a:extLst xmlns:a="http://schemas.openxmlformats.org/drawingml/2006/main">
              <a:ext uri="{FF2B5EF4-FFF2-40B4-BE49-F238E27FC236}">
                <a16:creationId xmlns:a16="http://schemas.microsoft.com/office/drawing/2014/main" id="{43DBCB2E-980D-4911-8243-1981C2FE41D5}"/>
              </a:ext>
            </a:extLst>
          </p:cNvPr>
          <p:cNvSpPr>
            <a:spLocks xmlns:a="http://schemas.openxmlformats.org/drawingml/2006/main" noGrp="1"/>
          </p:cNvSpPr>
          <p:nvPr/>
        </p:nvSpPr>
        <p:spPr>
          <a:xfrm xmlns:a="http://schemas.openxmlformats.org/drawingml/2006/main">
            <a:off x="848995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concatenated SQL</a:t>
            </a:r>
          </a:p>
        </p:txBody>
      </p:sp>
      <p:sp>
        <p:nvSpPr>
          <p:cNvPr id="17" name="S25_ATTACK_NODE_3">
            <a:extLst xmlns:a="http://schemas.openxmlformats.org/drawingml/2006/main">
              <a:ext uri="{FF2B5EF4-FFF2-40B4-BE49-F238E27FC236}">
                <a16:creationId xmlns:a16="http://schemas.microsoft.com/office/drawing/2014/main" id="{D9ECDBCF-D985-4CD5-BA6D-20A14E338ACF}"/>
              </a:ext>
            </a:extLst>
          </p:cNvPr>
          <p:cNvSpPr>
            <a:spLocks xmlns:a="http://schemas.openxmlformats.org/drawingml/2006/main" noGrp="1"/>
          </p:cNvSpPr>
          <p:nvPr/>
        </p:nvSpPr>
        <p:spPr>
          <a:xfrm xmlns:a="http://schemas.openxmlformats.org/drawingml/2006/main">
            <a:off x="102743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 rows</a:t>
            </a:r>
          </a:p>
        </p:txBody>
      </p:sp>
      <p:sp>
        <p:nvSpPr>
          <p:cNvPr id="18" name="S25_SQL">
            <a:extLst xmlns:a="http://schemas.openxmlformats.org/drawingml/2006/main">
              <a:ext uri="{FF2B5EF4-FFF2-40B4-BE49-F238E27FC236}">
                <a16:creationId xmlns:a16="http://schemas.microsoft.com/office/drawing/2014/main" id="{828FEA3F-AFB8-4C9F-A4E0-887FC04B1AA9}"/>
              </a:ext>
            </a:extLst>
          </p:cNvPr>
          <p:cNvSpPr>
            <a:spLocks xmlns:a="http://schemas.openxmlformats.org/drawingml/2006/main" noGrp="1"/>
          </p:cNvSpPr>
          <p:nvPr/>
        </p:nvSpPr>
        <p:spPr>
          <a:xfrm xmlns:a="http://schemas.openxmlformats.org/drawingml/2006/main">
            <a:off x="533400" y="3028950"/>
            <a:ext cx="6191250" cy="23812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vulnerable_search</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query = "SELECT ... WHERE name LIKE '%" + term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payload local cố định</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OR 1=1 --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expanded result set: data extraction cơ bản</a:t>
            </a:r>
          </a:p>
        </p:txBody>
      </p:sp>
      <p:sp>
        <p:nvSpPr>
          <p:cNvPr id="19" name="PH_S25_Lab05_Lab05_search_vulnerable_expanded_results_png_FRAME">
            <a:extLst xmlns:a="http://schemas.openxmlformats.org/drawingml/2006/main">
              <a:ext uri="{FF2B5EF4-FFF2-40B4-BE49-F238E27FC236}">
                <a16:creationId xmlns:a16="http://schemas.microsoft.com/office/drawing/2014/main" id="{916C8E6C-356B-40C7-B1D0-507537E116F8}"/>
              </a:ext>
            </a:extLst>
          </p:cNvPr>
          <p:cNvSpPr>
            <a:spLocks xmlns:a="http://schemas.openxmlformats.org/drawingml/2006/main" noGrp="1"/>
          </p:cNvSpPr>
          <p:nvPr/>
        </p:nvSpPr>
        <p:spPr>
          <a:xfrm xmlns:a="http://schemas.openxmlformats.org/drawingml/2006/main">
            <a:off x="7058025" y="3000375"/>
            <a:ext cx="4629150" cy="24384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0" name="PH_S25_Lab05_Lab05_search_vulnerable_expanded_results_png_IMAGE">
            <a:extLst xmlns:a="http://schemas.openxmlformats.org/drawingml/2006/main">
              <a:ext uri="{FF2B5EF4-FFF2-40B4-BE49-F238E27FC236}">
                <a16:creationId xmlns:a16="http://schemas.microsoft.com/office/drawing/2014/main" id="{4E0723F0-BDF1-4A58-A26F-8826697F282E}"/>
              </a:ext>
            </a:extLst>
          </p:cNvPr>
          <p:cNvSpPr>
            <a:spLocks xmlns:a="http://schemas.openxmlformats.org/drawingml/2006/main" noGrp="1"/>
          </p:cNvSpPr>
          <p:nvPr/>
        </p:nvSpPr>
        <p:spPr>
          <a:xfrm xmlns:a="http://schemas.openxmlformats.org/drawingml/2006/main">
            <a:off x="7086600" y="3028950"/>
            <a:ext cx="4572000" cy="23812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1" name="PH_S25_Lab05_Lab05_search_vulnerable_expanded_results_png_ICON">
            <a:extLst xmlns:a="http://schemas.openxmlformats.org/drawingml/2006/main">
              <a:ext uri="{FF2B5EF4-FFF2-40B4-BE49-F238E27FC236}">
                <a16:creationId xmlns:a16="http://schemas.microsoft.com/office/drawing/2014/main" id="{015E6426-77CB-4645-A783-8094E24D4096}"/>
              </a:ext>
            </a:extLst>
          </p:cNvPr>
          <p:cNvSpPr>
            <a:spLocks xmlns:a="http://schemas.openxmlformats.org/drawingml/2006/main" noGrp="1"/>
          </p:cNvSpPr>
          <p:nvPr/>
        </p:nvSpPr>
        <p:spPr>
          <a:xfrm xmlns:a="http://schemas.openxmlformats.org/drawingml/2006/main">
            <a:off x="7239000" y="31718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2" name="PH_S25_Lab05_Lab05_search_vulnerable_expanded_results_png_INSTRUCTION">
            <a:extLst xmlns:a="http://schemas.openxmlformats.org/drawingml/2006/main">
              <a:ext uri="{FF2B5EF4-FFF2-40B4-BE49-F238E27FC236}">
                <a16:creationId xmlns:a16="http://schemas.microsoft.com/office/drawing/2014/main" id="{CF4248D0-F3F6-4EE2-AE8E-A42089E113D4}"/>
              </a:ext>
            </a:extLst>
          </p:cNvPr>
          <p:cNvSpPr>
            <a:spLocks xmlns:a="http://schemas.openxmlformats.org/drawingml/2006/main" noGrp="1"/>
          </p:cNvSpPr>
          <p:nvPr/>
        </p:nvSpPr>
        <p:spPr>
          <a:xfrm xmlns:a="http://schemas.openxmlformats.org/drawingml/2006/main">
            <a:off x="7753350" y="3200400"/>
            <a:ext cx="37338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Lab05_search_vulnerable_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expanded_results.png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3" name="PH_S25_Lab05_Lab05_search_vulnerable_expanded_results_png_CAPTION">
            <a:extLst xmlns:a="http://schemas.openxmlformats.org/drawingml/2006/main">
              <a:ext uri="{FF2B5EF4-FFF2-40B4-BE49-F238E27FC236}">
                <a16:creationId xmlns:a16="http://schemas.microsoft.com/office/drawing/2014/main" id="{6B943445-0A38-4E59-B80B-0949F715643B}"/>
              </a:ext>
            </a:extLst>
          </p:cNvPr>
          <p:cNvSpPr>
            <a:spLocks xmlns:a="http://schemas.openxmlformats.org/drawingml/2006/main" noGrp="1"/>
          </p:cNvSpPr>
          <p:nvPr/>
        </p:nvSpPr>
        <p:spPr>
          <a:xfrm xmlns:a="http://schemas.openxmlformats.org/drawingml/2006/main">
            <a:off x="7086600" y="5000625"/>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Vulnerable search trả result set mở rộng</a:t>
            </a:r>
          </a:p>
        </p:txBody>
      </p:sp>
      <p:sp>
        <p:nvSpPr>
          <p:cNvPr id="24" name="S25_EVIDENCE_H0">
            <a:extLst xmlns:a="http://schemas.openxmlformats.org/drawingml/2006/main">
              <a:ext uri="{FF2B5EF4-FFF2-40B4-BE49-F238E27FC236}">
                <a16:creationId xmlns:a16="http://schemas.microsoft.com/office/drawing/2014/main" id="{6AAD3A6D-5D1B-4E1C-BA04-65F90E835E18}"/>
              </a:ext>
            </a:extLst>
          </p:cNvPr>
          <p:cNvSpPr>
            <a:spLocks xmlns:a="http://schemas.openxmlformats.org/drawingml/2006/main" noGrp="1"/>
          </p:cNvSpPr>
          <p:nvPr/>
        </p:nvSpPr>
        <p:spPr>
          <a:xfrm xmlns:a="http://schemas.openxmlformats.org/drawingml/2006/main">
            <a:off x="533400" y="5657850"/>
            <a:ext cx="2857500" cy="2667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BASELINE</a:t>
            </a:r>
          </a:p>
        </p:txBody>
      </p:sp>
      <p:sp>
        <p:nvSpPr>
          <p:cNvPr id="25" name="S25_EVIDENCE_H1">
            <a:extLst xmlns:a="http://schemas.openxmlformats.org/drawingml/2006/main">
              <a:ext uri="{FF2B5EF4-FFF2-40B4-BE49-F238E27FC236}">
                <a16:creationId xmlns:a16="http://schemas.microsoft.com/office/drawing/2014/main" id="{CFB92089-9022-4411-94C3-091863009A30}"/>
              </a:ext>
            </a:extLst>
          </p:cNvPr>
          <p:cNvSpPr>
            <a:spLocks xmlns:a="http://schemas.openxmlformats.org/drawingml/2006/main" noGrp="1"/>
          </p:cNvSpPr>
          <p:nvPr/>
        </p:nvSpPr>
        <p:spPr>
          <a:xfrm xmlns:a="http://schemas.openxmlformats.org/drawingml/2006/main">
            <a:off x="3390900" y="5657850"/>
            <a:ext cx="4095750" cy="2667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INJECTION</a:t>
            </a:r>
          </a:p>
        </p:txBody>
      </p:sp>
      <p:sp>
        <p:nvSpPr>
          <p:cNvPr id="26" name="S25_EVIDENCE_H2">
            <a:extLst xmlns:a="http://schemas.openxmlformats.org/drawingml/2006/main">
              <a:ext uri="{FF2B5EF4-FFF2-40B4-BE49-F238E27FC236}">
                <a16:creationId xmlns:a16="http://schemas.microsoft.com/office/drawing/2014/main" id="{9BEAE318-0F93-435E-B009-E1A125AC08FD}"/>
              </a:ext>
            </a:extLst>
          </p:cNvPr>
          <p:cNvSpPr>
            <a:spLocks xmlns:a="http://schemas.openxmlformats.org/drawingml/2006/main" noGrp="1"/>
          </p:cNvSpPr>
          <p:nvPr/>
        </p:nvSpPr>
        <p:spPr>
          <a:xfrm xmlns:a="http://schemas.openxmlformats.org/drawingml/2006/main">
            <a:off x="7486650" y="5657850"/>
            <a:ext cx="4171950" cy="2667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ĐƯỢC PHÉP</a:t>
            </a:r>
          </a:p>
        </p:txBody>
      </p:sp>
      <p:sp>
        <p:nvSpPr>
          <p:cNvPr id="27" name="S25_EVIDENCE_R0C0">
            <a:extLst xmlns:a="http://schemas.openxmlformats.org/drawingml/2006/main">
              <a:ext uri="{FF2B5EF4-FFF2-40B4-BE49-F238E27FC236}">
                <a16:creationId xmlns:a16="http://schemas.microsoft.com/office/drawing/2014/main" id="{68466EF8-3ADC-4622-AC01-79BC52B2A158}"/>
              </a:ext>
            </a:extLst>
          </p:cNvPr>
          <p:cNvSpPr>
            <a:spLocks xmlns:a="http://schemas.openxmlformats.org/drawingml/2006/main" noGrp="1"/>
          </p:cNvSpPr>
          <p:nvPr/>
        </p:nvSpPr>
        <p:spPr>
          <a:xfrm xmlns:a="http://schemas.openxmlformats.org/drawingml/2006/main">
            <a:off x="533400" y="5924550"/>
            <a:ext cx="2857500" cy="2667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USB</a:t>
            </a:r>
          </a:p>
        </p:txBody>
      </p:sp>
      <p:sp>
        <p:nvSpPr>
          <p:cNvPr id="28" name="S25_EVIDENCE_R0C1">
            <a:extLst xmlns:a="http://schemas.openxmlformats.org/drawingml/2006/main">
              <a:ext uri="{FF2B5EF4-FFF2-40B4-BE49-F238E27FC236}">
                <a16:creationId xmlns:a16="http://schemas.microsoft.com/office/drawing/2014/main" id="{82FD1EA8-1EDA-4C60-AB78-D45C8B9D5707}"/>
              </a:ext>
            </a:extLst>
          </p:cNvPr>
          <p:cNvSpPr>
            <a:spLocks xmlns:a="http://schemas.openxmlformats.org/drawingml/2006/main" noGrp="1"/>
          </p:cNvSpPr>
          <p:nvPr/>
        </p:nvSpPr>
        <p:spPr>
          <a:xfrm xmlns:a="http://schemas.openxmlformats.org/drawingml/2006/main">
            <a:off x="3390900" y="5924550"/>
            <a:ext cx="4095750" cy="2667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expanded result set</a:t>
            </a:r>
          </a:p>
        </p:txBody>
      </p:sp>
      <p:sp>
        <p:nvSpPr>
          <p:cNvPr id="29" name="S25_EVIDENCE_R0C2">
            <a:extLst xmlns:a="http://schemas.openxmlformats.org/drawingml/2006/main">
              <a:ext uri="{FF2B5EF4-FFF2-40B4-BE49-F238E27FC236}">
                <a16:creationId xmlns:a16="http://schemas.microsoft.com/office/drawing/2014/main" id="{76A5D94E-83A4-4005-A25E-F8101B869B11}"/>
              </a:ext>
            </a:extLst>
          </p:cNvPr>
          <p:cNvSpPr>
            <a:spLocks xmlns:a="http://schemas.openxmlformats.org/drawingml/2006/main" noGrp="1"/>
          </p:cNvSpPr>
          <p:nvPr/>
        </p:nvSpPr>
        <p:spPr>
          <a:xfrm xmlns:a="http://schemas.openxmlformats.org/drawingml/2006/main">
            <a:off x="7486650" y="5924550"/>
            <a:ext cx="4171950" cy="2667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SELECT-only local</a:t>
            </a:r>
          </a:p>
        </p:txBody>
      </p:sp>
    </p:spTree>
    <p:extLst>
      <p:ext uri="{BB962C8B-B14F-4D97-AF65-F5344CB8AC3E}">
        <p14:creationId xmlns:p14="http://schemas.microsoft.com/office/powerpoint/2010/main" val="429565597"/>
      </p:ext>
    </p:extLst>
  </p:cSld>
</p:sld>
</file>

<file path=ppt/slides/slide2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9" name="S26_EYEBROW">
            <a:extLst xmlns:a="http://schemas.openxmlformats.org/drawingml/2006/main">
              <a:ext uri="{FF2B5EF4-FFF2-40B4-BE49-F238E27FC236}">
                <a16:creationId xmlns:a16="http://schemas.microsoft.com/office/drawing/2014/main" id="{4B5BE9CB-15BC-4344-8D8B-F6AA18DF30A2}"/>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6_TITLE">
            <a:extLst xmlns:a="http://schemas.openxmlformats.org/drawingml/2006/main">
              <a:ext uri="{FF2B5EF4-FFF2-40B4-BE49-F238E27FC236}">
                <a16:creationId xmlns:a16="http://schemas.microsoft.com/office/drawing/2014/main" id="{B3516E61-14E4-4B58-8B8C-1D1C64632CDF}"/>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Prepared statement giữ code và data tách rời</a:t>
            </a:r>
          </a:p>
        </p:txBody>
      </p:sp>
      <p:sp>
        <p:nvSpPr>
          <p:cNvPr id="3" name="S26_SUBTITLE">
            <a:extLst xmlns:a="http://schemas.openxmlformats.org/drawingml/2006/main">
              <a:ext uri="{FF2B5EF4-FFF2-40B4-BE49-F238E27FC236}">
                <a16:creationId xmlns:a16="http://schemas.microsoft.com/office/drawing/2014/main" id="{1F1CD851-28E9-4144-9517-5D2038BB0AA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Cùng payload được bind như username literal và bị từ chối.</a:t>
            </a:r>
          </a:p>
        </p:txBody>
      </p:sp>
      <p:sp>
        <p:nvSpPr>
          <p:cNvPr id="4" name="S26_TITLE_RULE">
            <a:extLst xmlns:a="http://schemas.openxmlformats.org/drawingml/2006/main">
              <a:ext uri="{FF2B5EF4-FFF2-40B4-BE49-F238E27FC236}">
                <a16:creationId xmlns:a16="http://schemas.microsoft.com/office/drawing/2014/main" id="{56DDA07B-6F56-47E9-83AD-3C11332A54E7}"/>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6_FOOTER_RULE">
            <a:extLst xmlns:a="http://schemas.openxmlformats.org/drawingml/2006/main">
              <a:ext uri="{FF2B5EF4-FFF2-40B4-BE49-F238E27FC236}">
                <a16:creationId xmlns:a16="http://schemas.microsoft.com/office/drawing/2014/main" id="{408570F8-0E9E-4177-86DE-32BD17122C93}"/>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6_SOURCE">
            <a:extLst xmlns:a="http://schemas.openxmlformats.org/drawingml/2006/main">
              <a:ext uri="{FF2B5EF4-FFF2-40B4-BE49-F238E27FC236}">
                <a16:creationId xmlns:a16="http://schemas.microsoft.com/office/drawing/2014/main" id="{92085968-EEBA-4B0F-AAA7-C2762787BA3E}"/>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Lab05/secure_queries.py · auth_service.py · seed.py</a:t>
            </a:r>
          </a:p>
        </p:txBody>
      </p:sp>
      <p:sp>
        <p:nvSpPr>
          <p:cNvPr id="7" name="S26_NUMBER">
            <a:extLst xmlns:a="http://schemas.openxmlformats.org/drawingml/2006/main">
              <a:ext uri="{FF2B5EF4-FFF2-40B4-BE49-F238E27FC236}">
                <a16:creationId xmlns:a16="http://schemas.microsoft.com/office/drawing/2014/main" id="{10AA0390-8AE0-45F5-B85D-0B638C205AC0}"/>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26</a:t>
            </a:r>
          </a:p>
        </p:txBody>
      </p:sp>
      <p:sp>
        <p:nvSpPr>
          <p:cNvPr id="8" name="S26_CODE">
            <a:extLst xmlns:a="http://schemas.openxmlformats.org/drawingml/2006/main">
              <a:ext uri="{FF2B5EF4-FFF2-40B4-BE49-F238E27FC236}">
                <a16:creationId xmlns:a16="http://schemas.microsoft.com/office/drawing/2014/main" id="{8F78BEF3-C167-4D2C-A104-8394F9DA810E}"/>
              </a:ext>
            </a:extLst>
          </p:cNvPr>
          <p:cNvSpPr>
            <a:spLocks xmlns:a="http://schemas.openxmlformats.org/drawingml/2006/main" noGrp="1"/>
          </p:cNvSpPr>
          <p:nvPr/>
        </p:nvSpPr>
        <p:spPr>
          <a:xfrm xmlns:a="http://schemas.openxmlformats.org/drawingml/2006/main">
            <a:off x="533400" y="1752600"/>
            <a:ext cx="6286500" cy="23812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sql = "SELECT id, username, password_hash, role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FROM users WHERE username =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row = conn.execute(sql, (username,)).fetchone()</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password: pbkdf2:sha256:600000</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cùng payload vẫn chỉ là data</a:t>
            </a:r>
          </a:p>
        </p:txBody>
      </p:sp>
      <p:sp>
        <p:nvSpPr>
          <p:cNvPr id="9" name="PH_S26_Lab05_43_secure_login_same_payload_png_FRAME">
            <a:extLst xmlns:a="http://schemas.openxmlformats.org/drawingml/2006/main">
              <a:ext uri="{FF2B5EF4-FFF2-40B4-BE49-F238E27FC236}">
                <a16:creationId xmlns:a16="http://schemas.microsoft.com/office/drawing/2014/main" id="{DCE8017D-D3A2-42A5-9F8A-1591E9EF5289}"/>
              </a:ext>
            </a:extLst>
          </p:cNvPr>
          <p:cNvSpPr>
            <a:spLocks xmlns:a="http://schemas.openxmlformats.org/drawingml/2006/main" noGrp="1"/>
          </p:cNvSpPr>
          <p:nvPr/>
        </p:nvSpPr>
        <p:spPr>
          <a:xfrm xmlns:a="http://schemas.openxmlformats.org/drawingml/2006/main">
            <a:off x="7153275" y="1724025"/>
            <a:ext cx="45339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0" name="PH_S26_Lab05_43_secure_login_same_payload_png_IMAGE">
            <a:extLst xmlns:a="http://schemas.openxmlformats.org/drawingml/2006/main">
              <a:ext uri="{FF2B5EF4-FFF2-40B4-BE49-F238E27FC236}">
                <a16:creationId xmlns:a16="http://schemas.microsoft.com/office/drawing/2014/main" id="{684F2937-7EC2-430B-A8D4-80E7A6C5C389}"/>
              </a:ext>
            </a:extLst>
          </p:cNvPr>
          <p:cNvSpPr>
            <a:spLocks xmlns:a="http://schemas.openxmlformats.org/drawingml/2006/main" noGrp="1"/>
          </p:cNvSpPr>
          <p:nvPr/>
        </p:nvSpPr>
        <p:spPr>
          <a:xfrm xmlns:a="http://schemas.openxmlformats.org/drawingml/2006/main">
            <a:off x="7181850" y="1752600"/>
            <a:ext cx="44767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1" name="PH_S26_Lab05_43_secure_login_same_payload_png_ICON">
            <a:extLst xmlns:a="http://schemas.openxmlformats.org/drawingml/2006/main">
              <a:ext uri="{FF2B5EF4-FFF2-40B4-BE49-F238E27FC236}">
                <a16:creationId xmlns:a16="http://schemas.microsoft.com/office/drawing/2014/main" id="{8C5A4791-D05F-4B6D-A993-6127E8172A19}"/>
              </a:ext>
            </a:extLst>
          </p:cNvPr>
          <p:cNvSpPr>
            <a:spLocks xmlns:a="http://schemas.openxmlformats.org/drawingml/2006/main" noGrp="1"/>
          </p:cNvSpPr>
          <p:nvPr/>
        </p:nvSpPr>
        <p:spPr>
          <a:xfrm xmlns:a="http://schemas.openxmlformats.org/drawingml/2006/main">
            <a:off x="73342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2" name="PH_S26_Lab05_43_secure_login_same_payload_png_INSTRUCTION">
            <a:extLst xmlns:a="http://schemas.openxmlformats.org/drawingml/2006/main">
              <a:ext uri="{FF2B5EF4-FFF2-40B4-BE49-F238E27FC236}">
                <a16:creationId xmlns:a16="http://schemas.microsoft.com/office/drawing/2014/main" id="{BC818165-08F9-4740-A55A-89871477A890}"/>
              </a:ext>
            </a:extLst>
          </p:cNvPr>
          <p:cNvSpPr>
            <a:spLocks xmlns:a="http://schemas.openxmlformats.org/drawingml/2006/main" noGrp="1"/>
          </p:cNvSpPr>
          <p:nvPr/>
        </p:nvSpPr>
        <p:spPr>
          <a:xfrm xmlns:a="http://schemas.openxmlformats.org/drawingml/2006/main">
            <a:off x="7848600" y="1924050"/>
            <a:ext cx="3638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43_secure_login_same_payload.png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3" name="PH_S26_Lab05_43_secure_login_same_payload_png_CAPTION">
            <a:extLst xmlns:a="http://schemas.openxmlformats.org/drawingml/2006/main">
              <a:ext uri="{FF2B5EF4-FFF2-40B4-BE49-F238E27FC236}">
                <a16:creationId xmlns:a16="http://schemas.microsoft.com/office/drawing/2014/main" id="{8FE034AB-FCB2-4471-A950-6F294058307E}"/>
              </a:ext>
            </a:extLst>
          </p:cNvPr>
          <p:cNvSpPr>
            <a:spLocks xmlns:a="http://schemas.openxmlformats.org/drawingml/2006/main" noGrp="1"/>
          </p:cNvSpPr>
          <p:nvPr/>
        </p:nvSpPr>
        <p:spPr>
          <a:xfrm xmlns:a="http://schemas.openxmlformats.org/drawingml/2006/main">
            <a:off x="7181850" y="31337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Secure login từ chối cùng payload</a:t>
            </a:r>
          </a:p>
        </p:txBody>
      </p:sp>
      <p:sp>
        <p:nvSpPr>
          <p:cNvPr id="14" name="PH_S26_Lab05_Lab05_search_secure_same_payload_png_FRAME">
            <a:extLst xmlns:a="http://schemas.openxmlformats.org/drawingml/2006/main">
              <a:ext uri="{FF2B5EF4-FFF2-40B4-BE49-F238E27FC236}">
                <a16:creationId xmlns:a16="http://schemas.microsoft.com/office/drawing/2014/main" id="{A6690254-4A0A-43C5-AB04-99D100A35A7F}"/>
              </a:ext>
            </a:extLst>
          </p:cNvPr>
          <p:cNvSpPr>
            <a:spLocks xmlns:a="http://schemas.openxmlformats.org/drawingml/2006/main" noGrp="1"/>
          </p:cNvSpPr>
          <p:nvPr/>
        </p:nvSpPr>
        <p:spPr>
          <a:xfrm xmlns:a="http://schemas.openxmlformats.org/drawingml/2006/main">
            <a:off x="7153275" y="3857625"/>
            <a:ext cx="45339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5" name="PH_S26_Lab05_Lab05_search_secure_same_payload_png_IMAGE">
            <a:extLst xmlns:a="http://schemas.openxmlformats.org/drawingml/2006/main">
              <a:ext uri="{FF2B5EF4-FFF2-40B4-BE49-F238E27FC236}">
                <a16:creationId xmlns:a16="http://schemas.microsoft.com/office/drawing/2014/main" id="{EDFF9555-3089-428B-8A97-7F4FE9E48607}"/>
              </a:ext>
            </a:extLst>
          </p:cNvPr>
          <p:cNvSpPr>
            <a:spLocks xmlns:a="http://schemas.openxmlformats.org/drawingml/2006/main" noGrp="1"/>
          </p:cNvSpPr>
          <p:nvPr/>
        </p:nvSpPr>
        <p:spPr>
          <a:xfrm xmlns:a="http://schemas.openxmlformats.org/drawingml/2006/main">
            <a:off x="7181850" y="3886200"/>
            <a:ext cx="44767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6" name="PH_S26_Lab05_Lab05_search_secure_same_payload_png_ICON">
            <a:extLst xmlns:a="http://schemas.openxmlformats.org/drawingml/2006/main">
              <a:ext uri="{FF2B5EF4-FFF2-40B4-BE49-F238E27FC236}">
                <a16:creationId xmlns:a16="http://schemas.microsoft.com/office/drawing/2014/main" id="{9A80CE9D-034E-4016-AABC-175F1F259B31}"/>
              </a:ext>
            </a:extLst>
          </p:cNvPr>
          <p:cNvSpPr>
            <a:spLocks xmlns:a="http://schemas.openxmlformats.org/drawingml/2006/main" noGrp="1"/>
          </p:cNvSpPr>
          <p:nvPr/>
        </p:nvSpPr>
        <p:spPr>
          <a:xfrm xmlns:a="http://schemas.openxmlformats.org/drawingml/2006/main">
            <a:off x="7334250" y="40290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7" name="PH_S26_Lab05_Lab05_search_secure_same_payload_png_INSTRUCTION">
            <a:extLst xmlns:a="http://schemas.openxmlformats.org/drawingml/2006/main">
              <a:ext uri="{FF2B5EF4-FFF2-40B4-BE49-F238E27FC236}">
                <a16:creationId xmlns:a16="http://schemas.microsoft.com/office/drawing/2014/main" id="{E21EF41F-CF74-4A31-A5C0-5D4F41F905C4}"/>
              </a:ext>
            </a:extLst>
          </p:cNvPr>
          <p:cNvSpPr>
            <a:spLocks xmlns:a="http://schemas.openxmlformats.org/drawingml/2006/main" noGrp="1"/>
          </p:cNvSpPr>
          <p:nvPr/>
        </p:nvSpPr>
        <p:spPr>
          <a:xfrm xmlns:a="http://schemas.openxmlformats.org/drawingml/2006/main">
            <a:off x="7848600" y="4057650"/>
            <a:ext cx="3638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Lab05_search_secure_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same_payload.png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8" name="PH_S26_Lab05_Lab05_search_secure_same_payload_png_CAPTION">
            <a:extLst xmlns:a="http://schemas.openxmlformats.org/drawingml/2006/main">
              <a:ext uri="{FF2B5EF4-FFF2-40B4-BE49-F238E27FC236}">
                <a16:creationId xmlns:a16="http://schemas.microsoft.com/office/drawing/2014/main" id="{573508DB-F2CB-4AF5-9E23-B5262E6FA015}"/>
              </a:ext>
            </a:extLst>
          </p:cNvPr>
          <p:cNvSpPr>
            <a:spLocks xmlns:a="http://schemas.openxmlformats.org/drawingml/2006/main" noGrp="1"/>
          </p:cNvSpPr>
          <p:nvPr/>
        </p:nvSpPr>
        <p:spPr>
          <a:xfrm xmlns:a="http://schemas.openxmlformats.org/drawingml/2006/main">
            <a:off x="7181850" y="52673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Secure search với cùng payload</a:t>
            </a:r>
          </a:p>
        </p:txBody>
      </p:sp>
      <p:sp>
        <p:nvSpPr>
          <p:cNvPr id="19" name="S26_LAYERS_H0">
            <a:extLst xmlns:a="http://schemas.openxmlformats.org/drawingml/2006/main">
              <a:ext uri="{FF2B5EF4-FFF2-40B4-BE49-F238E27FC236}">
                <a16:creationId xmlns:a16="http://schemas.microsoft.com/office/drawing/2014/main" id="{1D1D291B-0E1C-47DF-A8BF-84123895F443}"/>
              </a:ext>
            </a:extLst>
          </p:cNvPr>
          <p:cNvSpPr>
            <a:spLocks xmlns:a="http://schemas.openxmlformats.org/drawingml/2006/main" noGrp="1"/>
          </p:cNvSpPr>
          <p:nvPr/>
        </p:nvSpPr>
        <p:spPr>
          <a:xfrm xmlns:a="http://schemas.openxmlformats.org/drawingml/2006/main">
            <a:off x="533400" y="4476750"/>
            <a:ext cx="2095500" cy="23622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20" name="S26_LAYERS_H1">
            <a:extLst xmlns:a="http://schemas.openxmlformats.org/drawingml/2006/main">
              <a:ext uri="{FF2B5EF4-FFF2-40B4-BE49-F238E27FC236}">
                <a16:creationId xmlns:a16="http://schemas.microsoft.com/office/drawing/2014/main" id="{44745695-E2B5-4DD3-94E1-36341659A1AA}"/>
              </a:ext>
            </a:extLst>
          </p:cNvPr>
          <p:cNvSpPr>
            <a:spLocks xmlns:a="http://schemas.openxmlformats.org/drawingml/2006/main" noGrp="1"/>
          </p:cNvSpPr>
          <p:nvPr/>
        </p:nvSpPr>
        <p:spPr>
          <a:xfrm xmlns:a="http://schemas.openxmlformats.org/drawingml/2006/main">
            <a:off x="2628900" y="4476750"/>
            <a:ext cx="4191000" cy="23622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VAI TRÒ</a:t>
            </a:r>
          </a:p>
        </p:txBody>
      </p:sp>
      <p:sp>
        <p:nvSpPr>
          <p:cNvPr id="21" name="S26_LAYERS_R0C0">
            <a:extLst xmlns:a="http://schemas.openxmlformats.org/drawingml/2006/main">
              <a:ext uri="{FF2B5EF4-FFF2-40B4-BE49-F238E27FC236}">
                <a16:creationId xmlns:a16="http://schemas.microsoft.com/office/drawing/2014/main" id="{1BAF25AD-B0DD-4DC4-92D1-199C9445FFC9}"/>
              </a:ext>
            </a:extLst>
          </p:cNvPr>
          <p:cNvSpPr>
            <a:spLocks xmlns:a="http://schemas.openxmlformats.org/drawingml/2006/main" noGrp="1"/>
          </p:cNvSpPr>
          <p:nvPr/>
        </p:nvSpPr>
        <p:spPr>
          <a:xfrm xmlns:a="http://schemas.openxmlformats.org/drawingml/2006/main">
            <a:off x="533400" y="4712970"/>
            <a:ext cx="20955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Parameter binding</a:t>
            </a:r>
          </a:p>
        </p:txBody>
      </p:sp>
      <p:sp>
        <p:nvSpPr>
          <p:cNvPr id="22" name="S26_LAYERS_R0C1">
            <a:extLst xmlns:a="http://schemas.openxmlformats.org/drawingml/2006/main">
              <a:ext uri="{FF2B5EF4-FFF2-40B4-BE49-F238E27FC236}">
                <a16:creationId xmlns:a16="http://schemas.microsoft.com/office/drawing/2014/main" id="{0A93F5A3-A5C8-43AA-98E7-12FDBD96D5A7}"/>
              </a:ext>
            </a:extLst>
          </p:cNvPr>
          <p:cNvSpPr>
            <a:spLocks xmlns:a="http://schemas.openxmlformats.org/drawingml/2006/main" noGrp="1"/>
          </p:cNvSpPr>
          <p:nvPr/>
        </p:nvSpPr>
        <p:spPr>
          <a:xfrm xmlns:a="http://schemas.openxmlformats.org/drawingml/2006/main">
            <a:off x="2628900" y="4712970"/>
            <a:ext cx="41910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root fix: cấu trúc SQL cố định</a:t>
            </a:r>
          </a:p>
        </p:txBody>
      </p:sp>
      <p:sp>
        <p:nvSpPr>
          <p:cNvPr id="23" name="S26_LAYERS_R1C0">
            <a:extLst xmlns:a="http://schemas.openxmlformats.org/drawingml/2006/main">
              <a:ext uri="{FF2B5EF4-FFF2-40B4-BE49-F238E27FC236}">
                <a16:creationId xmlns:a16="http://schemas.microsoft.com/office/drawing/2014/main" id="{DF7639A7-F134-4DAA-8742-5FBD6097A211}"/>
              </a:ext>
            </a:extLst>
          </p:cNvPr>
          <p:cNvSpPr>
            <a:spLocks xmlns:a="http://schemas.openxmlformats.org/drawingml/2006/main" noGrp="1"/>
          </p:cNvSpPr>
          <p:nvPr/>
        </p:nvSpPr>
        <p:spPr>
          <a:xfrm xmlns:a="http://schemas.openxmlformats.org/drawingml/2006/main">
            <a:off x="533400" y="4949190"/>
            <a:ext cx="20955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PBKDF2</a:t>
            </a:r>
          </a:p>
        </p:txBody>
      </p:sp>
      <p:sp>
        <p:nvSpPr>
          <p:cNvPr id="24" name="S26_LAYERS_R1C1">
            <a:extLst xmlns:a="http://schemas.openxmlformats.org/drawingml/2006/main">
              <a:ext uri="{FF2B5EF4-FFF2-40B4-BE49-F238E27FC236}">
                <a16:creationId xmlns:a16="http://schemas.microsoft.com/office/drawing/2014/main" id="{9A4E7454-2508-49A6-9FA6-ED57229A6E24}"/>
              </a:ext>
            </a:extLst>
          </p:cNvPr>
          <p:cNvSpPr>
            <a:spLocks xmlns:a="http://schemas.openxmlformats.org/drawingml/2006/main" noGrp="1"/>
          </p:cNvSpPr>
          <p:nvPr/>
        </p:nvSpPr>
        <p:spPr>
          <a:xfrm xmlns:a="http://schemas.openxmlformats.org/drawingml/2006/main">
            <a:off x="2628900" y="4949190"/>
            <a:ext cx="41910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bảo vệ mật khẩu lưu trữ</a:t>
            </a:r>
          </a:p>
        </p:txBody>
      </p:sp>
      <p:sp>
        <p:nvSpPr>
          <p:cNvPr id="25" name="S26_LAYERS_R2C0">
            <a:extLst xmlns:a="http://schemas.openxmlformats.org/drawingml/2006/main">
              <a:ext uri="{FF2B5EF4-FFF2-40B4-BE49-F238E27FC236}">
                <a16:creationId xmlns:a16="http://schemas.microsoft.com/office/drawing/2014/main" id="{F12006BF-E5C4-4A0F-96C7-61732405995C}"/>
              </a:ext>
            </a:extLst>
          </p:cNvPr>
          <p:cNvSpPr>
            <a:spLocks xmlns:a="http://schemas.openxmlformats.org/drawingml/2006/main" noGrp="1"/>
          </p:cNvSpPr>
          <p:nvPr/>
        </p:nvSpPr>
        <p:spPr>
          <a:xfrm xmlns:a="http://schemas.openxmlformats.org/drawingml/2006/main">
            <a:off x="533400" y="5185410"/>
            <a:ext cx="20955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Generic error</a:t>
            </a:r>
          </a:p>
        </p:txBody>
      </p:sp>
      <p:sp>
        <p:nvSpPr>
          <p:cNvPr id="26" name="S26_LAYERS_R2C1">
            <a:extLst xmlns:a="http://schemas.openxmlformats.org/drawingml/2006/main">
              <a:ext uri="{FF2B5EF4-FFF2-40B4-BE49-F238E27FC236}">
                <a16:creationId xmlns:a16="http://schemas.microsoft.com/office/drawing/2014/main" id="{FEBD3A8C-0C0C-46EA-8C20-65079304FABA}"/>
              </a:ext>
            </a:extLst>
          </p:cNvPr>
          <p:cNvSpPr>
            <a:spLocks xmlns:a="http://schemas.openxmlformats.org/drawingml/2006/main" noGrp="1"/>
          </p:cNvSpPr>
          <p:nvPr/>
        </p:nvSpPr>
        <p:spPr>
          <a:xfrm xmlns:a="http://schemas.openxmlformats.org/drawingml/2006/main">
            <a:off x="2628900" y="5185410"/>
            <a:ext cx="41910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lộ schema/query</a:t>
            </a:r>
          </a:p>
        </p:txBody>
      </p:sp>
      <p:sp>
        <p:nvSpPr>
          <p:cNvPr id="27" name="S26_LAYERS_R3C0">
            <a:extLst xmlns:a="http://schemas.openxmlformats.org/drawingml/2006/main">
              <a:ext uri="{FF2B5EF4-FFF2-40B4-BE49-F238E27FC236}">
                <a16:creationId xmlns:a16="http://schemas.microsoft.com/office/drawing/2014/main" id="{35B48B31-E3B4-4F84-B3BF-D9B388E48129}"/>
              </a:ext>
            </a:extLst>
          </p:cNvPr>
          <p:cNvSpPr>
            <a:spLocks xmlns:a="http://schemas.openxmlformats.org/drawingml/2006/main" noGrp="1"/>
          </p:cNvSpPr>
          <p:nvPr/>
        </p:nvSpPr>
        <p:spPr>
          <a:xfrm xmlns:a="http://schemas.openxmlformats.org/drawingml/2006/main">
            <a:off x="533400" y="5421630"/>
            <a:ext cx="20955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Least privilege</a:t>
            </a:r>
          </a:p>
        </p:txBody>
      </p:sp>
      <p:sp>
        <p:nvSpPr>
          <p:cNvPr id="28" name="S26_LAYERS_R3C1">
            <a:extLst xmlns:a="http://schemas.openxmlformats.org/drawingml/2006/main">
              <a:ext uri="{FF2B5EF4-FFF2-40B4-BE49-F238E27FC236}">
                <a16:creationId xmlns:a16="http://schemas.microsoft.com/office/drawing/2014/main" id="{9F70D174-E16E-43B0-8BC4-76E9141FFE13}"/>
              </a:ext>
            </a:extLst>
          </p:cNvPr>
          <p:cNvSpPr>
            <a:spLocks xmlns:a="http://schemas.openxmlformats.org/drawingml/2006/main" noGrp="1"/>
          </p:cNvSpPr>
          <p:nvPr/>
        </p:nvSpPr>
        <p:spPr>
          <a:xfrm xmlns:a="http://schemas.openxmlformats.org/drawingml/2006/main">
            <a:off x="2628900" y="5421630"/>
            <a:ext cx="41910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giảm blast radius</a:t>
            </a:r>
          </a:p>
        </p:txBody>
      </p:sp>
    </p:spTree>
    <p:extLst>
      <p:ext uri="{BB962C8B-B14F-4D97-AF65-F5344CB8AC3E}">
        <p14:creationId xmlns:p14="http://schemas.microsoft.com/office/powerpoint/2010/main" val="1941029159"/>
      </p:ext>
    </p:extLst>
  </p:cSld>
</p:sld>
</file>

<file path=ppt/slides/slide2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S27_EYEBROW">
            <a:extLst xmlns:a="http://schemas.openxmlformats.org/drawingml/2006/main">
              <a:ext uri="{FF2B5EF4-FFF2-40B4-BE49-F238E27FC236}">
                <a16:creationId xmlns:a16="http://schemas.microsoft.com/office/drawing/2014/main" id="{71D6B35C-3516-4998-AAF7-7F67327E23E5}"/>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7_TITLE">
            <a:extLst xmlns:a="http://schemas.openxmlformats.org/drawingml/2006/main">
              <a:ext uri="{FF2B5EF4-FFF2-40B4-BE49-F238E27FC236}">
                <a16:creationId xmlns:a16="http://schemas.microsoft.com/office/drawing/2014/main" id="{DD2D1944-4103-46CB-A8C9-ED1D8CAB3D6F}"/>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Defense in depth bắt đầu bằng query parameterized</a:t>
            </a:r>
          </a:p>
        </p:txBody>
      </p:sp>
      <p:sp>
        <p:nvSpPr>
          <p:cNvPr id="3" name="S27_SUBTITLE">
            <a:extLst xmlns:a="http://schemas.openxmlformats.org/drawingml/2006/main">
              <a:ext uri="{FF2B5EF4-FFF2-40B4-BE49-F238E27FC236}">
                <a16:creationId xmlns:a16="http://schemas.microsoft.com/office/drawing/2014/main" id="{C7900D50-0107-4D86-A752-28D4B889DE44}"/>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WAF, validation và logging hữu ích; không lớp nào sửa query nối chuỗi.</a:t>
            </a:r>
          </a:p>
        </p:txBody>
      </p:sp>
      <p:sp>
        <p:nvSpPr>
          <p:cNvPr id="4" name="S27_TITLE_RULE">
            <a:extLst xmlns:a="http://schemas.openxmlformats.org/drawingml/2006/main">
              <a:ext uri="{FF2B5EF4-FFF2-40B4-BE49-F238E27FC236}">
                <a16:creationId xmlns:a16="http://schemas.microsoft.com/office/drawing/2014/main" id="{918C3944-5DD9-42AA-923E-CC6D39A2B55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7_FOOTER_RULE">
            <a:extLst xmlns:a="http://schemas.openxmlformats.org/drawingml/2006/main">
              <a:ext uri="{FF2B5EF4-FFF2-40B4-BE49-F238E27FC236}">
                <a16:creationId xmlns:a16="http://schemas.microsoft.com/office/drawing/2014/main" id="{36FA362A-8F33-4E73-B6FF-9A5EB5D3509E}"/>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7_SOURCE">
            <a:extLst xmlns:a="http://schemas.openxmlformats.org/drawingml/2006/main">
              <a:ext uri="{FF2B5EF4-FFF2-40B4-BE49-F238E27FC236}">
                <a16:creationId xmlns:a16="http://schemas.microsoft.com/office/drawing/2014/main" id="{8D698B80-CCB8-42D9-8D84-C4AB4B9B956E}"/>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Lab05 · report Lab05</a:t>
            </a:r>
          </a:p>
        </p:txBody>
      </p:sp>
      <p:sp>
        <p:nvSpPr>
          <p:cNvPr id="7" name="S27_NUMBER">
            <a:extLst xmlns:a="http://schemas.openxmlformats.org/drawingml/2006/main">
              <a:ext uri="{FF2B5EF4-FFF2-40B4-BE49-F238E27FC236}">
                <a16:creationId xmlns:a16="http://schemas.microsoft.com/office/drawing/2014/main" id="{15F7D5B0-040F-4130-8D4A-E031989823D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27</a:t>
            </a:r>
          </a:p>
        </p:txBody>
      </p:sp>
      <p:sp>
        <p:nvSpPr>
          <p:cNvPr id="8" name="S27_LAYERS_ARROW_1">
            <a:extLst xmlns:a="http://schemas.openxmlformats.org/drawingml/2006/main">
              <a:ext uri="{FF2B5EF4-FFF2-40B4-BE49-F238E27FC236}">
                <a16:creationId xmlns:a16="http://schemas.microsoft.com/office/drawing/2014/main" id="{E0187CD8-AD8E-4623-96C3-0D6E333DC115}"/>
              </a:ext>
            </a:extLst>
          </p:cNvPr>
          <p:cNvSpPr>
            <a:spLocks xmlns:a="http://schemas.openxmlformats.org/drawingml/2006/main" noGrp="1"/>
          </p:cNvSpPr>
          <p:nvPr/>
        </p:nvSpPr>
        <p:spPr>
          <a:xfrm xmlns:a="http://schemas.openxmlformats.org/drawingml/2006/main">
            <a:off x="2260600"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27_LAYERS_ARROW_2">
            <a:extLst xmlns:a="http://schemas.openxmlformats.org/drawingml/2006/main">
              <a:ext uri="{FF2B5EF4-FFF2-40B4-BE49-F238E27FC236}">
                <a16:creationId xmlns:a16="http://schemas.microsoft.com/office/drawing/2014/main" id="{8C7429CE-5613-4E2D-ACB9-EB8AED36D155}"/>
              </a:ext>
            </a:extLst>
          </p:cNvPr>
          <p:cNvSpPr>
            <a:spLocks xmlns:a="http://schemas.openxmlformats.org/drawingml/2006/main" noGrp="1"/>
          </p:cNvSpPr>
          <p:nvPr/>
        </p:nvSpPr>
        <p:spPr>
          <a:xfrm xmlns:a="http://schemas.openxmlformats.org/drawingml/2006/main">
            <a:off x="4149725"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27_LAYERS_ARROW_3">
            <a:extLst xmlns:a="http://schemas.openxmlformats.org/drawingml/2006/main">
              <a:ext uri="{FF2B5EF4-FFF2-40B4-BE49-F238E27FC236}">
                <a16:creationId xmlns:a16="http://schemas.microsoft.com/office/drawing/2014/main" id="{231580EF-5410-4DFB-B787-2A9563D80176}"/>
              </a:ext>
            </a:extLst>
          </p:cNvPr>
          <p:cNvSpPr>
            <a:spLocks xmlns:a="http://schemas.openxmlformats.org/drawingml/2006/main" noGrp="1"/>
          </p:cNvSpPr>
          <p:nvPr/>
        </p:nvSpPr>
        <p:spPr>
          <a:xfrm xmlns:a="http://schemas.openxmlformats.org/drawingml/2006/main">
            <a:off x="6038850"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27_LAYERS_ARROW_4">
            <a:extLst xmlns:a="http://schemas.openxmlformats.org/drawingml/2006/main">
              <a:ext uri="{FF2B5EF4-FFF2-40B4-BE49-F238E27FC236}">
                <a16:creationId xmlns:a16="http://schemas.microsoft.com/office/drawing/2014/main" id="{F2D63E60-5367-47BA-A386-CDF2B6003500}"/>
              </a:ext>
            </a:extLst>
          </p:cNvPr>
          <p:cNvSpPr>
            <a:spLocks xmlns:a="http://schemas.openxmlformats.org/drawingml/2006/main" noGrp="1"/>
          </p:cNvSpPr>
          <p:nvPr/>
        </p:nvSpPr>
        <p:spPr>
          <a:xfrm xmlns:a="http://schemas.openxmlformats.org/drawingml/2006/main">
            <a:off x="7927975"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27_LAYERS_ARROW_5">
            <a:extLst xmlns:a="http://schemas.openxmlformats.org/drawingml/2006/main">
              <a:ext uri="{FF2B5EF4-FFF2-40B4-BE49-F238E27FC236}">
                <a16:creationId xmlns:a16="http://schemas.microsoft.com/office/drawing/2014/main" id="{4FA8CEBB-E7FA-43A6-BC2A-AB5B07D13D1E}"/>
              </a:ext>
            </a:extLst>
          </p:cNvPr>
          <p:cNvSpPr>
            <a:spLocks xmlns:a="http://schemas.openxmlformats.org/drawingml/2006/main" noGrp="1"/>
          </p:cNvSpPr>
          <p:nvPr/>
        </p:nvSpPr>
        <p:spPr>
          <a:xfrm xmlns:a="http://schemas.openxmlformats.org/drawingml/2006/main">
            <a:off x="9817100"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3" name="S27_LAYERS_NODE_1">
            <a:extLst xmlns:a="http://schemas.openxmlformats.org/drawingml/2006/main">
              <a:ext uri="{FF2B5EF4-FFF2-40B4-BE49-F238E27FC236}">
                <a16:creationId xmlns:a16="http://schemas.microsoft.com/office/drawing/2014/main" id="{693A59BD-53E4-4A73-B347-91D81D963912}"/>
              </a:ext>
            </a:extLst>
          </p:cNvPr>
          <p:cNvSpPr>
            <a:spLocks xmlns:a="http://schemas.openxmlformats.org/drawingml/2006/main" noGrp="1"/>
          </p:cNvSpPr>
          <p:nvPr/>
        </p:nvSpPr>
        <p:spPr>
          <a:xfrm xmlns:a="http://schemas.openxmlformats.org/drawingml/2006/main">
            <a:off x="533400"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TYPE / RANGE</a:t>
            </a:r>
          </a:p>
        </p:txBody>
      </p:sp>
      <p:sp>
        <p:nvSpPr>
          <p:cNvPr id="14" name="S27_LAYERS_NODE_2">
            <a:extLst xmlns:a="http://schemas.openxmlformats.org/drawingml/2006/main">
              <a:ext uri="{FF2B5EF4-FFF2-40B4-BE49-F238E27FC236}">
                <a16:creationId xmlns:a16="http://schemas.microsoft.com/office/drawing/2014/main" id="{CACA113B-736F-4987-AF36-B2012AEE56D5}"/>
              </a:ext>
            </a:extLst>
          </p:cNvPr>
          <p:cNvSpPr>
            <a:spLocks xmlns:a="http://schemas.openxmlformats.org/drawingml/2006/main" noGrp="1"/>
          </p:cNvSpPr>
          <p:nvPr/>
        </p:nvSpPr>
        <p:spPr>
          <a:xfrm xmlns:a="http://schemas.openxmlformats.org/drawingml/2006/main">
            <a:off x="2422525"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PARAMETERIZED</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QUERY</a:t>
            </a:r>
          </a:p>
        </p:txBody>
      </p:sp>
      <p:sp>
        <p:nvSpPr>
          <p:cNvPr id="15" name="S27_LAYERS_NODE_3">
            <a:extLst xmlns:a="http://schemas.openxmlformats.org/drawingml/2006/main">
              <a:ext uri="{FF2B5EF4-FFF2-40B4-BE49-F238E27FC236}">
                <a16:creationId xmlns:a16="http://schemas.microsoft.com/office/drawing/2014/main" id="{15CA9D38-1326-4772-903A-BAB7502210BF}"/>
              </a:ext>
            </a:extLst>
          </p:cNvPr>
          <p:cNvSpPr>
            <a:spLocks xmlns:a="http://schemas.openxmlformats.org/drawingml/2006/main" noGrp="1"/>
          </p:cNvSpPr>
          <p:nvPr/>
        </p:nvSpPr>
        <p:spPr>
          <a:xfrm xmlns:a="http://schemas.openxmlformats.org/drawingml/2006/main">
            <a:off x="4311650"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LEAST</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PRIVILEGE</a:t>
            </a:r>
          </a:p>
        </p:txBody>
      </p:sp>
      <p:sp>
        <p:nvSpPr>
          <p:cNvPr id="16" name="S27_LAYERS_NODE_4">
            <a:extLst xmlns:a="http://schemas.openxmlformats.org/drawingml/2006/main">
              <a:ext uri="{FF2B5EF4-FFF2-40B4-BE49-F238E27FC236}">
                <a16:creationId xmlns:a16="http://schemas.microsoft.com/office/drawing/2014/main" id="{D4D61FF7-5C66-441E-BBAC-E06D8D68E442}"/>
              </a:ext>
            </a:extLst>
          </p:cNvPr>
          <p:cNvSpPr>
            <a:spLocks xmlns:a="http://schemas.openxmlformats.org/drawingml/2006/main" noGrp="1"/>
          </p:cNvSpPr>
          <p:nvPr/>
        </p:nvSpPr>
        <p:spPr>
          <a:xfrm xmlns:a="http://schemas.openxmlformats.org/drawingml/2006/main">
            <a:off x="6200775"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GENERIC</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ERROR</a:t>
            </a:r>
          </a:p>
        </p:txBody>
      </p:sp>
      <p:sp>
        <p:nvSpPr>
          <p:cNvPr id="17" name="S27_LAYERS_NODE_5">
            <a:extLst xmlns:a="http://schemas.openxmlformats.org/drawingml/2006/main">
              <a:ext uri="{FF2B5EF4-FFF2-40B4-BE49-F238E27FC236}">
                <a16:creationId xmlns:a16="http://schemas.microsoft.com/office/drawing/2014/main" id="{6A49CDE0-49AA-4CB3-A95C-364E92EEAF74}"/>
              </a:ext>
            </a:extLst>
          </p:cNvPr>
          <p:cNvSpPr>
            <a:spLocks xmlns:a="http://schemas.openxmlformats.org/drawingml/2006/main" noGrp="1"/>
          </p:cNvSpPr>
          <p:nvPr/>
        </p:nvSpPr>
        <p:spPr>
          <a:xfrm xmlns:a="http://schemas.openxmlformats.org/drawingml/2006/main">
            <a:off x="8089900"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 / MONITOR</a:t>
            </a:r>
          </a:p>
        </p:txBody>
      </p:sp>
      <p:sp>
        <p:nvSpPr>
          <p:cNvPr id="18" name="S27_LAYERS_NODE_6">
            <a:extLst xmlns:a="http://schemas.openxmlformats.org/drawingml/2006/main">
              <a:ext uri="{FF2B5EF4-FFF2-40B4-BE49-F238E27FC236}">
                <a16:creationId xmlns:a16="http://schemas.microsoft.com/office/drawing/2014/main" id="{925EBDBE-E16A-4DDC-A284-859A04E9AFDD}"/>
              </a:ext>
            </a:extLst>
          </p:cNvPr>
          <p:cNvSpPr>
            <a:spLocks xmlns:a="http://schemas.openxmlformats.org/drawingml/2006/main" noGrp="1"/>
          </p:cNvSpPr>
          <p:nvPr/>
        </p:nvSpPr>
        <p:spPr>
          <a:xfrm xmlns:a="http://schemas.openxmlformats.org/drawingml/2006/main">
            <a:off x="9979025"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WAF</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SUPPORT</a:t>
            </a:r>
          </a:p>
        </p:txBody>
      </p:sp>
      <p:sp>
        <p:nvSpPr>
          <p:cNvPr id="19" name="S27_QA_1">
            <a:extLst xmlns:a="http://schemas.openxmlformats.org/drawingml/2006/main">
              <a:ext uri="{FF2B5EF4-FFF2-40B4-BE49-F238E27FC236}">
                <a16:creationId xmlns:a16="http://schemas.microsoft.com/office/drawing/2014/main" id="{8BF5F058-E19C-4207-9409-0AE7BEA4D99D}"/>
              </a:ext>
            </a:extLst>
          </p:cNvPr>
          <p:cNvSpPr>
            <a:spLocks xmlns:a="http://schemas.openxmlformats.org/drawingml/2006/main" noGrp="1"/>
          </p:cNvSpPr>
          <p:nvPr/>
        </p:nvSpPr>
        <p:spPr>
          <a:xfrm xmlns:a="http://schemas.openxmlformats.org/drawingml/2006/main">
            <a:off x="533400" y="31051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Lỗi ở tầng xây query, trước parser.</a:t>
            </a:r>
          </a:p>
        </p:txBody>
      </p:sp>
      <p:sp>
        <p:nvSpPr>
          <p:cNvPr id="20" name="S27_QA_2">
            <a:extLst xmlns:a="http://schemas.openxmlformats.org/drawingml/2006/main">
              <a:ext uri="{FF2B5EF4-FFF2-40B4-BE49-F238E27FC236}">
                <a16:creationId xmlns:a16="http://schemas.microsoft.com/office/drawing/2014/main" id="{1EAD9BFD-E4F2-4446-924E-6D7F0EA6AABE}"/>
              </a:ext>
            </a:extLst>
          </p:cNvPr>
          <p:cNvSpPr>
            <a:spLocks xmlns:a="http://schemas.openxmlformats.org/drawingml/2006/main" noGrp="1"/>
          </p:cNvSpPr>
          <p:nvPr/>
        </p:nvSpPr>
        <p:spPr>
          <a:xfrm xmlns:a="http://schemas.openxmlformats.org/drawingml/2006/main">
            <a:off x="4229100" y="31051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Escaping thủ công phụ thuộc dialect và ngữ cảnh.</a:t>
            </a:r>
          </a:p>
        </p:txBody>
      </p:sp>
      <p:sp>
        <p:nvSpPr>
          <p:cNvPr id="21" name="S27_QA_3">
            <a:extLst xmlns:a="http://schemas.openxmlformats.org/drawingml/2006/main">
              <a:ext uri="{FF2B5EF4-FFF2-40B4-BE49-F238E27FC236}">
                <a16:creationId xmlns:a16="http://schemas.microsoft.com/office/drawing/2014/main" id="{0A44757C-4858-40C9-8354-7FB63AAF1D1D}"/>
              </a:ext>
            </a:extLst>
          </p:cNvPr>
          <p:cNvSpPr>
            <a:spLocks xmlns:a="http://schemas.openxmlformats.org/drawingml/2006/main" noGrp="1"/>
          </p:cNvSpPr>
          <p:nvPr/>
        </p:nvSpPr>
        <p:spPr>
          <a:xfrm xmlns:a="http://schemas.openxmlformats.org/drawingml/2006/main">
            <a:off x="533400" y="407670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Prepared statement cố định SQL, bind data riêng.</a:t>
            </a:r>
          </a:p>
        </p:txBody>
      </p:sp>
      <p:sp>
        <p:nvSpPr>
          <p:cNvPr id="22" name="S27_QA_4">
            <a:extLst xmlns:a="http://schemas.openxmlformats.org/drawingml/2006/main">
              <a:ext uri="{FF2B5EF4-FFF2-40B4-BE49-F238E27FC236}">
                <a16:creationId xmlns:a16="http://schemas.microsoft.com/office/drawing/2014/main" id="{7281175B-F0C6-4F1D-B385-F2CAB5AA30FD}"/>
              </a:ext>
            </a:extLst>
          </p:cNvPr>
          <p:cNvSpPr>
            <a:spLocks xmlns:a="http://schemas.openxmlformats.org/drawingml/2006/main" noGrp="1"/>
          </p:cNvSpPr>
          <p:nvPr/>
        </p:nvSpPr>
        <p:spPr>
          <a:xfrm xmlns:a="http://schemas.openxmlformats.org/drawingml/2006/main">
            <a:off x="4229100" y="407670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ORM vẫn lỗi khi dùng raw/concat query.</a:t>
            </a:r>
          </a:p>
        </p:txBody>
      </p:sp>
      <p:sp>
        <p:nvSpPr>
          <p:cNvPr id="23" name="S27_QA_5">
            <a:extLst xmlns:a="http://schemas.openxmlformats.org/drawingml/2006/main">
              <a:ext uri="{FF2B5EF4-FFF2-40B4-BE49-F238E27FC236}">
                <a16:creationId xmlns:a16="http://schemas.microsoft.com/office/drawing/2014/main" id="{B826A396-4307-4A81-921B-B7533FF428FF}"/>
              </a:ext>
            </a:extLst>
          </p:cNvPr>
          <p:cNvSpPr>
            <a:spLocks xmlns:a="http://schemas.openxmlformats.org/drawingml/2006/main" noGrp="1"/>
          </p:cNvSpPr>
          <p:nvPr/>
        </p:nvSpPr>
        <p:spPr>
          <a:xfrm xmlns:a="http://schemas.openxmlformats.org/drawingml/2006/main">
            <a:off x="533400" y="50482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Lỗi chi tiết làm tăng khả năng dò schema.</a:t>
            </a:r>
          </a:p>
        </p:txBody>
      </p:sp>
      <p:sp>
        <p:nvSpPr>
          <p:cNvPr id="24" name="S27_QA_6">
            <a:extLst xmlns:a="http://schemas.openxmlformats.org/drawingml/2006/main">
              <a:ext uri="{FF2B5EF4-FFF2-40B4-BE49-F238E27FC236}">
                <a16:creationId xmlns:a16="http://schemas.microsoft.com/office/drawing/2014/main" id="{6EA84873-5F51-48E5-A726-A22F6A4F5115}"/>
              </a:ext>
            </a:extLst>
          </p:cNvPr>
          <p:cNvSpPr>
            <a:spLocks xmlns:a="http://schemas.openxmlformats.org/drawingml/2006/main" noGrp="1"/>
          </p:cNvSpPr>
          <p:nvPr/>
        </p:nvSpPr>
        <p:spPr>
          <a:xfrm xmlns:a="http://schemas.openxmlformats.org/drawingml/2006/main">
            <a:off x="4229100" y="50482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Retest login + search bằng cùng payload.</a:t>
            </a:r>
          </a:p>
        </p:txBody>
      </p:sp>
      <p:sp>
        <p:nvSpPr>
          <p:cNvPr id="25" name="S27_ANSWER_BAR">
            <a:extLst xmlns:a="http://schemas.openxmlformats.org/drawingml/2006/main">
              <a:ext uri="{FF2B5EF4-FFF2-40B4-BE49-F238E27FC236}">
                <a16:creationId xmlns:a16="http://schemas.microsoft.com/office/drawing/2014/main" id="{81E320D3-DF58-4C23-B32B-05D52866A195}"/>
              </a:ext>
            </a:extLst>
          </p:cNvPr>
          <p:cNvSpPr>
            <a:spLocks xmlns:a="http://schemas.openxmlformats.org/drawingml/2006/main" noGrp="1"/>
          </p:cNvSpPr>
          <p:nvPr/>
        </p:nvSpPr>
        <p:spPr>
          <a:xfrm xmlns:a="http://schemas.openxmlformats.org/drawingml/2006/main">
            <a:off x="8077200" y="3105150"/>
            <a:ext cx="76200" cy="0"/>
          </a:xfrm>
          <a:prstGeom xmlns:a="http://schemas.openxmlformats.org/drawingml/2006/main" prst="rect">
            <a:avLst/>
          </a:prstGeom>
          <a:ln xmlns:a="http://schemas.openxmlformats.org/drawingml/2006/main" w="0">
            <a:noFill/>
            <a:prstDash val="solid"/>
          </a:ln>
        </p:spPr>
      </p:sp>
      <p:sp>
        <p:nvSpPr>
          <p:cNvPr id="26" name="S27_ANSWER_LABEL">
            <a:extLst xmlns:a="http://schemas.openxmlformats.org/drawingml/2006/main">
              <a:ext uri="{FF2B5EF4-FFF2-40B4-BE49-F238E27FC236}">
                <a16:creationId xmlns:a16="http://schemas.microsoft.com/office/drawing/2014/main" id="{3EBB5E70-D62C-44D4-A05F-23040B3E7210}"/>
              </a:ext>
            </a:extLst>
          </p:cNvPr>
          <p:cNvSpPr>
            <a:spLocks xmlns:a="http://schemas.openxmlformats.org/drawingml/2006/main" noGrp="1"/>
          </p:cNvSpPr>
          <p:nvPr/>
        </p:nvSpPr>
        <p:spPr>
          <a:xfrm xmlns:a="http://schemas.openxmlformats.org/drawingml/2006/main">
            <a:off x="8248650" y="3124200"/>
            <a:ext cx="339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KẾT LUẬN</a:t>
            </a:r>
          </a:p>
        </p:txBody>
      </p:sp>
      <p:sp>
        <p:nvSpPr>
          <p:cNvPr id="27" name="S27_ANSWER_BODY">
            <a:extLst xmlns:a="http://schemas.openxmlformats.org/drawingml/2006/main">
              <a:ext uri="{FF2B5EF4-FFF2-40B4-BE49-F238E27FC236}">
                <a16:creationId xmlns:a16="http://schemas.microsoft.com/office/drawing/2014/main" id="{A1640EBB-E63A-4633-B81F-FB3B915344B2}"/>
              </a:ext>
            </a:extLst>
          </p:cNvPr>
          <p:cNvSpPr>
            <a:spLocks xmlns:a="http://schemas.openxmlformats.org/drawingml/2006/main" noGrp="1"/>
          </p:cNvSpPr>
          <p:nvPr/>
        </p:nvSpPr>
        <p:spPr>
          <a:xfrm xmlns:a="http://schemas.openxmlformats.org/drawingml/2006/main">
            <a:off x="8248650" y="3429000"/>
            <a:ext cx="33909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Root fix = parameter binding. Nếu lab có route user detail: không nối id/input vào SQL; dùng parameterized query và authorization.</a:t>
            </a:r>
          </a:p>
        </p:txBody>
      </p:sp>
    </p:spTree>
    <p:extLst>
      <p:ext uri="{BB962C8B-B14F-4D97-AF65-F5344CB8AC3E}">
        <p14:creationId xmlns:p14="http://schemas.microsoft.com/office/powerpoint/2010/main" val="2044817958"/>
      </p:ext>
    </p:extLst>
  </p:cSld>
</p:sld>
</file>

<file path=ppt/slides/slide2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S28_EYEBROW">
            <a:extLst xmlns:a="http://schemas.openxmlformats.org/drawingml/2006/main">
              <a:ext uri="{FF2B5EF4-FFF2-40B4-BE49-F238E27FC236}">
                <a16:creationId xmlns:a16="http://schemas.microsoft.com/office/drawing/2014/main" id="{7D6D99B1-4152-4784-A2BC-BD0A6D6EC657}"/>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28_TITLE">
            <a:extLst xmlns:a="http://schemas.openxmlformats.org/drawingml/2006/main">
              <a:ext uri="{FF2B5EF4-FFF2-40B4-BE49-F238E27FC236}">
                <a16:creationId xmlns:a16="http://schemas.microsoft.com/office/drawing/2014/main" id="{86D5FBD2-9506-43B9-B2B3-E3E5AC80114A}"/>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Cookie vận chuyển state — không tạo niềm tin</a:t>
            </a:r>
          </a:p>
        </p:txBody>
      </p:sp>
      <p:sp>
        <p:nvSpPr>
          <p:cNvPr id="3" name="S28_SUBTITLE">
            <a:extLst xmlns:a="http://schemas.openxmlformats.org/drawingml/2006/main">
              <a:ext uri="{FF2B5EF4-FFF2-40B4-BE49-F238E27FC236}">
                <a16:creationId xmlns:a16="http://schemas.microsoft.com/office/drawing/2014/main" id="{C8DE673F-87DA-45BE-914C-985B05A04588}"/>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Mọi byte trong cookie quay lại từ client; server phải xác minh integrity và quyền.</a:t>
            </a:r>
          </a:p>
        </p:txBody>
      </p:sp>
      <p:sp>
        <p:nvSpPr>
          <p:cNvPr id="4" name="S28_TITLE_RULE">
            <a:extLst xmlns:a="http://schemas.openxmlformats.org/drawingml/2006/main">
              <a:ext uri="{FF2B5EF4-FFF2-40B4-BE49-F238E27FC236}">
                <a16:creationId xmlns:a16="http://schemas.microsoft.com/office/drawing/2014/main" id="{67AD7A4B-5641-4A9B-A93A-95FE19F33C3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8_FOOTER_RULE">
            <a:extLst xmlns:a="http://schemas.openxmlformats.org/drawingml/2006/main">
              <a:ext uri="{FF2B5EF4-FFF2-40B4-BE49-F238E27FC236}">
                <a16:creationId xmlns:a16="http://schemas.microsoft.com/office/drawing/2014/main" id="{C5669EF1-9F11-44DE-9C3B-A299EF9A2F1C}"/>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8_SOURCE">
            <a:extLst xmlns:a="http://schemas.openxmlformats.org/drawingml/2006/main">
              <a:ext uri="{FF2B5EF4-FFF2-40B4-BE49-F238E27FC236}">
                <a16:creationId xmlns:a16="http://schemas.microsoft.com/office/drawing/2014/main" id="{11D4024D-F35E-4DA6-A8E2-3AE8972D814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Lab06/app.py · cookie_service.py · seed.py</a:t>
            </a:r>
          </a:p>
        </p:txBody>
      </p:sp>
      <p:sp>
        <p:nvSpPr>
          <p:cNvPr id="7" name="S28_NUMBER">
            <a:extLst xmlns:a="http://schemas.openxmlformats.org/drawingml/2006/main">
              <a:ext uri="{FF2B5EF4-FFF2-40B4-BE49-F238E27FC236}">
                <a16:creationId xmlns:a16="http://schemas.microsoft.com/office/drawing/2014/main" id="{D211F78B-9E57-4A92-9FF2-4E7A94DE3F83}"/>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28</a:t>
            </a:r>
          </a:p>
        </p:txBody>
      </p:sp>
      <p:sp>
        <p:nvSpPr>
          <p:cNvPr id="8" name="S28_LOOP_ARROW_1">
            <a:extLst xmlns:a="http://schemas.openxmlformats.org/drawingml/2006/main">
              <a:ext uri="{FF2B5EF4-FFF2-40B4-BE49-F238E27FC236}">
                <a16:creationId xmlns:a16="http://schemas.microsoft.com/office/drawing/2014/main" id="{82118E5B-8F52-4211-B2E5-8D2196592272}"/>
              </a:ext>
            </a:extLst>
          </p:cNvPr>
          <p:cNvSpPr>
            <a:spLocks xmlns:a="http://schemas.openxmlformats.org/drawingml/2006/main" noGrp="1"/>
          </p:cNvSpPr>
          <p:nvPr/>
        </p:nvSpPr>
        <p:spPr>
          <a:xfrm xmlns:a="http://schemas.openxmlformats.org/drawingml/2006/main">
            <a:off x="257175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28_LOOP_ARROW_2">
            <a:extLst xmlns:a="http://schemas.openxmlformats.org/drawingml/2006/main">
              <a:ext uri="{FF2B5EF4-FFF2-40B4-BE49-F238E27FC236}">
                <a16:creationId xmlns:a16="http://schemas.microsoft.com/office/drawing/2014/main" id="{18C2A83D-2F70-4778-99B4-9BAD324BFD4C}"/>
              </a:ext>
            </a:extLst>
          </p:cNvPr>
          <p:cNvSpPr>
            <a:spLocks xmlns:a="http://schemas.openxmlformats.org/drawingml/2006/main" noGrp="1"/>
          </p:cNvSpPr>
          <p:nvPr/>
        </p:nvSpPr>
        <p:spPr>
          <a:xfrm xmlns:a="http://schemas.openxmlformats.org/drawingml/2006/main">
            <a:off x="487680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28_LOOP_ARROW_3">
            <a:extLst xmlns:a="http://schemas.openxmlformats.org/drawingml/2006/main">
              <a:ext uri="{FF2B5EF4-FFF2-40B4-BE49-F238E27FC236}">
                <a16:creationId xmlns:a16="http://schemas.microsoft.com/office/drawing/2014/main" id="{6E4D1A24-CC0F-475A-9F95-8C0D2AAD5EE2}"/>
              </a:ext>
            </a:extLst>
          </p:cNvPr>
          <p:cNvSpPr>
            <a:spLocks xmlns:a="http://schemas.openxmlformats.org/drawingml/2006/main" noGrp="1"/>
          </p:cNvSpPr>
          <p:nvPr/>
        </p:nvSpPr>
        <p:spPr>
          <a:xfrm xmlns:a="http://schemas.openxmlformats.org/drawingml/2006/main">
            <a:off x="718185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28_LOOP_ARROW_4">
            <a:extLst xmlns:a="http://schemas.openxmlformats.org/drawingml/2006/main">
              <a:ext uri="{FF2B5EF4-FFF2-40B4-BE49-F238E27FC236}">
                <a16:creationId xmlns:a16="http://schemas.microsoft.com/office/drawing/2014/main" id="{A674F577-23AC-4E6B-B9F3-6A296F2A194D}"/>
              </a:ext>
            </a:extLst>
          </p:cNvPr>
          <p:cNvSpPr>
            <a:spLocks xmlns:a="http://schemas.openxmlformats.org/drawingml/2006/main" noGrp="1"/>
          </p:cNvSpPr>
          <p:nvPr/>
        </p:nvSpPr>
        <p:spPr>
          <a:xfrm xmlns:a="http://schemas.openxmlformats.org/drawingml/2006/main">
            <a:off x="948690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28_LOOP_NODE_1">
            <a:extLst xmlns:a="http://schemas.openxmlformats.org/drawingml/2006/main">
              <a:ext uri="{FF2B5EF4-FFF2-40B4-BE49-F238E27FC236}">
                <a16:creationId xmlns:a16="http://schemas.microsoft.com/office/drawing/2014/main" id="{AE299100-C8E7-4016-8B9B-B605F7B9487A}"/>
              </a:ext>
            </a:extLst>
          </p:cNvPr>
          <p:cNvSpPr>
            <a:spLocks xmlns:a="http://schemas.openxmlformats.org/drawingml/2006/main" noGrp="1"/>
          </p:cNvSpPr>
          <p:nvPr/>
        </p:nvSpPr>
        <p:spPr>
          <a:xfrm xmlns:a="http://schemas.openxmlformats.org/drawingml/2006/main">
            <a:off x="53340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SETS</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role=user</a:t>
            </a:r>
          </a:p>
        </p:txBody>
      </p:sp>
      <p:sp>
        <p:nvSpPr>
          <p:cNvPr id="13" name="S28_LOOP_NODE_2">
            <a:extLst xmlns:a="http://schemas.openxmlformats.org/drawingml/2006/main">
              <a:ext uri="{FF2B5EF4-FFF2-40B4-BE49-F238E27FC236}">
                <a16:creationId xmlns:a16="http://schemas.microsoft.com/office/drawing/2014/main" id="{3D7D1DAB-EF85-40BD-BB30-6C924BC99456}"/>
              </a:ext>
            </a:extLst>
          </p:cNvPr>
          <p:cNvSpPr>
            <a:spLocks xmlns:a="http://schemas.openxmlformats.org/drawingml/2006/main" noGrp="1"/>
          </p:cNvSpPr>
          <p:nvPr/>
        </p:nvSpPr>
        <p:spPr>
          <a:xfrm xmlns:a="http://schemas.openxmlformats.org/drawingml/2006/main">
            <a:off x="283845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STORES</a:t>
            </a:r>
          </a:p>
        </p:txBody>
      </p:sp>
      <p:sp>
        <p:nvSpPr>
          <p:cNvPr id="14" name="S28_LOOP_NODE_3">
            <a:extLst xmlns:a="http://schemas.openxmlformats.org/drawingml/2006/main">
              <a:ext uri="{FF2B5EF4-FFF2-40B4-BE49-F238E27FC236}">
                <a16:creationId xmlns:a16="http://schemas.microsoft.com/office/drawing/2014/main" id="{C91783CD-5D34-4B7F-96F7-4906C8B66CE7}"/>
              </a:ext>
            </a:extLst>
          </p:cNvPr>
          <p:cNvSpPr>
            <a:spLocks xmlns:a="http://schemas.openxmlformats.org/drawingml/2006/main" noGrp="1"/>
          </p:cNvSpPr>
          <p:nvPr/>
        </p:nvSpPr>
        <p:spPr>
          <a:xfrm xmlns:a="http://schemas.openxmlformats.org/drawingml/2006/main">
            <a:off x="514350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 EDITS</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role=admin</a:t>
            </a:r>
          </a:p>
        </p:txBody>
      </p:sp>
      <p:sp>
        <p:nvSpPr>
          <p:cNvPr id="15" name="S28_LOOP_NODE_4">
            <a:extLst xmlns:a="http://schemas.openxmlformats.org/drawingml/2006/main">
              <a:ext uri="{FF2B5EF4-FFF2-40B4-BE49-F238E27FC236}">
                <a16:creationId xmlns:a16="http://schemas.microsoft.com/office/drawing/2014/main" id="{6708D579-45DF-4F6A-A46E-1A86C6B69E20}"/>
              </a:ext>
            </a:extLst>
          </p:cNvPr>
          <p:cNvSpPr>
            <a:spLocks xmlns:a="http://schemas.openxmlformats.org/drawingml/2006/main" noGrp="1"/>
          </p:cNvSpPr>
          <p:nvPr/>
        </p:nvSpPr>
        <p:spPr>
          <a:xfrm xmlns:a="http://schemas.openxmlformats.org/drawingml/2006/main">
            <a:off x="744855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 SENDS</a:t>
            </a:r>
          </a:p>
        </p:txBody>
      </p:sp>
      <p:sp>
        <p:nvSpPr>
          <p:cNvPr id="16" name="S28_LOOP_NODE_5">
            <a:extLst xmlns:a="http://schemas.openxmlformats.org/drawingml/2006/main">
              <a:ext uri="{FF2B5EF4-FFF2-40B4-BE49-F238E27FC236}">
                <a16:creationId xmlns:a16="http://schemas.microsoft.com/office/drawing/2014/main" id="{1D017AC4-F6B2-45C6-9992-5972E3349D69}"/>
              </a:ext>
            </a:extLst>
          </p:cNvPr>
          <p:cNvSpPr>
            <a:spLocks xmlns:a="http://schemas.openxmlformats.org/drawingml/2006/main" noGrp="1"/>
          </p:cNvSpPr>
          <p:nvPr/>
        </p:nvSpPr>
        <p:spPr>
          <a:xfrm xmlns:a="http://schemas.openxmlformats.org/drawingml/2006/main">
            <a:off x="975360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TRUSTS</a:t>
            </a:r>
          </a:p>
        </p:txBody>
      </p:sp>
      <p:sp>
        <p:nvSpPr>
          <p:cNvPr id="17" name="S28_DIFF_LEFT">
            <a:extLst xmlns:a="http://schemas.openxmlformats.org/drawingml/2006/main">
              <a:ext uri="{FF2B5EF4-FFF2-40B4-BE49-F238E27FC236}">
                <a16:creationId xmlns:a16="http://schemas.microsoft.com/office/drawing/2014/main" id="{A106BB6D-0106-488F-9DC9-6A252FFF69E2}"/>
              </a:ext>
            </a:extLst>
          </p:cNvPr>
          <p:cNvSpPr>
            <a:spLocks xmlns:a="http://schemas.openxmlformats.org/drawingml/2006/main" noGrp="1"/>
          </p:cNvSpPr>
          <p:nvPr/>
        </p:nvSpPr>
        <p:spPr>
          <a:xfrm xmlns:a="http://schemas.openxmlformats.org/drawingml/2006/main">
            <a:off x="533400" y="3333750"/>
            <a:ext cx="5448300" cy="2286000"/>
          </a:xfrm>
          <a:prstGeom xmlns:a="http://schemas.openxmlformats.org/drawingml/2006/main" prst="rect">
            <a:avLst/>
          </a:prstGeom>
          <a:solidFill xmlns:a="http://schemas.openxmlformats.org/drawingml/2006/main">
            <a:srgbClr val="1A1A18"/>
          </a:solidFill>
          <a:ln xmlns:a="http://schemas.openxmlformats.org/drawingml/2006/main" w="9525">
            <a:solidFill>
              <a:srgbClr val="D96C5F"/>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COOKIE POISONING</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Chính client sửa nội dung cookie để thay đổi quyết định server.</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Ví dụ: role=user → admin.</a:t>
            </a:r>
          </a:p>
        </p:txBody>
      </p:sp>
      <p:sp>
        <p:nvSpPr>
          <p:cNvPr id="18" name="S28_DIFF_RIGHT">
            <a:extLst xmlns:a="http://schemas.openxmlformats.org/drawingml/2006/main">
              <a:ext uri="{FF2B5EF4-FFF2-40B4-BE49-F238E27FC236}">
                <a16:creationId xmlns:a16="http://schemas.microsoft.com/office/drawing/2014/main" id="{26C68148-5284-446A-90DC-6F6E098C735B}"/>
              </a:ext>
            </a:extLst>
          </p:cNvPr>
          <p:cNvSpPr>
            <a:spLocks xmlns:a="http://schemas.openxmlformats.org/drawingml/2006/main" noGrp="1"/>
          </p:cNvSpPr>
          <p:nvPr/>
        </p:nvSpPr>
        <p:spPr>
          <a:xfrm xmlns:a="http://schemas.openxmlformats.org/drawingml/2006/main">
            <a:off x="6210300" y="3333750"/>
            <a:ext cx="5448300" cy="2286000"/>
          </a:xfrm>
          <a:prstGeom xmlns:a="http://schemas.openxmlformats.org/drawingml/2006/main" prst="rect">
            <a:avLst/>
          </a:prstGeom>
          <a:solidFill xmlns:a="http://schemas.openxmlformats.org/drawingml/2006/main">
            <a:srgbClr val="1A1A18"/>
          </a:solidFill>
          <a:ln xmlns:a="http://schemas.openxmlformats.org/drawingml/2006/main" w="9525">
            <a:solidFill>
              <a:srgbClr val="71B48D"/>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SESSION HIJACKING</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Kẻ tấn công lấy token/session hợp lệ của người khác.</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Khác về tài sản bị tấn công và control cần dùng.</a:t>
            </a:r>
          </a:p>
        </p:txBody>
      </p:sp>
    </p:spTree>
    <p:extLst>
      <p:ext uri="{BB962C8B-B14F-4D97-AF65-F5344CB8AC3E}">
        <p14:creationId xmlns:p14="http://schemas.microsoft.com/office/powerpoint/2010/main" val="1694394844"/>
      </p:ext>
    </p:extLst>
  </p:cSld>
</p:sld>
</file>

<file path=ppt/slides/slide2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5" name="S29_EYEBROW">
            <a:extLst xmlns:a="http://schemas.openxmlformats.org/drawingml/2006/main">
              <a:ext uri="{FF2B5EF4-FFF2-40B4-BE49-F238E27FC236}">
                <a16:creationId xmlns:a16="http://schemas.microsoft.com/office/drawing/2014/main" id="{1E0834F1-33B9-4FF2-BCD4-C8978EE6D90E}"/>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29_TITLE">
            <a:extLst xmlns:a="http://schemas.openxmlformats.org/drawingml/2006/main">
              <a:ext uri="{FF2B5EF4-FFF2-40B4-BE49-F238E27FC236}">
                <a16:creationId xmlns:a16="http://schemas.microsoft.com/office/drawing/2014/main" id="{51023437-B088-41AA-8924-E68E31B0DA2D}"/>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Plain cookie: sửa một value, đổi một quyết định</a:t>
            </a:r>
          </a:p>
        </p:txBody>
      </p:sp>
      <p:sp>
        <p:nvSpPr>
          <p:cNvPr id="3" name="S29_SUBTITLE">
            <a:extLst xmlns:a="http://schemas.openxmlformats.org/drawingml/2006/main">
              <a:ext uri="{FF2B5EF4-FFF2-40B4-BE49-F238E27FC236}">
                <a16:creationId xmlns:a16="http://schemas.microsoft.com/office/drawing/2014/main" id="{1524D01D-793A-4FF1-9E82-1C6CBF522A66}"/>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DevTools cho thấy Name/Value/Domain/Path/HttpOnly/Secure/SameSite và điểm server tin sai.</a:t>
            </a:r>
          </a:p>
        </p:txBody>
      </p:sp>
      <p:sp>
        <p:nvSpPr>
          <p:cNvPr id="4" name="S29_TITLE_RULE">
            <a:extLst xmlns:a="http://schemas.openxmlformats.org/drawingml/2006/main">
              <a:ext uri="{FF2B5EF4-FFF2-40B4-BE49-F238E27FC236}">
                <a16:creationId xmlns:a16="http://schemas.microsoft.com/office/drawing/2014/main" id="{5C35F9FD-0D50-43D8-B012-640358015C3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9_FOOTER_RULE">
            <a:extLst xmlns:a="http://schemas.openxmlformats.org/drawingml/2006/main">
              <a:ext uri="{FF2B5EF4-FFF2-40B4-BE49-F238E27FC236}">
                <a16:creationId xmlns:a16="http://schemas.microsoft.com/office/drawing/2014/main" id="{CBB92D7F-5921-458D-8F09-FAAA2617EAC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9_SOURCE">
            <a:extLst xmlns:a="http://schemas.openxmlformats.org/drawingml/2006/main">
              <a:ext uri="{FF2B5EF4-FFF2-40B4-BE49-F238E27FC236}">
                <a16:creationId xmlns:a16="http://schemas.microsoft.com/office/drawing/2014/main" id="{B0DC6950-C082-4347-A8FB-9536BCFC8C1C}"/>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Lab06/app.py plain routes · config.py</a:t>
            </a:r>
          </a:p>
        </p:txBody>
      </p:sp>
      <p:sp>
        <p:nvSpPr>
          <p:cNvPr id="7" name="S29_NUMBER">
            <a:extLst xmlns:a="http://schemas.openxmlformats.org/drawingml/2006/main">
              <a:ext uri="{FF2B5EF4-FFF2-40B4-BE49-F238E27FC236}">
                <a16:creationId xmlns:a16="http://schemas.microsoft.com/office/drawing/2014/main" id="{5113CDD1-ECA0-4C2D-A419-328FB42C007C}"/>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29</a:t>
            </a:r>
          </a:p>
        </p:txBody>
      </p:sp>
      <p:sp>
        <p:nvSpPr>
          <p:cNvPr id="8" name="PH_S29_Lab06_51_plain_cookie_modified_application_png_FRAME">
            <a:extLst xmlns:a="http://schemas.openxmlformats.org/drawingml/2006/main">
              <a:ext uri="{FF2B5EF4-FFF2-40B4-BE49-F238E27FC236}">
                <a16:creationId xmlns:a16="http://schemas.microsoft.com/office/drawing/2014/main" id="{D7F377F7-C004-4AB8-B8E2-5DEDD6EB0846}"/>
              </a:ext>
            </a:extLst>
          </p:cNvPr>
          <p:cNvSpPr>
            <a:spLocks xmlns:a="http://schemas.openxmlformats.org/drawingml/2006/main" noGrp="1"/>
          </p:cNvSpPr>
          <p:nvPr/>
        </p:nvSpPr>
        <p:spPr>
          <a:xfrm xmlns:a="http://schemas.openxmlformats.org/drawingml/2006/main">
            <a:off x="504825" y="1724025"/>
            <a:ext cx="5391150" cy="28384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9" name="PH_S29_Lab06_51_plain_cookie_modified_application_png_IMAGE">
            <a:extLst xmlns:a="http://schemas.openxmlformats.org/drawingml/2006/main">
              <a:ext uri="{FF2B5EF4-FFF2-40B4-BE49-F238E27FC236}">
                <a16:creationId xmlns:a16="http://schemas.microsoft.com/office/drawing/2014/main" id="{708063AE-6CBE-4DD3-B4F9-5521CC209606}"/>
              </a:ext>
            </a:extLst>
          </p:cNvPr>
          <p:cNvSpPr>
            <a:spLocks xmlns:a="http://schemas.openxmlformats.org/drawingml/2006/main" noGrp="1"/>
          </p:cNvSpPr>
          <p:nvPr/>
        </p:nvSpPr>
        <p:spPr>
          <a:xfrm xmlns:a="http://schemas.openxmlformats.org/drawingml/2006/main">
            <a:off x="533400" y="1752600"/>
            <a:ext cx="5334000" cy="2781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0" name="PH_S29_Lab06_51_plain_cookie_modified_application_png_ICON">
            <a:extLst xmlns:a="http://schemas.openxmlformats.org/drawingml/2006/main">
              <a:ext uri="{FF2B5EF4-FFF2-40B4-BE49-F238E27FC236}">
                <a16:creationId xmlns:a16="http://schemas.microsoft.com/office/drawing/2014/main" id="{62EEC5DD-E3A5-4AE7-A0F9-C8F470DB52FC}"/>
              </a:ext>
            </a:extLst>
          </p:cNvPr>
          <p:cNvSpPr>
            <a:spLocks xmlns:a="http://schemas.openxmlformats.org/drawingml/2006/main" noGrp="1"/>
          </p:cNvSpPr>
          <p:nvPr/>
        </p:nvSpPr>
        <p:spPr>
          <a:xfrm xmlns:a="http://schemas.openxmlformats.org/drawingml/2006/main">
            <a:off x="68580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1" name="PH_S29_Lab06_51_plain_cookie_modified_application_png_INSTRUCTION">
            <a:extLst xmlns:a="http://schemas.openxmlformats.org/drawingml/2006/main">
              <a:ext uri="{FF2B5EF4-FFF2-40B4-BE49-F238E27FC236}">
                <a16:creationId xmlns:a16="http://schemas.microsoft.com/office/drawing/2014/main" id="{869B6B8F-CCB8-43EF-959D-2DA2FC251A30}"/>
              </a:ext>
            </a:extLst>
          </p:cNvPr>
          <p:cNvSpPr>
            <a:spLocks xmlns:a="http://schemas.openxmlformats.org/drawingml/2006/main" noGrp="1"/>
          </p:cNvSpPr>
          <p:nvPr/>
        </p:nvSpPr>
        <p:spPr>
          <a:xfrm xmlns:a="http://schemas.openxmlformats.org/drawingml/2006/main">
            <a:off x="1200150" y="1924050"/>
            <a:ext cx="44958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51_plain_cookie_modified_application.png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2" name="PH_S29_Lab06_51_plain_cookie_modified_application_png_CAPTION">
            <a:extLst xmlns:a="http://schemas.openxmlformats.org/drawingml/2006/main">
              <a:ext uri="{FF2B5EF4-FFF2-40B4-BE49-F238E27FC236}">
                <a16:creationId xmlns:a16="http://schemas.microsoft.com/office/drawing/2014/main" id="{983B00E7-1725-460E-9AB4-9E9D07A44B2F}"/>
              </a:ext>
            </a:extLst>
          </p:cNvPr>
          <p:cNvSpPr>
            <a:spLocks xmlns:a="http://schemas.openxmlformats.org/drawingml/2006/main" noGrp="1"/>
          </p:cNvSpPr>
          <p:nvPr/>
        </p:nvSpPr>
        <p:spPr>
          <a:xfrm xmlns:a="http://schemas.openxmlformats.org/drawingml/2006/main">
            <a:off x="533400" y="4124325"/>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Sửa role cookie bằng DevTools</a:t>
            </a:r>
          </a:p>
        </p:txBody>
      </p:sp>
      <p:sp>
        <p:nvSpPr>
          <p:cNvPr id="13" name="S29_STEPS_ARROW_1">
            <a:extLst xmlns:a="http://schemas.openxmlformats.org/drawingml/2006/main">
              <a:ext uri="{FF2B5EF4-FFF2-40B4-BE49-F238E27FC236}">
                <a16:creationId xmlns:a16="http://schemas.microsoft.com/office/drawing/2014/main" id="{16D0F3D4-2D8C-48AE-AD71-82D6CF7FEC42}"/>
              </a:ext>
            </a:extLst>
          </p:cNvPr>
          <p:cNvSpPr>
            <a:spLocks xmlns:a="http://schemas.openxmlformats.org/drawingml/2006/main" noGrp="1"/>
          </p:cNvSpPr>
          <p:nvPr/>
        </p:nvSpPr>
        <p:spPr>
          <a:xfrm xmlns:a="http://schemas.openxmlformats.org/drawingml/2006/main">
            <a:off x="7441406"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4" name="S29_STEPS_ARROW_2">
            <a:extLst xmlns:a="http://schemas.openxmlformats.org/drawingml/2006/main">
              <a:ext uri="{FF2B5EF4-FFF2-40B4-BE49-F238E27FC236}">
                <a16:creationId xmlns:a16="http://schemas.microsoft.com/office/drawing/2014/main" id="{EB35A5AD-C414-4980-8C2A-EAA8EBB86FC5}"/>
              </a:ext>
            </a:extLst>
          </p:cNvPr>
          <p:cNvSpPr>
            <a:spLocks xmlns:a="http://schemas.openxmlformats.org/drawingml/2006/main" noGrp="1"/>
          </p:cNvSpPr>
          <p:nvPr/>
        </p:nvSpPr>
        <p:spPr>
          <a:xfrm xmlns:a="http://schemas.openxmlformats.org/drawingml/2006/main">
            <a:off x="8863013"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5" name="S29_STEPS_ARROW_3">
            <a:extLst xmlns:a="http://schemas.openxmlformats.org/drawingml/2006/main">
              <a:ext uri="{FF2B5EF4-FFF2-40B4-BE49-F238E27FC236}">
                <a16:creationId xmlns:a16="http://schemas.microsoft.com/office/drawing/2014/main" id="{1755ACA8-5481-4E6F-9C7A-E5EEF4D25EDD}"/>
              </a:ext>
            </a:extLst>
          </p:cNvPr>
          <p:cNvSpPr>
            <a:spLocks xmlns:a="http://schemas.openxmlformats.org/drawingml/2006/main" noGrp="1"/>
          </p:cNvSpPr>
          <p:nvPr/>
        </p:nvSpPr>
        <p:spPr>
          <a:xfrm xmlns:a="http://schemas.openxmlformats.org/drawingml/2006/main">
            <a:off x="10284619"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6" name="S29_STEPS_NODE_1">
            <a:extLst xmlns:a="http://schemas.openxmlformats.org/drawingml/2006/main">
              <a:ext uri="{FF2B5EF4-FFF2-40B4-BE49-F238E27FC236}">
                <a16:creationId xmlns:a16="http://schemas.microsoft.com/office/drawing/2014/main" id="{53F9010F-594E-4F17-AC8F-7C3D574E49FA}"/>
              </a:ext>
            </a:extLst>
          </p:cNvPr>
          <p:cNvSpPr>
            <a:spLocks xmlns:a="http://schemas.openxmlformats.org/drawingml/2006/main" noGrp="1"/>
          </p:cNvSpPr>
          <p:nvPr/>
        </p:nvSpPr>
        <p:spPr>
          <a:xfrm xmlns:a="http://schemas.openxmlformats.org/drawingml/2006/main">
            <a:off x="6191250"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LOGIN</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student</a:t>
            </a:r>
          </a:p>
        </p:txBody>
      </p:sp>
      <p:sp>
        <p:nvSpPr>
          <p:cNvPr id="17" name="S29_STEPS_NODE_2">
            <a:extLst xmlns:a="http://schemas.openxmlformats.org/drawingml/2006/main">
              <a:ext uri="{FF2B5EF4-FFF2-40B4-BE49-F238E27FC236}">
                <a16:creationId xmlns:a16="http://schemas.microsoft.com/office/drawing/2014/main" id="{8EBEF291-2596-409D-86E4-E7AB9C66E9AC}"/>
              </a:ext>
            </a:extLst>
          </p:cNvPr>
          <p:cNvSpPr>
            <a:spLocks xmlns:a="http://schemas.openxmlformats.org/drawingml/2006/main" noGrp="1"/>
          </p:cNvSpPr>
          <p:nvPr/>
        </p:nvSpPr>
        <p:spPr>
          <a:xfrm xmlns:a="http://schemas.openxmlformats.org/drawingml/2006/main">
            <a:off x="7612856"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lab06_role</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 → admin</a:t>
            </a:r>
          </a:p>
        </p:txBody>
      </p:sp>
      <p:sp>
        <p:nvSpPr>
          <p:cNvPr id="18" name="S29_STEPS_NODE_3">
            <a:extLst xmlns:a="http://schemas.openxmlformats.org/drawingml/2006/main">
              <a:ext uri="{FF2B5EF4-FFF2-40B4-BE49-F238E27FC236}">
                <a16:creationId xmlns:a16="http://schemas.microsoft.com/office/drawing/2014/main" id="{DE4262C5-00F9-4948-84FD-98C430D20FCE}"/>
              </a:ext>
            </a:extLst>
          </p:cNvPr>
          <p:cNvSpPr>
            <a:spLocks xmlns:a="http://schemas.openxmlformats.org/drawingml/2006/main" noGrp="1"/>
          </p:cNvSpPr>
          <p:nvPr/>
        </p:nvSpPr>
        <p:spPr>
          <a:xfrm xmlns:a="http://schemas.openxmlformats.org/drawingml/2006/main">
            <a:off x="9034463"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RELOAD</a:t>
            </a:r>
          </a:p>
        </p:txBody>
      </p:sp>
      <p:sp>
        <p:nvSpPr>
          <p:cNvPr id="19" name="S29_STEPS_NODE_4">
            <a:extLst xmlns:a="http://schemas.openxmlformats.org/drawingml/2006/main">
              <a:ext uri="{FF2B5EF4-FFF2-40B4-BE49-F238E27FC236}">
                <a16:creationId xmlns:a16="http://schemas.microsoft.com/office/drawing/2014/main" id="{0C64ADD9-7BA3-405A-9BCA-D3A3D06775E0}"/>
              </a:ext>
            </a:extLst>
          </p:cNvPr>
          <p:cNvSpPr>
            <a:spLocks xmlns:a="http://schemas.openxmlformats.org/drawingml/2006/main" noGrp="1"/>
          </p:cNvSpPr>
          <p:nvPr/>
        </p:nvSpPr>
        <p:spPr>
          <a:xfrm xmlns:a="http://schemas.openxmlformats.org/drawingml/2006/main">
            <a:off x="10456069"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ADMIN</a:t>
            </a:r>
          </a:p>
        </p:txBody>
      </p:sp>
      <p:sp>
        <p:nvSpPr>
          <p:cNvPr id="20" name="S29_FLAGS_H0">
            <a:extLst xmlns:a="http://schemas.openxmlformats.org/drawingml/2006/main">
              <a:ext uri="{FF2B5EF4-FFF2-40B4-BE49-F238E27FC236}">
                <a16:creationId xmlns:a16="http://schemas.microsoft.com/office/drawing/2014/main" id="{2A46D164-4E66-45D5-8DD9-09129C576563}"/>
              </a:ext>
            </a:extLst>
          </p:cNvPr>
          <p:cNvSpPr>
            <a:spLocks xmlns:a="http://schemas.openxmlformats.org/drawingml/2006/main" noGrp="1"/>
          </p:cNvSpPr>
          <p:nvPr/>
        </p:nvSpPr>
        <p:spPr>
          <a:xfrm xmlns:a="http://schemas.openxmlformats.org/drawingml/2006/main">
            <a:off x="6191250" y="3067050"/>
            <a:ext cx="1238250" cy="4905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FLAG</a:t>
            </a:r>
          </a:p>
        </p:txBody>
      </p:sp>
      <p:sp>
        <p:nvSpPr>
          <p:cNvPr id="21" name="S29_FLAGS_H1">
            <a:extLst xmlns:a="http://schemas.openxmlformats.org/drawingml/2006/main">
              <a:ext uri="{FF2B5EF4-FFF2-40B4-BE49-F238E27FC236}">
                <a16:creationId xmlns:a16="http://schemas.microsoft.com/office/drawing/2014/main" id="{1AC45701-F171-4373-A153-650A874A2E13}"/>
              </a:ext>
            </a:extLst>
          </p:cNvPr>
          <p:cNvSpPr>
            <a:spLocks xmlns:a="http://schemas.openxmlformats.org/drawingml/2006/main" noGrp="1"/>
          </p:cNvSpPr>
          <p:nvPr/>
        </p:nvSpPr>
        <p:spPr>
          <a:xfrm xmlns:a="http://schemas.openxmlformats.org/drawingml/2006/main">
            <a:off x="7429500" y="3067050"/>
            <a:ext cx="1952625" cy="4905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BẢO VỆ</a:t>
            </a:r>
          </a:p>
        </p:txBody>
      </p:sp>
      <p:sp>
        <p:nvSpPr>
          <p:cNvPr id="22" name="S29_FLAGS_H2">
            <a:extLst xmlns:a="http://schemas.openxmlformats.org/drawingml/2006/main">
              <a:ext uri="{FF2B5EF4-FFF2-40B4-BE49-F238E27FC236}">
                <a16:creationId xmlns:a16="http://schemas.microsoft.com/office/drawing/2014/main" id="{1BE7E9EA-F022-4D29-811A-59D631B16D70}"/>
              </a:ext>
            </a:extLst>
          </p:cNvPr>
          <p:cNvSpPr>
            <a:spLocks xmlns:a="http://schemas.openxmlformats.org/drawingml/2006/main" noGrp="1"/>
          </p:cNvSpPr>
          <p:nvPr/>
        </p:nvSpPr>
        <p:spPr>
          <a:xfrm xmlns:a="http://schemas.openxmlformats.org/drawingml/2006/main">
            <a:off x="9382125" y="3067050"/>
            <a:ext cx="2276475" cy="4905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KHÔNG BẢO VỆ</a:t>
            </a:r>
          </a:p>
        </p:txBody>
      </p:sp>
      <p:sp>
        <p:nvSpPr>
          <p:cNvPr id="23" name="S29_FLAGS_R0C0">
            <a:extLst xmlns:a="http://schemas.openxmlformats.org/drawingml/2006/main">
              <a:ext uri="{FF2B5EF4-FFF2-40B4-BE49-F238E27FC236}">
                <a16:creationId xmlns:a16="http://schemas.microsoft.com/office/drawing/2014/main" id="{ECBA1A7E-4E37-49ED-A0E7-D854DBAB99CD}"/>
              </a:ext>
            </a:extLst>
          </p:cNvPr>
          <p:cNvSpPr>
            <a:spLocks xmlns:a="http://schemas.openxmlformats.org/drawingml/2006/main" noGrp="1"/>
          </p:cNvSpPr>
          <p:nvPr/>
        </p:nvSpPr>
        <p:spPr>
          <a:xfrm xmlns:a="http://schemas.openxmlformats.org/drawingml/2006/main">
            <a:off x="6191250" y="3557588"/>
            <a:ext cx="1238250"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HttpOnly</a:t>
            </a:r>
          </a:p>
        </p:txBody>
      </p:sp>
      <p:sp>
        <p:nvSpPr>
          <p:cNvPr id="24" name="S29_FLAGS_R0C1">
            <a:extLst xmlns:a="http://schemas.openxmlformats.org/drawingml/2006/main">
              <a:ext uri="{FF2B5EF4-FFF2-40B4-BE49-F238E27FC236}">
                <a16:creationId xmlns:a16="http://schemas.microsoft.com/office/drawing/2014/main" id="{51F87384-9E2E-4511-A572-FD4CC15A1F37}"/>
              </a:ext>
            </a:extLst>
          </p:cNvPr>
          <p:cNvSpPr>
            <a:spLocks xmlns:a="http://schemas.openxmlformats.org/drawingml/2006/main" noGrp="1"/>
          </p:cNvSpPr>
          <p:nvPr/>
        </p:nvSpPr>
        <p:spPr>
          <a:xfrm xmlns:a="http://schemas.openxmlformats.org/drawingml/2006/main">
            <a:off x="7429500" y="3557588"/>
            <a:ext cx="195262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JS đọc cookie</a:t>
            </a:r>
          </a:p>
        </p:txBody>
      </p:sp>
      <p:sp>
        <p:nvSpPr>
          <p:cNvPr id="25" name="S29_FLAGS_R0C2">
            <a:extLst xmlns:a="http://schemas.openxmlformats.org/drawingml/2006/main">
              <a:ext uri="{FF2B5EF4-FFF2-40B4-BE49-F238E27FC236}">
                <a16:creationId xmlns:a16="http://schemas.microsoft.com/office/drawing/2014/main" id="{9F83D3BB-5984-446F-99FD-216B76D7FD13}"/>
              </a:ext>
            </a:extLst>
          </p:cNvPr>
          <p:cNvSpPr>
            <a:spLocks xmlns:a="http://schemas.openxmlformats.org/drawingml/2006/main" noGrp="1"/>
          </p:cNvSpPr>
          <p:nvPr/>
        </p:nvSpPr>
        <p:spPr>
          <a:xfrm xmlns:a="http://schemas.openxmlformats.org/drawingml/2006/main">
            <a:off x="9382125" y="3557588"/>
            <a:ext cx="227647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server tin role</a:t>
            </a:r>
          </a:p>
        </p:txBody>
      </p:sp>
      <p:sp>
        <p:nvSpPr>
          <p:cNvPr id="26" name="S29_FLAGS_R1C0">
            <a:extLst xmlns:a="http://schemas.openxmlformats.org/drawingml/2006/main">
              <a:ext uri="{FF2B5EF4-FFF2-40B4-BE49-F238E27FC236}">
                <a16:creationId xmlns:a16="http://schemas.microsoft.com/office/drawing/2014/main" id="{A50183A2-0FD8-4DE9-99DF-E2408D090DC5}"/>
              </a:ext>
            </a:extLst>
          </p:cNvPr>
          <p:cNvSpPr>
            <a:spLocks xmlns:a="http://schemas.openxmlformats.org/drawingml/2006/main" noGrp="1"/>
          </p:cNvSpPr>
          <p:nvPr/>
        </p:nvSpPr>
        <p:spPr>
          <a:xfrm xmlns:a="http://schemas.openxmlformats.org/drawingml/2006/main">
            <a:off x="6191250" y="4048125"/>
            <a:ext cx="1238250" cy="4905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Secure</a:t>
            </a:r>
          </a:p>
        </p:txBody>
      </p:sp>
      <p:sp>
        <p:nvSpPr>
          <p:cNvPr id="27" name="S29_FLAGS_R1C1">
            <a:extLst xmlns:a="http://schemas.openxmlformats.org/drawingml/2006/main">
              <a:ext uri="{FF2B5EF4-FFF2-40B4-BE49-F238E27FC236}">
                <a16:creationId xmlns:a16="http://schemas.microsoft.com/office/drawing/2014/main" id="{E57D216B-9866-40BF-A8BC-8781684E193D}"/>
              </a:ext>
            </a:extLst>
          </p:cNvPr>
          <p:cNvSpPr>
            <a:spLocks xmlns:a="http://schemas.openxmlformats.org/drawingml/2006/main" noGrp="1"/>
          </p:cNvSpPr>
          <p:nvPr/>
        </p:nvSpPr>
        <p:spPr>
          <a:xfrm xmlns:a="http://schemas.openxmlformats.org/drawingml/2006/main">
            <a:off x="7429500" y="4048125"/>
            <a:ext cx="1952625" cy="4905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HTTP transport</a:t>
            </a:r>
          </a:p>
        </p:txBody>
      </p:sp>
      <p:sp>
        <p:nvSpPr>
          <p:cNvPr id="28" name="S29_FLAGS_R1C2">
            <a:extLst xmlns:a="http://schemas.openxmlformats.org/drawingml/2006/main">
              <a:ext uri="{FF2B5EF4-FFF2-40B4-BE49-F238E27FC236}">
                <a16:creationId xmlns:a16="http://schemas.microsoft.com/office/drawing/2014/main" id="{57A1855A-5756-4BA9-AB99-9C83C2FD9263}"/>
              </a:ext>
            </a:extLst>
          </p:cNvPr>
          <p:cNvSpPr>
            <a:spLocks xmlns:a="http://schemas.openxmlformats.org/drawingml/2006/main" noGrp="1"/>
          </p:cNvSpPr>
          <p:nvPr/>
        </p:nvSpPr>
        <p:spPr>
          <a:xfrm xmlns:a="http://schemas.openxmlformats.org/drawingml/2006/main">
            <a:off x="9382125" y="4048125"/>
            <a:ext cx="2276475" cy="4905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authorization</a:t>
            </a:r>
          </a:p>
        </p:txBody>
      </p:sp>
      <p:sp>
        <p:nvSpPr>
          <p:cNvPr id="29" name="S29_FLAGS_R2C0">
            <a:extLst xmlns:a="http://schemas.openxmlformats.org/drawingml/2006/main">
              <a:ext uri="{FF2B5EF4-FFF2-40B4-BE49-F238E27FC236}">
                <a16:creationId xmlns:a16="http://schemas.microsoft.com/office/drawing/2014/main" id="{5B3CC0BA-1034-40A4-836A-5322636C8197}"/>
              </a:ext>
            </a:extLst>
          </p:cNvPr>
          <p:cNvSpPr>
            <a:spLocks xmlns:a="http://schemas.openxmlformats.org/drawingml/2006/main" noGrp="1"/>
          </p:cNvSpPr>
          <p:nvPr/>
        </p:nvSpPr>
        <p:spPr>
          <a:xfrm xmlns:a="http://schemas.openxmlformats.org/drawingml/2006/main">
            <a:off x="6191250" y="4538663"/>
            <a:ext cx="1238250"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SameSite</a:t>
            </a:r>
          </a:p>
        </p:txBody>
      </p:sp>
      <p:sp>
        <p:nvSpPr>
          <p:cNvPr id="30" name="S29_FLAGS_R2C1">
            <a:extLst xmlns:a="http://schemas.openxmlformats.org/drawingml/2006/main">
              <a:ext uri="{FF2B5EF4-FFF2-40B4-BE49-F238E27FC236}">
                <a16:creationId xmlns:a16="http://schemas.microsoft.com/office/drawing/2014/main" id="{A0634BFD-2EAB-42A2-9F4D-18B4522BB0F9}"/>
              </a:ext>
            </a:extLst>
          </p:cNvPr>
          <p:cNvSpPr>
            <a:spLocks xmlns:a="http://schemas.openxmlformats.org/drawingml/2006/main" noGrp="1"/>
          </p:cNvSpPr>
          <p:nvPr/>
        </p:nvSpPr>
        <p:spPr>
          <a:xfrm xmlns:a="http://schemas.openxmlformats.org/drawingml/2006/main">
            <a:off x="7429500" y="4538663"/>
            <a:ext cx="195262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cross-site send</a:t>
            </a:r>
          </a:p>
        </p:txBody>
      </p:sp>
      <p:sp>
        <p:nvSpPr>
          <p:cNvPr id="31" name="S29_FLAGS_R2C2">
            <a:extLst xmlns:a="http://schemas.openxmlformats.org/drawingml/2006/main">
              <a:ext uri="{FF2B5EF4-FFF2-40B4-BE49-F238E27FC236}">
                <a16:creationId xmlns:a16="http://schemas.microsoft.com/office/drawing/2014/main" id="{ED1A0922-BBFF-49B9-9304-B7DDCAA1F643}"/>
              </a:ext>
            </a:extLst>
          </p:cNvPr>
          <p:cNvSpPr>
            <a:spLocks xmlns:a="http://schemas.openxmlformats.org/drawingml/2006/main" noGrp="1"/>
          </p:cNvSpPr>
          <p:nvPr/>
        </p:nvSpPr>
        <p:spPr>
          <a:xfrm xmlns:a="http://schemas.openxmlformats.org/drawingml/2006/main">
            <a:off x="9382125" y="4538663"/>
            <a:ext cx="227647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client edit</a:t>
            </a:r>
          </a:p>
        </p:txBody>
      </p:sp>
      <p:sp>
        <p:nvSpPr>
          <p:cNvPr id="32" name="S29_PRIVACY_BAR">
            <a:extLst xmlns:a="http://schemas.openxmlformats.org/drawingml/2006/main">
              <a:ext uri="{FF2B5EF4-FFF2-40B4-BE49-F238E27FC236}">
                <a16:creationId xmlns:a16="http://schemas.microsoft.com/office/drawing/2014/main" id="{B7573CE6-CC74-4C09-8349-1555CE417644}"/>
              </a:ext>
            </a:extLst>
          </p:cNvPr>
          <p:cNvSpPr>
            <a:spLocks xmlns:a="http://schemas.openxmlformats.org/drawingml/2006/main" noGrp="1"/>
          </p:cNvSpPr>
          <p:nvPr/>
        </p:nvSpPr>
        <p:spPr>
          <a:xfrm xmlns:a="http://schemas.openxmlformats.org/drawingml/2006/main">
            <a:off x="533400" y="5257800"/>
            <a:ext cx="76200" cy="0"/>
          </a:xfrm>
          <a:prstGeom xmlns:a="http://schemas.openxmlformats.org/drawingml/2006/main" prst="rect">
            <a:avLst/>
          </a:prstGeom>
          <a:ln xmlns:a="http://schemas.openxmlformats.org/drawingml/2006/main" w="0">
            <a:noFill/>
            <a:prstDash val="solid"/>
          </a:ln>
        </p:spPr>
      </p:sp>
      <p:sp>
        <p:nvSpPr>
          <p:cNvPr id="33" name="S29_PRIVACY_LABEL">
            <a:extLst xmlns:a="http://schemas.openxmlformats.org/drawingml/2006/main">
              <a:ext uri="{FF2B5EF4-FFF2-40B4-BE49-F238E27FC236}">
                <a16:creationId xmlns:a16="http://schemas.microsoft.com/office/drawing/2014/main" id="{84AD8C60-DFA9-446C-95F0-E7254EF590C7}"/>
              </a:ext>
            </a:extLst>
          </p:cNvPr>
          <p:cNvSpPr>
            <a:spLocks xmlns:a="http://schemas.openxmlformats.org/drawingml/2006/main" noGrp="1"/>
          </p:cNvSpPr>
          <p:nvPr/>
        </p:nvSpPr>
        <p:spPr>
          <a:xfrm xmlns:a="http://schemas.openxmlformats.org/drawingml/2006/main">
            <a:off x="704850" y="5257800"/>
            <a:ext cx="1638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ẢNH BẰNG CHỨNG</a:t>
            </a:r>
          </a:p>
        </p:txBody>
      </p:sp>
      <p:sp>
        <p:nvSpPr>
          <p:cNvPr id="34" name="S29_PRIVACY_BODY">
            <a:extLst xmlns:a="http://schemas.openxmlformats.org/drawingml/2006/main">
              <a:ext uri="{FF2B5EF4-FFF2-40B4-BE49-F238E27FC236}">
                <a16:creationId xmlns:a16="http://schemas.microsoft.com/office/drawing/2014/main" id="{19890737-606D-407C-A0E1-18C686B521A7}"/>
              </a:ext>
            </a:extLst>
          </p:cNvPr>
          <p:cNvSpPr>
            <a:spLocks xmlns:a="http://schemas.openxmlformats.org/drawingml/2006/main" noGrp="1"/>
          </p:cNvSpPr>
          <p:nvPr/>
        </p:nvSpPr>
        <p:spPr>
          <a:xfrm xmlns:a="http://schemas.openxmlformats.org/drawingml/2006/main">
            <a:off x="2438400" y="5257800"/>
            <a:ext cx="9201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Che token/session dài; chỉ giữ origin, cookie name, value, path/flags và kết quả quyền cần thiết.</a:t>
            </a:r>
          </a:p>
        </p:txBody>
      </p:sp>
    </p:spTree>
    <p:extLst>
      <p:ext uri="{BB962C8B-B14F-4D97-AF65-F5344CB8AC3E}">
        <p14:creationId xmlns:p14="http://schemas.microsoft.com/office/powerpoint/2010/main" val="124238900"/>
      </p:ext>
    </p:extLst>
  </p:cSld>
</p:sld>
</file>

<file path=ppt/slides/slide3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4" name="S30_EYEBROW">
            <a:extLst xmlns:a="http://schemas.openxmlformats.org/drawingml/2006/main">
              <a:ext uri="{FF2B5EF4-FFF2-40B4-BE49-F238E27FC236}">
                <a16:creationId xmlns:a16="http://schemas.microsoft.com/office/drawing/2014/main" id="{969C6D3A-DD51-4814-A898-D492DB5AA55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30_TITLE">
            <a:extLst xmlns:a="http://schemas.openxmlformats.org/drawingml/2006/main">
              <a:ext uri="{FF2B5EF4-FFF2-40B4-BE49-F238E27FC236}">
                <a16:creationId xmlns:a16="http://schemas.microsoft.com/office/drawing/2014/main" id="{A4DB55AC-8411-400A-8E16-2A5C3A2CC99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Encoding, signing và encryption giải quyết khác nhau</a:t>
            </a:r>
          </a:p>
        </p:txBody>
      </p:sp>
      <p:sp>
        <p:nvSpPr>
          <p:cNvPr id="3" name="S30_SUBTITLE">
            <a:extLst xmlns:a="http://schemas.openxmlformats.org/drawingml/2006/main">
              <a:ext uri="{FF2B5EF4-FFF2-40B4-BE49-F238E27FC236}">
                <a16:creationId xmlns:a16="http://schemas.microsoft.com/office/drawing/2014/main" id="{95DA1A63-39BB-4323-BD6F-6459837816E7}"/>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Encryption bảo vệ confidentiality. Integrity chỉ có khi dùng authenticated encryption/AEAD hoặc encryption kèm MAC.</a:t>
            </a:r>
          </a:p>
        </p:txBody>
      </p:sp>
      <p:sp>
        <p:nvSpPr>
          <p:cNvPr id="4" name="S30_TITLE_RULE">
            <a:extLst xmlns:a="http://schemas.openxmlformats.org/drawingml/2006/main">
              <a:ext uri="{FF2B5EF4-FFF2-40B4-BE49-F238E27FC236}">
                <a16:creationId xmlns:a16="http://schemas.microsoft.com/office/drawing/2014/main" id="{EEF34EEB-BE51-40C6-9E76-7E861402CB3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0_FOOTER_RULE">
            <a:extLst xmlns:a="http://schemas.openxmlformats.org/drawingml/2006/main">
              <a:ext uri="{FF2B5EF4-FFF2-40B4-BE49-F238E27FC236}">
                <a16:creationId xmlns:a16="http://schemas.microsoft.com/office/drawing/2014/main" id="{F80C86F4-1126-46DA-BF14-C49F07D10053}"/>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0_SOURCE">
            <a:extLst xmlns:a="http://schemas.openxmlformats.org/drawingml/2006/main">
              <a:ext uri="{FF2B5EF4-FFF2-40B4-BE49-F238E27FC236}">
                <a16:creationId xmlns:a16="http://schemas.microsoft.com/office/drawing/2014/main" id="{62416902-A68D-4927-8ACD-4191E20BF1A0}"/>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Lab06/base64_cookie_service.py · signed/encrypted services</a:t>
            </a:r>
          </a:p>
        </p:txBody>
      </p:sp>
      <p:sp>
        <p:nvSpPr>
          <p:cNvPr id="7" name="S30_NUMBER">
            <a:extLst xmlns:a="http://schemas.openxmlformats.org/drawingml/2006/main">
              <a:ext uri="{FF2B5EF4-FFF2-40B4-BE49-F238E27FC236}">
                <a16:creationId xmlns:a16="http://schemas.microsoft.com/office/drawing/2014/main" id="{01BE2B29-FC7A-4C2C-B8DA-BF125B0CE41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30</a:t>
            </a:r>
          </a:p>
        </p:txBody>
      </p:sp>
      <p:sp>
        <p:nvSpPr>
          <p:cNvPr id="8" name="S30_B64_ARROW_1">
            <a:extLst xmlns:a="http://schemas.openxmlformats.org/drawingml/2006/main">
              <a:ext uri="{FF2B5EF4-FFF2-40B4-BE49-F238E27FC236}">
                <a16:creationId xmlns:a16="http://schemas.microsoft.com/office/drawing/2014/main" id="{B2F292E7-120F-47BB-BCB9-D9CB839CEB45}"/>
              </a:ext>
            </a:extLst>
          </p:cNvPr>
          <p:cNvSpPr>
            <a:spLocks xmlns:a="http://schemas.openxmlformats.org/drawingml/2006/main" noGrp="1"/>
          </p:cNvSpPr>
          <p:nvPr/>
        </p:nvSpPr>
        <p:spPr>
          <a:xfrm xmlns:a="http://schemas.openxmlformats.org/drawingml/2006/main">
            <a:off x="22542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30_B64_ARROW_2">
            <a:extLst xmlns:a="http://schemas.openxmlformats.org/drawingml/2006/main">
              <a:ext uri="{FF2B5EF4-FFF2-40B4-BE49-F238E27FC236}">
                <a16:creationId xmlns:a16="http://schemas.microsoft.com/office/drawing/2014/main" id="{D1DFA034-2B38-498A-A7C8-0D117C88EB9C}"/>
              </a:ext>
            </a:extLst>
          </p:cNvPr>
          <p:cNvSpPr>
            <a:spLocks xmlns:a="http://schemas.openxmlformats.org/drawingml/2006/main" noGrp="1"/>
          </p:cNvSpPr>
          <p:nvPr/>
        </p:nvSpPr>
        <p:spPr>
          <a:xfrm xmlns:a="http://schemas.openxmlformats.org/drawingml/2006/main">
            <a:off x="41465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30_B64_ARROW_3">
            <a:extLst xmlns:a="http://schemas.openxmlformats.org/drawingml/2006/main">
              <a:ext uri="{FF2B5EF4-FFF2-40B4-BE49-F238E27FC236}">
                <a16:creationId xmlns:a16="http://schemas.microsoft.com/office/drawing/2014/main" id="{0FD9F73C-CB1C-4F19-990B-79C9E505634E}"/>
              </a:ext>
            </a:extLst>
          </p:cNvPr>
          <p:cNvSpPr>
            <a:spLocks xmlns:a="http://schemas.openxmlformats.org/drawingml/2006/main" noGrp="1"/>
          </p:cNvSpPr>
          <p:nvPr/>
        </p:nvSpPr>
        <p:spPr>
          <a:xfrm xmlns:a="http://schemas.openxmlformats.org/drawingml/2006/main">
            <a:off x="60388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30_B64_ARROW_4">
            <a:extLst xmlns:a="http://schemas.openxmlformats.org/drawingml/2006/main">
              <a:ext uri="{FF2B5EF4-FFF2-40B4-BE49-F238E27FC236}">
                <a16:creationId xmlns:a16="http://schemas.microsoft.com/office/drawing/2014/main" id="{EDB46CB3-DCD1-4DE8-8260-BF40F1D7DBE5}"/>
              </a:ext>
            </a:extLst>
          </p:cNvPr>
          <p:cNvSpPr>
            <a:spLocks xmlns:a="http://schemas.openxmlformats.org/drawingml/2006/main" noGrp="1"/>
          </p:cNvSpPr>
          <p:nvPr/>
        </p:nvSpPr>
        <p:spPr>
          <a:xfrm xmlns:a="http://schemas.openxmlformats.org/drawingml/2006/main">
            <a:off x="79311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30_B64_ARROW_5">
            <a:extLst xmlns:a="http://schemas.openxmlformats.org/drawingml/2006/main">
              <a:ext uri="{FF2B5EF4-FFF2-40B4-BE49-F238E27FC236}">
                <a16:creationId xmlns:a16="http://schemas.microsoft.com/office/drawing/2014/main" id="{39380943-70E9-4646-B2DC-FA7D3BA2BB38}"/>
              </a:ext>
            </a:extLst>
          </p:cNvPr>
          <p:cNvSpPr>
            <a:spLocks xmlns:a="http://schemas.openxmlformats.org/drawingml/2006/main" noGrp="1"/>
          </p:cNvSpPr>
          <p:nvPr/>
        </p:nvSpPr>
        <p:spPr>
          <a:xfrm xmlns:a="http://schemas.openxmlformats.org/drawingml/2006/main">
            <a:off x="98234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3" name="S30_B64_NODE_1">
            <a:extLst xmlns:a="http://schemas.openxmlformats.org/drawingml/2006/main">
              <a:ext uri="{FF2B5EF4-FFF2-40B4-BE49-F238E27FC236}">
                <a16:creationId xmlns:a16="http://schemas.microsoft.com/office/drawing/2014/main" id="{E0B32052-E877-4233-B2C1-12B9920DF3BD}"/>
              </a:ext>
            </a:extLst>
          </p:cNvPr>
          <p:cNvSpPr>
            <a:spLocks xmlns:a="http://schemas.openxmlformats.org/drawingml/2006/main" noGrp="1"/>
          </p:cNvSpPr>
          <p:nvPr/>
        </p:nvSpPr>
        <p:spPr>
          <a:xfrm xmlns:a="http://schemas.openxmlformats.org/drawingml/2006/main">
            <a:off x="5334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DECODE</a:t>
            </a:r>
          </a:p>
        </p:txBody>
      </p:sp>
      <p:sp>
        <p:nvSpPr>
          <p:cNvPr id="14" name="S30_B64_NODE_2">
            <a:extLst xmlns:a="http://schemas.openxmlformats.org/drawingml/2006/main">
              <a:ext uri="{FF2B5EF4-FFF2-40B4-BE49-F238E27FC236}">
                <a16:creationId xmlns:a16="http://schemas.microsoft.com/office/drawing/2014/main" id="{5A5FFFBA-10C4-4A12-B3DA-67B3E5436783}"/>
              </a:ext>
            </a:extLst>
          </p:cNvPr>
          <p:cNvSpPr>
            <a:spLocks xmlns:a="http://schemas.openxmlformats.org/drawingml/2006/main" noGrp="1"/>
          </p:cNvSpPr>
          <p:nvPr/>
        </p:nvSpPr>
        <p:spPr>
          <a:xfrm xmlns:a="http://schemas.openxmlformats.org/drawingml/2006/main">
            <a:off x="24257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XEM JSON</a:t>
            </a:r>
          </a:p>
        </p:txBody>
      </p:sp>
      <p:sp>
        <p:nvSpPr>
          <p:cNvPr id="15" name="S30_B64_NODE_3">
            <a:extLst xmlns:a="http://schemas.openxmlformats.org/drawingml/2006/main">
              <a:ext uri="{FF2B5EF4-FFF2-40B4-BE49-F238E27FC236}">
                <a16:creationId xmlns:a16="http://schemas.microsoft.com/office/drawing/2014/main" id="{D9FB53B2-C7D9-4B70-9E8B-F0E580F16907}"/>
              </a:ext>
            </a:extLst>
          </p:cNvPr>
          <p:cNvSpPr>
            <a:spLocks xmlns:a="http://schemas.openxmlformats.org/drawingml/2006/main" noGrp="1"/>
          </p:cNvSpPr>
          <p:nvPr/>
        </p:nvSpPr>
        <p:spPr>
          <a:xfrm xmlns:a="http://schemas.openxmlformats.org/drawingml/2006/main">
            <a:off x="43180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SỬA ROLE</a:t>
            </a:r>
          </a:p>
        </p:txBody>
      </p:sp>
      <p:sp>
        <p:nvSpPr>
          <p:cNvPr id="16" name="S30_B64_NODE_4">
            <a:extLst xmlns:a="http://schemas.openxmlformats.org/drawingml/2006/main">
              <a:ext uri="{FF2B5EF4-FFF2-40B4-BE49-F238E27FC236}">
                <a16:creationId xmlns:a16="http://schemas.microsoft.com/office/drawing/2014/main" id="{B2DC962D-B302-48D6-9834-ABCE84916BC4}"/>
              </a:ext>
            </a:extLst>
          </p:cNvPr>
          <p:cNvSpPr>
            <a:spLocks xmlns:a="http://schemas.openxmlformats.org/drawingml/2006/main" noGrp="1"/>
          </p:cNvSpPr>
          <p:nvPr/>
        </p:nvSpPr>
        <p:spPr>
          <a:xfrm xmlns:a="http://schemas.openxmlformats.org/drawingml/2006/main">
            <a:off x="62103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ENCODE LẠI</a:t>
            </a:r>
          </a:p>
        </p:txBody>
      </p:sp>
      <p:sp>
        <p:nvSpPr>
          <p:cNvPr id="17" name="S30_B64_NODE_5">
            <a:extLst xmlns:a="http://schemas.openxmlformats.org/drawingml/2006/main">
              <a:ext uri="{FF2B5EF4-FFF2-40B4-BE49-F238E27FC236}">
                <a16:creationId xmlns:a16="http://schemas.microsoft.com/office/drawing/2014/main" id="{B2AACBE9-70A3-4B82-A6BE-CCB3AF3EA806}"/>
              </a:ext>
            </a:extLst>
          </p:cNvPr>
          <p:cNvSpPr>
            <a:spLocks xmlns:a="http://schemas.openxmlformats.org/drawingml/2006/main" noGrp="1"/>
          </p:cNvSpPr>
          <p:nvPr/>
        </p:nvSpPr>
        <p:spPr>
          <a:xfrm xmlns:a="http://schemas.openxmlformats.org/drawingml/2006/main">
            <a:off x="81026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GỬI LẠI</a:t>
            </a:r>
          </a:p>
        </p:txBody>
      </p:sp>
      <p:sp>
        <p:nvSpPr>
          <p:cNvPr id="18" name="S30_B64_NODE_6">
            <a:extLst xmlns:a="http://schemas.openxmlformats.org/drawingml/2006/main">
              <a:ext uri="{FF2B5EF4-FFF2-40B4-BE49-F238E27FC236}">
                <a16:creationId xmlns:a16="http://schemas.microsoft.com/office/drawing/2014/main" id="{50CFCF9E-4D56-4A9E-B47F-E021F77E5C9E}"/>
              </a:ext>
            </a:extLst>
          </p:cNvPr>
          <p:cNvSpPr>
            <a:spLocks xmlns:a="http://schemas.openxmlformats.org/drawingml/2006/main" noGrp="1"/>
          </p:cNvSpPr>
          <p:nvPr/>
        </p:nvSpPr>
        <p:spPr>
          <a:xfrm xmlns:a="http://schemas.openxmlformats.org/drawingml/2006/main">
            <a:off x="99949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VULN</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CHẤP NHẬN</a:t>
            </a:r>
          </a:p>
        </p:txBody>
      </p:sp>
      <p:sp>
        <p:nvSpPr>
          <p:cNvPr id="19" name="S30_COMPARE_H0">
            <a:extLst xmlns:a="http://schemas.openxmlformats.org/drawingml/2006/main">
              <a:ext uri="{FF2B5EF4-FFF2-40B4-BE49-F238E27FC236}">
                <a16:creationId xmlns:a16="http://schemas.microsoft.com/office/drawing/2014/main" id="{FBDDD687-65A5-4B76-BB0B-8A9022099BEE}"/>
              </a:ext>
            </a:extLst>
          </p:cNvPr>
          <p:cNvSpPr>
            <a:spLocks xmlns:a="http://schemas.openxmlformats.org/drawingml/2006/main" noGrp="1"/>
          </p:cNvSpPr>
          <p:nvPr/>
        </p:nvSpPr>
        <p:spPr>
          <a:xfrm xmlns:a="http://schemas.openxmlformats.org/drawingml/2006/main">
            <a:off x="533400" y="3143250"/>
            <a:ext cx="14287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CƠ CHẾ</a:t>
            </a:r>
          </a:p>
        </p:txBody>
      </p:sp>
      <p:sp>
        <p:nvSpPr>
          <p:cNvPr id="20" name="S30_COMPARE_H1">
            <a:extLst xmlns:a="http://schemas.openxmlformats.org/drawingml/2006/main">
              <a:ext uri="{FF2B5EF4-FFF2-40B4-BE49-F238E27FC236}">
                <a16:creationId xmlns:a16="http://schemas.microsoft.com/office/drawing/2014/main" id="{3D106055-9DB9-4B1C-96ED-17C450B4AD4D}"/>
              </a:ext>
            </a:extLst>
          </p:cNvPr>
          <p:cNvSpPr>
            <a:spLocks xmlns:a="http://schemas.openxmlformats.org/drawingml/2006/main" noGrp="1"/>
          </p:cNvSpPr>
          <p:nvPr/>
        </p:nvSpPr>
        <p:spPr>
          <a:xfrm xmlns:a="http://schemas.openxmlformats.org/drawingml/2006/main">
            <a:off x="1962150" y="3143250"/>
            <a:ext cx="16192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CONFIDENTIALITY</a:t>
            </a:r>
          </a:p>
        </p:txBody>
      </p:sp>
      <p:sp>
        <p:nvSpPr>
          <p:cNvPr id="21" name="S30_COMPARE_H2">
            <a:extLst xmlns:a="http://schemas.openxmlformats.org/drawingml/2006/main">
              <a:ext uri="{FF2B5EF4-FFF2-40B4-BE49-F238E27FC236}">
                <a16:creationId xmlns:a16="http://schemas.microsoft.com/office/drawing/2014/main" id="{762E269B-25A5-4639-B2B2-7DAFF2253A77}"/>
              </a:ext>
            </a:extLst>
          </p:cNvPr>
          <p:cNvSpPr>
            <a:spLocks xmlns:a="http://schemas.openxmlformats.org/drawingml/2006/main" noGrp="1"/>
          </p:cNvSpPr>
          <p:nvPr/>
        </p:nvSpPr>
        <p:spPr>
          <a:xfrm xmlns:a="http://schemas.openxmlformats.org/drawingml/2006/main">
            <a:off x="3581400" y="3143250"/>
            <a:ext cx="17145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INTEGRITY</a:t>
            </a:r>
          </a:p>
        </p:txBody>
      </p:sp>
      <p:sp>
        <p:nvSpPr>
          <p:cNvPr id="22" name="S30_COMPARE_H3">
            <a:extLst xmlns:a="http://schemas.openxmlformats.org/drawingml/2006/main">
              <a:ext uri="{FF2B5EF4-FFF2-40B4-BE49-F238E27FC236}">
                <a16:creationId xmlns:a16="http://schemas.microsoft.com/office/drawing/2014/main" id="{6BFBA6BE-55BD-4A2E-97F9-E1776E2FA1B5}"/>
              </a:ext>
            </a:extLst>
          </p:cNvPr>
          <p:cNvSpPr>
            <a:spLocks xmlns:a="http://schemas.openxmlformats.org/drawingml/2006/main" noGrp="1"/>
          </p:cNvSpPr>
          <p:nvPr/>
        </p:nvSpPr>
        <p:spPr>
          <a:xfrm xmlns:a="http://schemas.openxmlformats.org/drawingml/2006/main">
            <a:off x="5295900" y="3143250"/>
            <a:ext cx="18097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CLIENT THẤY/SỬA</a:t>
            </a:r>
          </a:p>
        </p:txBody>
      </p:sp>
      <p:sp>
        <p:nvSpPr>
          <p:cNvPr id="23" name="S30_COMPARE_R0C0">
            <a:extLst xmlns:a="http://schemas.openxmlformats.org/drawingml/2006/main">
              <a:ext uri="{FF2B5EF4-FFF2-40B4-BE49-F238E27FC236}">
                <a16:creationId xmlns:a16="http://schemas.microsoft.com/office/drawing/2014/main" id="{6B96A308-2F65-4B0B-A49E-BFDA2AD4B344}"/>
              </a:ext>
            </a:extLst>
          </p:cNvPr>
          <p:cNvSpPr>
            <a:spLocks xmlns:a="http://schemas.openxmlformats.org/drawingml/2006/main" noGrp="1"/>
          </p:cNvSpPr>
          <p:nvPr/>
        </p:nvSpPr>
        <p:spPr>
          <a:xfrm xmlns:a="http://schemas.openxmlformats.org/drawingml/2006/main">
            <a:off x="533400" y="3688080"/>
            <a:ext cx="1428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Plain</a:t>
            </a:r>
          </a:p>
        </p:txBody>
      </p:sp>
      <p:sp>
        <p:nvSpPr>
          <p:cNvPr id="24" name="S30_COMPARE_R0C1">
            <a:extLst xmlns:a="http://schemas.openxmlformats.org/drawingml/2006/main">
              <a:ext uri="{FF2B5EF4-FFF2-40B4-BE49-F238E27FC236}">
                <a16:creationId xmlns:a16="http://schemas.microsoft.com/office/drawing/2014/main" id="{4954F223-D937-43C0-9D3C-AE1C91A23FA7}"/>
              </a:ext>
            </a:extLst>
          </p:cNvPr>
          <p:cNvSpPr>
            <a:spLocks xmlns:a="http://schemas.openxmlformats.org/drawingml/2006/main" noGrp="1"/>
          </p:cNvSpPr>
          <p:nvPr/>
        </p:nvSpPr>
        <p:spPr>
          <a:xfrm xmlns:a="http://schemas.openxmlformats.org/drawingml/2006/main">
            <a:off x="1962150" y="3688080"/>
            <a:ext cx="1619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5" name="S30_COMPARE_R0C2">
            <a:extLst xmlns:a="http://schemas.openxmlformats.org/drawingml/2006/main">
              <a:ext uri="{FF2B5EF4-FFF2-40B4-BE49-F238E27FC236}">
                <a16:creationId xmlns:a16="http://schemas.microsoft.com/office/drawing/2014/main" id="{F6742A65-4ACB-4B51-86D7-A01E96193F07}"/>
              </a:ext>
            </a:extLst>
          </p:cNvPr>
          <p:cNvSpPr>
            <a:spLocks xmlns:a="http://schemas.openxmlformats.org/drawingml/2006/main" noGrp="1"/>
          </p:cNvSpPr>
          <p:nvPr/>
        </p:nvSpPr>
        <p:spPr>
          <a:xfrm xmlns:a="http://schemas.openxmlformats.org/drawingml/2006/main">
            <a:off x="3581400" y="3688080"/>
            <a:ext cx="1714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6" name="S30_COMPARE_R0C3">
            <a:extLst xmlns:a="http://schemas.openxmlformats.org/drawingml/2006/main">
              <a:ext uri="{FF2B5EF4-FFF2-40B4-BE49-F238E27FC236}">
                <a16:creationId xmlns:a16="http://schemas.microsoft.com/office/drawing/2014/main" id="{C4837E3B-1F9E-4016-8BDE-9AA7FDEF0F60}"/>
              </a:ext>
            </a:extLst>
          </p:cNvPr>
          <p:cNvSpPr>
            <a:spLocks xmlns:a="http://schemas.openxmlformats.org/drawingml/2006/main" noGrp="1"/>
          </p:cNvSpPr>
          <p:nvPr/>
        </p:nvSpPr>
        <p:spPr>
          <a:xfrm xmlns:a="http://schemas.openxmlformats.org/drawingml/2006/main">
            <a:off x="5295900" y="3688080"/>
            <a:ext cx="1809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thấy + sửa</a:t>
            </a:r>
          </a:p>
        </p:txBody>
      </p:sp>
      <p:sp>
        <p:nvSpPr>
          <p:cNvPr id="27" name="S30_COMPARE_R1C0">
            <a:extLst xmlns:a="http://schemas.openxmlformats.org/drawingml/2006/main">
              <a:ext uri="{FF2B5EF4-FFF2-40B4-BE49-F238E27FC236}">
                <a16:creationId xmlns:a16="http://schemas.microsoft.com/office/drawing/2014/main" id="{08AC88C2-D27C-42DB-ADE9-3AA478CBE62C}"/>
              </a:ext>
            </a:extLst>
          </p:cNvPr>
          <p:cNvSpPr>
            <a:spLocks xmlns:a="http://schemas.openxmlformats.org/drawingml/2006/main" noGrp="1"/>
          </p:cNvSpPr>
          <p:nvPr/>
        </p:nvSpPr>
        <p:spPr>
          <a:xfrm xmlns:a="http://schemas.openxmlformats.org/drawingml/2006/main">
            <a:off x="533400" y="4232910"/>
            <a:ext cx="1428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Base64</a:t>
            </a:r>
          </a:p>
        </p:txBody>
      </p:sp>
      <p:sp>
        <p:nvSpPr>
          <p:cNvPr id="28" name="S30_COMPARE_R1C1">
            <a:extLst xmlns:a="http://schemas.openxmlformats.org/drawingml/2006/main">
              <a:ext uri="{FF2B5EF4-FFF2-40B4-BE49-F238E27FC236}">
                <a16:creationId xmlns:a16="http://schemas.microsoft.com/office/drawing/2014/main" id="{8D88050B-5F9F-46F4-95DE-1EB5A2524496}"/>
              </a:ext>
            </a:extLst>
          </p:cNvPr>
          <p:cNvSpPr>
            <a:spLocks xmlns:a="http://schemas.openxmlformats.org/drawingml/2006/main" noGrp="1"/>
          </p:cNvSpPr>
          <p:nvPr/>
        </p:nvSpPr>
        <p:spPr>
          <a:xfrm xmlns:a="http://schemas.openxmlformats.org/drawingml/2006/main">
            <a:off x="1962150" y="4232910"/>
            <a:ext cx="1619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9" name="S30_COMPARE_R1C2">
            <a:extLst xmlns:a="http://schemas.openxmlformats.org/drawingml/2006/main">
              <a:ext uri="{FF2B5EF4-FFF2-40B4-BE49-F238E27FC236}">
                <a16:creationId xmlns:a16="http://schemas.microsoft.com/office/drawing/2014/main" id="{7BA47BE6-06B9-4910-BEBB-9F106014E9AD}"/>
              </a:ext>
            </a:extLst>
          </p:cNvPr>
          <p:cNvSpPr>
            <a:spLocks xmlns:a="http://schemas.openxmlformats.org/drawingml/2006/main" noGrp="1"/>
          </p:cNvSpPr>
          <p:nvPr/>
        </p:nvSpPr>
        <p:spPr>
          <a:xfrm xmlns:a="http://schemas.openxmlformats.org/drawingml/2006/main">
            <a:off x="3581400" y="4232910"/>
            <a:ext cx="1714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30" name="S30_COMPARE_R1C3">
            <a:extLst xmlns:a="http://schemas.openxmlformats.org/drawingml/2006/main">
              <a:ext uri="{FF2B5EF4-FFF2-40B4-BE49-F238E27FC236}">
                <a16:creationId xmlns:a16="http://schemas.microsoft.com/office/drawing/2014/main" id="{40745EB3-AC7B-4AC3-91F1-FF87FDAE82B2}"/>
              </a:ext>
            </a:extLst>
          </p:cNvPr>
          <p:cNvSpPr>
            <a:spLocks xmlns:a="http://schemas.openxmlformats.org/drawingml/2006/main" noGrp="1"/>
          </p:cNvSpPr>
          <p:nvPr/>
        </p:nvSpPr>
        <p:spPr>
          <a:xfrm xmlns:a="http://schemas.openxmlformats.org/drawingml/2006/main">
            <a:off x="5295900" y="4232910"/>
            <a:ext cx="1809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decode + sửa</a:t>
            </a:r>
          </a:p>
        </p:txBody>
      </p:sp>
      <p:sp>
        <p:nvSpPr>
          <p:cNvPr id="31" name="S30_COMPARE_R2C0">
            <a:extLst xmlns:a="http://schemas.openxmlformats.org/drawingml/2006/main">
              <a:ext uri="{FF2B5EF4-FFF2-40B4-BE49-F238E27FC236}">
                <a16:creationId xmlns:a16="http://schemas.microsoft.com/office/drawing/2014/main" id="{1CECC2DD-D552-4F53-8D82-C21242395EA9}"/>
              </a:ext>
            </a:extLst>
          </p:cNvPr>
          <p:cNvSpPr>
            <a:spLocks xmlns:a="http://schemas.openxmlformats.org/drawingml/2006/main" noGrp="1"/>
          </p:cNvSpPr>
          <p:nvPr/>
        </p:nvSpPr>
        <p:spPr>
          <a:xfrm xmlns:a="http://schemas.openxmlformats.org/drawingml/2006/main">
            <a:off x="533400" y="4777740"/>
            <a:ext cx="1428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Signed</a:t>
            </a:r>
          </a:p>
        </p:txBody>
      </p:sp>
      <p:sp>
        <p:nvSpPr>
          <p:cNvPr id="32" name="S30_COMPARE_R2C1">
            <a:extLst xmlns:a="http://schemas.openxmlformats.org/drawingml/2006/main">
              <a:ext uri="{FF2B5EF4-FFF2-40B4-BE49-F238E27FC236}">
                <a16:creationId xmlns:a16="http://schemas.microsoft.com/office/drawing/2014/main" id="{3E0C7113-7FBD-4D10-9A82-63DCFE47026F}"/>
              </a:ext>
            </a:extLst>
          </p:cNvPr>
          <p:cNvSpPr>
            <a:spLocks xmlns:a="http://schemas.openxmlformats.org/drawingml/2006/main" noGrp="1"/>
          </p:cNvSpPr>
          <p:nvPr/>
        </p:nvSpPr>
        <p:spPr>
          <a:xfrm xmlns:a="http://schemas.openxmlformats.org/drawingml/2006/main">
            <a:off x="1962150" y="4777740"/>
            <a:ext cx="1619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33" name="S30_COMPARE_R2C2">
            <a:extLst xmlns:a="http://schemas.openxmlformats.org/drawingml/2006/main">
              <a:ext uri="{FF2B5EF4-FFF2-40B4-BE49-F238E27FC236}">
                <a16:creationId xmlns:a16="http://schemas.microsoft.com/office/drawing/2014/main" id="{97123D3C-A68A-4B15-98B2-FB60FE52B663}"/>
              </a:ext>
            </a:extLst>
          </p:cNvPr>
          <p:cNvSpPr>
            <a:spLocks xmlns:a="http://schemas.openxmlformats.org/drawingml/2006/main" noGrp="1"/>
          </p:cNvSpPr>
          <p:nvPr/>
        </p:nvSpPr>
        <p:spPr>
          <a:xfrm xmlns:a="http://schemas.openxmlformats.org/drawingml/2006/main">
            <a:off x="3581400" y="4777740"/>
            <a:ext cx="1714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34" name="S30_COMPARE_R2C3">
            <a:extLst xmlns:a="http://schemas.openxmlformats.org/drawingml/2006/main">
              <a:ext uri="{FF2B5EF4-FFF2-40B4-BE49-F238E27FC236}">
                <a16:creationId xmlns:a16="http://schemas.microsoft.com/office/drawing/2014/main" id="{49F01DA7-B17E-4804-ABF9-6AB7CB432B80}"/>
              </a:ext>
            </a:extLst>
          </p:cNvPr>
          <p:cNvSpPr>
            <a:spLocks xmlns:a="http://schemas.openxmlformats.org/drawingml/2006/main" noGrp="1"/>
          </p:cNvSpPr>
          <p:nvPr/>
        </p:nvSpPr>
        <p:spPr>
          <a:xfrm xmlns:a="http://schemas.openxmlformats.org/drawingml/2006/main">
            <a:off x="5295900" y="4777740"/>
            <a:ext cx="1809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thấy; sửa bị phát hiện</a:t>
            </a:r>
          </a:p>
        </p:txBody>
      </p:sp>
      <p:sp>
        <p:nvSpPr>
          <p:cNvPr id="35" name="S30_COMPARE_R3C0">
            <a:extLst xmlns:a="http://schemas.openxmlformats.org/drawingml/2006/main">
              <a:ext uri="{FF2B5EF4-FFF2-40B4-BE49-F238E27FC236}">
                <a16:creationId xmlns:a16="http://schemas.microsoft.com/office/drawing/2014/main" id="{584769CF-69A5-4A99-9AE3-987785845D64}"/>
              </a:ext>
            </a:extLst>
          </p:cNvPr>
          <p:cNvSpPr>
            <a:spLocks xmlns:a="http://schemas.openxmlformats.org/drawingml/2006/main" noGrp="1"/>
          </p:cNvSpPr>
          <p:nvPr/>
        </p:nvSpPr>
        <p:spPr>
          <a:xfrm xmlns:a="http://schemas.openxmlformats.org/drawingml/2006/main">
            <a:off x="533400" y="5322570"/>
            <a:ext cx="1428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Encrypted</a:t>
            </a:r>
          </a:p>
        </p:txBody>
      </p:sp>
      <p:sp>
        <p:nvSpPr>
          <p:cNvPr id="36" name="S30_COMPARE_R3C1">
            <a:extLst xmlns:a="http://schemas.openxmlformats.org/drawingml/2006/main">
              <a:ext uri="{FF2B5EF4-FFF2-40B4-BE49-F238E27FC236}">
                <a16:creationId xmlns:a16="http://schemas.microsoft.com/office/drawing/2014/main" id="{BC45FD74-FD99-4886-BE73-142FAAD85A75}"/>
              </a:ext>
            </a:extLst>
          </p:cNvPr>
          <p:cNvSpPr>
            <a:spLocks xmlns:a="http://schemas.openxmlformats.org/drawingml/2006/main" noGrp="1"/>
          </p:cNvSpPr>
          <p:nvPr/>
        </p:nvSpPr>
        <p:spPr>
          <a:xfrm xmlns:a="http://schemas.openxmlformats.org/drawingml/2006/main">
            <a:off x="1962150" y="5322570"/>
            <a:ext cx="1619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37" name="S30_COMPARE_R3C2">
            <a:extLst xmlns:a="http://schemas.openxmlformats.org/drawingml/2006/main">
              <a:ext uri="{FF2B5EF4-FFF2-40B4-BE49-F238E27FC236}">
                <a16:creationId xmlns:a16="http://schemas.microsoft.com/office/drawing/2014/main" id="{076C0529-C9D3-4E54-B02C-F64D75C045BA}"/>
              </a:ext>
            </a:extLst>
          </p:cNvPr>
          <p:cNvSpPr>
            <a:spLocks xmlns:a="http://schemas.openxmlformats.org/drawingml/2006/main" noGrp="1"/>
          </p:cNvSpPr>
          <p:nvPr/>
        </p:nvSpPr>
        <p:spPr>
          <a:xfrm xmlns:a="http://schemas.openxmlformats.org/drawingml/2006/main">
            <a:off x="3581400" y="5322570"/>
            <a:ext cx="1714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chỉ khi AEAD/MAC</a:t>
            </a:r>
          </a:p>
        </p:txBody>
      </p:sp>
      <p:sp>
        <p:nvSpPr>
          <p:cNvPr id="38" name="S30_COMPARE_R3C3">
            <a:extLst xmlns:a="http://schemas.openxmlformats.org/drawingml/2006/main">
              <a:ext uri="{FF2B5EF4-FFF2-40B4-BE49-F238E27FC236}">
                <a16:creationId xmlns:a16="http://schemas.microsoft.com/office/drawing/2014/main" id="{E6F0771F-9DD4-45C3-89E2-577060229912}"/>
              </a:ext>
            </a:extLst>
          </p:cNvPr>
          <p:cNvSpPr>
            <a:spLocks xmlns:a="http://schemas.openxmlformats.org/drawingml/2006/main" noGrp="1"/>
          </p:cNvSpPr>
          <p:nvPr/>
        </p:nvSpPr>
        <p:spPr>
          <a:xfrm xmlns:a="http://schemas.openxmlformats.org/drawingml/2006/main">
            <a:off x="5295900" y="5322570"/>
            <a:ext cx="1809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đọc;</a:t>
            </a:r>
          </a:p>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sửa cần key/MAC</a:t>
            </a:r>
          </a:p>
        </p:txBody>
      </p:sp>
      <p:sp>
        <p:nvSpPr>
          <p:cNvPr id="39" name="PH_S30_Lab06_Lab06_base64_cookie_decode_edit_encode_png_FRAME">
            <a:extLst xmlns:a="http://schemas.openxmlformats.org/drawingml/2006/main">
              <a:ext uri="{FF2B5EF4-FFF2-40B4-BE49-F238E27FC236}">
                <a16:creationId xmlns:a16="http://schemas.microsoft.com/office/drawing/2014/main" id="{879CF815-3D73-4E5A-9B82-3F5C699C0C7B}"/>
              </a:ext>
            </a:extLst>
          </p:cNvPr>
          <p:cNvSpPr>
            <a:spLocks xmlns:a="http://schemas.openxmlformats.org/drawingml/2006/main" noGrp="1"/>
          </p:cNvSpPr>
          <p:nvPr/>
        </p:nvSpPr>
        <p:spPr>
          <a:xfrm xmlns:a="http://schemas.openxmlformats.org/drawingml/2006/main">
            <a:off x="7343775" y="3114675"/>
            <a:ext cx="4343400" cy="27813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40" name="PH_S30_Lab06_Lab06_base64_cookie_decode_edit_encode_png_IMAGE">
            <a:extLst xmlns:a="http://schemas.openxmlformats.org/drawingml/2006/main">
              <a:ext uri="{FF2B5EF4-FFF2-40B4-BE49-F238E27FC236}">
                <a16:creationId xmlns:a16="http://schemas.microsoft.com/office/drawing/2014/main" id="{51AFB776-A222-412E-A88C-8662577B40A9}"/>
              </a:ext>
            </a:extLst>
          </p:cNvPr>
          <p:cNvSpPr>
            <a:spLocks xmlns:a="http://schemas.openxmlformats.org/drawingml/2006/main" noGrp="1"/>
          </p:cNvSpPr>
          <p:nvPr/>
        </p:nvSpPr>
        <p:spPr>
          <a:xfrm xmlns:a="http://schemas.openxmlformats.org/drawingml/2006/main">
            <a:off x="7372350" y="3143250"/>
            <a:ext cx="4286250" cy="27241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41" name="PH_S30_Lab06_Lab06_base64_cookie_decode_edit_encode_png_ICON">
            <a:extLst xmlns:a="http://schemas.openxmlformats.org/drawingml/2006/main">
              <a:ext uri="{FF2B5EF4-FFF2-40B4-BE49-F238E27FC236}">
                <a16:creationId xmlns:a16="http://schemas.microsoft.com/office/drawing/2014/main" id="{E4781303-0052-46B0-BBCC-4079BDFF5036}"/>
              </a:ext>
            </a:extLst>
          </p:cNvPr>
          <p:cNvSpPr>
            <a:spLocks xmlns:a="http://schemas.openxmlformats.org/drawingml/2006/main" noGrp="1"/>
          </p:cNvSpPr>
          <p:nvPr/>
        </p:nvSpPr>
        <p:spPr>
          <a:xfrm xmlns:a="http://schemas.openxmlformats.org/drawingml/2006/main">
            <a:off x="7524750" y="32861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42" name="PH_S30_Lab06_Lab06_base64_cookie_decode_edit_encode_png_INSTRUCTION">
            <a:extLst xmlns:a="http://schemas.openxmlformats.org/drawingml/2006/main">
              <a:ext uri="{FF2B5EF4-FFF2-40B4-BE49-F238E27FC236}">
                <a16:creationId xmlns:a16="http://schemas.microsoft.com/office/drawing/2014/main" id="{56656DE9-2AA4-4C73-8917-DE39D46C133F}"/>
              </a:ext>
            </a:extLst>
          </p:cNvPr>
          <p:cNvSpPr>
            <a:spLocks xmlns:a="http://schemas.openxmlformats.org/drawingml/2006/main" noGrp="1"/>
          </p:cNvSpPr>
          <p:nvPr/>
        </p:nvSpPr>
        <p:spPr>
          <a:xfrm xmlns:a="http://schemas.openxmlformats.org/drawingml/2006/main">
            <a:off x="8039100" y="3314700"/>
            <a:ext cx="34480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Lab06_base64_cookie_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decode_edit_encode.png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43" name="PH_S30_Lab06_Lab06_base64_cookie_decode_edit_encode_png_CAPTION">
            <a:extLst xmlns:a="http://schemas.openxmlformats.org/drawingml/2006/main">
              <a:ext uri="{FF2B5EF4-FFF2-40B4-BE49-F238E27FC236}">
                <a16:creationId xmlns:a16="http://schemas.microsoft.com/office/drawing/2014/main" id="{9C1FEACC-A954-499F-B6AD-168C74949AE9}"/>
              </a:ext>
            </a:extLst>
          </p:cNvPr>
          <p:cNvSpPr>
            <a:spLocks xmlns:a="http://schemas.openxmlformats.org/drawingml/2006/main" noGrp="1"/>
          </p:cNvSpPr>
          <p:nvPr/>
        </p:nvSpPr>
        <p:spPr>
          <a:xfrm xmlns:a="http://schemas.openxmlformats.org/drawingml/2006/main">
            <a:off x="7372350" y="5457825"/>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Decode → sửa role → encode lại</a:t>
            </a:r>
          </a:p>
        </p:txBody>
      </p:sp>
    </p:spTree>
    <p:extLst>
      <p:ext uri="{BB962C8B-B14F-4D97-AF65-F5344CB8AC3E}">
        <p14:creationId xmlns:p14="http://schemas.microsoft.com/office/powerpoint/2010/main" val="2086202430"/>
      </p:ext>
    </p:extLst>
  </p:cSld>
</p:sld>
</file>

<file path=ppt/slides/slide3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2" name="S31_EYEBROW">
            <a:extLst xmlns:a="http://schemas.openxmlformats.org/drawingml/2006/main">
              <a:ext uri="{FF2B5EF4-FFF2-40B4-BE49-F238E27FC236}">
                <a16:creationId xmlns:a16="http://schemas.microsoft.com/office/drawing/2014/main" id="{4DCDC3E9-AF45-4CFA-AD78-30D4C10C8891}"/>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31_TITLE">
            <a:extLst xmlns:a="http://schemas.openxmlformats.org/drawingml/2006/main">
              <a:ext uri="{FF2B5EF4-FFF2-40B4-BE49-F238E27FC236}">
                <a16:creationId xmlns:a16="http://schemas.microsoft.com/office/drawing/2014/main" id="{28E862C8-4FA0-42D8-9A0B-A1B348A3AC4E}"/>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Server session giữ quyền ở phía authoritative</a:t>
            </a:r>
          </a:p>
        </p:txBody>
      </p:sp>
      <p:sp>
        <p:nvSpPr>
          <p:cNvPr id="3" name="S31_SUBTITLE">
            <a:extLst xmlns:a="http://schemas.openxmlformats.org/drawingml/2006/main">
              <a:ext uri="{FF2B5EF4-FFF2-40B4-BE49-F238E27FC236}">
                <a16:creationId xmlns:a16="http://schemas.microsoft.com/office/drawing/2014/main" id="{62AD611B-DD76-4EE1-9E2D-EB81FEC0B156}"/>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Signed cookie phát hiện tamper; server session giữ role authoritative và hỗ trợ rotate/revoke.</a:t>
            </a:r>
          </a:p>
        </p:txBody>
      </p:sp>
      <p:sp>
        <p:nvSpPr>
          <p:cNvPr id="4" name="S31_TITLE_RULE">
            <a:extLst xmlns:a="http://schemas.openxmlformats.org/drawingml/2006/main">
              <a:ext uri="{FF2B5EF4-FFF2-40B4-BE49-F238E27FC236}">
                <a16:creationId xmlns:a16="http://schemas.microsoft.com/office/drawing/2014/main" id="{8E7CA9B9-C4D7-4630-A4D6-1E803313D45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1_FOOTER_RULE">
            <a:extLst xmlns:a="http://schemas.openxmlformats.org/drawingml/2006/main">
              <a:ext uri="{FF2B5EF4-FFF2-40B4-BE49-F238E27FC236}">
                <a16:creationId xmlns:a16="http://schemas.microsoft.com/office/drawing/2014/main" id="{E2556FA6-2657-45B5-86FA-0AF5014B33E2}"/>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1_SOURCE">
            <a:extLst xmlns:a="http://schemas.openxmlformats.org/drawingml/2006/main">
              <a:ext uri="{FF2B5EF4-FFF2-40B4-BE49-F238E27FC236}">
                <a16:creationId xmlns:a16="http://schemas.microsoft.com/office/drawing/2014/main" id="{EA46AB9F-4FF0-4F29-BCC5-5D8D78094FD5}"/>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Lab06/server_session_service.py · authorization_service.py</a:t>
            </a:r>
          </a:p>
        </p:txBody>
      </p:sp>
      <p:sp>
        <p:nvSpPr>
          <p:cNvPr id="7" name="S31_NUMBER">
            <a:extLst xmlns:a="http://schemas.openxmlformats.org/drawingml/2006/main">
              <a:ext uri="{FF2B5EF4-FFF2-40B4-BE49-F238E27FC236}">
                <a16:creationId xmlns:a16="http://schemas.microsoft.com/office/drawing/2014/main" id="{42EDC2E2-B7F6-4291-9A04-E29708834B8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31</a:t>
            </a:r>
          </a:p>
        </p:txBody>
      </p:sp>
      <p:sp>
        <p:nvSpPr>
          <p:cNvPr id="8" name="S31_SESSION_ARROW_1">
            <a:extLst xmlns:a="http://schemas.openxmlformats.org/drawingml/2006/main">
              <a:ext uri="{FF2B5EF4-FFF2-40B4-BE49-F238E27FC236}">
                <a16:creationId xmlns:a16="http://schemas.microsoft.com/office/drawing/2014/main" id="{5896FB33-3B00-4369-B369-7C4C4120D7B4}"/>
              </a:ext>
            </a:extLst>
          </p:cNvPr>
          <p:cNvSpPr>
            <a:spLocks xmlns:a="http://schemas.openxmlformats.org/drawingml/2006/main" noGrp="1"/>
          </p:cNvSpPr>
          <p:nvPr/>
        </p:nvSpPr>
        <p:spPr>
          <a:xfrm xmlns:a="http://schemas.openxmlformats.org/drawingml/2006/main">
            <a:off x="1579562"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9" name="S31_SESSION_ARROW_2">
            <a:extLst xmlns:a="http://schemas.openxmlformats.org/drawingml/2006/main">
              <a:ext uri="{FF2B5EF4-FFF2-40B4-BE49-F238E27FC236}">
                <a16:creationId xmlns:a16="http://schemas.microsoft.com/office/drawing/2014/main" id="{CE7021BC-F16A-489F-AA66-2520F9A98BB8}"/>
              </a:ext>
            </a:extLst>
          </p:cNvPr>
          <p:cNvSpPr>
            <a:spLocks xmlns:a="http://schemas.openxmlformats.org/drawingml/2006/main" noGrp="1"/>
          </p:cNvSpPr>
          <p:nvPr/>
        </p:nvSpPr>
        <p:spPr>
          <a:xfrm xmlns:a="http://schemas.openxmlformats.org/drawingml/2006/main">
            <a:off x="2768600"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0" name="S31_SESSION_ARROW_3">
            <a:extLst xmlns:a="http://schemas.openxmlformats.org/drawingml/2006/main">
              <a:ext uri="{FF2B5EF4-FFF2-40B4-BE49-F238E27FC236}">
                <a16:creationId xmlns:a16="http://schemas.microsoft.com/office/drawing/2014/main" id="{0FE4749D-910C-4505-9D2B-079AED5C2F44}"/>
              </a:ext>
            </a:extLst>
          </p:cNvPr>
          <p:cNvSpPr>
            <a:spLocks xmlns:a="http://schemas.openxmlformats.org/drawingml/2006/main" noGrp="1"/>
          </p:cNvSpPr>
          <p:nvPr/>
        </p:nvSpPr>
        <p:spPr>
          <a:xfrm xmlns:a="http://schemas.openxmlformats.org/drawingml/2006/main">
            <a:off x="3957638"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1" name="S31_SESSION_ARROW_4">
            <a:extLst xmlns:a="http://schemas.openxmlformats.org/drawingml/2006/main">
              <a:ext uri="{FF2B5EF4-FFF2-40B4-BE49-F238E27FC236}">
                <a16:creationId xmlns:a16="http://schemas.microsoft.com/office/drawing/2014/main" id="{EE3AF618-E5D5-46A5-B1F4-D1F3BF8E0946}"/>
              </a:ext>
            </a:extLst>
          </p:cNvPr>
          <p:cNvSpPr>
            <a:spLocks xmlns:a="http://schemas.openxmlformats.org/drawingml/2006/main" noGrp="1"/>
          </p:cNvSpPr>
          <p:nvPr/>
        </p:nvSpPr>
        <p:spPr>
          <a:xfrm xmlns:a="http://schemas.openxmlformats.org/drawingml/2006/main">
            <a:off x="5146675"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2" name="S31_SESSION_ARROW_5">
            <a:extLst xmlns:a="http://schemas.openxmlformats.org/drawingml/2006/main">
              <a:ext uri="{FF2B5EF4-FFF2-40B4-BE49-F238E27FC236}">
                <a16:creationId xmlns:a16="http://schemas.microsoft.com/office/drawing/2014/main" id="{B569AB59-AC4B-4F70-9AC7-368918308E75}"/>
              </a:ext>
            </a:extLst>
          </p:cNvPr>
          <p:cNvSpPr>
            <a:spLocks xmlns:a="http://schemas.openxmlformats.org/drawingml/2006/main" noGrp="1"/>
          </p:cNvSpPr>
          <p:nvPr/>
        </p:nvSpPr>
        <p:spPr>
          <a:xfrm xmlns:a="http://schemas.openxmlformats.org/drawingml/2006/main">
            <a:off x="6335713"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3" name="S31_SESSION_NODE_1">
            <a:extLst xmlns:a="http://schemas.openxmlformats.org/drawingml/2006/main">
              <a:ext uri="{FF2B5EF4-FFF2-40B4-BE49-F238E27FC236}">
                <a16:creationId xmlns:a16="http://schemas.microsoft.com/office/drawing/2014/main" id="{7D7F3F6F-DADD-4E7A-B2E9-AAA9370B5AC3}"/>
              </a:ext>
            </a:extLst>
          </p:cNvPr>
          <p:cNvSpPr>
            <a:spLocks xmlns:a="http://schemas.openxmlformats.org/drawingml/2006/main" noGrp="1"/>
          </p:cNvSpPr>
          <p:nvPr/>
        </p:nvSpPr>
        <p:spPr>
          <a:xfrm xmlns:a="http://schemas.openxmlformats.org/drawingml/2006/main">
            <a:off x="53340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opaque ID</a:t>
            </a:r>
          </a:p>
        </p:txBody>
      </p:sp>
      <p:sp>
        <p:nvSpPr>
          <p:cNvPr id="14" name="S31_SESSION_NODE_2">
            <a:extLst xmlns:a="http://schemas.openxmlformats.org/drawingml/2006/main">
              <a:ext uri="{FF2B5EF4-FFF2-40B4-BE49-F238E27FC236}">
                <a16:creationId xmlns:a16="http://schemas.microsoft.com/office/drawing/2014/main" id="{0946BE89-2A9E-4F64-8C8D-CAB73A5D3D86}"/>
              </a:ext>
            </a:extLst>
          </p:cNvPr>
          <p:cNvSpPr>
            <a:spLocks xmlns:a="http://schemas.openxmlformats.org/drawingml/2006/main" noGrp="1"/>
          </p:cNvSpPr>
          <p:nvPr/>
        </p:nvSpPr>
        <p:spPr>
          <a:xfrm xmlns:a="http://schemas.openxmlformats.org/drawingml/2006/main">
            <a:off x="1722437"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hash lookup</a:t>
            </a:r>
          </a:p>
        </p:txBody>
      </p:sp>
      <p:sp>
        <p:nvSpPr>
          <p:cNvPr id="15" name="S31_SESSION_NODE_3">
            <a:extLst xmlns:a="http://schemas.openxmlformats.org/drawingml/2006/main">
              <a:ext uri="{FF2B5EF4-FFF2-40B4-BE49-F238E27FC236}">
                <a16:creationId xmlns:a16="http://schemas.microsoft.com/office/drawing/2014/main" id="{07D20AD8-39FF-42C0-931F-A0E60373622D}"/>
              </a:ext>
            </a:extLst>
          </p:cNvPr>
          <p:cNvSpPr>
            <a:spLocks xmlns:a="http://schemas.openxmlformats.org/drawingml/2006/main" noGrp="1"/>
          </p:cNvSpPr>
          <p:nvPr/>
        </p:nvSpPr>
        <p:spPr>
          <a:xfrm xmlns:a="http://schemas.openxmlformats.org/drawingml/2006/main">
            <a:off x="2911475"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active + expiry</a:t>
            </a:r>
          </a:p>
        </p:txBody>
      </p:sp>
      <p:sp>
        <p:nvSpPr>
          <p:cNvPr id="16" name="S31_SESSION_NODE_4">
            <a:extLst xmlns:a="http://schemas.openxmlformats.org/drawingml/2006/main">
              <a:ext uri="{FF2B5EF4-FFF2-40B4-BE49-F238E27FC236}">
                <a16:creationId xmlns:a16="http://schemas.microsoft.com/office/drawing/2014/main" id="{37F7AF49-AAF6-4219-A43B-5F8A00453655}"/>
              </a:ext>
            </a:extLst>
          </p:cNvPr>
          <p:cNvSpPr>
            <a:spLocks xmlns:a="http://schemas.openxmlformats.org/drawingml/2006/main" noGrp="1"/>
          </p:cNvSpPr>
          <p:nvPr/>
        </p:nvSpPr>
        <p:spPr>
          <a:xfrm xmlns:a="http://schemas.openxmlformats.org/drawingml/2006/main">
            <a:off x="4100513"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role</a:t>
            </a:r>
          </a:p>
        </p:txBody>
      </p:sp>
      <p:sp>
        <p:nvSpPr>
          <p:cNvPr id="17" name="S31_SESSION_NODE_5">
            <a:extLst xmlns:a="http://schemas.openxmlformats.org/drawingml/2006/main">
              <a:ext uri="{FF2B5EF4-FFF2-40B4-BE49-F238E27FC236}">
                <a16:creationId xmlns:a16="http://schemas.microsoft.com/office/drawing/2014/main" id="{780C73CA-0C29-4098-A69D-26A0380F654A}"/>
              </a:ext>
            </a:extLst>
          </p:cNvPr>
          <p:cNvSpPr>
            <a:spLocks xmlns:a="http://schemas.openxmlformats.org/drawingml/2006/main" noGrp="1"/>
          </p:cNvSpPr>
          <p:nvPr/>
        </p:nvSpPr>
        <p:spPr>
          <a:xfrm xmlns:a="http://schemas.openxmlformats.org/drawingml/2006/main">
            <a:off x="528955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authorize</a:t>
            </a:r>
          </a:p>
        </p:txBody>
      </p:sp>
      <p:sp>
        <p:nvSpPr>
          <p:cNvPr id="18" name="S31_SESSION_NODE_6">
            <a:extLst xmlns:a="http://schemas.openxmlformats.org/drawingml/2006/main">
              <a:ext uri="{FF2B5EF4-FFF2-40B4-BE49-F238E27FC236}">
                <a16:creationId xmlns:a16="http://schemas.microsoft.com/office/drawing/2014/main" id="{0B9384DE-0F34-4F4C-B893-69C9A2A1C062}"/>
              </a:ext>
            </a:extLst>
          </p:cNvPr>
          <p:cNvSpPr>
            <a:spLocks xmlns:a="http://schemas.openxmlformats.org/drawingml/2006/main" noGrp="1"/>
          </p:cNvSpPr>
          <p:nvPr/>
        </p:nvSpPr>
        <p:spPr>
          <a:xfrm xmlns:a="http://schemas.openxmlformats.org/drawingml/2006/main">
            <a:off x="6478588"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allow / deny</a:t>
            </a:r>
          </a:p>
        </p:txBody>
      </p:sp>
      <p:sp>
        <p:nvSpPr>
          <p:cNvPr id="19" name="PH_S31_Lab06_56_signed_cookie_rejected_response_png_FRAME">
            <a:extLst xmlns:a="http://schemas.openxmlformats.org/drawingml/2006/main">
              <a:ext uri="{FF2B5EF4-FFF2-40B4-BE49-F238E27FC236}">
                <a16:creationId xmlns:a16="http://schemas.microsoft.com/office/drawing/2014/main" id="{05507EC7-CEA3-4FC5-827A-6D2DC4526698}"/>
              </a:ext>
            </a:extLst>
          </p:cNvPr>
          <p:cNvSpPr>
            <a:spLocks xmlns:a="http://schemas.openxmlformats.org/drawingml/2006/main" noGrp="1"/>
          </p:cNvSpPr>
          <p:nvPr/>
        </p:nvSpPr>
        <p:spPr>
          <a:xfrm xmlns:a="http://schemas.openxmlformats.org/drawingml/2006/main">
            <a:off x="7800975" y="1724025"/>
            <a:ext cx="3886200" cy="23812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0" name="PH_S31_Lab06_56_signed_cookie_rejected_response_png_IMAGE">
            <a:extLst xmlns:a="http://schemas.openxmlformats.org/drawingml/2006/main">
              <a:ext uri="{FF2B5EF4-FFF2-40B4-BE49-F238E27FC236}">
                <a16:creationId xmlns:a16="http://schemas.microsoft.com/office/drawing/2014/main" id="{51B2D4C3-62A3-4F04-A734-8E62CE9DB06F}"/>
              </a:ext>
            </a:extLst>
          </p:cNvPr>
          <p:cNvSpPr>
            <a:spLocks xmlns:a="http://schemas.openxmlformats.org/drawingml/2006/main" noGrp="1"/>
          </p:cNvSpPr>
          <p:nvPr/>
        </p:nvSpPr>
        <p:spPr>
          <a:xfrm xmlns:a="http://schemas.openxmlformats.org/drawingml/2006/main">
            <a:off x="7829550" y="1752600"/>
            <a:ext cx="3829050" cy="23241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1" name="PH_S31_Lab06_56_signed_cookie_rejected_response_png_ICON">
            <a:extLst xmlns:a="http://schemas.openxmlformats.org/drawingml/2006/main">
              <a:ext uri="{FF2B5EF4-FFF2-40B4-BE49-F238E27FC236}">
                <a16:creationId xmlns:a16="http://schemas.microsoft.com/office/drawing/2014/main" id="{697A5B3A-2E0F-4411-8659-097F3EC488CA}"/>
              </a:ext>
            </a:extLst>
          </p:cNvPr>
          <p:cNvSpPr>
            <a:spLocks xmlns:a="http://schemas.openxmlformats.org/drawingml/2006/main" noGrp="1"/>
          </p:cNvSpPr>
          <p:nvPr/>
        </p:nvSpPr>
        <p:spPr>
          <a:xfrm xmlns:a="http://schemas.openxmlformats.org/drawingml/2006/main">
            <a:off x="79819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2" name="PH_S31_Lab06_56_signed_cookie_rejected_response_png_INSTRUCTION">
            <a:extLst xmlns:a="http://schemas.openxmlformats.org/drawingml/2006/main">
              <a:ext uri="{FF2B5EF4-FFF2-40B4-BE49-F238E27FC236}">
                <a16:creationId xmlns:a16="http://schemas.microsoft.com/office/drawing/2014/main" id="{8E8FCF9C-4613-466E-BB2D-5DCD38FE2F40}"/>
              </a:ext>
            </a:extLst>
          </p:cNvPr>
          <p:cNvSpPr>
            <a:spLocks xmlns:a="http://schemas.openxmlformats.org/drawingml/2006/main" noGrp="1"/>
          </p:cNvSpPr>
          <p:nvPr/>
        </p:nvSpPr>
        <p:spPr>
          <a:xfrm xmlns:a="http://schemas.openxmlformats.org/drawingml/2006/main">
            <a:off x="8496300" y="1924050"/>
            <a:ext cx="29908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56_signed_cookie_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rejected_response.png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3" name="PH_S31_Lab06_56_signed_cookie_rejected_response_png_CAPTION">
            <a:extLst xmlns:a="http://schemas.openxmlformats.org/drawingml/2006/main">
              <a:ext uri="{FF2B5EF4-FFF2-40B4-BE49-F238E27FC236}">
                <a16:creationId xmlns:a16="http://schemas.microsoft.com/office/drawing/2014/main" id="{343969F9-2E51-48B2-8BD0-37FCD33B5FB4}"/>
              </a:ext>
            </a:extLst>
          </p:cNvPr>
          <p:cNvSpPr>
            <a:spLocks xmlns:a="http://schemas.openxmlformats.org/drawingml/2006/main" noGrp="1"/>
          </p:cNvSpPr>
          <p:nvPr/>
        </p:nvSpPr>
        <p:spPr>
          <a:xfrm xmlns:a="http://schemas.openxmlformats.org/drawingml/2006/main">
            <a:off x="7829550" y="3667125"/>
            <a:ext cx="3829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secure từ chối signed cookie sửa</a:t>
            </a:r>
          </a:p>
        </p:txBody>
      </p:sp>
      <p:sp>
        <p:nvSpPr>
          <p:cNvPr id="24" name="S31_CONTROL_H0">
            <a:extLst xmlns:a="http://schemas.openxmlformats.org/drawingml/2006/main">
              <a:ext uri="{FF2B5EF4-FFF2-40B4-BE49-F238E27FC236}">
                <a16:creationId xmlns:a16="http://schemas.microsoft.com/office/drawing/2014/main" id="{E7E3121A-0F2E-4A2A-80A9-81B5EDD7EB1B}"/>
              </a:ext>
            </a:extLst>
          </p:cNvPr>
          <p:cNvSpPr>
            <a:spLocks xmlns:a="http://schemas.openxmlformats.org/drawingml/2006/main" noGrp="1"/>
          </p:cNvSpPr>
          <p:nvPr/>
        </p:nvSpPr>
        <p:spPr>
          <a:xfrm xmlns:a="http://schemas.openxmlformats.org/drawingml/2006/main">
            <a:off x="533400" y="3105150"/>
            <a:ext cx="15240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SỰ KIỆN</a:t>
            </a:r>
          </a:p>
        </p:txBody>
      </p:sp>
      <p:sp>
        <p:nvSpPr>
          <p:cNvPr id="25" name="S31_CONTROL_H1">
            <a:extLst xmlns:a="http://schemas.openxmlformats.org/drawingml/2006/main">
              <a:ext uri="{FF2B5EF4-FFF2-40B4-BE49-F238E27FC236}">
                <a16:creationId xmlns:a16="http://schemas.microsoft.com/office/drawing/2014/main" id="{A2D0CF32-CF23-4685-B97E-D90285157450}"/>
              </a:ext>
            </a:extLst>
          </p:cNvPr>
          <p:cNvSpPr>
            <a:spLocks xmlns:a="http://schemas.openxmlformats.org/drawingml/2006/main" noGrp="1"/>
          </p:cNvSpPr>
          <p:nvPr/>
        </p:nvSpPr>
        <p:spPr>
          <a:xfrm xmlns:a="http://schemas.openxmlformats.org/drawingml/2006/main">
            <a:off x="2057400" y="3105150"/>
            <a:ext cx="26670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SERVER ACTION</a:t>
            </a:r>
          </a:p>
        </p:txBody>
      </p:sp>
      <p:sp>
        <p:nvSpPr>
          <p:cNvPr id="26" name="S31_CONTROL_H2">
            <a:extLst xmlns:a="http://schemas.openxmlformats.org/drawingml/2006/main">
              <a:ext uri="{FF2B5EF4-FFF2-40B4-BE49-F238E27FC236}">
                <a16:creationId xmlns:a16="http://schemas.microsoft.com/office/drawing/2014/main" id="{0240160A-8E5C-44D7-9B56-4598031BA3AE}"/>
              </a:ext>
            </a:extLst>
          </p:cNvPr>
          <p:cNvSpPr>
            <a:spLocks xmlns:a="http://schemas.openxmlformats.org/drawingml/2006/main" noGrp="1"/>
          </p:cNvSpPr>
          <p:nvPr/>
        </p:nvSpPr>
        <p:spPr>
          <a:xfrm xmlns:a="http://schemas.openxmlformats.org/drawingml/2006/main">
            <a:off x="4724400" y="3105150"/>
            <a:ext cx="27622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HIỆU QUẢ</a:t>
            </a:r>
          </a:p>
        </p:txBody>
      </p:sp>
      <p:sp>
        <p:nvSpPr>
          <p:cNvPr id="27" name="S31_CONTROL_R0C0">
            <a:extLst xmlns:a="http://schemas.openxmlformats.org/drawingml/2006/main">
              <a:ext uri="{FF2B5EF4-FFF2-40B4-BE49-F238E27FC236}">
                <a16:creationId xmlns:a16="http://schemas.microsoft.com/office/drawing/2014/main" id="{6CEE0C79-70BF-4389-BF6E-F406105A279C}"/>
              </a:ext>
            </a:extLst>
          </p:cNvPr>
          <p:cNvSpPr>
            <a:spLocks xmlns:a="http://schemas.openxmlformats.org/drawingml/2006/main" noGrp="1"/>
          </p:cNvSpPr>
          <p:nvPr/>
        </p:nvSpPr>
        <p:spPr>
          <a:xfrm xmlns:a="http://schemas.openxmlformats.org/drawingml/2006/main">
            <a:off x="533400" y="364998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Login</a:t>
            </a:r>
          </a:p>
        </p:txBody>
      </p:sp>
      <p:sp>
        <p:nvSpPr>
          <p:cNvPr id="28" name="S31_CONTROL_R0C1">
            <a:extLst xmlns:a="http://schemas.openxmlformats.org/drawingml/2006/main">
              <a:ext uri="{FF2B5EF4-FFF2-40B4-BE49-F238E27FC236}">
                <a16:creationId xmlns:a16="http://schemas.microsoft.com/office/drawing/2014/main" id="{8F161A27-8640-48BA-AD44-05F710C12490}"/>
              </a:ext>
            </a:extLst>
          </p:cNvPr>
          <p:cNvSpPr>
            <a:spLocks xmlns:a="http://schemas.openxmlformats.org/drawingml/2006/main" noGrp="1"/>
          </p:cNvSpPr>
          <p:nvPr/>
        </p:nvSpPr>
        <p:spPr>
          <a:xfrm xmlns:a="http://schemas.openxmlformats.org/drawingml/2006/main">
            <a:off x="2057400" y="3649980"/>
            <a:ext cx="2667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rotate ID</a:t>
            </a:r>
          </a:p>
        </p:txBody>
      </p:sp>
      <p:sp>
        <p:nvSpPr>
          <p:cNvPr id="29" name="S31_CONTROL_R0C2">
            <a:extLst xmlns:a="http://schemas.openxmlformats.org/drawingml/2006/main">
              <a:ext uri="{FF2B5EF4-FFF2-40B4-BE49-F238E27FC236}">
                <a16:creationId xmlns:a16="http://schemas.microsoft.com/office/drawing/2014/main" id="{6DAEBBE6-6B24-41E5-9725-A5D6C1AC9859}"/>
              </a:ext>
            </a:extLst>
          </p:cNvPr>
          <p:cNvSpPr>
            <a:spLocks xmlns:a="http://schemas.openxmlformats.org/drawingml/2006/main" noGrp="1"/>
          </p:cNvSpPr>
          <p:nvPr/>
        </p:nvSpPr>
        <p:spPr>
          <a:xfrm xmlns:a="http://schemas.openxmlformats.org/drawingml/2006/main">
            <a:off x="4724400" y="3649980"/>
            <a:ext cx="2762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chống fixation</a:t>
            </a:r>
          </a:p>
        </p:txBody>
      </p:sp>
      <p:sp>
        <p:nvSpPr>
          <p:cNvPr id="30" name="S31_CONTROL_R1C0">
            <a:extLst xmlns:a="http://schemas.openxmlformats.org/drawingml/2006/main">
              <a:ext uri="{FF2B5EF4-FFF2-40B4-BE49-F238E27FC236}">
                <a16:creationId xmlns:a16="http://schemas.microsoft.com/office/drawing/2014/main" id="{C5675EB4-3D86-44EB-A01C-267038D56C6B}"/>
              </a:ext>
            </a:extLst>
          </p:cNvPr>
          <p:cNvSpPr>
            <a:spLocks xmlns:a="http://schemas.openxmlformats.org/drawingml/2006/main" noGrp="1"/>
          </p:cNvSpPr>
          <p:nvPr/>
        </p:nvSpPr>
        <p:spPr>
          <a:xfrm xmlns:a="http://schemas.openxmlformats.org/drawingml/2006/main">
            <a:off x="533400" y="419481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31" name="S31_CONTROL_R1C1">
            <a:extLst xmlns:a="http://schemas.openxmlformats.org/drawingml/2006/main">
              <a:ext uri="{FF2B5EF4-FFF2-40B4-BE49-F238E27FC236}">
                <a16:creationId xmlns:a16="http://schemas.microsoft.com/office/drawing/2014/main" id="{5F3EC44F-B07F-4F24-BD53-584A5F70B8D5}"/>
              </a:ext>
            </a:extLst>
          </p:cNvPr>
          <p:cNvSpPr>
            <a:spLocks xmlns:a="http://schemas.openxmlformats.org/drawingml/2006/main" noGrp="1"/>
          </p:cNvSpPr>
          <p:nvPr/>
        </p:nvSpPr>
        <p:spPr>
          <a:xfrm xmlns:a="http://schemas.openxmlformats.org/drawingml/2006/main">
            <a:off x="2057400" y="4194810"/>
            <a:ext cx="2667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DB role + authz</a:t>
            </a:r>
          </a:p>
        </p:txBody>
      </p:sp>
      <p:sp>
        <p:nvSpPr>
          <p:cNvPr id="32" name="S31_CONTROL_R1C2">
            <a:extLst xmlns:a="http://schemas.openxmlformats.org/drawingml/2006/main">
              <a:ext uri="{FF2B5EF4-FFF2-40B4-BE49-F238E27FC236}">
                <a16:creationId xmlns:a16="http://schemas.microsoft.com/office/drawing/2014/main" id="{73DD0F69-E68E-4AAF-BB3C-48988BF3D84A}"/>
              </a:ext>
            </a:extLst>
          </p:cNvPr>
          <p:cNvSpPr>
            <a:spLocks xmlns:a="http://schemas.openxmlformats.org/drawingml/2006/main" noGrp="1"/>
          </p:cNvSpPr>
          <p:nvPr/>
        </p:nvSpPr>
        <p:spPr>
          <a:xfrm xmlns:a="http://schemas.openxmlformats.org/drawingml/2006/main">
            <a:off x="4724400" y="4194810"/>
            <a:ext cx="2762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tin client role</a:t>
            </a:r>
          </a:p>
        </p:txBody>
      </p:sp>
      <p:sp>
        <p:nvSpPr>
          <p:cNvPr id="33" name="S31_CONTROL_R2C0">
            <a:extLst xmlns:a="http://schemas.openxmlformats.org/drawingml/2006/main">
              <a:ext uri="{FF2B5EF4-FFF2-40B4-BE49-F238E27FC236}">
                <a16:creationId xmlns:a16="http://schemas.microsoft.com/office/drawing/2014/main" id="{0A1DE224-C437-44DA-812D-41CA07079765}"/>
              </a:ext>
            </a:extLst>
          </p:cNvPr>
          <p:cNvSpPr>
            <a:spLocks xmlns:a="http://schemas.openxmlformats.org/drawingml/2006/main" noGrp="1"/>
          </p:cNvSpPr>
          <p:nvPr/>
        </p:nvSpPr>
        <p:spPr>
          <a:xfrm xmlns:a="http://schemas.openxmlformats.org/drawingml/2006/main">
            <a:off x="533400" y="473964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Logout</a:t>
            </a:r>
          </a:p>
        </p:txBody>
      </p:sp>
      <p:sp>
        <p:nvSpPr>
          <p:cNvPr id="34" name="S31_CONTROL_R2C1">
            <a:extLst xmlns:a="http://schemas.openxmlformats.org/drawingml/2006/main">
              <a:ext uri="{FF2B5EF4-FFF2-40B4-BE49-F238E27FC236}">
                <a16:creationId xmlns:a16="http://schemas.microsoft.com/office/drawing/2014/main" id="{8361B578-0073-401D-9353-44DE714A056F}"/>
              </a:ext>
            </a:extLst>
          </p:cNvPr>
          <p:cNvSpPr>
            <a:spLocks xmlns:a="http://schemas.openxmlformats.org/drawingml/2006/main" noGrp="1"/>
          </p:cNvSpPr>
          <p:nvPr/>
        </p:nvSpPr>
        <p:spPr>
          <a:xfrm xmlns:a="http://schemas.openxmlformats.org/drawingml/2006/main">
            <a:off x="2057400" y="4739640"/>
            <a:ext cx="2667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revoke session</a:t>
            </a:r>
          </a:p>
        </p:txBody>
      </p:sp>
      <p:sp>
        <p:nvSpPr>
          <p:cNvPr id="35" name="S31_CONTROL_R2C2">
            <a:extLst xmlns:a="http://schemas.openxmlformats.org/drawingml/2006/main">
              <a:ext uri="{FF2B5EF4-FFF2-40B4-BE49-F238E27FC236}">
                <a16:creationId xmlns:a16="http://schemas.microsoft.com/office/drawing/2014/main" id="{D64C443A-B699-416D-9F6E-41CD9B31D825}"/>
              </a:ext>
            </a:extLst>
          </p:cNvPr>
          <p:cNvSpPr>
            <a:spLocks xmlns:a="http://schemas.openxmlformats.org/drawingml/2006/main" noGrp="1"/>
          </p:cNvSpPr>
          <p:nvPr/>
        </p:nvSpPr>
        <p:spPr>
          <a:xfrm xmlns:a="http://schemas.openxmlformats.org/drawingml/2006/main">
            <a:off x="4724400" y="4739640"/>
            <a:ext cx="2762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token cũ vô hiệu</a:t>
            </a:r>
          </a:p>
        </p:txBody>
      </p:sp>
      <p:sp>
        <p:nvSpPr>
          <p:cNvPr id="36" name="S31_CONTROL_R3C0">
            <a:extLst xmlns:a="http://schemas.openxmlformats.org/drawingml/2006/main">
              <a:ext uri="{FF2B5EF4-FFF2-40B4-BE49-F238E27FC236}">
                <a16:creationId xmlns:a16="http://schemas.microsoft.com/office/drawing/2014/main" id="{4E15A50B-D3E3-4353-BAB8-645ED25B8DAD}"/>
              </a:ext>
            </a:extLst>
          </p:cNvPr>
          <p:cNvSpPr>
            <a:spLocks xmlns:a="http://schemas.openxmlformats.org/drawingml/2006/main" noGrp="1"/>
          </p:cNvSpPr>
          <p:nvPr/>
        </p:nvSpPr>
        <p:spPr>
          <a:xfrm xmlns:a="http://schemas.openxmlformats.org/drawingml/2006/main">
            <a:off x="533400" y="528447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Tamper signed</a:t>
            </a:r>
          </a:p>
        </p:txBody>
      </p:sp>
      <p:sp>
        <p:nvSpPr>
          <p:cNvPr id="37" name="S31_CONTROL_R3C1">
            <a:extLst xmlns:a="http://schemas.openxmlformats.org/drawingml/2006/main">
              <a:ext uri="{FF2B5EF4-FFF2-40B4-BE49-F238E27FC236}">
                <a16:creationId xmlns:a16="http://schemas.microsoft.com/office/drawing/2014/main" id="{4F8AFE94-AEA1-4617-B3CE-B7BCFD473328}"/>
              </a:ext>
            </a:extLst>
          </p:cNvPr>
          <p:cNvSpPr>
            <a:spLocks xmlns:a="http://schemas.openxmlformats.org/drawingml/2006/main" noGrp="1"/>
          </p:cNvSpPr>
          <p:nvPr/>
        </p:nvSpPr>
        <p:spPr>
          <a:xfrm xmlns:a="http://schemas.openxmlformats.org/drawingml/2006/main">
            <a:off x="2057400" y="5284470"/>
            <a:ext cx="2667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BadData → reject</a:t>
            </a:r>
          </a:p>
        </p:txBody>
      </p:sp>
      <p:sp>
        <p:nvSpPr>
          <p:cNvPr id="38" name="S31_CONTROL_R3C2">
            <a:extLst xmlns:a="http://schemas.openxmlformats.org/drawingml/2006/main">
              <a:ext uri="{FF2B5EF4-FFF2-40B4-BE49-F238E27FC236}">
                <a16:creationId xmlns:a16="http://schemas.microsoft.com/office/drawing/2014/main" id="{D14B91C1-B003-4870-AA42-50B0BD74B622}"/>
              </a:ext>
            </a:extLst>
          </p:cNvPr>
          <p:cNvSpPr>
            <a:spLocks xmlns:a="http://schemas.openxmlformats.org/drawingml/2006/main" noGrp="1"/>
          </p:cNvSpPr>
          <p:nvPr/>
        </p:nvSpPr>
        <p:spPr>
          <a:xfrm xmlns:a="http://schemas.openxmlformats.org/drawingml/2006/main">
            <a:off x="4724400" y="5284470"/>
            <a:ext cx="2762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integrity fail closed</a:t>
            </a:r>
          </a:p>
        </p:txBody>
      </p:sp>
      <p:sp>
        <p:nvSpPr>
          <p:cNvPr id="39" name="S31_FLAGS_BAR">
            <a:extLst xmlns:a="http://schemas.openxmlformats.org/drawingml/2006/main">
              <a:ext uri="{FF2B5EF4-FFF2-40B4-BE49-F238E27FC236}">
                <a16:creationId xmlns:a16="http://schemas.microsoft.com/office/drawing/2014/main" id="{E427D1CB-8C4E-4D70-83D2-781830F80543}"/>
              </a:ext>
            </a:extLst>
          </p:cNvPr>
          <p:cNvSpPr>
            <a:spLocks xmlns:a="http://schemas.openxmlformats.org/drawingml/2006/main" noGrp="1"/>
          </p:cNvSpPr>
          <p:nvPr/>
        </p:nvSpPr>
        <p:spPr>
          <a:xfrm xmlns:a="http://schemas.openxmlformats.org/drawingml/2006/main">
            <a:off x="7829550" y="4476750"/>
            <a:ext cx="76200" cy="0"/>
          </a:xfrm>
          <a:prstGeom xmlns:a="http://schemas.openxmlformats.org/drawingml/2006/main" prst="rect">
            <a:avLst/>
          </a:prstGeom>
          <a:ln xmlns:a="http://schemas.openxmlformats.org/drawingml/2006/main" w="0">
            <a:noFill/>
            <a:prstDash val="solid"/>
          </a:ln>
        </p:spPr>
      </p:sp>
      <p:sp>
        <p:nvSpPr>
          <p:cNvPr id="40" name="S31_FLAGS_LABEL">
            <a:extLst xmlns:a="http://schemas.openxmlformats.org/drawingml/2006/main">
              <a:ext uri="{FF2B5EF4-FFF2-40B4-BE49-F238E27FC236}">
                <a16:creationId xmlns:a16="http://schemas.microsoft.com/office/drawing/2014/main" id="{4C79BE06-90B0-4716-9DC5-FB209BA231B6}"/>
              </a:ext>
            </a:extLst>
          </p:cNvPr>
          <p:cNvSpPr>
            <a:spLocks xmlns:a="http://schemas.openxmlformats.org/drawingml/2006/main" noGrp="1"/>
          </p:cNvSpPr>
          <p:nvPr/>
        </p:nvSpPr>
        <p:spPr>
          <a:xfrm xmlns:a="http://schemas.openxmlformats.org/drawingml/2006/main">
            <a:off x="8001000" y="44958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COOKIE FLAGS</a:t>
            </a:r>
          </a:p>
        </p:txBody>
      </p:sp>
      <p:sp>
        <p:nvSpPr>
          <p:cNvPr id="41" name="S31_FLAGS_BODY">
            <a:extLst xmlns:a="http://schemas.openxmlformats.org/drawingml/2006/main">
              <a:ext uri="{FF2B5EF4-FFF2-40B4-BE49-F238E27FC236}">
                <a16:creationId xmlns:a16="http://schemas.microsoft.com/office/drawing/2014/main" id="{BE83A5BA-67A4-4BA1-A62A-32DA1E7F51DA}"/>
              </a:ext>
            </a:extLst>
          </p:cNvPr>
          <p:cNvSpPr>
            <a:spLocks xmlns:a="http://schemas.openxmlformats.org/drawingml/2006/main" noGrp="1"/>
          </p:cNvSpPr>
          <p:nvPr/>
        </p:nvSpPr>
        <p:spPr>
          <a:xfrm xmlns:a="http://schemas.openxmlformats.org/drawingml/2006/main">
            <a:off x="8001000" y="4800600"/>
            <a:ext cx="3638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HttpOnly · Secure khi HTTPS · SameSite=Lax · Path=/ — lớp bổ sung cho token, không thay server-side authz.</a:t>
            </a:r>
          </a:p>
        </p:txBody>
      </p:sp>
    </p:spTree>
    <p:extLst>
      <p:ext uri="{BB962C8B-B14F-4D97-AF65-F5344CB8AC3E}">
        <p14:creationId xmlns:p14="http://schemas.microsoft.com/office/powerpoint/2010/main" val="647844794"/>
      </p:ext>
    </p:extLst>
  </p:cSld>
</p:sld>
</file>

<file path=ppt/slides/slide3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7" name="S32_EYEBROW">
            <a:extLst xmlns:a="http://schemas.openxmlformats.org/drawingml/2006/main">
              <a:ext uri="{FF2B5EF4-FFF2-40B4-BE49-F238E27FC236}">
                <a16:creationId xmlns:a16="http://schemas.microsoft.com/office/drawing/2014/main" id="{410704B4-6ADD-491A-8265-0B741AE5A1B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32_TITLE">
            <a:extLst xmlns:a="http://schemas.openxmlformats.org/drawingml/2006/main">
              <a:ext uri="{FF2B5EF4-FFF2-40B4-BE49-F238E27FC236}">
                <a16:creationId xmlns:a16="http://schemas.microsoft.com/office/drawing/2014/main" id="{4FC2C87E-D74F-4038-BE67-CD6006D10A95}"/>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Chọn state model theo thuộc tính cần bảo vệ</a:t>
            </a:r>
          </a:p>
        </p:txBody>
      </p:sp>
      <p:sp>
        <p:nvSpPr>
          <p:cNvPr id="3" name="S32_SUBTITLE">
            <a:extLst xmlns:a="http://schemas.openxmlformats.org/drawingml/2006/main">
              <a:ext uri="{FF2B5EF4-FFF2-40B4-BE49-F238E27FC236}">
                <a16:creationId xmlns:a16="http://schemas.microsoft.com/office/drawing/2014/main" id="{E031E5A2-F6B3-4889-A004-EB10F1C382BF}"/>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Authorization nhạy cảm vẫn phải được quyết định ở server.</a:t>
            </a:r>
          </a:p>
        </p:txBody>
      </p:sp>
      <p:sp>
        <p:nvSpPr>
          <p:cNvPr id="4" name="S32_TITLE_RULE">
            <a:extLst xmlns:a="http://schemas.openxmlformats.org/drawingml/2006/main">
              <a:ext uri="{FF2B5EF4-FFF2-40B4-BE49-F238E27FC236}">
                <a16:creationId xmlns:a16="http://schemas.microsoft.com/office/drawing/2014/main" id="{7813724B-DEF6-46CC-A08C-91F2460E33F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2_FOOTER_RULE">
            <a:extLst xmlns:a="http://schemas.openxmlformats.org/drawingml/2006/main">
              <a:ext uri="{FF2B5EF4-FFF2-40B4-BE49-F238E27FC236}">
                <a16:creationId xmlns:a16="http://schemas.microsoft.com/office/drawing/2014/main" id="{BF39A4D8-E371-48BC-9C15-4D7E04DC1AEF}"/>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2_SOURCE">
            <a:extLst xmlns:a="http://schemas.openxmlformats.org/drawingml/2006/main">
              <a:ext uri="{FF2B5EF4-FFF2-40B4-BE49-F238E27FC236}">
                <a16:creationId xmlns:a16="http://schemas.microsoft.com/office/drawing/2014/main" id="{36651A6D-9478-4C12-85D1-BA37DA8B36D1}"/>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Lab06 · report Lab06</a:t>
            </a:r>
          </a:p>
        </p:txBody>
      </p:sp>
      <p:sp>
        <p:nvSpPr>
          <p:cNvPr id="7" name="S32_NUMBER">
            <a:extLst xmlns:a="http://schemas.openxmlformats.org/drawingml/2006/main">
              <a:ext uri="{FF2B5EF4-FFF2-40B4-BE49-F238E27FC236}">
                <a16:creationId xmlns:a16="http://schemas.microsoft.com/office/drawing/2014/main" id="{82021736-9267-482E-A6DA-413A5E43D0A3}"/>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32</a:t>
            </a:r>
          </a:p>
        </p:txBody>
      </p:sp>
      <p:sp>
        <p:nvSpPr>
          <p:cNvPr id="8" name="S32_MATRIX_H0">
            <a:extLst xmlns:a="http://schemas.openxmlformats.org/drawingml/2006/main">
              <a:ext uri="{FF2B5EF4-FFF2-40B4-BE49-F238E27FC236}">
                <a16:creationId xmlns:a16="http://schemas.microsoft.com/office/drawing/2014/main" id="{DE57A4A1-E4B8-4D95-8216-0F3D24D6E47E}"/>
              </a:ext>
            </a:extLst>
          </p:cNvPr>
          <p:cNvSpPr>
            <a:spLocks xmlns:a="http://schemas.openxmlformats.org/drawingml/2006/main" noGrp="1"/>
          </p:cNvSpPr>
          <p:nvPr/>
        </p:nvSpPr>
        <p:spPr>
          <a:xfrm xmlns:a="http://schemas.openxmlformats.org/drawingml/2006/main">
            <a:off x="533400" y="1695450"/>
            <a:ext cx="1428750"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MODEL</a:t>
            </a:r>
          </a:p>
        </p:txBody>
      </p:sp>
      <p:sp>
        <p:nvSpPr>
          <p:cNvPr id="9" name="S32_MATRIX_H1">
            <a:extLst xmlns:a="http://schemas.openxmlformats.org/drawingml/2006/main">
              <a:ext uri="{FF2B5EF4-FFF2-40B4-BE49-F238E27FC236}">
                <a16:creationId xmlns:a16="http://schemas.microsoft.com/office/drawing/2014/main" id="{7231526F-399C-4D32-913D-9F0C2418B00E}"/>
              </a:ext>
            </a:extLst>
          </p:cNvPr>
          <p:cNvSpPr>
            <a:spLocks xmlns:a="http://schemas.openxmlformats.org/drawingml/2006/main" noGrp="1"/>
          </p:cNvSpPr>
          <p:nvPr/>
        </p:nvSpPr>
        <p:spPr>
          <a:xfrm xmlns:a="http://schemas.openxmlformats.org/drawingml/2006/main">
            <a:off x="1962150" y="1695450"/>
            <a:ext cx="523875"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a:t>
            </a:r>
          </a:p>
        </p:txBody>
      </p:sp>
      <p:sp>
        <p:nvSpPr>
          <p:cNvPr id="10" name="S32_MATRIX_H2">
            <a:extLst xmlns:a="http://schemas.openxmlformats.org/drawingml/2006/main">
              <a:ext uri="{FF2B5EF4-FFF2-40B4-BE49-F238E27FC236}">
                <a16:creationId xmlns:a16="http://schemas.microsoft.com/office/drawing/2014/main" id="{62961C5F-B58F-4DE5-8FF8-AE5778AA776B}"/>
              </a:ext>
            </a:extLst>
          </p:cNvPr>
          <p:cNvSpPr>
            <a:spLocks xmlns:a="http://schemas.openxmlformats.org/drawingml/2006/main" noGrp="1"/>
          </p:cNvSpPr>
          <p:nvPr/>
        </p:nvSpPr>
        <p:spPr>
          <a:xfrm xmlns:a="http://schemas.openxmlformats.org/drawingml/2006/main">
            <a:off x="2486025" y="1695450"/>
            <a:ext cx="1666875"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a:t>
            </a:r>
          </a:p>
        </p:txBody>
      </p:sp>
      <p:sp>
        <p:nvSpPr>
          <p:cNvPr id="11" name="S32_MATRIX_H3">
            <a:extLst xmlns:a="http://schemas.openxmlformats.org/drawingml/2006/main">
              <a:ext uri="{FF2B5EF4-FFF2-40B4-BE49-F238E27FC236}">
                <a16:creationId xmlns:a16="http://schemas.microsoft.com/office/drawing/2014/main" id="{3358A784-389F-4046-AE68-B695D73B3298}"/>
              </a:ext>
            </a:extLst>
          </p:cNvPr>
          <p:cNvSpPr>
            <a:spLocks xmlns:a="http://schemas.openxmlformats.org/drawingml/2006/main" noGrp="1"/>
          </p:cNvSpPr>
          <p:nvPr/>
        </p:nvSpPr>
        <p:spPr>
          <a:xfrm xmlns:a="http://schemas.openxmlformats.org/drawingml/2006/main">
            <a:off x="4152900" y="1695450"/>
            <a:ext cx="1047750"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REVOKE?</a:t>
            </a:r>
          </a:p>
        </p:txBody>
      </p:sp>
      <p:sp>
        <p:nvSpPr>
          <p:cNvPr id="12" name="S32_MATRIX_H4">
            <a:extLst xmlns:a="http://schemas.openxmlformats.org/drawingml/2006/main">
              <a:ext uri="{FF2B5EF4-FFF2-40B4-BE49-F238E27FC236}">
                <a16:creationId xmlns:a16="http://schemas.microsoft.com/office/drawing/2014/main" id="{F48DDE6F-B47A-4312-8E8D-0AFD9C697A0A}"/>
              </a:ext>
            </a:extLst>
          </p:cNvPr>
          <p:cNvSpPr>
            <a:spLocks xmlns:a="http://schemas.openxmlformats.org/drawingml/2006/main" noGrp="1"/>
          </p:cNvSpPr>
          <p:nvPr/>
        </p:nvSpPr>
        <p:spPr>
          <a:xfrm xmlns:a="http://schemas.openxmlformats.org/drawingml/2006/main">
            <a:off x="5200650" y="1695450"/>
            <a:ext cx="1905000"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DÙNG CHO ROLE?</a:t>
            </a:r>
          </a:p>
        </p:txBody>
      </p:sp>
      <p:sp>
        <p:nvSpPr>
          <p:cNvPr id="13" name="S32_MATRIX_R0C0">
            <a:extLst xmlns:a="http://schemas.openxmlformats.org/drawingml/2006/main">
              <a:ext uri="{FF2B5EF4-FFF2-40B4-BE49-F238E27FC236}">
                <a16:creationId xmlns:a16="http://schemas.microsoft.com/office/drawing/2014/main" id="{067D7CED-9036-4592-BB4D-0004128F20B3}"/>
              </a:ext>
            </a:extLst>
          </p:cNvPr>
          <p:cNvSpPr>
            <a:spLocks xmlns:a="http://schemas.openxmlformats.org/drawingml/2006/main" noGrp="1"/>
          </p:cNvSpPr>
          <p:nvPr/>
        </p:nvSpPr>
        <p:spPr>
          <a:xfrm xmlns:a="http://schemas.openxmlformats.org/drawingml/2006/main">
            <a:off x="533400" y="2254250"/>
            <a:ext cx="1428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Plain</a:t>
            </a:r>
          </a:p>
        </p:txBody>
      </p:sp>
      <p:sp>
        <p:nvSpPr>
          <p:cNvPr id="14" name="S32_MATRIX_R0C1">
            <a:extLst xmlns:a="http://schemas.openxmlformats.org/drawingml/2006/main">
              <a:ext uri="{FF2B5EF4-FFF2-40B4-BE49-F238E27FC236}">
                <a16:creationId xmlns:a16="http://schemas.microsoft.com/office/drawing/2014/main" id="{7E5BDDC7-56A0-4560-8361-9C134117D34A}"/>
              </a:ext>
            </a:extLst>
          </p:cNvPr>
          <p:cNvSpPr>
            <a:spLocks xmlns:a="http://schemas.openxmlformats.org/drawingml/2006/main" noGrp="1"/>
          </p:cNvSpPr>
          <p:nvPr/>
        </p:nvSpPr>
        <p:spPr>
          <a:xfrm xmlns:a="http://schemas.openxmlformats.org/drawingml/2006/main">
            <a:off x="1962150" y="2254250"/>
            <a:ext cx="523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15" name="S32_MATRIX_R0C2">
            <a:extLst xmlns:a="http://schemas.openxmlformats.org/drawingml/2006/main">
              <a:ext uri="{FF2B5EF4-FFF2-40B4-BE49-F238E27FC236}">
                <a16:creationId xmlns:a16="http://schemas.microsoft.com/office/drawing/2014/main" id="{FBF95287-A0C0-4114-8949-E38063F5A6EB}"/>
              </a:ext>
            </a:extLst>
          </p:cNvPr>
          <p:cNvSpPr>
            <a:spLocks xmlns:a="http://schemas.openxmlformats.org/drawingml/2006/main" noGrp="1"/>
          </p:cNvSpPr>
          <p:nvPr/>
        </p:nvSpPr>
        <p:spPr>
          <a:xfrm xmlns:a="http://schemas.openxmlformats.org/drawingml/2006/main">
            <a:off x="2486025" y="2254250"/>
            <a:ext cx="1666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16" name="S32_MATRIX_R0C3">
            <a:extLst xmlns:a="http://schemas.openxmlformats.org/drawingml/2006/main">
              <a:ext uri="{FF2B5EF4-FFF2-40B4-BE49-F238E27FC236}">
                <a16:creationId xmlns:a16="http://schemas.microsoft.com/office/drawing/2014/main" id="{2A156FF7-AA25-47E6-8344-9A2200E4394C}"/>
              </a:ext>
            </a:extLst>
          </p:cNvPr>
          <p:cNvSpPr>
            <a:spLocks xmlns:a="http://schemas.openxmlformats.org/drawingml/2006/main" noGrp="1"/>
          </p:cNvSpPr>
          <p:nvPr/>
        </p:nvSpPr>
        <p:spPr>
          <a:xfrm xmlns:a="http://schemas.openxmlformats.org/drawingml/2006/main">
            <a:off x="4152900" y="2254250"/>
            <a:ext cx="1047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17" name="S32_MATRIX_R0C4">
            <a:extLst xmlns:a="http://schemas.openxmlformats.org/drawingml/2006/main">
              <a:ext uri="{FF2B5EF4-FFF2-40B4-BE49-F238E27FC236}">
                <a16:creationId xmlns:a16="http://schemas.microsoft.com/office/drawing/2014/main" id="{54E88F00-E764-4133-A5B0-138BFDF9A40E}"/>
              </a:ext>
            </a:extLst>
          </p:cNvPr>
          <p:cNvSpPr>
            <a:spLocks xmlns:a="http://schemas.openxmlformats.org/drawingml/2006/main" noGrp="1"/>
          </p:cNvSpPr>
          <p:nvPr/>
        </p:nvSpPr>
        <p:spPr>
          <a:xfrm xmlns:a="http://schemas.openxmlformats.org/drawingml/2006/main">
            <a:off x="5200650" y="2254250"/>
            <a:ext cx="190500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18" name="S32_MATRIX_R1C0">
            <a:extLst xmlns:a="http://schemas.openxmlformats.org/drawingml/2006/main">
              <a:ext uri="{FF2B5EF4-FFF2-40B4-BE49-F238E27FC236}">
                <a16:creationId xmlns:a16="http://schemas.microsoft.com/office/drawing/2014/main" id="{B5E0701B-CBA2-4A3D-AA9C-85AC7EB9A7E3}"/>
              </a:ext>
            </a:extLst>
          </p:cNvPr>
          <p:cNvSpPr>
            <a:spLocks xmlns:a="http://schemas.openxmlformats.org/drawingml/2006/main" noGrp="1"/>
          </p:cNvSpPr>
          <p:nvPr/>
        </p:nvSpPr>
        <p:spPr>
          <a:xfrm xmlns:a="http://schemas.openxmlformats.org/drawingml/2006/main">
            <a:off x="533400" y="2813050"/>
            <a:ext cx="1428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Base64</a:t>
            </a:r>
          </a:p>
        </p:txBody>
      </p:sp>
      <p:sp>
        <p:nvSpPr>
          <p:cNvPr id="19" name="S32_MATRIX_R1C1">
            <a:extLst xmlns:a="http://schemas.openxmlformats.org/drawingml/2006/main">
              <a:ext uri="{FF2B5EF4-FFF2-40B4-BE49-F238E27FC236}">
                <a16:creationId xmlns:a16="http://schemas.microsoft.com/office/drawing/2014/main" id="{A6523CAF-6A97-48E0-B6CA-3C7818EA37F2}"/>
              </a:ext>
            </a:extLst>
          </p:cNvPr>
          <p:cNvSpPr>
            <a:spLocks xmlns:a="http://schemas.openxmlformats.org/drawingml/2006/main" noGrp="1"/>
          </p:cNvSpPr>
          <p:nvPr/>
        </p:nvSpPr>
        <p:spPr>
          <a:xfrm xmlns:a="http://schemas.openxmlformats.org/drawingml/2006/main">
            <a:off x="1962150" y="2813050"/>
            <a:ext cx="523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0" name="S32_MATRIX_R1C2">
            <a:extLst xmlns:a="http://schemas.openxmlformats.org/drawingml/2006/main">
              <a:ext uri="{FF2B5EF4-FFF2-40B4-BE49-F238E27FC236}">
                <a16:creationId xmlns:a16="http://schemas.microsoft.com/office/drawing/2014/main" id="{CFD647A0-4A23-4220-8E16-7916D1A228DC}"/>
              </a:ext>
            </a:extLst>
          </p:cNvPr>
          <p:cNvSpPr>
            <a:spLocks xmlns:a="http://schemas.openxmlformats.org/drawingml/2006/main" noGrp="1"/>
          </p:cNvSpPr>
          <p:nvPr/>
        </p:nvSpPr>
        <p:spPr>
          <a:xfrm xmlns:a="http://schemas.openxmlformats.org/drawingml/2006/main">
            <a:off x="2486025" y="2813050"/>
            <a:ext cx="1666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1" name="S32_MATRIX_R1C3">
            <a:extLst xmlns:a="http://schemas.openxmlformats.org/drawingml/2006/main">
              <a:ext uri="{FF2B5EF4-FFF2-40B4-BE49-F238E27FC236}">
                <a16:creationId xmlns:a16="http://schemas.microsoft.com/office/drawing/2014/main" id="{89D80EAF-36CE-4F44-A961-4801B5AB3D67}"/>
              </a:ext>
            </a:extLst>
          </p:cNvPr>
          <p:cNvSpPr>
            <a:spLocks xmlns:a="http://schemas.openxmlformats.org/drawingml/2006/main" noGrp="1"/>
          </p:cNvSpPr>
          <p:nvPr/>
        </p:nvSpPr>
        <p:spPr>
          <a:xfrm xmlns:a="http://schemas.openxmlformats.org/drawingml/2006/main">
            <a:off x="4152900" y="2813050"/>
            <a:ext cx="1047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2" name="S32_MATRIX_R1C4">
            <a:extLst xmlns:a="http://schemas.openxmlformats.org/drawingml/2006/main">
              <a:ext uri="{FF2B5EF4-FFF2-40B4-BE49-F238E27FC236}">
                <a16:creationId xmlns:a16="http://schemas.microsoft.com/office/drawing/2014/main" id="{F0339E5C-5E4A-4B8E-A317-F1652B2CD68C}"/>
              </a:ext>
            </a:extLst>
          </p:cNvPr>
          <p:cNvSpPr>
            <a:spLocks xmlns:a="http://schemas.openxmlformats.org/drawingml/2006/main" noGrp="1"/>
          </p:cNvSpPr>
          <p:nvPr/>
        </p:nvSpPr>
        <p:spPr>
          <a:xfrm xmlns:a="http://schemas.openxmlformats.org/drawingml/2006/main">
            <a:off x="5200650" y="2813050"/>
            <a:ext cx="190500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3" name="S32_MATRIX_R2C0">
            <a:extLst xmlns:a="http://schemas.openxmlformats.org/drawingml/2006/main">
              <a:ext uri="{FF2B5EF4-FFF2-40B4-BE49-F238E27FC236}">
                <a16:creationId xmlns:a16="http://schemas.microsoft.com/office/drawing/2014/main" id="{5CC897FD-97FD-40E3-9AA9-EC8D40EB2B51}"/>
              </a:ext>
            </a:extLst>
          </p:cNvPr>
          <p:cNvSpPr>
            <a:spLocks xmlns:a="http://schemas.openxmlformats.org/drawingml/2006/main" noGrp="1"/>
          </p:cNvSpPr>
          <p:nvPr/>
        </p:nvSpPr>
        <p:spPr>
          <a:xfrm xmlns:a="http://schemas.openxmlformats.org/drawingml/2006/main">
            <a:off x="533400" y="3371850"/>
            <a:ext cx="1428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Signed</a:t>
            </a:r>
          </a:p>
        </p:txBody>
      </p:sp>
      <p:sp>
        <p:nvSpPr>
          <p:cNvPr id="24" name="S32_MATRIX_R2C1">
            <a:extLst xmlns:a="http://schemas.openxmlformats.org/drawingml/2006/main">
              <a:ext uri="{FF2B5EF4-FFF2-40B4-BE49-F238E27FC236}">
                <a16:creationId xmlns:a16="http://schemas.microsoft.com/office/drawing/2014/main" id="{F9404259-3646-4E90-85C7-FDD11644AFE0}"/>
              </a:ext>
            </a:extLst>
          </p:cNvPr>
          <p:cNvSpPr>
            <a:spLocks xmlns:a="http://schemas.openxmlformats.org/drawingml/2006/main" noGrp="1"/>
          </p:cNvSpPr>
          <p:nvPr/>
        </p:nvSpPr>
        <p:spPr>
          <a:xfrm xmlns:a="http://schemas.openxmlformats.org/drawingml/2006/main">
            <a:off x="1962150" y="3371850"/>
            <a:ext cx="523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5" name="S32_MATRIX_R2C2">
            <a:extLst xmlns:a="http://schemas.openxmlformats.org/drawingml/2006/main">
              <a:ext uri="{FF2B5EF4-FFF2-40B4-BE49-F238E27FC236}">
                <a16:creationId xmlns:a16="http://schemas.microsoft.com/office/drawing/2014/main" id="{4CDF555E-A321-4172-A054-37096148ADDA}"/>
              </a:ext>
            </a:extLst>
          </p:cNvPr>
          <p:cNvSpPr>
            <a:spLocks xmlns:a="http://schemas.openxmlformats.org/drawingml/2006/main" noGrp="1"/>
          </p:cNvSpPr>
          <p:nvPr/>
        </p:nvSpPr>
        <p:spPr>
          <a:xfrm xmlns:a="http://schemas.openxmlformats.org/drawingml/2006/main">
            <a:off x="2486025" y="3371850"/>
            <a:ext cx="1666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6" name="S32_MATRIX_R2C3">
            <a:extLst xmlns:a="http://schemas.openxmlformats.org/drawingml/2006/main">
              <a:ext uri="{FF2B5EF4-FFF2-40B4-BE49-F238E27FC236}">
                <a16:creationId xmlns:a16="http://schemas.microsoft.com/office/drawing/2014/main" id="{92E4F654-5E1E-4132-A8A7-7B35912485A8}"/>
              </a:ext>
            </a:extLst>
          </p:cNvPr>
          <p:cNvSpPr>
            <a:spLocks xmlns:a="http://schemas.openxmlformats.org/drawingml/2006/main" noGrp="1"/>
          </p:cNvSpPr>
          <p:nvPr/>
        </p:nvSpPr>
        <p:spPr>
          <a:xfrm xmlns:a="http://schemas.openxmlformats.org/drawingml/2006/main">
            <a:off x="4152900" y="3371850"/>
            <a:ext cx="1047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a:t>
            </a:r>
          </a:p>
        </p:txBody>
      </p:sp>
      <p:sp>
        <p:nvSpPr>
          <p:cNvPr id="27" name="S32_MATRIX_R2C4">
            <a:extLst xmlns:a="http://schemas.openxmlformats.org/drawingml/2006/main">
              <a:ext uri="{FF2B5EF4-FFF2-40B4-BE49-F238E27FC236}">
                <a16:creationId xmlns:a16="http://schemas.microsoft.com/office/drawing/2014/main" id="{9D392F4D-4995-4530-B95B-D8C9789C31FF}"/>
              </a:ext>
            </a:extLst>
          </p:cNvPr>
          <p:cNvSpPr>
            <a:spLocks xmlns:a="http://schemas.openxmlformats.org/drawingml/2006/main" noGrp="1"/>
          </p:cNvSpPr>
          <p:nvPr/>
        </p:nvSpPr>
        <p:spPr>
          <a:xfrm xmlns:a="http://schemas.openxmlformats.org/drawingml/2006/main">
            <a:off x="5200650" y="3371850"/>
            <a:ext cx="190500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vẫn cần server authz</a:t>
            </a:r>
          </a:p>
        </p:txBody>
      </p:sp>
      <p:sp>
        <p:nvSpPr>
          <p:cNvPr id="28" name="S32_MATRIX_R3C0">
            <a:extLst xmlns:a="http://schemas.openxmlformats.org/drawingml/2006/main">
              <a:ext uri="{FF2B5EF4-FFF2-40B4-BE49-F238E27FC236}">
                <a16:creationId xmlns:a16="http://schemas.microsoft.com/office/drawing/2014/main" id="{6C0714FA-9FAC-483A-BC9E-CCF3FF275CA3}"/>
              </a:ext>
            </a:extLst>
          </p:cNvPr>
          <p:cNvSpPr>
            <a:spLocks xmlns:a="http://schemas.openxmlformats.org/drawingml/2006/main" noGrp="1"/>
          </p:cNvSpPr>
          <p:nvPr/>
        </p:nvSpPr>
        <p:spPr>
          <a:xfrm xmlns:a="http://schemas.openxmlformats.org/drawingml/2006/main">
            <a:off x="533400" y="3930650"/>
            <a:ext cx="1428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Encrypted</a:t>
            </a:r>
          </a:p>
        </p:txBody>
      </p:sp>
      <p:sp>
        <p:nvSpPr>
          <p:cNvPr id="29" name="S32_MATRIX_R3C1">
            <a:extLst xmlns:a="http://schemas.openxmlformats.org/drawingml/2006/main">
              <a:ext uri="{FF2B5EF4-FFF2-40B4-BE49-F238E27FC236}">
                <a16:creationId xmlns:a16="http://schemas.microsoft.com/office/drawing/2014/main" id="{17E35EF9-6764-417D-A3F1-98FABB4C5249}"/>
              </a:ext>
            </a:extLst>
          </p:cNvPr>
          <p:cNvSpPr>
            <a:spLocks xmlns:a="http://schemas.openxmlformats.org/drawingml/2006/main" noGrp="1"/>
          </p:cNvSpPr>
          <p:nvPr/>
        </p:nvSpPr>
        <p:spPr>
          <a:xfrm xmlns:a="http://schemas.openxmlformats.org/drawingml/2006/main">
            <a:off x="1962150" y="3930650"/>
            <a:ext cx="523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0" name="S32_MATRIX_R3C2">
            <a:extLst xmlns:a="http://schemas.openxmlformats.org/drawingml/2006/main">
              <a:ext uri="{FF2B5EF4-FFF2-40B4-BE49-F238E27FC236}">
                <a16:creationId xmlns:a16="http://schemas.microsoft.com/office/drawing/2014/main" id="{22D6901F-A12A-4CCA-81D2-3F71A6464D0A}"/>
              </a:ext>
            </a:extLst>
          </p:cNvPr>
          <p:cNvSpPr>
            <a:spLocks xmlns:a="http://schemas.openxmlformats.org/drawingml/2006/main" noGrp="1"/>
          </p:cNvSpPr>
          <p:nvPr/>
        </p:nvSpPr>
        <p:spPr>
          <a:xfrm xmlns:a="http://schemas.openxmlformats.org/drawingml/2006/main">
            <a:off x="2486025" y="3930650"/>
            <a:ext cx="1666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AEAD/MAC mới có</a:t>
            </a:r>
          </a:p>
        </p:txBody>
      </p:sp>
      <p:sp>
        <p:nvSpPr>
          <p:cNvPr id="31" name="S32_MATRIX_R3C3">
            <a:extLst xmlns:a="http://schemas.openxmlformats.org/drawingml/2006/main">
              <a:ext uri="{FF2B5EF4-FFF2-40B4-BE49-F238E27FC236}">
                <a16:creationId xmlns:a16="http://schemas.microsoft.com/office/drawing/2014/main" id="{794391A4-A6F8-468E-9612-B1341F671EDA}"/>
              </a:ext>
            </a:extLst>
          </p:cNvPr>
          <p:cNvSpPr>
            <a:spLocks xmlns:a="http://schemas.openxmlformats.org/drawingml/2006/main" noGrp="1"/>
          </p:cNvSpPr>
          <p:nvPr/>
        </p:nvSpPr>
        <p:spPr>
          <a:xfrm xmlns:a="http://schemas.openxmlformats.org/drawingml/2006/main">
            <a:off x="4152900" y="3930650"/>
            <a:ext cx="1047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a:t>
            </a:r>
          </a:p>
        </p:txBody>
      </p:sp>
      <p:sp>
        <p:nvSpPr>
          <p:cNvPr id="32" name="S32_MATRIX_R3C4">
            <a:extLst xmlns:a="http://schemas.openxmlformats.org/drawingml/2006/main">
              <a:ext uri="{FF2B5EF4-FFF2-40B4-BE49-F238E27FC236}">
                <a16:creationId xmlns:a16="http://schemas.microsoft.com/office/drawing/2014/main" id="{CF82A922-CC58-4FB5-8792-7130F7F01004}"/>
              </a:ext>
            </a:extLst>
          </p:cNvPr>
          <p:cNvSpPr>
            <a:spLocks xmlns:a="http://schemas.openxmlformats.org/drawingml/2006/main" noGrp="1"/>
          </p:cNvSpPr>
          <p:nvPr/>
        </p:nvSpPr>
        <p:spPr>
          <a:xfrm xmlns:a="http://schemas.openxmlformats.org/drawingml/2006/main">
            <a:off x="5200650" y="3930650"/>
            <a:ext cx="190500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làm nguồn quyền authoritative</a:t>
            </a:r>
          </a:p>
        </p:txBody>
      </p:sp>
      <p:sp>
        <p:nvSpPr>
          <p:cNvPr id="33" name="S32_MATRIX_R4C0">
            <a:extLst xmlns:a="http://schemas.openxmlformats.org/drawingml/2006/main">
              <a:ext uri="{FF2B5EF4-FFF2-40B4-BE49-F238E27FC236}">
                <a16:creationId xmlns:a16="http://schemas.microsoft.com/office/drawing/2014/main" id="{1273FEB9-B560-4A4A-9521-F8A0425D5180}"/>
              </a:ext>
            </a:extLst>
          </p:cNvPr>
          <p:cNvSpPr>
            <a:spLocks xmlns:a="http://schemas.openxmlformats.org/drawingml/2006/main" noGrp="1"/>
          </p:cNvSpPr>
          <p:nvPr/>
        </p:nvSpPr>
        <p:spPr>
          <a:xfrm xmlns:a="http://schemas.openxmlformats.org/drawingml/2006/main">
            <a:off x="533400" y="4489450"/>
            <a:ext cx="1428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session</a:t>
            </a:r>
          </a:p>
        </p:txBody>
      </p:sp>
      <p:sp>
        <p:nvSpPr>
          <p:cNvPr id="34" name="S32_MATRIX_R4C1">
            <a:extLst xmlns:a="http://schemas.openxmlformats.org/drawingml/2006/main">
              <a:ext uri="{FF2B5EF4-FFF2-40B4-BE49-F238E27FC236}">
                <a16:creationId xmlns:a16="http://schemas.microsoft.com/office/drawing/2014/main" id="{56CC967B-2F3E-4809-A777-153F92A28C5F}"/>
              </a:ext>
            </a:extLst>
          </p:cNvPr>
          <p:cNvSpPr>
            <a:spLocks xmlns:a="http://schemas.openxmlformats.org/drawingml/2006/main" noGrp="1"/>
          </p:cNvSpPr>
          <p:nvPr/>
        </p:nvSpPr>
        <p:spPr>
          <a:xfrm xmlns:a="http://schemas.openxmlformats.org/drawingml/2006/main">
            <a:off x="1962150" y="4489450"/>
            <a:ext cx="523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5" name="S32_MATRIX_R4C2">
            <a:extLst xmlns:a="http://schemas.openxmlformats.org/drawingml/2006/main">
              <a:ext uri="{FF2B5EF4-FFF2-40B4-BE49-F238E27FC236}">
                <a16:creationId xmlns:a16="http://schemas.microsoft.com/office/drawing/2014/main" id="{C797957D-B190-4D75-988B-E9900EE9A27B}"/>
              </a:ext>
            </a:extLst>
          </p:cNvPr>
          <p:cNvSpPr>
            <a:spLocks xmlns:a="http://schemas.openxmlformats.org/drawingml/2006/main" noGrp="1"/>
          </p:cNvSpPr>
          <p:nvPr/>
        </p:nvSpPr>
        <p:spPr>
          <a:xfrm xmlns:a="http://schemas.openxmlformats.org/drawingml/2006/main">
            <a:off x="2486025" y="4489450"/>
            <a:ext cx="1666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6" name="S32_MATRIX_R4C3">
            <a:extLst xmlns:a="http://schemas.openxmlformats.org/drawingml/2006/main">
              <a:ext uri="{FF2B5EF4-FFF2-40B4-BE49-F238E27FC236}">
                <a16:creationId xmlns:a16="http://schemas.microsoft.com/office/drawing/2014/main" id="{7BE25DA9-8ABA-4FC1-A4A1-D6D4500F508A}"/>
              </a:ext>
            </a:extLst>
          </p:cNvPr>
          <p:cNvSpPr>
            <a:spLocks xmlns:a="http://schemas.openxmlformats.org/drawingml/2006/main" noGrp="1"/>
          </p:cNvSpPr>
          <p:nvPr/>
        </p:nvSpPr>
        <p:spPr>
          <a:xfrm xmlns:a="http://schemas.openxmlformats.org/drawingml/2006/main">
            <a:off x="4152900" y="4489450"/>
            <a:ext cx="1047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7" name="S32_MATRIX_R4C4">
            <a:extLst xmlns:a="http://schemas.openxmlformats.org/drawingml/2006/main">
              <a:ext uri="{FF2B5EF4-FFF2-40B4-BE49-F238E27FC236}">
                <a16:creationId xmlns:a16="http://schemas.microsoft.com/office/drawing/2014/main" id="{EC0FD810-F750-4C38-BC07-7BE8C9843409}"/>
              </a:ext>
            </a:extLst>
          </p:cNvPr>
          <p:cNvSpPr>
            <a:spLocks xmlns:a="http://schemas.openxmlformats.org/drawingml/2006/main" noGrp="1"/>
          </p:cNvSpPr>
          <p:nvPr/>
        </p:nvSpPr>
        <p:spPr>
          <a:xfrm xmlns:a="http://schemas.openxmlformats.org/drawingml/2006/main">
            <a:off x="5200650" y="4489450"/>
            <a:ext cx="190500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khuyến nghị</a:t>
            </a:r>
          </a:p>
        </p:txBody>
      </p:sp>
      <p:sp>
        <p:nvSpPr>
          <p:cNvPr id="38" name="S32_QA_1">
            <a:extLst xmlns:a="http://schemas.openxmlformats.org/drawingml/2006/main">
              <a:ext uri="{FF2B5EF4-FFF2-40B4-BE49-F238E27FC236}">
                <a16:creationId xmlns:a16="http://schemas.microsoft.com/office/drawing/2014/main" id="{F1E3BCA6-2314-436F-BEFD-4323BFBDE9DD}"/>
              </a:ext>
            </a:extLst>
          </p:cNvPr>
          <p:cNvSpPr>
            <a:spLocks xmlns:a="http://schemas.openxmlformats.org/drawingml/2006/main" noGrp="1"/>
          </p:cNvSpPr>
          <p:nvPr/>
        </p:nvSpPr>
        <p:spPr>
          <a:xfrm xmlns:a="http://schemas.openxmlformats.org/drawingml/2006/main">
            <a:off x="7372350" y="16954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Cookie là client-controlled input.</a:t>
            </a:r>
          </a:p>
        </p:txBody>
      </p:sp>
      <p:sp>
        <p:nvSpPr>
          <p:cNvPr id="39" name="S32_QA_2">
            <a:extLst xmlns:a="http://schemas.openxmlformats.org/drawingml/2006/main">
              <a:ext uri="{FF2B5EF4-FFF2-40B4-BE49-F238E27FC236}">
                <a16:creationId xmlns:a16="http://schemas.microsoft.com/office/drawing/2014/main" id="{9A1B2520-8791-4B25-807B-6F0A8CBB69E5}"/>
              </a:ext>
            </a:extLst>
          </p:cNvPr>
          <p:cNvSpPr>
            <a:spLocks xmlns:a="http://schemas.openxmlformats.org/drawingml/2006/main" noGrp="1"/>
          </p:cNvSpPr>
          <p:nvPr/>
        </p:nvSpPr>
        <p:spPr>
          <a:xfrm xmlns:a="http://schemas.openxmlformats.org/drawingml/2006/main">
            <a:off x="9591675" y="16954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Poisoning sửa state; hijacking lấy token.</a:t>
            </a:r>
          </a:p>
        </p:txBody>
      </p:sp>
      <p:sp>
        <p:nvSpPr>
          <p:cNvPr id="40" name="S32_QA_3">
            <a:extLst xmlns:a="http://schemas.openxmlformats.org/drawingml/2006/main">
              <a:ext uri="{FF2B5EF4-FFF2-40B4-BE49-F238E27FC236}">
                <a16:creationId xmlns:a16="http://schemas.microsoft.com/office/drawing/2014/main" id="{0C7AC1E0-3513-44D1-92D8-317DD6A6CC7B}"/>
              </a:ext>
            </a:extLst>
          </p:cNvPr>
          <p:cNvSpPr>
            <a:spLocks xmlns:a="http://schemas.openxmlformats.org/drawingml/2006/main" noGrp="1"/>
          </p:cNvSpPr>
          <p:nvPr/>
        </p:nvSpPr>
        <p:spPr>
          <a:xfrm xmlns:a="http://schemas.openxmlformats.org/drawingml/2006/main">
            <a:off x="7372350" y="313690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Base64 là encoding, không encryption.</a:t>
            </a:r>
          </a:p>
        </p:txBody>
      </p:sp>
      <p:sp>
        <p:nvSpPr>
          <p:cNvPr id="41" name="S32_QA_4">
            <a:extLst xmlns:a="http://schemas.openxmlformats.org/drawingml/2006/main">
              <a:ext uri="{FF2B5EF4-FFF2-40B4-BE49-F238E27FC236}">
                <a16:creationId xmlns:a16="http://schemas.microsoft.com/office/drawing/2014/main" id="{0299DE23-6384-46E9-97D6-204EA33142B9}"/>
              </a:ext>
            </a:extLst>
          </p:cNvPr>
          <p:cNvSpPr>
            <a:spLocks xmlns:a="http://schemas.openxmlformats.org/drawingml/2006/main" noGrp="1"/>
          </p:cNvSpPr>
          <p:nvPr/>
        </p:nvSpPr>
        <p:spPr>
          <a:xfrm xmlns:a="http://schemas.openxmlformats.org/drawingml/2006/main">
            <a:off x="9591675" y="313690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Signed cookie phát hiện sửa đổi.</a:t>
            </a:r>
          </a:p>
        </p:txBody>
      </p:sp>
      <p:sp>
        <p:nvSpPr>
          <p:cNvPr id="42" name="S32_QA_5">
            <a:extLst xmlns:a="http://schemas.openxmlformats.org/drawingml/2006/main">
              <a:ext uri="{FF2B5EF4-FFF2-40B4-BE49-F238E27FC236}">
                <a16:creationId xmlns:a16="http://schemas.microsoft.com/office/drawing/2014/main" id="{5F4C0504-6CAC-4A4F-AB51-8B57AFA826CE}"/>
              </a:ext>
            </a:extLst>
          </p:cNvPr>
          <p:cNvSpPr>
            <a:spLocks xmlns:a="http://schemas.openxmlformats.org/drawingml/2006/main" noGrp="1"/>
          </p:cNvSpPr>
          <p:nvPr/>
        </p:nvSpPr>
        <p:spPr>
          <a:xfrm xmlns:a="http://schemas.openxmlformats.org/drawingml/2006/main">
            <a:off x="7372350" y="45783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Flags không thay authorization.</a:t>
            </a:r>
          </a:p>
        </p:txBody>
      </p:sp>
      <p:sp>
        <p:nvSpPr>
          <p:cNvPr id="43" name="S32_QA_6">
            <a:extLst xmlns:a="http://schemas.openxmlformats.org/drawingml/2006/main">
              <a:ext uri="{FF2B5EF4-FFF2-40B4-BE49-F238E27FC236}">
                <a16:creationId xmlns:a16="http://schemas.microsoft.com/office/drawing/2014/main" id="{98F18DF5-22B7-41EC-BC6B-A2BC9FB71088}"/>
              </a:ext>
            </a:extLst>
          </p:cNvPr>
          <p:cNvSpPr>
            <a:spLocks xmlns:a="http://schemas.openxmlformats.org/drawingml/2006/main" noGrp="1"/>
          </p:cNvSpPr>
          <p:nvPr/>
        </p:nvSpPr>
        <p:spPr>
          <a:xfrm xmlns:a="http://schemas.openxmlformats.org/drawingml/2006/main">
            <a:off x="9591675" y="45783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Server session hỗ trợ rotate + revoke.</a:t>
            </a:r>
          </a:p>
        </p:txBody>
      </p:sp>
      <p:sp>
        <p:nvSpPr>
          <p:cNvPr id="44" name="S32_RULE_BAR">
            <a:extLst xmlns:a="http://schemas.openxmlformats.org/drawingml/2006/main">
              <a:ext uri="{FF2B5EF4-FFF2-40B4-BE49-F238E27FC236}">
                <a16:creationId xmlns:a16="http://schemas.microsoft.com/office/drawing/2014/main" id="{629DC485-E50E-4493-BF1B-1C77922F4A6F}"/>
              </a:ext>
            </a:extLst>
          </p:cNvPr>
          <p:cNvSpPr>
            <a:spLocks xmlns:a="http://schemas.openxmlformats.org/drawingml/2006/main" noGrp="1"/>
          </p:cNvSpPr>
          <p:nvPr/>
        </p:nvSpPr>
        <p:spPr>
          <a:xfrm xmlns:a="http://schemas.openxmlformats.org/drawingml/2006/main">
            <a:off x="533400" y="5391150"/>
            <a:ext cx="76200" cy="0"/>
          </a:xfrm>
          <a:prstGeom xmlns:a="http://schemas.openxmlformats.org/drawingml/2006/main" prst="rect">
            <a:avLst/>
          </a:prstGeom>
          <a:ln xmlns:a="http://schemas.openxmlformats.org/drawingml/2006/main" w="0">
            <a:noFill/>
            <a:prstDash val="solid"/>
          </a:ln>
        </p:spPr>
      </p:sp>
      <p:sp>
        <p:nvSpPr>
          <p:cNvPr id="45" name="S32_RULE_LABEL">
            <a:extLst xmlns:a="http://schemas.openxmlformats.org/drawingml/2006/main">
              <a:ext uri="{FF2B5EF4-FFF2-40B4-BE49-F238E27FC236}">
                <a16:creationId xmlns:a16="http://schemas.microsoft.com/office/drawing/2014/main" id="{953213D5-8368-451F-AE41-8B81AE30E136}"/>
              </a:ext>
            </a:extLst>
          </p:cNvPr>
          <p:cNvSpPr>
            <a:spLocks xmlns:a="http://schemas.openxmlformats.org/drawingml/2006/main" noGrp="1"/>
          </p:cNvSpPr>
          <p:nvPr/>
        </p:nvSpPr>
        <p:spPr>
          <a:xfrm xmlns:a="http://schemas.openxmlformats.org/drawingml/2006/main">
            <a:off x="704850" y="5391150"/>
            <a:ext cx="163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RULE</a:t>
            </a:r>
          </a:p>
        </p:txBody>
      </p:sp>
      <p:sp>
        <p:nvSpPr>
          <p:cNvPr id="46" name="S32_RULE_BODY">
            <a:extLst xmlns:a="http://schemas.openxmlformats.org/drawingml/2006/main">
              <a:ext uri="{FF2B5EF4-FFF2-40B4-BE49-F238E27FC236}">
                <a16:creationId xmlns:a16="http://schemas.microsoft.com/office/drawing/2014/main" id="{06326038-857E-45BA-8338-4646D65C7B01}"/>
              </a:ext>
            </a:extLst>
          </p:cNvPr>
          <p:cNvSpPr>
            <a:spLocks xmlns:a="http://schemas.openxmlformats.org/drawingml/2006/main" noGrp="1"/>
          </p:cNvSpPr>
          <p:nvPr/>
        </p:nvSpPr>
        <p:spPr>
          <a:xfrm xmlns:a="http://schemas.openxmlformats.org/drawingml/2006/main">
            <a:off x="2438400" y="5391150"/>
            <a:ext cx="4648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Không lưu role, is_admin, balance hoặc permission như dữ liệu authoritative ở client.</a:t>
            </a:r>
          </a:p>
        </p:txBody>
      </p:sp>
    </p:spTree>
    <p:extLst>
      <p:ext uri="{BB962C8B-B14F-4D97-AF65-F5344CB8AC3E}">
        <p14:creationId xmlns:p14="http://schemas.microsoft.com/office/powerpoint/2010/main" val="1986360664"/>
      </p:ext>
    </p:extLst>
  </p:cSld>
</p:sld>
</file>

<file path=ppt/slides/slide33.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15" name="S33_FOOTER_RULE">
            <a:extLst xmlns:a="http://schemas.openxmlformats.org/drawingml/2006/main">
              <a:ext uri="{FF2B5EF4-FFF2-40B4-BE49-F238E27FC236}">
                <a16:creationId xmlns:a16="http://schemas.microsoft.com/office/drawing/2014/main" id="{6A7AB248-5516-416B-BBFF-11B1F3645185}"/>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 name="S33_SOURCE">
            <a:extLst xmlns:a="http://schemas.openxmlformats.org/drawingml/2006/main">
              <a:ext uri="{FF2B5EF4-FFF2-40B4-BE49-F238E27FC236}">
                <a16:creationId xmlns:a16="http://schemas.microsoft.com/office/drawing/2014/main" id="{59584967-7857-49E5-83FF-876550A8778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111111"/>
                </a:solidFill>
                <a:latin typeface="Consolas"/>
                <a:ea typeface="Consolas"/>
                <a:cs typeface="Consolas"/>
              </a:defRPr>
            </a:pPr>
            <a:r>
              <a:rPr sz="1425" b="0">
                <a:solidFill>
                  <a:srgbClr val="111111"/>
                </a:solidFill>
                <a:latin typeface="Consolas"/>
                <a:ea typeface="Consolas"/>
                <a:cs typeface="Consolas"/>
              </a:rPr>
              <a:t>NGUỒN  BaiTapTopic04.docx · phần bài học và tổng kết · Lab01–Lab06</a:t>
            </a:r>
          </a:p>
        </p:txBody>
      </p:sp>
      <p:sp>
        <p:nvSpPr>
          <p:cNvPr id="3" name="S33_NUMBER">
            <a:extLst xmlns:a="http://schemas.openxmlformats.org/drawingml/2006/main">
              <a:ext uri="{FF2B5EF4-FFF2-40B4-BE49-F238E27FC236}">
                <a16:creationId xmlns:a16="http://schemas.microsoft.com/office/drawing/2014/main" id="{C84040F6-F3FC-4885-A9D5-F8D2EDA54CAB}"/>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33</a:t>
            </a:r>
          </a:p>
        </p:txBody>
      </p:sp>
      <p:sp>
        <p:nvSpPr>
          <p:cNvPr id="4" name="S33_KICKER">
            <a:extLst xmlns:a="http://schemas.openxmlformats.org/drawingml/2006/main">
              <a:ext uri="{FF2B5EF4-FFF2-40B4-BE49-F238E27FC236}">
                <a16:creationId xmlns:a16="http://schemas.microsoft.com/office/drawing/2014/main" id="{9C43B639-F453-43CB-9C3A-A9C7A428D184}"/>
              </a:ext>
            </a:extLst>
          </p:cNvPr>
          <p:cNvSpPr>
            <a:spLocks xmlns:a="http://schemas.openxmlformats.org/drawingml/2006/main" noGrp="1"/>
          </p:cNvSpPr>
          <p:nvPr/>
        </p:nvSpPr>
        <p:spPr>
          <a:xfrm xmlns:a="http://schemas.openxmlformats.org/drawingml/2006/main">
            <a:off x="533400" y="3810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SECURITY CYCLE / ROOT-CAUSE FIRST</a:t>
            </a:r>
          </a:p>
        </p:txBody>
      </p:sp>
      <p:sp>
        <p:nvSpPr>
          <p:cNvPr id="5" name="S33_TITLE">
            <a:extLst xmlns:a="http://schemas.openxmlformats.org/drawingml/2006/main">
              <a:ext uri="{FF2B5EF4-FFF2-40B4-BE49-F238E27FC236}">
                <a16:creationId xmlns:a16="http://schemas.microsoft.com/office/drawing/2014/main" id="{CFF895BD-EB26-459A-841C-B72593081B92}"/>
              </a:ext>
            </a:extLst>
          </p:cNvPr>
          <p:cNvSpPr>
            <a:spLocks xmlns:a="http://schemas.openxmlformats.org/drawingml/2006/main" noGrp="1"/>
          </p:cNvSpPr>
          <p:nvPr/>
        </p:nvSpPr>
        <p:spPr>
          <a:xfrm xmlns:a="http://schemas.openxmlformats.org/drawingml/2006/main">
            <a:off x="495300" y="876300"/>
            <a:ext cx="11144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050" b="1">
                <a:solidFill>
                  <a:srgbClr val="111111"/>
                </a:solidFill>
                <a:latin typeface="Bahnschrift"/>
                <a:ea typeface="Bahnschrift"/>
                <a:cs typeface="Bahnschrift"/>
              </a:defRPr>
            </a:pPr>
            <a:r>
              <a:rPr sz="4050" b="1">
                <a:solidFill>
                  <a:srgbClr val="111111"/>
                </a:solidFill>
                <a:latin typeface="Bahnschrift"/>
                <a:ea typeface="Bahnschrift"/>
                <a:cs typeface="Bahnschrift"/>
              </a:rPr>
              <a:t>THEO DẤU DỮ LIỆU.</a:t>
            </a:r>
          </a:p>
          <a:p xmlns:a="http://schemas.openxmlformats.org/drawingml/2006/main">
            <a:pPr algn="l">
              <a:lnSpc>
                <a:spcPct val="100000"/>
              </a:lnSpc>
              <a:buNone/>
              <a:defRPr sz="4050" b="1">
                <a:solidFill>
                  <a:srgbClr val="111111"/>
                </a:solidFill>
                <a:latin typeface="Bahnschrift"/>
                <a:ea typeface="Bahnschrift"/>
                <a:cs typeface="Bahnschrift"/>
              </a:defRPr>
            </a:pPr>
            <a:r>
              <a:rPr sz="4050" b="1">
                <a:solidFill>
                  <a:srgbClr val="111111"/>
                </a:solidFill>
                <a:latin typeface="Bahnschrift"/>
                <a:ea typeface="Bahnschrift"/>
                <a:cs typeface="Bahnschrift"/>
              </a:rPr>
              <a:t>VÁ ĐÚNG ĐIỂM GÃY.</a:t>
            </a:r>
          </a:p>
        </p:txBody>
      </p:sp>
      <p:sp>
        <p:nvSpPr>
          <p:cNvPr id="6" name="S33_STEP_1">
            <a:extLst xmlns:a="http://schemas.openxmlformats.org/drawingml/2006/main">
              <a:ext uri="{FF2B5EF4-FFF2-40B4-BE49-F238E27FC236}">
                <a16:creationId xmlns:a16="http://schemas.microsoft.com/office/drawing/2014/main" id="{FE207ACD-8BD8-41E0-A35E-F68D8CD06ADB}"/>
              </a:ext>
            </a:extLst>
          </p:cNvPr>
          <p:cNvSpPr>
            <a:spLocks xmlns:a="http://schemas.openxmlformats.org/drawingml/2006/main" noGrp="1"/>
          </p:cNvSpPr>
          <p:nvPr/>
        </p:nvSpPr>
        <p:spPr>
          <a:xfrm xmlns:a="http://schemas.openxmlformats.org/drawingml/2006/main">
            <a:off x="5334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1 NHẬN DIỆN</a:t>
            </a:r>
          </a:p>
        </p:txBody>
      </p:sp>
      <p:sp>
        <p:nvSpPr>
          <p:cNvPr id="7" name="S33_STEP_2">
            <a:extLst xmlns:a="http://schemas.openxmlformats.org/drawingml/2006/main">
              <a:ext uri="{FF2B5EF4-FFF2-40B4-BE49-F238E27FC236}">
                <a16:creationId xmlns:a16="http://schemas.microsoft.com/office/drawing/2014/main" id="{D5422268-3958-4E44-A4B6-17BE3E607F2E}"/>
              </a:ext>
            </a:extLst>
          </p:cNvPr>
          <p:cNvSpPr>
            <a:spLocks xmlns:a="http://schemas.openxmlformats.org/drawingml/2006/main" noGrp="1"/>
          </p:cNvSpPr>
          <p:nvPr/>
        </p:nvSpPr>
        <p:spPr>
          <a:xfrm xmlns:a="http://schemas.openxmlformats.org/drawingml/2006/main">
            <a:off x="33147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2 KHAI THÁC LOCAL</a:t>
            </a:r>
          </a:p>
        </p:txBody>
      </p:sp>
      <p:sp>
        <p:nvSpPr>
          <p:cNvPr id="8" name="S33_STEP_3">
            <a:extLst xmlns:a="http://schemas.openxmlformats.org/drawingml/2006/main">
              <a:ext uri="{FF2B5EF4-FFF2-40B4-BE49-F238E27FC236}">
                <a16:creationId xmlns:a16="http://schemas.microsoft.com/office/drawing/2014/main" id="{829744D7-5F1F-45C4-98A7-D4D88FCF748D}"/>
              </a:ext>
            </a:extLst>
          </p:cNvPr>
          <p:cNvSpPr>
            <a:spLocks xmlns:a="http://schemas.openxmlformats.org/drawingml/2006/main" noGrp="1"/>
          </p:cNvSpPr>
          <p:nvPr/>
        </p:nvSpPr>
        <p:spPr>
          <a:xfrm xmlns:a="http://schemas.openxmlformats.org/drawingml/2006/main">
            <a:off x="60960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3 QUAN SÁT</a:t>
            </a:r>
          </a:p>
        </p:txBody>
      </p:sp>
      <p:sp>
        <p:nvSpPr>
          <p:cNvPr id="9" name="S33_STEP_4">
            <a:extLst xmlns:a="http://schemas.openxmlformats.org/drawingml/2006/main">
              <a:ext uri="{FF2B5EF4-FFF2-40B4-BE49-F238E27FC236}">
                <a16:creationId xmlns:a16="http://schemas.microsoft.com/office/drawing/2014/main" id="{5069F555-0E3A-437C-9093-DB0C99070E3B}"/>
              </a:ext>
            </a:extLst>
          </p:cNvPr>
          <p:cNvSpPr>
            <a:spLocks xmlns:a="http://schemas.openxmlformats.org/drawingml/2006/main" noGrp="1"/>
          </p:cNvSpPr>
          <p:nvPr/>
        </p:nvSpPr>
        <p:spPr>
          <a:xfrm xmlns:a="http://schemas.openxmlformats.org/drawingml/2006/main">
            <a:off x="88773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4 PHÂN TÍCH</a:t>
            </a:r>
          </a:p>
        </p:txBody>
      </p:sp>
      <p:sp>
        <p:nvSpPr>
          <p:cNvPr id="10" name="S33_STEP_5">
            <a:extLst xmlns:a="http://schemas.openxmlformats.org/drawingml/2006/main">
              <a:ext uri="{FF2B5EF4-FFF2-40B4-BE49-F238E27FC236}">
                <a16:creationId xmlns:a16="http://schemas.microsoft.com/office/drawing/2014/main" id="{517628E3-DE27-4E50-9370-F99A696EC80D}"/>
              </a:ext>
            </a:extLst>
          </p:cNvPr>
          <p:cNvSpPr>
            <a:spLocks xmlns:a="http://schemas.openxmlformats.org/drawingml/2006/main" noGrp="1"/>
          </p:cNvSpPr>
          <p:nvPr/>
        </p:nvSpPr>
        <p:spPr>
          <a:xfrm xmlns:a="http://schemas.openxmlformats.org/drawingml/2006/main">
            <a:off x="533400" y="35623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5 ĐÁNH GIÁ</a:t>
            </a:r>
          </a:p>
        </p:txBody>
      </p:sp>
      <p:sp>
        <p:nvSpPr>
          <p:cNvPr id="11" name="S33_STEP_6">
            <a:extLst xmlns:a="http://schemas.openxmlformats.org/drawingml/2006/main">
              <a:ext uri="{FF2B5EF4-FFF2-40B4-BE49-F238E27FC236}">
                <a16:creationId xmlns:a16="http://schemas.microsoft.com/office/drawing/2014/main" id="{D71AEA84-C196-411D-B73E-01BB0D345F8A}"/>
              </a:ext>
            </a:extLst>
          </p:cNvPr>
          <p:cNvSpPr>
            <a:spLocks xmlns:a="http://schemas.openxmlformats.org/drawingml/2006/main" noGrp="1"/>
          </p:cNvSpPr>
          <p:nvPr/>
        </p:nvSpPr>
        <p:spPr>
          <a:xfrm xmlns:a="http://schemas.openxmlformats.org/drawingml/2006/main">
            <a:off x="3314700" y="35623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6 VÁ</a:t>
            </a:r>
          </a:p>
        </p:txBody>
      </p:sp>
      <p:sp>
        <p:nvSpPr>
          <p:cNvPr id="12" name="S33_STEP_7">
            <a:extLst xmlns:a="http://schemas.openxmlformats.org/drawingml/2006/main">
              <a:ext uri="{FF2B5EF4-FFF2-40B4-BE49-F238E27FC236}">
                <a16:creationId xmlns:a16="http://schemas.microsoft.com/office/drawing/2014/main" id="{A9E0BAFF-6BC5-42AD-98BA-45C2A5D4EDEC}"/>
              </a:ext>
            </a:extLst>
          </p:cNvPr>
          <p:cNvSpPr>
            <a:spLocks xmlns:a="http://schemas.openxmlformats.org/drawingml/2006/main" noGrp="1"/>
          </p:cNvSpPr>
          <p:nvPr/>
        </p:nvSpPr>
        <p:spPr>
          <a:xfrm xmlns:a="http://schemas.openxmlformats.org/drawingml/2006/main">
            <a:off x="6096000" y="35623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7 RETEST</a:t>
            </a:r>
          </a:p>
        </p:txBody>
      </p:sp>
      <p:sp>
        <p:nvSpPr>
          <p:cNvPr id="13" name="S33_RULES">
            <a:extLst xmlns:a="http://schemas.openxmlformats.org/drawingml/2006/main">
              <a:ext uri="{FF2B5EF4-FFF2-40B4-BE49-F238E27FC236}">
                <a16:creationId xmlns:a16="http://schemas.microsoft.com/office/drawing/2014/main" id="{E3E68321-92CB-4973-8814-84EA5DB40F4F}"/>
              </a:ext>
            </a:extLst>
          </p:cNvPr>
          <p:cNvSpPr>
            <a:spLocks xmlns:a="http://schemas.openxmlformats.org/drawingml/2006/main" noGrp="1"/>
          </p:cNvSpPr>
          <p:nvPr/>
        </p:nvSpPr>
        <p:spPr>
          <a:xfrm xmlns:a="http://schemas.openxmlformats.org/drawingml/2006/main">
            <a:off x="533400" y="4781550"/>
            <a:ext cx="11125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500" b="1">
                <a:solidFill>
                  <a:srgbClr val="111111"/>
                </a:solidFill>
                <a:latin typeface="Consolas"/>
                <a:ea typeface="Consolas"/>
                <a:cs typeface="Consolas"/>
              </a:defRPr>
            </a:pPr>
            <a:r>
              <a:rPr sz="1500" b="1">
                <a:solidFill>
                  <a:srgbClr val="111111"/>
                </a:solidFill>
                <a:latin typeface="Consolas"/>
                <a:ea typeface="Consolas"/>
                <a:cs typeface="Consolas"/>
              </a:rPr>
              <a:t>XSS → SAFE OUTPUT/SINK   /   BUFFER → BOUNDED COPY   /   TAMPERING → SERVER POLICY</a:t>
            </a:r>
          </a:p>
          <a:p xmlns:a="http://schemas.openxmlformats.org/drawingml/2006/main">
            <a:pPr algn="ctr">
              <a:lnSpc>
                <a:spcPct val="100000"/>
              </a:lnSpc>
              <a:buNone/>
              <a:defRPr sz="1500" b="1">
                <a:solidFill>
                  <a:srgbClr val="111111"/>
                </a:solidFill>
                <a:latin typeface="Consolas"/>
                <a:ea typeface="Consolas"/>
                <a:cs typeface="Consolas"/>
              </a:defRPr>
            </a:pPr>
            <a:r>
              <a:rPr sz="1500" b="1">
                <a:solidFill>
                  <a:srgbClr val="111111"/>
                </a:solidFill>
                <a:latin typeface="Consolas"/>
                <a:ea typeface="Consolas"/>
                <a:cs typeface="Consolas"/>
              </a:rPr>
              <a:t>CSRF → INTENT PROOF   /   SQLi → PARAMETER BINDING   /   COOKIE → SERVER AUTHORIZATION</a:t>
            </a:r>
          </a:p>
        </p:txBody>
      </p:sp>
      <p:sp>
        <p:nvSpPr>
          <p:cNvPr id="14" name="S33_CLOSE">
            <a:extLst xmlns:a="http://schemas.openxmlformats.org/drawingml/2006/main">
              <a:ext uri="{FF2B5EF4-FFF2-40B4-BE49-F238E27FC236}">
                <a16:creationId xmlns:a16="http://schemas.microsoft.com/office/drawing/2014/main" id="{2C16DF91-A084-40ED-849B-62F3727C6E99}"/>
              </a:ext>
            </a:extLst>
          </p:cNvPr>
          <p:cNvSpPr>
            <a:spLocks xmlns:a="http://schemas.openxmlformats.org/drawingml/2006/main" noGrp="1"/>
          </p:cNvSpPr>
          <p:nvPr/>
        </p:nvSpPr>
        <p:spPr>
          <a:xfrm xmlns:a="http://schemas.openxmlformats.org/drawingml/2006/main">
            <a:off x="533400" y="5600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CẤU TRÚC BÁO CÁO 11 MỤC</a:t>
            </a:r>
          </a:p>
          <a:p xmlns:a="http://schemas.openxmlformats.org/drawingml/2006/main">
            <a:pPr algn="ct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Tên lab · Mục tiêu · Môi trường · Các bước · Kết quả · Nguyên nhân</a:t>
            </a:r>
          </a:p>
          <a:p xmlns:a="http://schemas.openxmlformats.org/drawingml/2006/main">
            <a:pPr algn="ct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Ảnh hưởng · Phòng chống · Bản vá · Bài học · Phụ lục ảnh/log/request-response.</a:t>
            </a:r>
          </a:p>
        </p:txBody>
      </p:sp>
    </p:spTree>
    <p:extLst>
      <p:ext uri="{BB962C8B-B14F-4D97-AF65-F5344CB8AC3E}">
        <p14:creationId xmlns:p14="http://schemas.microsoft.com/office/powerpoint/2010/main" val="1961564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2026-07-19T00:08:09.6620000Z</dcterms:created>
  <dcterms:modified xsi:type="dcterms:W3CDTF">2026-07-19T00:08:09.6630000Z</dcterms:modified>
</coreProperties>
</file>
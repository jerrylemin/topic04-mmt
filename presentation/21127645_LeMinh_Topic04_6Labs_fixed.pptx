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a861efe0314fe2" /><Relationship Type="http://schemas.openxmlformats.org/officeDocument/2006/relationships/extended-properties" Target="/docProps/app.xml" Id="Rdf0002b412384f18" /><Relationship Type="http://schemas.openxmlformats.org/officeDocument/2006/relationships/officeDocument" Target="/ppt/presentation.xml" Id="R2a352a68788e4aeb" /></Relationships>
</file>

<file path=ppt/presentation.xml><?xml version="1.0" encoding="utf-8"?>
<p:presentation xmlns:p="http://schemas.openxmlformats.org/presentationml/2006/main">
  <p:sldMasterIdLst>
    <p:sldMasterId xmlns:r="http://schemas.openxmlformats.org/officeDocument/2006/relationships" id="2147483648" r:id="Read8dba616234275"/>
  </p:sldMasterIdLst>
  <p:notesMasterIdLst>
    <p:notesMasterId xmlns:r="http://schemas.openxmlformats.org/officeDocument/2006/relationships" r:id="R6e62a09395ae478b"/>
  </p:notesMasterIdLst>
  <p:sldIdLst>
    <p:sldId xmlns:r="http://schemas.openxmlformats.org/officeDocument/2006/relationships" id="256" r:id="R096ca36b25ba42b9"/>
    <p:sldId xmlns:r="http://schemas.openxmlformats.org/officeDocument/2006/relationships" id="257" r:id="R904c9dfc494f4670"/>
    <p:sldId xmlns:r="http://schemas.openxmlformats.org/officeDocument/2006/relationships" id="258" r:id="R68e418334a804153"/>
    <p:sldId xmlns:r="http://schemas.openxmlformats.org/officeDocument/2006/relationships" id="259" r:id="Rd3b82d94d3634d0b"/>
    <p:sldId xmlns:r="http://schemas.openxmlformats.org/officeDocument/2006/relationships" id="260" r:id="R1f7a5ecff5804cc5"/>
    <p:sldId xmlns:r="http://schemas.openxmlformats.org/officeDocument/2006/relationships" id="261" r:id="R9178229c29144329"/>
    <p:sldId xmlns:r="http://schemas.openxmlformats.org/officeDocument/2006/relationships" id="262" r:id="R169f9f775a974095"/>
    <p:sldId xmlns:r="http://schemas.openxmlformats.org/officeDocument/2006/relationships" id="263" r:id="Rb4f302040cc242e0"/>
    <p:sldId xmlns:r="http://schemas.openxmlformats.org/officeDocument/2006/relationships" id="264" r:id="Ra1068ec5782945af"/>
    <p:sldId xmlns:r="http://schemas.openxmlformats.org/officeDocument/2006/relationships" id="265" r:id="R151d5d638717476c"/>
    <p:sldId xmlns:r="http://schemas.openxmlformats.org/officeDocument/2006/relationships" id="266" r:id="R5ef6407264c54a1a"/>
    <p:sldId xmlns:r="http://schemas.openxmlformats.org/officeDocument/2006/relationships" id="267" r:id="R95281c22c0e3482e"/>
    <p:sldId xmlns:r="http://schemas.openxmlformats.org/officeDocument/2006/relationships" id="268" r:id="R1fe784cada5c4807"/>
    <p:sldId xmlns:r="http://schemas.openxmlformats.org/officeDocument/2006/relationships" id="269" r:id="Rbe8b2b82b61847e5"/>
    <p:sldId xmlns:r="http://schemas.openxmlformats.org/officeDocument/2006/relationships" id="270" r:id="R6b2b4cb319b448cd"/>
    <p:sldId xmlns:r="http://schemas.openxmlformats.org/officeDocument/2006/relationships" id="271" r:id="Rff264703a3474ca3"/>
    <p:sldId xmlns:r="http://schemas.openxmlformats.org/officeDocument/2006/relationships" id="272" r:id="R7ad1f544253749a4"/>
    <p:sldId xmlns:r="http://schemas.openxmlformats.org/officeDocument/2006/relationships" id="273" r:id="Rd9b8795c964a4db1"/>
    <p:sldId xmlns:r="http://schemas.openxmlformats.org/officeDocument/2006/relationships" id="274" r:id="R56daca8d83aa46f5"/>
    <p:sldId xmlns:r="http://schemas.openxmlformats.org/officeDocument/2006/relationships" id="275" r:id="Rd102247683954a29"/>
    <p:sldId xmlns:r="http://schemas.openxmlformats.org/officeDocument/2006/relationships" id="276" r:id="R96f949be2efd4716"/>
    <p:sldId xmlns:r="http://schemas.openxmlformats.org/officeDocument/2006/relationships" id="277" r:id="R770f043824f14e70"/>
    <p:sldId xmlns:r="http://schemas.openxmlformats.org/officeDocument/2006/relationships" id="278" r:id="R91d5af0620574ebc"/>
    <p:sldId xmlns:r="http://schemas.openxmlformats.org/officeDocument/2006/relationships" id="279" r:id="R82ea3ff03eb64212"/>
    <p:sldId xmlns:r="http://schemas.openxmlformats.org/officeDocument/2006/relationships" id="280" r:id="R141b546a44114670"/>
    <p:sldId xmlns:r="http://schemas.openxmlformats.org/officeDocument/2006/relationships" id="281" r:id="Rbed9a33824344e4d"/>
    <p:sldId xmlns:r="http://schemas.openxmlformats.org/officeDocument/2006/relationships" id="282" r:id="Rdbedea7e884147a8"/>
    <p:sldId xmlns:r="http://schemas.openxmlformats.org/officeDocument/2006/relationships" id="283" r:id="Rc224227820a14fdf"/>
    <p:sldId xmlns:r="http://schemas.openxmlformats.org/officeDocument/2006/relationships" id="284" r:id="R54211aeb7da24d62"/>
    <p:sldId xmlns:r="http://schemas.openxmlformats.org/officeDocument/2006/relationships" id="285" r:id="R5260920b1f164f2b"/>
    <p:sldId xmlns:r="http://schemas.openxmlformats.org/officeDocument/2006/relationships" id="286" r:id="R9b2cd92e32484eba"/>
    <p:sldId xmlns:r="http://schemas.openxmlformats.org/officeDocument/2006/relationships" id="287" r:id="Raad904a611f34427"/>
    <p:sldId xmlns:r="http://schemas.openxmlformats.org/officeDocument/2006/relationships" id="288" r:id="R6e045e96af88458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fbd58a4a0f40ea" /><Relationship Type="http://schemas.openxmlformats.org/officeDocument/2006/relationships/slideMaster" Target="/ppt/slideMasters/slideMaster1.xml" Id="Read8dba616234275" /><Relationship Type="http://schemas.openxmlformats.org/officeDocument/2006/relationships/notesMaster" Target="/ppt/notesMasters/notesMaster1.xml" Id="R6e62a09395ae478b" /><Relationship Type="http://schemas.openxmlformats.org/officeDocument/2006/relationships/presProps" Target="/ppt/presProps.xml" Id="Rbcbba2752c344420" /><Relationship Type="http://schemas.openxmlformats.org/officeDocument/2006/relationships/tableStyles" Target="/ppt/tableStyles.xml" Id="R14f5ff6c00fa4b99" /><Relationship Type="http://schemas.openxmlformats.org/officeDocument/2006/relationships/slide" Target="/ppt/slides/slide1.xml" Id="R096ca36b25ba42b9" /><Relationship Type="http://schemas.openxmlformats.org/officeDocument/2006/relationships/slide" Target="/ppt/slides/slide2.xml" Id="R904c9dfc494f4670" /><Relationship Type="http://schemas.openxmlformats.org/officeDocument/2006/relationships/slide" Target="/ppt/slides/slide3.xml" Id="R68e418334a804153" /><Relationship Type="http://schemas.openxmlformats.org/officeDocument/2006/relationships/slide" Target="/ppt/slides/slide4.xml" Id="Rd3b82d94d3634d0b" /><Relationship Type="http://schemas.openxmlformats.org/officeDocument/2006/relationships/slide" Target="/ppt/slides/slide5.xml" Id="R1f7a5ecff5804cc5" /><Relationship Type="http://schemas.openxmlformats.org/officeDocument/2006/relationships/slide" Target="/ppt/slides/slide6.xml" Id="R9178229c29144329" /><Relationship Type="http://schemas.openxmlformats.org/officeDocument/2006/relationships/slide" Target="/ppt/slides/slide7.xml" Id="R169f9f775a974095" /><Relationship Type="http://schemas.openxmlformats.org/officeDocument/2006/relationships/slide" Target="/ppt/slides/slide8.xml" Id="Rb4f302040cc242e0" /><Relationship Type="http://schemas.openxmlformats.org/officeDocument/2006/relationships/slide" Target="/ppt/slides/slide9.xml" Id="Ra1068ec5782945af" /><Relationship Type="http://schemas.openxmlformats.org/officeDocument/2006/relationships/slide" Target="/ppt/slides/slide10.xml" Id="R151d5d638717476c" /><Relationship Type="http://schemas.openxmlformats.org/officeDocument/2006/relationships/slide" Target="/ppt/slides/slide11.xml" Id="R5ef6407264c54a1a" /><Relationship Type="http://schemas.openxmlformats.org/officeDocument/2006/relationships/slide" Target="/ppt/slides/slide12.xml" Id="R95281c22c0e3482e" /><Relationship Type="http://schemas.openxmlformats.org/officeDocument/2006/relationships/slide" Target="/ppt/slides/slide13.xml" Id="R1fe784cada5c4807" /><Relationship Type="http://schemas.openxmlformats.org/officeDocument/2006/relationships/slide" Target="/ppt/slides/slide14.xml" Id="Rbe8b2b82b61847e5" /><Relationship Type="http://schemas.openxmlformats.org/officeDocument/2006/relationships/slide" Target="/ppt/slides/slide15.xml" Id="R6b2b4cb319b448cd" /><Relationship Type="http://schemas.openxmlformats.org/officeDocument/2006/relationships/slide" Target="/ppt/slides/slide16.xml" Id="Rff264703a3474ca3" /><Relationship Type="http://schemas.openxmlformats.org/officeDocument/2006/relationships/slide" Target="/ppt/slides/slide17.xml" Id="R7ad1f544253749a4" /><Relationship Type="http://schemas.openxmlformats.org/officeDocument/2006/relationships/slide" Target="/ppt/slides/slide18.xml" Id="Rd9b8795c964a4db1" /><Relationship Type="http://schemas.openxmlformats.org/officeDocument/2006/relationships/slide" Target="/ppt/slides/slide19.xml" Id="R56daca8d83aa46f5" /><Relationship Type="http://schemas.openxmlformats.org/officeDocument/2006/relationships/slide" Target="/ppt/slides/slide20.xml" Id="Rd102247683954a29" /><Relationship Type="http://schemas.openxmlformats.org/officeDocument/2006/relationships/slide" Target="/ppt/slides/slide21.xml" Id="R96f949be2efd4716" /><Relationship Type="http://schemas.openxmlformats.org/officeDocument/2006/relationships/slide" Target="/ppt/slides/slide22.xml" Id="R770f043824f14e70" /><Relationship Type="http://schemas.openxmlformats.org/officeDocument/2006/relationships/slide" Target="/ppt/slides/slide23.xml" Id="R91d5af0620574ebc" /><Relationship Type="http://schemas.openxmlformats.org/officeDocument/2006/relationships/slide" Target="/ppt/slides/slide24.xml" Id="R82ea3ff03eb64212" /><Relationship Type="http://schemas.openxmlformats.org/officeDocument/2006/relationships/slide" Target="/ppt/slides/slide25.xml" Id="R141b546a44114670" /><Relationship Type="http://schemas.openxmlformats.org/officeDocument/2006/relationships/slide" Target="/ppt/slides/slide26.xml" Id="Rbed9a33824344e4d" /><Relationship Type="http://schemas.openxmlformats.org/officeDocument/2006/relationships/slide" Target="/ppt/slides/slide27.xml" Id="Rdbedea7e884147a8" /><Relationship Type="http://schemas.openxmlformats.org/officeDocument/2006/relationships/slide" Target="/ppt/slides/slide28.xml" Id="Rc224227820a14fdf" /><Relationship Type="http://schemas.openxmlformats.org/officeDocument/2006/relationships/slide" Target="/ppt/slides/slide29.xml" Id="R54211aeb7da24d62" /><Relationship Type="http://schemas.openxmlformats.org/officeDocument/2006/relationships/slide" Target="/ppt/slides/slide30.xml" Id="R5260920b1f164f2b" /><Relationship Type="http://schemas.openxmlformats.org/officeDocument/2006/relationships/slide" Target="/ppt/slides/slide31.xml" Id="R9b2cd92e32484eba" /><Relationship Type="http://schemas.openxmlformats.org/officeDocument/2006/relationships/slide" Target="/ppt/slides/slide32.xml" Id="Raad904a611f34427" /><Relationship Type="http://schemas.openxmlformats.org/officeDocument/2006/relationships/slide" Target="/ppt/slides/slide33.xml" Id="R6e045e96af8845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1715b96dfa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cdfe3e368149f2" /><Relationship Type="http://schemas.openxmlformats.org/officeDocument/2006/relationships/notesMaster" Target="/ppt/notesMasters/notesMaster1.xml" Id="R1c0a43b20e9240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e75ce46b124fa4" /><Relationship Type="http://schemas.openxmlformats.org/officeDocument/2006/relationships/notesMaster" Target="/ppt/notesMasters/notesMaster1.xml" Id="R0a1ad77ca10e46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357004f3554894" /><Relationship Type="http://schemas.openxmlformats.org/officeDocument/2006/relationships/notesMaster" Target="/ppt/notesMasters/notesMaster1.xml" Id="R2c1303c1b8bd44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700462567a4ce0" /><Relationship Type="http://schemas.openxmlformats.org/officeDocument/2006/relationships/notesMaster" Target="/ppt/notesMasters/notesMaster1.xml" Id="Rae70ed64562642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858893517a41d3" /><Relationship Type="http://schemas.openxmlformats.org/officeDocument/2006/relationships/notesMaster" Target="/ppt/notesMasters/notesMaster1.xml" Id="R921b5efbd1f445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631bc053944576" /><Relationship Type="http://schemas.openxmlformats.org/officeDocument/2006/relationships/notesMaster" Target="/ppt/notesMasters/notesMaster1.xml" Id="R234eed675b6143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33fd5c501d4a38" /><Relationship Type="http://schemas.openxmlformats.org/officeDocument/2006/relationships/notesMaster" Target="/ppt/notesMasters/notesMaster1.xml" Id="R0b89e197ab2443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615ede5768404d" /><Relationship Type="http://schemas.openxmlformats.org/officeDocument/2006/relationships/notesMaster" Target="/ppt/notesMasters/notesMaster1.xml" Id="R1c61abff3c784b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6ce37bc2424ab8" /><Relationship Type="http://schemas.openxmlformats.org/officeDocument/2006/relationships/notesMaster" Target="/ppt/notesMasters/notesMaster1.xml" Id="R6809029b7f9c46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31ae5677bd4a26" /><Relationship Type="http://schemas.openxmlformats.org/officeDocument/2006/relationships/notesMaster" Target="/ppt/notesMasters/notesMaster1.xml" Id="R3b2b88536e3b41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67182f26f44010" /><Relationship Type="http://schemas.openxmlformats.org/officeDocument/2006/relationships/notesMaster" Target="/ppt/notesMasters/notesMaster1.xml" Id="Rc953bb3c27c34d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756b331610415f" /><Relationship Type="http://schemas.openxmlformats.org/officeDocument/2006/relationships/notesMaster" Target="/ppt/notesMasters/notesMaster1.xml" Id="R2fae2b2e0c0f44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d0bf2771ae4b0a" /><Relationship Type="http://schemas.openxmlformats.org/officeDocument/2006/relationships/notesMaster" Target="/ppt/notesMasters/notesMaster1.xml" Id="R6ec4cba31f7a4b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97e36f46054e66" /><Relationship Type="http://schemas.openxmlformats.org/officeDocument/2006/relationships/notesMaster" Target="/ppt/notesMasters/notesMaster1.xml" Id="Rc33bcc6882ca47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b32c7a14644fab" /><Relationship Type="http://schemas.openxmlformats.org/officeDocument/2006/relationships/notesMaster" Target="/ppt/notesMasters/notesMaster1.xml" Id="R7ff2ad8006e448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65b2f8f12146ec" /><Relationship Type="http://schemas.openxmlformats.org/officeDocument/2006/relationships/notesMaster" Target="/ppt/notesMasters/notesMaster1.xml" Id="R6d2e77f6b1004f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0127122cac4357" /><Relationship Type="http://schemas.openxmlformats.org/officeDocument/2006/relationships/notesMaster" Target="/ppt/notesMasters/notesMaster1.xml" Id="R5e32eee085cd48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b91ead3e828450c" /><Relationship Type="http://schemas.openxmlformats.org/officeDocument/2006/relationships/notesMaster" Target="/ppt/notesMasters/notesMaster1.xml" Id="R7dcbbc0ac71745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eec4e98a894922" /><Relationship Type="http://schemas.openxmlformats.org/officeDocument/2006/relationships/notesMaster" Target="/ppt/notesMasters/notesMaster1.xml" Id="R23d904de042c49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19263ef08f4a35" /><Relationship Type="http://schemas.openxmlformats.org/officeDocument/2006/relationships/notesMaster" Target="/ppt/notesMasters/notesMaster1.xml" Id="R792882e8410a479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06028ce5c94888" /><Relationship Type="http://schemas.openxmlformats.org/officeDocument/2006/relationships/notesMaster" Target="/ppt/notesMasters/notesMaster1.xml" Id="R3b7524acd29a47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e41c603b4d4f37" /><Relationship Type="http://schemas.openxmlformats.org/officeDocument/2006/relationships/notesMaster" Target="/ppt/notesMasters/notesMaster1.xml" Id="R1f3cc7a578fc40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2db91142ea48e4" /><Relationship Type="http://schemas.openxmlformats.org/officeDocument/2006/relationships/notesMaster" Target="/ppt/notesMasters/notesMaster1.xml" Id="R6d0a27563dc746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418d50945264fe1" /><Relationship Type="http://schemas.openxmlformats.org/officeDocument/2006/relationships/notesMaster" Target="/ppt/notesMasters/notesMaster1.xml" Id="R60dab76ecfc14c1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2d7a948b4174a96" /><Relationship Type="http://schemas.openxmlformats.org/officeDocument/2006/relationships/notesMaster" Target="/ppt/notesMasters/notesMaster1.xml" Id="R5f1df6fef07844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2a2f0e4f574105" /><Relationship Type="http://schemas.openxmlformats.org/officeDocument/2006/relationships/notesMaster" Target="/ppt/notesMasters/notesMaster1.xml" Id="R8cb730a9919047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28af6cdc984daa" /><Relationship Type="http://schemas.openxmlformats.org/officeDocument/2006/relationships/notesMaster" Target="/ppt/notesMasters/notesMaster1.xml" Id="R6c5a8433a55842f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61750bb6d8422f" /><Relationship Type="http://schemas.openxmlformats.org/officeDocument/2006/relationships/notesMaster" Target="/ppt/notesMasters/notesMaster1.xml" Id="R3b5ace5e7a1442e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2b594250f044549" /><Relationship Type="http://schemas.openxmlformats.org/officeDocument/2006/relationships/notesMaster" Target="/ppt/notesMasters/notesMaster1.xml" Id="Rd4aaa7baec984b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7633c4773c34194" /><Relationship Type="http://schemas.openxmlformats.org/officeDocument/2006/relationships/notesMaster" Target="/ppt/notesMasters/notesMaster1.xml" Id="R3f83fa784968485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9876fad7384b29" /><Relationship Type="http://schemas.openxmlformats.org/officeDocument/2006/relationships/notesMaster" Target="/ppt/notesMasters/notesMaster1.xml" Id="R78409135636c4bf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195ae93681343f2" /><Relationship Type="http://schemas.openxmlformats.org/officeDocument/2006/relationships/notesMaster" Target="/ppt/notesMasters/notesMaster1.xml" Id="R203915f43bec42b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76a0e3bd2684fa9" /><Relationship Type="http://schemas.openxmlformats.org/officeDocument/2006/relationships/notesMaster" Target="/ppt/notesMasters/notesMaster1.xml" Id="Rd399be00db3a44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01 — Tổng quan</a:t>
            </a:r>
          </a:p>
          <a:p xmlns:a="http://schemas.openxmlformats.org/drawingml/2006/main">
            <a:r>
              <a:t/>
            </a:r>
          </a:p>
          <a:p xmlns:a="http://schemas.openxmlformats.org/drawingml/2006/main">
            <a:r>
              <a:t>NGUỒN ĐỐI CHIẾU</a:t>
            </a:r>
          </a:p>
          <a:p xmlns:a="http://schemas.openxmlformats.org/drawingml/2006/main">
            <a:r>
              <a:t>BaiTapTopic04.docx; README và báo cáo Lab01–Lab06</a:t>
            </a:r>
          </a:p>
          <a:p xmlns:a="http://schemas.openxmlformats.org/drawingml/2006/main">
            <a:r>
              <a:t/>
            </a:r>
          </a:p>
          <a:p xmlns:a="http://schemas.openxmlformats.org/drawingml/2006/main">
            <a:r>
              <a:t>GỢI Ý THUYẾT TRÌNH</a:t>
            </a:r>
          </a:p>
          <a:p xmlns:a="http://schemas.openxmlformats.org/drawingml/2006/main">
            <a:r>
              <a:t>Mở đầu bằng luận điểm: sáu lỗi khác tên nhưng đều xuất hiện khi ứng dụng đặt niềm tin sai chỗ ở một ranh giới dữ liệu.</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02 — Tổng quan</a:t>
            </a:r>
          </a:p>
          <a:p xmlns:a="http://schemas.openxmlformats.org/drawingml/2006/main">
            <a:r>
              <a:t/>
            </a:r>
          </a:p>
          <a:p xmlns:a="http://schemas.openxmlformats.org/drawingml/2006/main">
            <a:r>
              <a:t>NGUỒN ĐỐI CHIẾU</a:t>
            </a:r>
          </a:p>
          <a:p xmlns:a="http://schemas.openxmlformats.org/drawingml/2006/main">
            <a:r>
              <a:t>BaiTapTopic04.docx · quy định an toàn chung; app/source của sáu lab</a:t>
            </a:r>
          </a:p>
          <a:p xmlns:a="http://schemas.openxmlformats.org/drawingml/2006/main">
            <a:r>
              <a:t/>
            </a:r>
          </a:p>
          <a:p xmlns:a="http://schemas.openxmlformats.org/drawingml/2006/main">
            <a:r>
              <a:t>GỢI Ý THUYẾT TRÌNH</a:t>
            </a:r>
          </a:p>
          <a:p xmlns:a="http://schemas.openxmlformats.org/drawingml/2006/main">
            <a:r>
              <a:t>Dùng vòng đời dữ liệu làm khung đọc. Mọi thực hành chỉ diễn ra trong môi trường local hoặc nền tảng học tập hợp pháp; tuyệt đối không thử trên hệ thống thật.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03 — Lab01</a:t>
            </a:r>
          </a:p>
          <a:p xmlns:a="http://schemas.openxmlformats.org/drawingml/2006/main">
            <a:r>
              <a:t/>
            </a:r>
          </a:p>
          <a:p xmlns:a="http://schemas.openxmlformats.org/drawingml/2006/main">
            <a:r>
              <a:t>NGUỒN ĐỐI CHIẾU</a:t>
            </a:r>
          </a:p>
          <a:p xmlns:a="http://schemas.openxmlformats.org/drawingml/2006/main">
            <a:r>
              <a:t>Lab01/app.py; Lab01/static/js/dom_vulnerable.js; report Lab01</a:t>
            </a:r>
          </a:p>
          <a:p xmlns:a="http://schemas.openxmlformats.org/drawingml/2006/main">
            <a:r>
              <a:t/>
            </a:r>
          </a:p>
          <a:p xmlns:a="http://schemas.openxmlformats.org/drawingml/2006/main">
            <a:r>
              <a:t>GỢI Ý THUYẾT TRÌNH</a:t>
            </a:r>
          </a:p>
          <a:p xmlns:a="http://schemas.openxmlformats.org/drawingml/2006/main">
            <a:r>
              <a:t>Nhấn mạnh Stored nguy hiểm hơn vì payload tồn tại và phát lại cho nhiều nạn nhân. DOM XSS vẫn là XSS dù lỗi hoàn toàn ở client.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04 — Lab01</a:t>
            </a:r>
          </a:p>
          <a:p xmlns:a="http://schemas.openxmlformats.org/drawingml/2006/main">
            <a:r>
              <a:t/>
            </a:r>
          </a:p>
          <a:p xmlns:a="http://schemas.openxmlformats.org/drawingml/2006/main">
            <a:r>
              <a:t>NGUỒN ĐỐI CHIẾU</a:t>
            </a:r>
          </a:p>
          <a:p xmlns:a="http://schemas.openxmlformats.org/drawingml/2006/main">
            <a:r>
              <a:t>Lab01/app.py routes /vulnerable/search và /vulnerable/post/1/comments</a:t>
            </a:r>
          </a:p>
          <a:p xmlns:a="http://schemas.openxmlformats.org/drawingml/2006/main">
            <a:r>
              <a:t/>
            </a:r>
          </a:p>
          <a:p xmlns:a="http://schemas.openxmlformats.org/drawingml/2006/main">
            <a:r>
              <a:t>GỢI Ý THUYẾT TRÌNH</a:t>
            </a:r>
          </a:p>
          <a:p xmlns:a="http://schemas.openxmlformats.org/drawingml/2006/main">
            <a:r>
              <a:t>Bắt đầu bằng baseline chuỗi thường, quan sát HTML, rồi mới gửi payload alert an toàn. Với Stored, reload hoặc dùng user khác để xác nhận dữ liệu đã lưu phát lại.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05 — Lab01</a:t>
            </a:r>
          </a:p>
          <a:p xmlns:a="http://schemas.openxmlformats.org/drawingml/2006/main">
            <a:r>
              <a:t/>
            </a:r>
          </a:p>
          <a:p xmlns:a="http://schemas.openxmlformats.org/drawingml/2006/main">
            <a:r>
              <a:t>NGUỒN ĐỐI CHIẾU</a:t>
            </a:r>
          </a:p>
          <a:p xmlns:a="http://schemas.openxmlformats.org/drawingml/2006/main">
            <a:r>
              <a:t>Lab01/static/js/dom_vulnerable.js; Lab01/static/js/dom_secure.js</a:t>
            </a:r>
          </a:p>
          <a:p xmlns:a="http://schemas.openxmlformats.org/drawingml/2006/main">
            <a:r>
              <a:t/>
            </a:r>
          </a:p>
          <a:p xmlns:a="http://schemas.openxmlformats.org/drawingml/2006/main">
            <a:r>
              <a:t>GỢI Ý THUYẾT TRÌNH</a:t>
            </a:r>
          </a:p>
          <a:p xmlns:a="http://schemas.openxmlformats.org/drawingml/2006/main">
            <a:r>
              <a:t>Đối chiếu đúng một dòng innerHTML và textContent. Fragment là source; DOM API là sink; server có thể không hề nhìn thấy payload.</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06 — Lab01</a:t>
            </a:r>
          </a:p>
          <a:p xmlns:a="http://schemas.openxmlformats.org/drawingml/2006/main">
            <a:r>
              <a:t/>
            </a:r>
          </a:p>
          <a:p xmlns:a="http://schemas.openxmlformats.org/drawingml/2006/main">
            <a:r>
              <a:t>NGUỒN ĐỐI CHIẾU</a:t>
            </a:r>
          </a:p>
          <a:p xmlns:a="http://schemas.openxmlformats.org/drawingml/2006/main">
            <a:r>
              <a:t>Lab01/app.py secure routes; bleach.clean; CSP; static/js/dom_secure.js</a:t>
            </a:r>
          </a:p>
          <a:p xmlns:a="http://schemas.openxmlformats.org/drawingml/2006/main">
            <a:r>
              <a:t/>
            </a:r>
          </a:p>
          <a:p xmlns:a="http://schemas.openxmlformats.org/drawingml/2006/main">
            <a:r>
              <a:t>GỢI Ý THUYẾT TRÌNH</a:t>
            </a:r>
          </a:p>
          <a:p xmlns:a="http://schemas.openxmlformats.org/drawingml/2006/main">
            <a:r>
              <a:t>Phân biệt bản vá nguyên nhân gốc với lớp bổ sung. Contextual encoding phải đúng bốn ngữ cảnh HTML, JavaScript, URL và Attribute.</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07 — Lab01</a:t>
            </a:r>
          </a:p>
          <a:p xmlns:a="http://schemas.openxmlformats.org/drawingml/2006/main">
            <a:r>
              <a:t/>
            </a:r>
          </a:p>
          <a:p xmlns:a="http://schemas.openxmlformats.org/drawingml/2006/main">
            <a:r>
              <a:t>NGUỒN ĐỐI CHIẾU</a:t>
            </a:r>
          </a:p>
          <a:p xmlns:a="http://schemas.openxmlformats.org/drawingml/2006/main">
            <a:r>
              <a:t>BaiTapTopic04.docx; report 21127645_LeMinh_Lab01_XSS.docx</a:t>
            </a:r>
          </a:p>
          <a:p xmlns:a="http://schemas.openxmlformats.org/drawingml/2006/main">
            <a:r>
              <a:t/>
            </a:r>
          </a:p>
          <a:p xmlns:a="http://schemas.openxmlformats.org/drawingml/2006/main">
            <a:r>
              <a:t>GỢI Ý THUYẾT TRÌNH</a:t>
            </a:r>
          </a:p>
          <a:p xmlns:a="http://schemas.openxmlformats.org/drawingml/2006/main">
            <a:r>
              <a:t>Dùng slide như checklist trả lời báo cáo. Bằng chứng phải cho thấy cả vulnerable và secure, không chỉ popup alert.</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08 — Lab02</a:t>
            </a:r>
          </a:p>
          <a:p xmlns:a="http://schemas.openxmlformats.org/drawingml/2006/main">
            <a:r>
              <a:t/>
            </a:r>
          </a:p>
          <a:p xmlns:a="http://schemas.openxmlformats.org/drawingml/2006/main">
            <a:r>
              <a:t>NGUỒN ĐỐI CHIẾU</a:t>
            </a:r>
          </a:p>
          <a:p xmlns:a="http://schemas.openxmlformats.org/drawingml/2006/main">
            <a:r>
              <a:t>Lab02/app.py; Lab02/native_runner.py; Lab02/native/vulnerable_processor.c</a:t>
            </a:r>
          </a:p>
          <a:p xmlns:a="http://schemas.openxmlformats.org/drawingml/2006/main">
            <a:r>
              <a:t/>
            </a:r>
          </a:p>
          <a:p xmlns:a="http://schemas.openxmlformats.org/drawingml/2006/main">
            <a:r>
              <a:t>GỢI Ý THUYẾT TRÌNH</a:t>
            </a:r>
          </a:p>
          <a:p xmlns:a="http://schemas.openxmlformats.org/drawingml/2006/main">
            <a:r>
              <a:t>Giải thích tại sao một request web bình thường vẫn kích hoạt bug native. Scope lab dừng ở crash/quan sát bộ nhớ, không chuyển sang khai thác thực chiến.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09 — Lab02</a:t>
            </a:r>
          </a:p>
          <a:p xmlns:a="http://schemas.openxmlformats.org/drawingml/2006/main">
            <a:r>
              <a:t/>
            </a:r>
          </a:p>
          <a:p xmlns:a="http://schemas.openxmlformats.org/drawingml/2006/main">
            <a:r>
              <a:t>NGUỒN ĐỐI CHIẾU</a:t>
            </a:r>
          </a:p>
          <a:p xmlns:a="http://schemas.openxmlformats.org/drawingml/2006/main">
            <a:r>
              <a:t>Lab02/native/vulnerable_processor.c; NAME_BUFFER_SIZE=32</a:t>
            </a:r>
          </a:p>
          <a:p xmlns:a="http://schemas.openxmlformats.org/drawingml/2006/main">
            <a:r>
              <a:t/>
            </a:r>
          </a:p>
          <a:p xmlns:a="http://schemas.openxmlformats.org/drawingml/2006/main">
            <a:r>
              <a:t>GỢI Ý THUYẾT TRÌNH</a:t>
            </a:r>
          </a:p>
          <a:p xmlns:a="http://schemas.openxmlformats.org/drawingml/2006/main">
            <a:r>
              <a:t>Không nói 32 ký tự dữ liệu hợp lệ: chuỗi C cần byte null. Hậu quả là undefined behavior, có thể crash hoặc phá hỏng control data.</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Lab02</a:t>
            </a:r>
          </a:p>
          <a:p xmlns:a="http://schemas.openxmlformats.org/drawingml/2006/main">
            <a:r>
              <a:t/>
            </a:r>
          </a:p>
          <a:p xmlns:a="http://schemas.openxmlformats.org/drawingml/2006/main">
            <a:r>
              <a:t>NGUỒN ĐỐI CHIẾU</a:t>
            </a:r>
          </a:p>
          <a:p xmlns:a="http://schemas.openxmlformats.org/drawingml/2006/main">
            <a:r>
              <a:t>Lab02/README.md; Lab02/gdb/README_GDB.md; screenshot manifest</a:t>
            </a:r>
          </a:p>
          <a:p xmlns:a="http://schemas.openxmlformats.org/drawingml/2006/main">
            <a:r>
              <a:t/>
            </a:r>
          </a:p>
          <a:p xmlns:a="http://schemas.openxmlformats.org/drawingml/2006/main">
            <a:r>
              <a:t>GỢI Ý THUYẾT TRÌNH</a:t>
            </a:r>
          </a:p>
          <a:p xmlns:a="http://schemas.openxmlformats.org/drawingml/2006/main">
            <a:r>
              <a:t>Ảnh GDB/ASan phải cho thấy crash location, stack state và input length gây lỗi. Hai ảnh còn lại chứng minh payload thật và secure_length từ chối cùng độ dài.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Lab02</a:t>
            </a:r>
          </a:p>
          <a:p xmlns:a="http://schemas.openxmlformats.org/drawingml/2006/main">
            <a:r>
              <a:t/>
            </a:r>
          </a:p>
          <a:p xmlns:a="http://schemas.openxmlformats.org/drawingml/2006/main">
            <a:r>
              <a:t>NGUỒN ĐỐI CHIẾU</a:t>
            </a:r>
          </a:p>
          <a:p xmlns:a="http://schemas.openxmlformats.org/drawingml/2006/main">
            <a:r>
              <a:t>Lab02/native/secure_length_processor.c; secure_snprintf_processor.c; Lab02/config.py</a:t>
            </a:r>
          </a:p>
          <a:p xmlns:a="http://schemas.openxmlformats.org/drawingml/2006/main">
            <a:r>
              <a:t/>
            </a:r>
          </a:p>
          <a:p xmlns:a="http://schemas.openxmlformats.org/drawingml/2006/main">
            <a:r>
              <a:t>GỢI Ý THUYẾT TRÌNH</a:t>
            </a:r>
          </a:p>
          <a:p xmlns:a="http://schemas.openxmlformats.org/drawingml/2006/main">
            <a:r>
              <a:t>Request limit và input limit web vẫn lớn hơn buffer native; vì vậy phải giữ invariant ngay tại boundary gọi code C.</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Lab02</a:t>
            </a:r>
          </a:p>
          <a:p xmlns:a="http://schemas.openxmlformats.org/drawingml/2006/main">
            <a:r>
              <a:t/>
            </a:r>
          </a:p>
          <a:p xmlns:a="http://schemas.openxmlformats.org/drawingml/2006/main">
            <a:r>
              <a:t>NGUỒN ĐỐI CHIẾU</a:t>
            </a:r>
          </a:p>
          <a:p xmlns:a="http://schemas.openxmlformats.org/drawingml/2006/main">
            <a:r>
              <a:t>Lab02/Makefile; BaiTapTopic04.docx; report Lab02</a:t>
            </a:r>
          </a:p>
          <a:p xmlns:a="http://schemas.openxmlformats.org/drawingml/2006/main">
            <a:r>
              <a:t/>
            </a:r>
          </a:p>
          <a:p xmlns:a="http://schemas.openxmlformats.org/drawingml/2006/main">
            <a:r>
              <a:t>GỢI Ý THUYẾT TRÌNH</a:t>
            </a:r>
          </a:p>
          <a:p xmlns:a="http://schemas.openxmlformats.org/drawingml/2006/main">
            <a:r>
              <a:t>Trả lời trực tiếp năm câu hỏi báo cáo. Nhấn mạnh ASLR/NX/Canary có thể biến khai thác thành crash nhưng không làm strcpy an toàn.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Lab03</a:t>
            </a:r>
          </a:p>
          <a:p xmlns:a="http://schemas.openxmlformats.org/drawingml/2006/main">
            <a:r>
              <a:t/>
            </a:r>
          </a:p>
          <a:p xmlns:a="http://schemas.openxmlformats.org/drawingml/2006/main">
            <a:r>
              <a:t>NGUỒN ĐỐI CHIẾU</a:t>
            </a:r>
          </a:p>
          <a:p xmlns:a="http://schemas.openxmlformats.org/drawingml/2006/main">
            <a:r>
              <a:t>Lab03/app.py; Lab03/services.py; Lab03/authorization.py</a:t>
            </a:r>
          </a:p>
          <a:p xmlns:a="http://schemas.openxmlformats.org/drawingml/2006/main">
            <a:r>
              <a:t/>
            </a:r>
          </a:p>
          <a:p xmlns:a="http://schemas.openxmlformats.org/drawingml/2006/main">
            <a:r>
              <a:t>GỢI Ý THUYẾT TRÌNH</a:t>
            </a:r>
          </a:p>
          <a:p xmlns:a="http://schemas.openxmlformats.org/drawingml/2006/main">
            <a:r>
              <a:t>Tách validation kiểu/range khỏi authorization nghiệp vụ. Một integer đúng cú pháp vẫn có thể là object của người khác hoặc giá không hợp lệ.</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Lab03</a:t>
            </a:r>
          </a:p>
          <a:p xmlns:a="http://schemas.openxmlformats.org/drawingml/2006/main">
            <a:r>
              <a:t/>
            </a:r>
          </a:p>
          <a:p xmlns:a="http://schemas.openxmlformats.org/drawingml/2006/main">
            <a:r>
              <a:t>NGUỒN ĐỐI CHIẾU</a:t>
            </a:r>
          </a:p>
          <a:p xmlns:a="http://schemas.openxmlformats.org/drawingml/2006/main">
            <a:r>
              <a:t>Lab03/services.py vulnerable_checkout/secure_checkout; seed product 5 price 100000</a:t>
            </a:r>
          </a:p>
          <a:p xmlns:a="http://schemas.openxmlformats.org/drawingml/2006/main">
            <a:r>
              <a:t/>
            </a:r>
          </a:p>
          <a:p xmlns:a="http://schemas.openxmlformats.org/drawingml/2006/main">
            <a:r>
              <a:t>GỢI Ý THUYẾT TRÌNH</a:t>
            </a:r>
          </a:p>
          <a:p xmlns:a="http://schemas.openxmlformats.org/drawingml/2006/main">
            <a:r>
              <a:t>Dùng cùng product_id=5, quantity=1 để đối chiếu. Client price chỉ là gợi ý hiển thị; quyết định tài chính phải dựa trên dữ liệu authoritative ở server.</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Lab03</a:t>
            </a:r>
          </a:p>
          <a:p xmlns:a="http://schemas.openxmlformats.org/drawingml/2006/main">
            <a:r>
              <a:t/>
            </a:r>
          </a:p>
          <a:p xmlns:a="http://schemas.openxmlformats.org/drawingml/2006/main">
            <a:r>
              <a:t>NGUỒN ĐỐI CHIẾU</a:t>
            </a:r>
          </a:p>
          <a:p xmlns:a="http://schemas.openxmlformats.org/drawingml/2006/main">
            <a:r>
              <a:t>Lab03/authorization.py authorize_invoice; seed invoices 1001/1002</a:t>
            </a:r>
          </a:p>
          <a:p xmlns:a="http://schemas.openxmlformats.org/drawingml/2006/main">
            <a:r>
              <a:t/>
            </a:r>
          </a:p>
          <a:p xmlns:a="http://schemas.openxmlformats.org/drawingml/2006/main">
            <a:r>
              <a:t>GỢI Ý THUYẾT TRÌNH</a:t>
            </a:r>
          </a:p>
          <a:p xmlns:a="http://schemas.openxmlformats.org/drawingml/2006/main">
            <a:r>
              <a:t>IDOR thuộc Broken Access Control. Route secure phải kiểm tra ownership theo session identity hoặc quyền admin trước khi trả dữ liệu.</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Lab03</a:t>
            </a:r>
          </a:p>
          <a:p xmlns:a="http://schemas.openxmlformats.org/drawingml/2006/main">
            <a:r>
              <a:t/>
            </a:r>
          </a:p>
          <a:p xmlns:a="http://schemas.openxmlformats.org/drawingml/2006/main">
            <a:r>
              <a:t>NGUỒN ĐỐI CHIẾU</a:t>
            </a:r>
          </a:p>
          <a:p xmlns:a="http://schemas.openxmlformats.org/drawingml/2006/main">
            <a:r>
              <a:t>Lab03/services.py vulnerable_profile/secure_profile; authorization.py</a:t>
            </a:r>
          </a:p>
          <a:p xmlns:a="http://schemas.openxmlformats.org/drawingml/2006/main">
            <a:r>
              <a:t/>
            </a:r>
          </a:p>
          <a:p xmlns:a="http://schemas.openxmlformats.org/drawingml/2006/main">
            <a:r>
              <a:t>GỢI Ý THUYẾT TRÌNH</a:t>
            </a:r>
          </a:p>
          <a:p xmlns:a="http://schemas.openxmlformats.org/drawingml/2006/main">
            <a:r>
              <a:t>Không chỉ blacklist role: dùng allowlist field cập nhật và identity từ session. Field nhạy cảm phải có command/route riêng với policy rõ ràng.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Lab03</a:t>
            </a:r>
          </a:p>
          <a:p xmlns:a="http://schemas.openxmlformats.org/drawingml/2006/main">
            <a:r>
              <a:t/>
            </a:r>
          </a:p>
          <a:p xmlns:a="http://schemas.openxmlformats.org/drawingml/2006/main">
            <a:r>
              <a:t>NGUỒN ĐỐI CHIẾU</a:t>
            </a:r>
          </a:p>
          <a:p xmlns:a="http://schemas.openxmlformats.org/drawingml/2006/main">
            <a:r>
              <a:t>BaiTapTopic04.docx; report Lab03; source services/authorization</a:t>
            </a:r>
          </a:p>
          <a:p xmlns:a="http://schemas.openxmlformats.org/drawingml/2006/main">
            <a:r>
              <a:t/>
            </a:r>
          </a:p>
          <a:p xmlns:a="http://schemas.openxmlformats.org/drawingml/2006/main">
            <a:r>
              <a:t>GỢI Ý THUYẾT TRÌNH</a:t>
            </a:r>
          </a:p>
          <a:p xmlns:a="http://schemas.openxmlformats.org/drawingml/2006/main">
            <a:r>
              <a:t>Trả lời năm câu hỏi bắt buộc và nối mỗi scenario với đúng control authoritative, không dừng ở validation định dạng.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Lab04</a:t>
            </a:r>
          </a:p>
          <a:p xmlns:a="http://schemas.openxmlformats.org/drawingml/2006/main">
            <a:r>
              <a:t/>
            </a:r>
          </a:p>
          <a:p xmlns:a="http://schemas.openxmlformats.org/drawingml/2006/main">
            <a:r>
              <a:t>NGUỒN ĐỐI CHIẾU</a:t>
            </a:r>
          </a:p>
          <a:p xmlns:a="http://schemas.openxmlformats.org/drawingml/2006/main">
            <a:r>
              <a:t>Lab04/victim_app.py; attacker_app.py; report Lab04</a:t>
            </a:r>
          </a:p>
          <a:p xmlns:a="http://schemas.openxmlformats.org/drawingml/2006/main">
            <a:r>
              <a:t/>
            </a:r>
          </a:p>
          <a:p xmlns:a="http://schemas.openxmlformats.org/drawingml/2006/main">
            <a:r>
              <a:t>GỢI Ý THUYẾT TRÌNH</a:t>
            </a:r>
          </a:p>
          <a:p xmlns:a="http://schemas.openxmlformats.org/drawingml/2006/main">
            <a:r>
              <a:t>Phân biệt CSRF và XSS: CSRF khiến browser gửi request có credential; XSS chạy code trong origin nạn nhân. SOP không ngăn gửi form cross-origin.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Lab04</a:t>
            </a:r>
          </a:p>
          <a:p xmlns:a="http://schemas.openxmlformats.org/drawingml/2006/main">
            <a:r>
              <a:t/>
            </a:r>
          </a:p>
          <a:p xmlns:a="http://schemas.openxmlformats.org/drawingml/2006/main">
            <a:r>
              <a:t>NGUỒN ĐỐI CHIẾU</a:t>
            </a:r>
          </a:p>
          <a:p xmlns:a="http://schemas.openxmlformats.org/drawingml/2006/main">
            <a:r>
              <a:t>Lab04/attacker_templates/attack_page.html; victim_app.vulnerable_change_email</a:t>
            </a:r>
          </a:p>
          <a:p xmlns:a="http://schemas.openxmlformats.org/drawingml/2006/main">
            <a:r>
              <a:t/>
            </a:r>
          </a:p>
          <a:p xmlns:a="http://schemas.openxmlformats.org/drawingml/2006/main">
            <a:r>
              <a:t>GỢI Ý THUYẾT TRÌNH</a:t>
            </a:r>
          </a:p>
          <a:p xmlns:a="http://schemas.openxmlformats.org/drawingml/2006/main">
            <a:r>
              <a:t>Trang attacker tự submit form local. Chỉ thực hiện trên hai origin localhost đã cấu hình.</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Lab04</a:t>
            </a:r>
          </a:p>
          <a:p xmlns:a="http://schemas.openxmlformats.org/drawingml/2006/main">
            <a:r>
              <a:t/>
            </a:r>
          </a:p>
          <a:p xmlns:a="http://schemas.openxmlformats.org/drawingml/2006/main">
            <a:r>
              <a:t>NGUỒN ĐỐI CHIẾU</a:t>
            </a:r>
          </a:p>
          <a:p xmlns:a="http://schemas.openxmlformats.org/drawingml/2006/main">
            <a:r>
              <a:t>Lab04/victim_app.py; csrf_service.py; origin_service.py</a:t>
            </a:r>
          </a:p>
          <a:p xmlns:a="http://schemas.openxmlformats.org/drawingml/2006/main">
            <a:r>
              <a:t/>
            </a:r>
          </a:p>
          <a:p xmlns:a="http://schemas.openxmlformats.org/drawingml/2006/main">
            <a:r>
              <a:t>GỢI Ý THUYẾT TRÌNH</a:t>
            </a:r>
          </a:p>
          <a:p xmlns:a="http://schemas.openxmlformats.org/drawingml/2006/main">
            <a:r>
              <a:t>Không hiển thị token thật trong slide/ảnh. Dùng request anatomy để chứng minh vì sao chỉ kiểm session là chưa đủ.</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Lab04</a:t>
            </a:r>
          </a:p>
          <a:p xmlns:a="http://schemas.openxmlformats.org/drawingml/2006/main">
            <a:r>
              <a:t/>
            </a:r>
          </a:p>
          <a:p xmlns:a="http://schemas.openxmlformats.org/drawingml/2006/main">
            <a:r>
              <a:t>NGUỒN ĐỐI CHIẾU</a:t>
            </a:r>
          </a:p>
          <a:p xmlns:a="http://schemas.openxmlformats.org/drawingml/2006/main">
            <a:r>
              <a:t>Lab04/csrf_service.py secrets.token_urlsafe(32), hmac.compare_digest; origin allowlist</a:t>
            </a:r>
          </a:p>
          <a:p xmlns:a="http://schemas.openxmlformats.org/drawingml/2006/main">
            <a:r>
              <a:t/>
            </a:r>
          </a:p>
          <a:p xmlns:a="http://schemas.openxmlformats.org/drawingml/2006/main">
            <a:r>
              <a:t>GỢI Ý THUYẾT TRÌNH</a:t>
            </a:r>
          </a:p>
          <a:p xmlns:a="http://schemas.openxmlformats.org/drawingml/2006/main">
            <a:r>
              <a:t>Giải thích defense-in-depth. CAPTCHA không phải lớp chính; GET không được dùng cho state change vì dễ kích hoạt và có thể bị prefetch/cache/log.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Lab04</a:t>
            </a:r>
          </a:p>
          <a:p xmlns:a="http://schemas.openxmlformats.org/drawingml/2006/main">
            <a:r>
              <a:t/>
            </a:r>
          </a:p>
          <a:p xmlns:a="http://schemas.openxmlformats.org/drawingml/2006/main">
            <a:r>
              <a:t>NGUỒN ĐỐI CHIẾU</a:t>
            </a:r>
          </a:p>
          <a:p xmlns:a="http://schemas.openxmlformats.org/drawingml/2006/main">
            <a:r>
              <a:t>BaiTapTopic04.docx; report Lab04; secure/vulnerable routes</a:t>
            </a:r>
          </a:p>
          <a:p xmlns:a="http://schemas.openxmlformats.org/drawingml/2006/main">
            <a:r>
              <a:t/>
            </a:r>
          </a:p>
          <a:p xmlns:a="http://schemas.openxmlformats.org/drawingml/2006/main">
            <a:r>
              <a:t>GỢI Ý THUYẾT TRÌNH</a:t>
            </a:r>
          </a:p>
          <a:p xmlns:a="http://schemas.openxmlformats.org/drawingml/2006/main">
            <a:r>
              <a:t>Slide tổng hợp năm câu hỏi. Bằng chứng sau vá phải cho thấy 403 và trạng thái email không đổi.</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Lab05</a:t>
            </a:r>
          </a:p>
          <a:p xmlns:a="http://schemas.openxmlformats.org/drawingml/2006/main">
            <a:r>
              <a:t/>
            </a:r>
          </a:p>
          <a:p xmlns:a="http://schemas.openxmlformats.org/drawingml/2006/main">
            <a:r>
              <a:t>NGUỒN ĐỐI CHIẾU</a:t>
            </a:r>
          </a:p>
          <a:p xmlns:a="http://schemas.openxmlformats.org/drawingml/2006/main">
            <a:r>
              <a:t>Lab05/vulnerable_queries.py; Lab05/secure_queries.py</a:t>
            </a:r>
          </a:p>
          <a:p xmlns:a="http://schemas.openxmlformats.org/drawingml/2006/main">
            <a:r>
              <a:t/>
            </a:r>
          </a:p>
          <a:p xmlns:a="http://schemas.openxmlformats.org/drawingml/2006/main">
            <a:r>
              <a:t>GỢI Ý THUYẾT TRÌNH</a:t>
            </a:r>
          </a:p>
          <a:p xmlns:a="http://schemas.openxmlformats.org/drawingml/2006/main">
            <a:r>
              <a:t>SQLi không nằm ở dấu nháy đơn tự thân mà ở API xây query. Prepared statement tách cấu trúc SQL khỏi giá trị binding.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Lab05</a:t>
            </a:r>
          </a:p>
          <a:p xmlns:a="http://schemas.openxmlformats.org/drawingml/2006/main">
            <a:r>
              <a:t/>
            </a:r>
          </a:p>
          <a:p xmlns:a="http://schemas.openxmlformats.org/drawingml/2006/main">
            <a:r>
              <a:t>NGUỒN ĐỐI CHIẾU</a:t>
            </a:r>
          </a:p>
          <a:p xmlns:a="http://schemas.openxmlformats.org/drawingml/2006/main">
            <a:r>
              <a:t>Lab05/config.py AUTH_LOGIC_INPUT; vulnerable login route</a:t>
            </a:r>
          </a:p>
          <a:p xmlns:a="http://schemas.openxmlformats.org/drawingml/2006/main">
            <a:r>
              <a:t/>
            </a:r>
          </a:p>
          <a:p xmlns:a="http://schemas.openxmlformats.org/drawingml/2006/main">
            <a:r>
              <a:t>GỢI Ý THUYẾT TRÌNH</a:t>
            </a:r>
          </a:p>
          <a:p xmlns:a="http://schemas.openxmlformats.org/drawingml/2006/main">
            <a:r>
              <a:t>Dùng đúng payload repo. Mục tiêu là thấy transformation của WHERE, không phải mở rộng kỹ thuật khai thác.</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Lab05</a:t>
            </a:r>
          </a:p>
          <a:p xmlns:a="http://schemas.openxmlformats.org/drawingml/2006/main">
            <a:r>
              <a:t/>
            </a:r>
          </a:p>
          <a:p xmlns:a="http://schemas.openxmlformats.org/drawingml/2006/main">
            <a:r>
              <a:t>NGUỒN ĐỐI CHIẾU</a:t>
            </a:r>
          </a:p>
          <a:p xmlns:a="http://schemas.openxmlformats.org/drawingml/2006/main">
            <a:r>
              <a:t>Lab05/config.py SEARCH_EXPANDED_INPUT; vulnerable_queries.py</a:t>
            </a:r>
          </a:p>
          <a:p xmlns:a="http://schemas.openxmlformats.org/drawingml/2006/main">
            <a:r>
              <a:t/>
            </a:r>
          </a:p>
          <a:p xmlns:a="http://schemas.openxmlformats.org/drawingml/2006/main">
            <a:r>
              <a:t>GỢI Ý THUYẾT TRÌNH</a:t>
            </a:r>
          </a:p>
          <a:p xmlns:a="http://schemas.openxmlformats.org/drawingml/2006/main">
            <a:r>
              <a:t>So sánh baseline USB và payload cố định. Không biến demo thành khai thác dữ liệu tùy ý; giữ phạm vi SELECT-only trên dataset lab.</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Lab05</a:t>
            </a:r>
          </a:p>
          <a:p xmlns:a="http://schemas.openxmlformats.org/drawingml/2006/main">
            <a:r>
              <a:t/>
            </a:r>
          </a:p>
          <a:p xmlns:a="http://schemas.openxmlformats.org/drawingml/2006/main">
            <a:r>
              <a:t>NGUỒN ĐỐI CHIẾU</a:t>
            </a:r>
          </a:p>
          <a:p xmlns:a="http://schemas.openxmlformats.org/drawingml/2006/main">
            <a:r>
              <a:t>Lab05/secure_queries.py; auth_service.py; seed PBKDF2 600000</a:t>
            </a:r>
          </a:p>
          <a:p xmlns:a="http://schemas.openxmlformats.org/drawingml/2006/main">
            <a:r>
              <a:t/>
            </a:r>
          </a:p>
          <a:p xmlns:a="http://schemas.openxmlformats.org/drawingml/2006/main">
            <a:r>
              <a:t>GỢI Ý THUYẾT TRÌNH</a:t>
            </a:r>
          </a:p>
          <a:p xmlns:a="http://schemas.openxmlformats.org/drawingml/2006/main">
            <a:r>
              <a:t>Escaping thủ công dễ sai theo dialect/ngữ cảnh. ORM chỉ an toàn khi không quay lại raw string concatenation.</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Lab05</a:t>
            </a:r>
          </a:p>
          <a:p xmlns:a="http://schemas.openxmlformats.org/drawingml/2006/main">
            <a:r>
              <a:t/>
            </a:r>
          </a:p>
          <a:p xmlns:a="http://schemas.openxmlformats.org/drawingml/2006/main">
            <a:r>
              <a:t>NGUỒN ĐỐI CHIẾU</a:t>
            </a:r>
          </a:p>
          <a:p xmlns:a="http://schemas.openxmlformats.org/drawingml/2006/main">
            <a:r>
              <a:t>BaiTapTopic04.docx; report Lab05; secure/vulnerable query source</a:t>
            </a:r>
          </a:p>
          <a:p xmlns:a="http://schemas.openxmlformats.org/drawingml/2006/main">
            <a:r>
              <a:t/>
            </a:r>
          </a:p>
          <a:p xmlns:a="http://schemas.openxmlformats.org/drawingml/2006/main">
            <a:r>
              <a:t>GỢI Ý THUYẾT TRÌNH</a:t>
            </a:r>
          </a:p>
          <a:p xmlns:a="http://schemas.openxmlformats.org/drawingml/2006/main">
            <a:r>
              <a:t>Trả lời năm câu hỏi và nhắc lại retest cùng payload là bằng chứng tốt nhất cho bản vá.</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Lab06</a:t>
            </a:r>
          </a:p>
          <a:p xmlns:a="http://schemas.openxmlformats.org/drawingml/2006/main">
            <a:r>
              <a:t/>
            </a:r>
          </a:p>
          <a:p xmlns:a="http://schemas.openxmlformats.org/drawingml/2006/main">
            <a:r>
              <a:t>NGUỒN ĐỐI CHIẾU</a:t>
            </a:r>
          </a:p>
          <a:p xmlns:a="http://schemas.openxmlformats.org/drawingml/2006/main">
            <a:r>
              <a:t>Lab06/app.py; cookie_service.py; seed.py</a:t>
            </a:r>
          </a:p>
          <a:p xmlns:a="http://schemas.openxmlformats.org/drawingml/2006/main">
            <a:r>
              <a:t/>
            </a:r>
          </a:p>
          <a:p xmlns:a="http://schemas.openxmlformats.org/drawingml/2006/main">
            <a:r>
              <a:t>GỢI Ý THUYẾT TRÌNH</a:t>
            </a:r>
          </a:p>
          <a:p xmlns:a="http://schemas.openxmlformats.org/drawingml/2006/main">
            <a:r>
              <a:t>Cookie flags không làm role client trở thành authoritative. Phân biệt poisoning với hijacking để chọn defense đúng.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Lab06</a:t>
            </a:r>
          </a:p>
          <a:p xmlns:a="http://schemas.openxmlformats.org/drawingml/2006/main">
            <a:r>
              <a:t/>
            </a:r>
          </a:p>
          <a:p xmlns:a="http://schemas.openxmlformats.org/drawingml/2006/main">
            <a:r>
              <a:t>NGUỒN ĐỐI CHIẾU</a:t>
            </a:r>
          </a:p>
          <a:p xmlns:a="http://schemas.openxmlformats.org/drawingml/2006/main">
            <a:r>
              <a:t>Lab06/app.py vulnerable plain cookie; HUONG_DAN_CHUP_ANH.md</a:t>
            </a:r>
          </a:p>
          <a:p xmlns:a="http://schemas.openxmlformats.org/drawingml/2006/main">
            <a:r>
              <a:t/>
            </a:r>
          </a:p>
          <a:p xmlns:a="http://schemas.openxmlformats.org/drawingml/2006/main">
            <a:r>
              <a:t>GỢI Ý THUYẾT TRÌNH</a:t>
            </a:r>
          </a:p>
          <a:p xmlns:a="http://schemas.openxmlformats.org/drawingml/2006/main">
            <a:r>
              <a:t>Dùng tài khoản student và chỉ sửa lab06_role. Không công bố giá trị session hoặc token dài trong ảnh.</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Lab06</a:t>
            </a:r>
          </a:p>
          <a:p xmlns:a="http://schemas.openxmlformats.org/drawingml/2006/main">
            <a:r>
              <a:t/>
            </a:r>
          </a:p>
          <a:p xmlns:a="http://schemas.openxmlformats.org/drawingml/2006/main">
            <a:r>
              <a:t>NGUỒN ĐỐI CHIẾU</a:t>
            </a:r>
          </a:p>
          <a:p xmlns:a="http://schemas.openxmlformats.org/drawingml/2006/main">
            <a:r>
              <a:t>Lab06/base64_cookie_service.py; signed_cookie_service.py; encrypted_cookie_service.py</a:t>
            </a:r>
          </a:p>
          <a:p xmlns:a="http://schemas.openxmlformats.org/drawingml/2006/main">
            <a:r>
              <a:t/>
            </a:r>
          </a:p>
          <a:p xmlns:a="http://schemas.openxmlformats.org/drawingml/2006/main">
            <a:r>
              <a:t>GỢI Ý THUYẾT TRÌNH</a:t>
            </a:r>
          </a:p>
          <a:p xmlns:a="http://schemas.openxmlformats.org/drawingml/2006/main">
            <a:r>
              <a:t>Base64 không có secret và không có MAC. Signed cookie bảo vệ integrity nhưng vẫn lộ payload; encryption mới bảo vệ confidentiality khi triển khai đúng.</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Lab06</a:t>
            </a:r>
          </a:p>
          <a:p xmlns:a="http://schemas.openxmlformats.org/drawingml/2006/main">
            <a:r>
              <a:t/>
            </a:r>
          </a:p>
          <a:p xmlns:a="http://schemas.openxmlformats.org/drawingml/2006/main">
            <a:r>
              <a:t>NGUỒN ĐỐI CHIẾU</a:t>
            </a:r>
          </a:p>
          <a:p xmlns:a="http://schemas.openxmlformats.org/drawingml/2006/main">
            <a:r>
              <a:t>Lab06/server_session_service.py; authorization_service.py; signed cookie BadData handling</a:t>
            </a:r>
          </a:p>
          <a:p xmlns:a="http://schemas.openxmlformats.org/drawingml/2006/main">
            <a:r>
              <a:t/>
            </a:r>
          </a:p>
          <a:p xmlns:a="http://schemas.openxmlformats.org/drawingml/2006/main">
            <a:r>
              <a:t>GỢI Ý THUYẾT TRÌNH</a:t>
            </a:r>
          </a:p>
          <a:p xmlns:a="http://schemas.openxmlformats.org/drawingml/2006/main">
            <a:r>
              <a:t>Rotate khi login, revoke khi logout, và đọc role từ DB ở mỗi quyết định. Trên localhost HTTP, Secure=false là cấu hình demo có chủ đích.</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Lab06</a:t>
            </a:r>
          </a:p>
          <a:p xmlns:a="http://schemas.openxmlformats.org/drawingml/2006/main">
            <a:r>
              <a:t/>
            </a:r>
          </a:p>
          <a:p xmlns:a="http://schemas.openxmlformats.org/drawingml/2006/main">
            <a:r>
              <a:t>NGUỒN ĐỐI CHIẾU</a:t>
            </a:r>
          </a:p>
          <a:p xmlns:a="http://schemas.openxmlformats.org/drawingml/2006/main">
            <a:r>
              <a:t>BaiTapTopic04.docx; report Lab06; cookie/session services</a:t>
            </a:r>
          </a:p>
          <a:p xmlns:a="http://schemas.openxmlformats.org/drawingml/2006/main">
            <a:r>
              <a:t/>
            </a:r>
          </a:p>
          <a:p xmlns:a="http://schemas.openxmlformats.org/drawingml/2006/main">
            <a:r>
              <a:t>GỢI Ý THUYẾT TRÌNH</a:t>
            </a:r>
          </a:p>
          <a:p xmlns:a="http://schemas.openxmlformats.org/drawingml/2006/main">
            <a:r>
              <a:t>Dùng matrix để trả lời câu hỏi về confidentiality, integrity và revocation. Kết luận không đổi: authorization phải dựa vào server state.</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Tổng kết</a:t>
            </a:r>
          </a:p>
          <a:p xmlns:a="http://schemas.openxmlformats.org/drawingml/2006/main">
            <a:r>
              <a:t/>
            </a:r>
          </a:p>
          <a:p xmlns:a="http://schemas.openxmlformats.org/drawingml/2006/main">
            <a:r>
              <a:t>NGUỒN ĐỐI CHIẾU</a:t>
            </a:r>
          </a:p>
          <a:p xmlns:a="http://schemas.openxmlformats.org/drawingml/2006/main">
            <a:r>
              <a:t>BaiTapTopic04.docx · cấu trúc báo cáo 11 mục; toàn bộ source/report</a:t>
            </a:r>
          </a:p>
          <a:p xmlns:a="http://schemas.openxmlformats.org/drawingml/2006/main">
            <a:r>
              <a:t/>
            </a:r>
          </a:p>
          <a:p xmlns:a="http://schemas.openxmlformats.org/drawingml/2006/main">
            <a:r>
              <a:t>GỢI Ý THUYẾT TRÌNH</a:t>
            </a:r>
          </a:p>
          <a:p xmlns:a="http://schemas.openxmlformats.org/drawingml/2006/main">
            <a:r>
              <a:t>Kết lại bằng quy trình bảy bước và cấu trúc báo cáo thống nhất cho cả sáu lab.</a:t>
            </a:r>
          </a:p>
          <a:p xmlns:a="http://schemas.openxmlformats.org/drawingml/2006/main">
            <a:r>
              <a:t/>
            </a:r>
          </a:p>
          <a:p xmlns:a="http://schemas.openxmlformats.org/drawingml/2006/main">
            <a:r>
              <a:t>PHẠM VI</a:t>
            </a:r>
          </a:p>
          <a:p xmlns:a="http://schemas.openxmlformats.org/drawingml/2006/main">
            <a:r>
              <a:t>Chỉ trình diễn trên ứng dụng localhost cố ý có lỗi trong repository Topic04.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ce300a349141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d452b306494ff8" /><Relationship Type="http://schemas.openxmlformats.org/officeDocument/2006/relationships/slideLayout" Target="/ppt/slideLayouts/slideLayout1.xml" Id="R6ae912dcb94546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e912dcb94546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cff3946c8344cc" /><Relationship Type="http://schemas.openxmlformats.org/officeDocument/2006/relationships/notesSlide" Target="/ppt/notesSlides/notesSlide1.xml" Id="R42398ac1166e4f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67d8afbf134f06" /><Relationship Type="http://schemas.openxmlformats.org/officeDocument/2006/relationships/notesSlide" Target="/ppt/notesSlides/notesSlide2.xml" Id="R67e4534288554d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0fe97b0a7f469a" /><Relationship Type="http://schemas.openxmlformats.org/officeDocument/2006/relationships/notesSlide" Target="/ppt/notesSlides/notesSlide3.xml" Id="Rb3afa9352a8b41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9479685368409f" /><Relationship Type="http://schemas.openxmlformats.org/officeDocument/2006/relationships/notesSlide" Target="/ppt/notesSlides/notesSlide4.xml" Id="R4779c9c1f58a4b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f95e77bb0f467e" /><Relationship Type="http://schemas.openxmlformats.org/officeDocument/2006/relationships/notesSlide" Target="/ppt/notesSlides/notesSlide5.xml" Id="R4ed49d8c300345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3c81e347a2417f" /><Relationship Type="http://schemas.openxmlformats.org/officeDocument/2006/relationships/notesSlide" Target="/ppt/notesSlides/notesSlide6.xml" Id="R648530b7878b4c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72fbcf56334232" /><Relationship Type="http://schemas.openxmlformats.org/officeDocument/2006/relationships/notesSlide" Target="/ppt/notesSlides/notesSlide7.xml" Id="Rbe102072703648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d098cd5c9e45aa" /><Relationship Type="http://schemas.openxmlformats.org/officeDocument/2006/relationships/notesSlide" Target="/ppt/notesSlides/notesSlide8.xml" Id="R5144abae63e740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1ab9858f964a58" /><Relationship Type="http://schemas.openxmlformats.org/officeDocument/2006/relationships/notesSlide" Target="/ppt/notesSlides/notesSlide9.xml" Id="R6736756fb4f942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6b24c4c8814e88" /><Relationship Type="http://schemas.openxmlformats.org/officeDocument/2006/relationships/notesSlide" Target="/ppt/notesSlides/notesSlide10.xml" Id="Rffbeeed6fc4249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0bd8f5cca649d8" /><Relationship Type="http://schemas.openxmlformats.org/officeDocument/2006/relationships/notesSlide" Target="/ppt/notesSlides/notesSlide11.xml" Id="R3b5f8de61bee4a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80ab589bed4e63" /><Relationship Type="http://schemas.openxmlformats.org/officeDocument/2006/relationships/notesSlide" Target="/ppt/notesSlides/notesSlide12.xml" Id="R770cf5522b1140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279f03940b4ec3" /><Relationship Type="http://schemas.openxmlformats.org/officeDocument/2006/relationships/notesSlide" Target="/ppt/notesSlides/notesSlide13.xml" Id="R157386267b7145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1c68d665034d11" /><Relationship Type="http://schemas.openxmlformats.org/officeDocument/2006/relationships/notesSlide" Target="/ppt/notesSlides/notesSlide14.xml" Id="R568edd9695fc4d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cb08fd521f4a31" /><Relationship Type="http://schemas.openxmlformats.org/officeDocument/2006/relationships/notesSlide" Target="/ppt/notesSlides/notesSlide15.xml" Id="R94a990fda33f4f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850ed6cd1ee41e9" /><Relationship Type="http://schemas.openxmlformats.org/officeDocument/2006/relationships/notesSlide" Target="/ppt/notesSlides/notesSlide16.xml" Id="R80dae5e8b99a42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09dff809bd8499c" /><Relationship Type="http://schemas.openxmlformats.org/officeDocument/2006/relationships/notesSlide" Target="/ppt/notesSlides/notesSlide17.xml" Id="R52e427bfbbe741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e46f09a3404a81" /><Relationship Type="http://schemas.openxmlformats.org/officeDocument/2006/relationships/notesSlide" Target="/ppt/notesSlides/notesSlide18.xml" Id="R38e70ed45eae4d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0c90036d6aa475a" /><Relationship Type="http://schemas.openxmlformats.org/officeDocument/2006/relationships/notesSlide" Target="/ppt/notesSlides/notesSlide19.xml" Id="Rff532c929acb44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977991d4b545fa" /><Relationship Type="http://schemas.openxmlformats.org/officeDocument/2006/relationships/notesSlide" Target="/ppt/notesSlides/notesSlide20.xml" Id="R54e6f53279f842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250cdb957ab48da" /><Relationship Type="http://schemas.openxmlformats.org/officeDocument/2006/relationships/notesSlide" Target="/ppt/notesSlides/notesSlide21.xml" Id="R1d5266064e8b4f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43c819d6fd4402" /><Relationship Type="http://schemas.openxmlformats.org/officeDocument/2006/relationships/notesSlide" Target="/ppt/notesSlides/notesSlide22.xml" Id="R8d4f1d82a6dd40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857a7380d94de0" /><Relationship Type="http://schemas.openxmlformats.org/officeDocument/2006/relationships/notesSlide" Target="/ppt/notesSlides/notesSlide23.xml" Id="R7065de87bc894b9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e1ab4862634353" /><Relationship Type="http://schemas.openxmlformats.org/officeDocument/2006/relationships/notesSlide" Target="/ppt/notesSlides/notesSlide24.xml" Id="R57ca90ec816046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7519c914ee34562" /><Relationship Type="http://schemas.openxmlformats.org/officeDocument/2006/relationships/notesSlide" Target="/ppt/notesSlides/notesSlide25.xml" Id="Rcb2f9afb967b455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8f6d4fca8994912" /><Relationship Type="http://schemas.openxmlformats.org/officeDocument/2006/relationships/notesSlide" Target="/ppt/notesSlides/notesSlide26.xml" Id="R31ad70fe1a3544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b4d8848998b4253" /><Relationship Type="http://schemas.openxmlformats.org/officeDocument/2006/relationships/notesSlide" Target="/ppt/notesSlides/notesSlide27.xml" Id="Rcdd4e6968b974c0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42a1d61e5e440b2" /><Relationship Type="http://schemas.openxmlformats.org/officeDocument/2006/relationships/notesSlide" Target="/ppt/notesSlides/notesSlide28.xml" Id="Re665587ceba341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05ff50c4be14a57" /><Relationship Type="http://schemas.openxmlformats.org/officeDocument/2006/relationships/notesSlide" Target="/ppt/notesSlides/notesSlide29.xml" Id="Rfae7214569ea4d4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95a76a7be864e23" /><Relationship Type="http://schemas.openxmlformats.org/officeDocument/2006/relationships/notesSlide" Target="/ppt/notesSlides/notesSlide30.xml" Id="Rd108af609243411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59d1099df004c34" /><Relationship Type="http://schemas.openxmlformats.org/officeDocument/2006/relationships/notesSlide" Target="/ppt/notesSlides/notesSlide31.xml" Id="Raad5e9a52dd740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61d984573254e58" /><Relationship Type="http://schemas.openxmlformats.org/officeDocument/2006/relationships/notesSlide" Target="/ppt/notesSlides/notesSlide32.xml" Id="R5b79dba8e4e541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811d441ac684ec4" /><Relationship Type="http://schemas.openxmlformats.org/officeDocument/2006/relationships/notesSlide" Target="/ppt/notesSlides/notesSlide33.xml" Id="Rb618ef3e9b424264" /></Relationships>
</file>

<file path=ppt/slides/slide1.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9" name="S1_FOOTER_RULE">
            <a:extLst xmlns:a="http://schemas.openxmlformats.org/drawingml/2006/main">
              <a:ext uri="{FF2B5EF4-FFF2-40B4-BE49-F238E27FC236}">
                <a16:creationId xmlns:a16="http://schemas.microsoft.com/office/drawing/2014/main" id="{5E1A2D6D-5F6C-4F5E-927D-497D889D27D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S1_SOURCE">
            <a:extLst xmlns:a="http://schemas.openxmlformats.org/drawingml/2006/main">
              <a:ext uri="{FF2B5EF4-FFF2-40B4-BE49-F238E27FC236}">
                <a16:creationId xmlns:a16="http://schemas.microsoft.com/office/drawing/2014/main" id="{28EB4B83-A593-495D-B65E-6ED84AAE6660}"/>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111111"/>
                </a:solidFill>
                <a:latin typeface="Consolas"/>
                <a:ea typeface="Consolas"/>
                <a:cs typeface="Consolas"/>
              </a:defRPr>
            </a:pPr>
            <a:r>
              <a:rPr sz="1425" b="0">
                <a:solidFill>
                  <a:srgbClr val="111111"/>
                </a:solidFill>
                <a:latin typeface="Consolas"/>
                <a:ea typeface="Consolas"/>
                <a:cs typeface="Consolas"/>
              </a:rPr>
              <a:t>NGUỒN  BaiTapTopic04.docx · Lab01–Lab06</a:t>
            </a:r>
          </a:p>
        </p:txBody>
      </p:sp>
      <p:sp>
        <p:nvSpPr>
          <p:cNvPr id="3" name="S1_NUMBER">
            <a:extLst xmlns:a="http://schemas.openxmlformats.org/drawingml/2006/main">
              <a:ext uri="{FF2B5EF4-FFF2-40B4-BE49-F238E27FC236}">
                <a16:creationId xmlns:a16="http://schemas.microsoft.com/office/drawing/2014/main" id="{9D476CEA-62A2-4098-BDA7-13D2D22E37FD}"/>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01</a:t>
            </a:r>
          </a:p>
        </p:txBody>
      </p:sp>
      <p:sp>
        <p:nvSpPr>
          <p:cNvPr id="4" name="S1_KICKER">
            <a:extLst xmlns:a="http://schemas.openxmlformats.org/drawingml/2006/main">
              <a:ext uri="{FF2B5EF4-FFF2-40B4-BE49-F238E27FC236}">
                <a16:creationId xmlns:a16="http://schemas.microsoft.com/office/drawing/2014/main" id="{DAE247F1-D924-4B43-BBF9-F97AFE01C29D}"/>
              </a:ext>
            </a:extLst>
          </p:cNvPr>
          <p:cNvSpPr>
            <a:spLocks xmlns:a="http://schemas.openxmlformats.org/drawingml/2006/main" noGrp="1"/>
          </p:cNvSpPr>
          <p:nvPr/>
        </p:nvSpPr>
        <p:spPr>
          <a:xfrm xmlns:a="http://schemas.openxmlformats.org/drawingml/2006/main">
            <a:off x="533400" y="4000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WEB APPLICATION SECURITY / 06 LABS</a:t>
            </a:r>
          </a:p>
        </p:txBody>
      </p:sp>
      <p:sp>
        <p:nvSpPr>
          <p:cNvPr id="5" name="S1_TITLE">
            <a:extLst xmlns:a="http://schemas.openxmlformats.org/drawingml/2006/main">
              <a:ext uri="{FF2B5EF4-FFF2-40B4-BE49-F238E27FC236}">
                <a16:creationId xmlns:a16="http://schemas.microsoft.com/office/drawing/2014/main" id="{07D26BD0-BE42-4005-B16C-E8C47566E773}"/>
              </a:ext>
            </a:extLst>
          </p:cNvPr>
          <p:cNvSpPr>
            <a:spLocks xmlns:a="http://schemas.openxmlformats.org/drawingml/2006/main" noGrp="1"/>
          </p:cNvSpPr>
          <p:nvPr/>
        </p:nvSpPr>
        <p:spPr>
          <a:xfrm xmlns:a="http://schemas.openxmlformats.org/drawingml/2006/main">
            <a:off x="495300" y="1143000"/>
            <a:ext cx="74295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SÁU CÁCH</a:t>
            </a:r>
          </a:p>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PHÁ VỠ</a:t>
            </a:r>
          </a:p>
          <a:p xmlns:a="http://schemas.openxmlformats.org/drawingml/2006/main">
            <a:pPr algn="l">
              <a:lnSpc>
                <a:spcPct val="100000"/>
              </a:lnSpc>
              <a:buNone/>
              <a:defRPr sz="4800" b="1">
                <a:solidFill>
                  <a:srgbClr val="111111"/>
                </a:solidFill>
                <a:latin typeface="Bahnschrift"/>
                <a:ea typeface="Bahnschrift"/>
                <a:cs typeface="Bahnschrift"/>
              </a:defRPr>
            </a:pPr>
            <a:r>
              <a:rPr sz="4800" b="1">
                <a:solidFill>
                  <a:srgbClr val="111111"/>
                </a:solidFill>
                <a:latin typeface="Bahnschrift"/>
                <a:ea typeface="Bahnschrift"/>
                <a:cs typeface="Bahnschrift"/>
              </a:rPr>
              <a:t>TRUST BOUNDARY</a:t>
            </a:r>
          </a:p>
        </p:txBody>
      </p:sp>
      <p:sp>
        <p:nvSpPr>
          <p:cNvPr id="6" name="S1_VERTICAL">
            <a:extLst xmlns:a="http://schemas.openxmlformats.org/drawingml/2006/main">
              <a:ext uri="{FF2B5EF4-FFF2-40B4-BE49-F238E27FC236}">
                <a16:creationId xmlns:a16="http://schemas.microsoft.com/office/drawing/2014/main" id="{9A8120AE-59B1-478F-BF49-1878B67CE580}"/>
              </a:ext>
            </a:extLst>
          </p:cNvPr>
          <p:cNvSpPr>
            <a:spLocks xmlns:a="http://schemas.openxmlformats.org/drawingml/2006/main" noGrp="1"/>
          </p:cNvSpPr>
          <p:nvPr/>
        </p:nvSpPr>
        <p:spPr>
          <a:xfrm xmlns:a="http://schemas.openxmlformats.org/drawingml/2006/main">
            <a:off x="8458200" y="819150"/>
            <a:ext cx="19050" cy="4953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 name="S1_LABS">
            <a:extLst xmlns:a="http://schemas.openxmlformats.org/drawingml/2006/main">
              <a:ext uri="{FF2B5EF4-FFF2-40B4-BE49-F238E27FC236}">
                <a16:creationId xmlns:a16="http://schemas.microsoft.com/office/drawing/2014/main" id="{22CC960D-B5A9-4281-A99A-7E9A84B3DAA1}"/>
              </a:ext>
            </a:extLst>
          </p:cNvPr>
          <p:cNvSpPr>
            <a:spLocks xmlns:a="http://schemas.openxmlformats.org/drawingml/2006/main" noGrp="1"/>
          </p:cNvSpPr>
          <p:nvPr/>
        </p:nvSpPr>
        <p:spPr>
          <a:xfrm xmlns:a="http://schemas.openxmlformats.org/drawingml/2006/main">
            <a:off x="8858250" y="1219200"/>
            <a:ext cx="266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01  XSS</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02  BUFFER OVERFLOW</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03  PARAMETER TAMPERING</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04  CSRF</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05  SQL INJECTION</a:t>
            </a:r>
          </a:p>
          <a:p xmlns:a="http://schemas.openxmlformats.org/drawingml/2006/main">
            <a:pPr algn="l">
              <a:lnSpc>
                <a:spcPct val="108000"/>
              </a:lnSpc>
              <a:buNone/>
              <a:defRPr sz="1650" b="1">
                <a:solidFill>
                  <a:srgbClr val="111111"/>
                </a:solidFill>
                <a:latin typeface="Consolas"/>
                <a:ea typeface="Consolas"/>
                <a:cs typeface="Consolas"/>
              </a:defRPr>
            </a:pPr>
            <a:r>
              <a:rPr sz="1650" b="1">
                <a:solidFill>
                  <a:srgbClr val="111111"/>
                </a:solidFill>
                <a:latin typeface="Consolas"/>
                <a:ea typeface="Consolas"/>
                <a:cs typeface="Consolas"/>
              </a:rPr>
              <a:t>06  COOKIE POISONING</a:t>
            </a:r>
          </a:p>
        </p:txBody>
      </p:sp>
      <p:sp>
        <p:nvSpPr>
          <p:cNvPr id="8" name="S1_ID">
            <a:extLst xmlns:a="http://schemas.openxmlformats.org/drawingml/2006/main">
              <a:ext uri="{FF2B5EF4-FFF2-40B4-BE49-F238E27FC236}">
                <a16:creationId xmlns:a16="http://schemas.microsoft.com/office/drawing/2014/main" id="{FF2B01BD-F98D-4CE6-8A2C-E66BBAAEBFEB}"/>
              </a:ext>
            </a:extLst>
          </p:cNvPr>
          <p:cNvSpPr>
            <a:spLocks xmlns:a="http://schemas.openxmlformats.org/drawingml/2006/main" noGrp="1"/>
          </p:cNvSpPr>
          <p:nvPr/>
        </p:nvSpPr>
        <p:spPr>
          <a:xfrm xmlns:a="http://schemas.openxmlformats.org/drawingml/2006/main">
            <a:off x="8858250" y="495300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00000"/>
              </a:lnSpc>
              <a:buNone/>
              <a:defRPr sz="1800" b="1">
                <a:solidFill>
                  <a:srgbClr val="111111"/>
                </a:solidFill>
                <a:latin typeface="Consolas"/>
                <a:ea typeface="Consolas"/>
                <a:cs typeface="Consolas"/>
              </a:defRPr>
            </a:pPr>
            <a:r>
              <a:rPr sz="1800" b="1">
                <a:solidFill>
                  <a:srgbClr val="111111"/>
                </a:solidFill>
                <a:latin typeface="Consolas"/>
                <a:ea typeface="Consolas"/>
                <a:cs typeface="Consolas"/>
              </a:rPr>
              <a:t>LÊ MINH</a:t>
            </a:r>
          </a:p>
          <a:p xmlns:a="http://schemas.openxmlformats.org/drawingml/2006/main">
            <a:pPr algn="r">
              <a:lnSpc>
                <a:spcPct val="100000"/>
              </a:lnSpc>
              <a:buNone/>
              <a:defRPr sz="1800" b="1">
                <a:solidFill>
                  <a:srgbClr val="111111"/>
                </a:solidFill>
                <a:latin typeface="Consolas"/>
                <a:ea typeface="Consolas"/>
                <a:cs typeface="Consolas"/>
              </a:defRPr>
            </a:pPr>
            <a:r>
              <a:rPr sz="1800" b="1">
                <a:solidFill>
                  <a:srgbClr val="111111"/>
                </a:solidFill>
                <a:latin typeface="Consolas"/>
                <a:ea typeface="Consolas"/>
                <a:cs typeface="Consolas"/>
              </a:rPr>
              <a:t>21127645</a:t>
            </a:r>
          </a:p>
        </p:txBody>
      </p:sp>
    </p:spTree>
    <p:extLst>
      <p:ext uri="{BB962C8B-B14F-4D97-AF65-F5344CB8AC3E}">
        <p14:creationId xmlns:p14="http://schemas.microsoft.com/office/powerpoint/2010/main" val="114291256"/>
      </p:ext>
    </p:extLst>
  </p:cSld>
</p:sld>
</file>

<file path=ppt/slides/slide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6" name="S2_EYEBROW">
            <a:extLst xmlns:a="http://schemas.openxmlformats.org/drawingml/2006/main">
              <a:ext uri="{FF2B5EF4-FFF2-40B4-BE49-F238E27FC236}">
                <a16:creationId xmlns:a16="http://schemas.microsoft.com/office/drawing/2014/main" id="{57653678-36A2-49CD-BA43-6067A38DEC9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BẢN ĐỒ</a:t>
            </a:r>
          </a:p>
        </p:txBody>
      </p:sp>
      <p:sp>
        <p:nvSpPr>
          <p:cNvPr id="2" name="S2_TITLE">
            <a:extLst xmlns:a="http://schemas.openxmlformats.org/drawingml/2006/main">
              <a:ext uri="{FF2B5EF4-FFF2-40B4-BE49-F238E27FC236}">
                <a16:creationId xmlns:a16="http://schemas.microsoft.com/office/drawing/2014/main" id="{0B7E2E3B-F2E7-44CD-B900-AB7278504B26}"/>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Một vòng đời dữ liệu — sáu điểm gãy</a:t>
            </a:r>
          </a:p>
        </p:txBody>
      </p:sp>
      <p:sp>
        <p:nvSpPr>
          <p:cNvPr id="3" name="S2_SUBTITLE">
            <a:extLst xmlns:a="http://schemas.openxmlformats.org/drawingml/2006/main">
              <a:ext uri="{FF2B5EF4-FFF2-40B4-BE49-F238E27FC236}">
                <a16:creationId xmlns:a16="http://schemas.microsoft.com/office/drawing/2014/main" id="{DACB9223-9D0D-4509-8293-702B31389B65}"/>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Theo dấu dữ liệu từ browser tới quyết định cuối cùng của server hoặc DOM.</a:t>
            </a:r>
          </a:p>
        </p:txBody>
      </p:sp>
      <p:sp>
        <p:nvSpPr>
          <p:cNvPr id="4" name="S2_TITLE_RULE">
            <a:extLst xmlns:a="http://schemas.openxmlformats.org/drawingml/2006/main">
              <a:ext uri="{FF2B5EF4-FFF2-40B4-BE49-F238E27FC236}">
                <a16:creationId xmlns:a16="http://schemas.microsoft.com/office/drawing/2014/main" id="{437D9DA4-F14D-4BDF-8F9F-E80E8FE0046B}"/>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_FOOTER_RULE">
            <a:extLst xmlns:a="http://schemas.openxmlformats.org/drawingml/2006/main">
              <a:ext uri="{FF2B5EF4-FFF2-40B4-BE49-F238E27FC236}">
                <a16:creationId xmlns:a16="http://schemas.microsoft.com/office/drawing/2014/main" id="{694C86CA-FF95-40AC-BCD7-A715A46E2AE3}"/>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_SOURCE">
            <a:extLst xmlns:a="http://schemas.openxmlformats.org/drawingml/2006/main">
              <a:ext uri="{FF2B5EF4-FFF2-40B4-BE49-F238E27FC236}">
                <a16:creationId xmlns:a16="http://schemas.microsoft.com/office/drawing/2014/main" id="{CEE54E04-C471-4971-B5E8-7170B92C6795}"/>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source Lab01–Lab06</a:t>
            </a:r>
          </a:p>
        </p:txBody>
      </p:sp>
      <p:sp>
        <p:nvSpPr>
          <p:cNvPr id="7" name="S2_NUMBER">
            <a:extLst xmlns:a="http://schemas.openxmlformats.org/drawingml/2006/main">
              <a:ext uri="{FF2B5EF4-FFF2-40B4-BE49-F238E27FC236}">
                <a16:creationId xmlns:a16="http://schemas.microsoft.com/office/drawing/2014/main" id="{EDA0A491-999E-47C1-90A7-84F2F85818B7}"/>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02</a:t>
            </a:r>
          </a:p>
        </p:txBody>
      </p:sp>
      <p:sp>
        <p:nvSpPr>
          <p:cNvPr id="8" name="S2_LIFECYCLE_ARROW_1">
            <a:extLst xmlns:a="http://schemas.openxmlformats.org/drawingml/2006/main">
              <a:ext uri="{FF2B5EF4-FFF2-40B4-BE49-F238E27FC236}">
                <a16:creationId xmlns:a16="http://schemas.microsoft.com/office/drawing/2014/main" id="{C2D42AC8-04C9-4BF5-BF87-12F5CE79D260}"/>
              </a:ext>
            </a:extLst>
          </p:cNvPr>
          <p:cNvSpPr>
            <a:spLocks xmlns:a="http://schemas.openxmlformats.org/drawingml/2006/main" noGrp="1"/>
          </p:cNvSpPr>
          <p:nvPr/>
        </p:nvSpPr>
        <p:spPr>
          <a:xfrm xmlns:a="http://schemas.openxmlformats.org/drawingml/2006/main">
            <a:off x="257175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2_LIFECYCLE_ARROW_2">
            <a:extLst xmlns:a="http://schemas.openxmlformats.org/drawingml/2006/main">
              <a:ext uri="{FF2B5EF4-FFF2-40B4-BE49-F238E27FC236}">
                <a16:creationId xmlns:a16="http://schemas.microsoft.com/office/drawing/2014/main" id="{CDC9E7A4-ECFB-4E5C-B5CC-E3250A5C3E22}"/>
              </a:ext>
            </a:extLst>
          </p:cNvPr>
          <p:cNvSpPr>
            <a:spLocks xmlns:a="http://schemas.openxmlformats.org/drawingml/2006/main" noGrp="1"/>
          </p:cNvSpPr>
          <p:nvPr/>
        </p:nvSpPr>
        <p:spPr>
          <a:xfrm xmlns:a="http://schemas.openxmlformats.org/drawingml/2006/main">
            <a:off x="487680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2_LIFECYCLE_ARROW_3">
            <a:extLst xmlns:a="http://schemas.openxmlformats.org/drawingml/2006/main">
              <a:ext uri="{FF2B5EF4-FFF2-40B4-BE49-F238E27FC236}">
                <a16:creationId xmlns:a16="http://schemas.microsoft.com/office/drawing/2014/main" id="{8D0E0FC4-8109-42F6-8812-CC504570C153}"/>
              </a:ext>
            </a:extLst>
          </p:cNvPr>
          <p:cNvSpPr>
            <a:spLocks xmlns:a="http://schemas.openxmlformats.org/drawingml/2006/main" noGrp="1"/>
          </p:cNvSpPr>
          <p:nvPr/>
        </p:nvSpPr>
        <p:spPr>
          <a:xfrm xmlns:a="http://schemas.openxmlformats.org/drawingml/2006/main">
            <a:off x="718185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2_LIFECYCLE_ARROW_4">
            <a:extLst xmlns:a="http://schemas.openxmlformats.org/drawingml/2006/main">
              <a:ext uri="{FF2B5EF4-FFF2-40B4-BE49-F238E27FC236}">
                <a16:creationId xmlns:a16="http://schemas.microsoft.com/office/drawing/2014/main" id="{593DAA33-94D0-4502-8AF6-B5A89A74CD12}"/>
              </a:ext>
            </a:extLst>
          </p:cNvPr>
          <p:cNvSpPr>
            <a:spLocks xmlns:a="http://schemas.openxmlformats.org/drawingml/2006/main" noGrp="1"/>
          </p:cNvSpPr>
          <p:nvPr/>
        </p:nvSpPr>
        <p:spPr>
          <a:xfrm xmlns:a="http://schemas.openxmlformats.org/drawingml/2006/main">
            <a:off x="9486900" y="204787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2_LIFECYCLE_NODE_1">
            <a:extLst xmlns:a="http://schemas.openxmlformats.org/drawingml/2006/main">
              <a:ext uri="{FF2B5EF4-FFF2-40B4-BE49-F238E27FC236}">
                <a16:creationId xmlns:a16="http://schemas.microsoft.com/office/drawing/2014/main" id="{4504BF53-8E78-497C-90E1-60F85F06C1B4}"/>
              </a:ext>
            </a:extLst>
          </p:cNvPr>
          <p:cNvSpPr>
            <a:spLocks xmlns:a="http://schemas.openxmlformats.org/drawingml/2006/main" noGrp="1"/>
          </p:cNvSpPr>
          <p:nvPr/>
        </p:nvSpPr>
        <p:spPr>
          <a:xfrm xmlns:a="http://schemas.openxmlformats.org/drawingml/2006/main">
            <a:off x="5334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INPUT</a:t>
            </a:r>
          </a:p>
        </p:txBody>
      </p:sp>
      <p:sp>
        <p:nvSpPr>
          <p:cNvPr id="13" name="S2_LIFECYCLE_NODE_2">
            <a:extLst xmlns:a="http://schemas.openxmlformats.org/drawingml/2006/main">
              <a:ext uri="{FF2B5EF4-FFF2-40B4-BE49-F238E27FC236}">
                <a16:creationId xmlns:a16="http://schemas.microsoft.com/office/drawing/2014/main" id="{16225E54-9208-4804-AD3F-15773B69ADE3}"/>
              </a:ext>
            </a:extLst>
          </p:cNvPr>
          <p:cNvSpPr>
            <a:spLocks xmlns:a="http://schemas.openxmlformats.org/drawingml/2006/main" noGrp="1"/>
          </p:cNvSpPr>
          <p:nvPr/>
        </p:nvSpPr>
        <p:spPr>
          <a:xfrm xmlns:a="http://schemas.openxmlformats.org/drawingml/2006/main">
            <a:off x="283845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HTTP</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4" name="S2_LIFECYCLE_NODE_3">
            <a:extLst xmlns:a="http://schemas.openxmlformats.org/drawingml/2006/main">
              <a:ext uri="{FF2B5EF4-FFF2-40B4-BE49-F238E27FC236}">
                <a16:creationId xmlns:a16="http://schemas.microsoft.com/office/drawing/2014/main" id="{A8A410C7-7DF5-45CB-A2D5-79F8BBD1B567}"/>
              </a:ext>
            </a:extLst>
          </p:cNvPr>
          <p:cNvSpPr>
            <a:spLocks xmlns:a="http://schemas.openxmlformats.org/drawingml/2006/main" noGrp="1"/>
          </p:cNvSpPr>
          <p:nvPr/>
        </p:nvSpPr>
        <p:spPr>
          <a:xfrm xmlns:a="http://schemas.openxmlformats.org/drawingml/2006/main">
            <a:off x="51435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APP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NATIVE</a:t>
            </a:r>
          </a:p>
        </p:txBody>
      </p:sp>
      <p:sp>
        <p:nvSpPr>
          <p:cNvPr id="15" name="S2_LIFECYCLE_NODE_4">
            <a:extLst xmlns:a="http://schemas.openxmlformats.org/drawingml/2006/main">
              <a:ext uri="{FF2B5EF4-FFF2-40B4-BE49-F238E27FC236}">
                <a16:creationId xmlns:a16="http://schemas.microsoft.com/office/drawing/2014/main" id="{48BA877A-225D-4C0F-B165-D508C2C51DCC}"/>
              </a:ext>
            </a:extLst>
          </p:cNvPr>
          <p:cNvSpPr>
            <a:spLocks xmlns:a="http://schemas.openxmlformats.org/drawingml/2006/main" noGrp="1"/>
          </p:cNvSpPr>
          <p:nvPr/>
        </p:nvSpPr>
        <p:spPr>
          <a:xfrm xmlns:a="http://schemas.openxmlformats.org/drawingml/2006/main">
            <a:off x="744855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a:t>
            </a:r>
          </a:p>
        </p:txBody>
      </p:sp>
      <p:sp>
        <p:nvSpPr>
          <p:cNvPr id="16" name="S2_LIFECYCLE_NODE_5">
            <a:extLst xmlns:a="http://schemas.openxmlformats.org/drawingml/2006/main">
              <a:ext uri="{FF2B5EF4-FFF2-40B4-BE49-F238E27FC236}">
                <a16:creationId xmlns:a16="http://schemas.microsoft.com/office/drawing/2014/main" id="{1B140521-3ED3-41B4-B7B6-F564E79FE50B}"/>
              </a:ext>
            </a:extLst>
          </p:cNvPr>
          <p:cNvSpPr>
            <a:spLocks xmlns:a="http://schemas.openxmlformats.org/drawingml/2006/main" noGrp="1"/>
          </p:cNvSpPr>
          <p:nvPr/>
        </p:nvSpPr>
        <p:spPr>
          <a:xfrm xmlns:a="http://schemas.openxmlformats.org/drawingml/2006/main">
            <a:off x="9753600" y="1695450"/>
            <a:ext cx="1905000"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RESPONSE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17" name="S2_ATTACK_1">
            <a:extLst xmlns:a="http://schemas.openxmlformats.org/drawingml/2006/main">
              <a:ext uri="{FF2B5EF4-FFF2-40B4-BE49-F238E27FC236}">
                <a16:creationId xmlns:a16="http://schemas.microsoft.com/office/drawing/2014/main" id="{A5E95372-86AE-4F6D-A47D-7C73F6D71CB6}"/>
              </a:ext>
            </a:extLst>
          </p:cNvPr>
          <p:cNvSpPr>
            <a:spLocks xmlns:a="http://schemas.openxmlformats.org/drawingml/2006/main" noGrp="1"/>
          </p:cNvSpPr>
          <p:nvPr/>
        </p:nvSpPr>
        <p:spPr>
          <a:xfrm xmlns:a="http://schemas.openxmlformats.org/drawingml/2006/main">
            <a:off x="533400"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XSS</a:t>
            </a:r>
          </a:p>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output / DOM sink</a:t>
            </a:r>
          </a:p>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 mã chạy trong browser</a:t>
            </a:r>
          </a:p>
        </p:txBody>
      </p:sp>
      <p:sp>
        <p:nvSpPr>
          <p:cNvPr id="18" name="S2_ATTACK_2">
            <a:extLst xmlns:a="http://schemas.openxmlformats.org/drawingml/2006/main">
              <a:ext uri="{FF2B5EF4-FFF2-40B4-BE49-F238E27FC236}">
                <a16:creationId xmlns:a16="http://schemas.microsoft.com/office/drawing/2014/main" id="{F9D8960C-7823-4919-AD94-1C85F25C75DF}"/>
              </a:ext>
            </a:extLst>
          </p:cNvPr>
          <p:cNvSpPr>
            <a:spLocks xmlns:a="http://schemas.openxmlformats.org/drawingml/2006/main" noGrp="1"/>
          </p:cNvSpPr>
          <p:nvPr/>
        </p:nvSpPr>
        <p:spPr>
          <a:xfrm xmlns:a="http://schemas.openxmlformats.org/drawingml/2006/main">
            <a:off x="4314825"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BUFFER</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native memory</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crash / corruption</a:t>
            </a:r>
          </a:p>
        </p:txBody>
      </p:sp>
      <p:sp>
        <p:nvSpPr>
          <p:cNvPr id="19" name="S2_ATTACK_3">
            <a:extLst xmlns:a="http://schemas.openxmlformats.org/drawingml/2006/main">
              <a:ext uri="{FF2B5EF4-FFF2-40B4-BE49-F238E27FC236}">
                <a16:creationId xmlns:a16="http://schemas.microsoft.com/office/drawing/2014/main" id="{68D352DF-536D-4E89-B0A1-8C849BAC1F66}"/>
              </a:ext>
            </a:extLst>
          </p:cNvPr>
          <p:cNvSpPr>
            <a:spLocks xmlns:a="http://schemas.openxmlformats.org/drawingml/2006/main" noGrp="1"/>
          </p:cNvSpPr>
          <p:nvPr/>
        </p:nvSpPr>
        <p:spPr>
          <a:xfrm xmlns:a="http://schemas.openxmlformats.org/drawingml/2006/main">
            <a:off x="8096250" y="289560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PARAMETER</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policy decision</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giá / object / role</a:t>
            </a:r>
          </a:p>
        </p:txBody>
      </p:sp>
      <p:sp>
        <p:nvSpPr>
          <p:cNvPr id="20" name="S2_ATTACK_4">
            <a:extLst xmlns:a="http://schemas.openxmlformats.org/drawingml/2006/main">
              <a:ext uri="{FF2B5EF4-FFF2-40B4-BE49-F238E27FC236}">
                <a16:creationId xmlns:a16="http://schemas.microsoft.com/office/drawing/2014/main" id="{94CE8B56-20C3-4D0D-93AA-A3A90420309C}"/>
              </a:ext>
            </a:extLst>
          </p:cNvPr>
          <p:cNvSpPr>
            <a:spLocks xmlns:a="http://schemas.openxmlformats.org/drawingml/2006/main" noGrp="1"/>
          </p:cNvSpPr>
          <p:nvPr/>
        </p:nvSpPr>
        <p:spPr>
          <a:xfrm xmlns:a="http://schemas.openxmlformats.org/drawingml/2006/main">
            <a:off x="533400"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CSRF</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browser credential</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state change ngoài ý muốn</a:t>
            </a:r>
          </a:p>
        </p:txBody>
      </p:sp>
      <p:sp>
        <p:nvSpPr>
          <p:cNvPr id="21" name="S2_ATTACK_5">
            <a:extLst xmlns:a="http://schemas.openxmlformats.org/drawingml/2006/main">
              <a:ext uri="{FF2B5EF4-FFF2-40B4-BE49-F238E27FC236}">
                <a16:creationId xmlns:a16="http://schemas.microsoft.com/office/drawing/2014/main" id="{D2FC767C-4C3B-41C4-8E08-369AF163D6BA}"/>
              </a:ext>
            </a:extLst>
          </p:cNvPr>
          <p:cNvSpPr>
            <a:spLocks xmlns:a="http://schemas.openxmlformats.org/drawingml/2006/main" noGrp="1"/>
          </p:cNvSpPr>
          <p:nvPr/>
        </p:nvSpPr>
        <p:spPr>
          <a:xfrm xmlns:a="http://schemas.openxmlformats.org/drawingml/2006/main">
            <a:off x="4314825"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SQLi</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query construction</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logic SQL bị thay</a:t>
            </a:r>
          </a:p>
        </p:txBody>
      </p:sp>
      <p:sp>
        <p:nvSpPr>
          <p:cNvPr id="22" name="S2_ATTACK_6">
            <a:extLst xmlns:a="http://schemas.openxmlformats.org/drawingml/2006/main">
              <a:ext uri="{FF2B5EF4-FFF2-40B4-BE49-F238E27FC236}">
                <a16:creationId xmlns:a16="http://schemas.microsoft.com/office/drawing/2014/main" id="{87763C82-A71B-4398-8631-6366210DCBB6}"/>
              </a:ext>
            </a:extLst>
          </p:cNvPr>
          <p:cNvSpPr>
            <a:spLocks xmlns:a="http://schemas.openxmlformats.org/drawingml/2006/main" noGrp="1"/>
          </p:cNvSpPr>
          <p:nvPr/>
        </p:nvSpPr>
        <p:spPr>
          <a:xfrm xmlns:a="http://schemas.openxmlformats.org/drawingml/2006/main">
            <a:off x="8096250" y="4324350"/>
            <a:ext cx="3562350" cy="1200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COOKIE</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client state</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quyền bị giả mạo</a:t>
            </a:r>
          </a:p>
        </p:txBody>
      </p:sp>
      <p:sp>
        <p:nvSpPr>
          <p:cNvPr id="23" name="S2_THESIS_BAR">
            <a:extLst xmlns:a="http://schemas.openxmlformats.org/drawingml/2006/main">
              <a:ext uri="{FF2B5EF4-FFF2-40B4-BE49-F238E27FC236}">
                <a16:creationId xmlns:a16="http://schemas.microsoft.com/office/drawing/2014/main" id="{8E57A0BA-1220-4F33-B159-5A090F243EE2}"/>
              </a:ext>
            </a:extLst>
          </p:cNvPr>
          <p:cNvSpPr>
            <a:spLocks xmlns:a="http://schemas.openxmlformats.org/drawingml/2006/main" noGrp="1"/>
          </p:cNvSpPr>
          <p:nvPr/>
        </p:nvSpPr>
        <p:spPr>
          <a:xfrm xmlns:a="http://schemas.openxmlformats.org/drawingml/2006/main">
            <a:off x="533400" y="5600700"/>
            <a:ext cx="76200" cy="0"/>
          </a:xfrm>
          <a:prstGeom xmlns:a="http://schemas.openxmlformats.org/drawingml/2006/main" prst="rect">
            <a:avLst/>
          </a:prstGeom>
          <a:ln xmlns:a="http://schemas.openxmlformats.org/drawingml/2006/main" w="0">
            <a:noFill/>
            <a:prstDash val="solid"/>
          </a:ln>
        </p:spPr>
      </p:sp>
      <p:sp>
        <p:nvSpPr>
          <p:cNvPr id="24" name="S2_THESIS_LABEL">
            <a:extLst xmlns:a="http://schemas.openxmlformats.org/drawingml/2006/main">
              <a:ext uri="{FF2B5EF4-FFF2-40B4-BE49-F238E27FC236}">
                <a16:creationId xmlns:a16="http://schemas.microsoft.com/office/drawing/2014/main" id="{D91E3FD6-510C-4372-808B-13C3EA49F83A}"/>
              </a:ext>
            </a:extLst>
          </p:cNvPr>
          <p:cNvSpPr>
            <a:spLocks xmlns:a="http://schemas.openxmlformats.org/drawingml/2006/main" noGrp="1"/>
          </p:cNvSpPr>
          <p:nvPr/>
        </p:nvSpPr>
        <p:spPr>
          <a:xfrm xmlns:a="http://schemas.openxmlformats.org/drawingml/2006/main">
            <a:off x="704850" y="5600700"/>
            <a:ext cx="1638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QUY ĐỊNH AN TOÀN</a:t>
            </a:r>
          </a:p>
        </p:txBody>
      </p:sp>
      <p:sp>
        <p:nvSpPr>
          <p:cNvPr id="25" name="S2_THESIS_BODY">
            <a:extLst xmlns:a="http://schemas.openxmlformats.org/drawingml/2006/main">
              <a:ext uri="{FF2B5EF4-FFF2-40B4-BE49-F238E27FC236}">
                <a16:creationId xmlns:a16="http://schemas.microsoft.com/office/drawing/2014/main" id="{96297344-14B3-4861-968D-69898E9267C8}"/>
              </a:ext>
            </a:extLst>
          </p:cNvPr>
          <p:cNvSpPr>
            <a:spLocks xmlns:a="http://schemas.openxmlformats.org/drawingml/2006/main" noGrp="1"/>
          </p:cNvSpPr>
          <p:nvPr/>
        </p:nvSpPr>
        <p:spPr>
          <a:xfrm xmlns:a="http://schemas.openxmlformats.org/drawingml/2006/main">
            <a:off x="2438400" y="5600700"/>
            <a:ext cx="9201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Chỉ VM/Docker local, app cố tình có lỗi hoặc nền tảng học tập hợp pháp.</a:t>
            </a:r>
          </a:p>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 Không thử payload hay tấn công hệ thống thật; không đánh cắp cookie/tài khoản/dữ liệu; không reverse shell, malware, persistence, botnet, keylogger.</a:t>
            </a:r>
          </a:p>
        </p:txBody>
      </p:sp>
    </p:spTree>
    <p:extLst>
      <p:ext uri="{BB962C8B-B14F-4D97-AF65-F5344CB8AC3E}">
        <p14:creationId xmlns:p14="http://schemas.microsoft.com/office/powerpoint/2010/main" val="383933245"/>
      </p:ext>
    </p:extLst>
  </p:cSld>
</p:sld>
</file>

<file path=ppt/slides/slide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9" name="S3_EYEBROW">
            <a:extLst xmlns:a="http://schemas.openxmlformats.org/drawingml/2006/main">
              <a:ext uri="{FF2B5EF4-FFF2-40B4-BE49-F238E27FC236}">
                <a16:creationId xmlns:a16="http://schemas.microsoft.com/office/drawing/2014/main" id="{7056E5BC-335A-4198-9CF0-601097BA3A66}"/>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3_TITLE">
            <a:extLst xmlns:a="http://schemas.openxmlformats.org/drawingml/2006/main">
              <a:ext uri="{FF2B5EF4-FFF2-40B4-BE49-F238E27FC236}">
                <a16:creationId xmlns:a16="http://schemas.microsoft.com/office/drawing/2014/main" id="{286E188F-E65E-4AD5-ABEB-BCB5DCFC46F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Ba biến thể — một lỗi niềm tin</a:t>
            </a:r>
          </a:p>
        </p:txBody>
      </p:sp>
      <p:sp>
        <p:nvSpPr>
          <p:cNvPr id="3" name="S3_SUBTITLE">
            <a:extLst xmlns:a="http://schemas.openxmlformats.org/drawingml/2006/main">
              <a:ext uri="{FF2B5EF4-FFF2-40B4-BE49-F238E27FC236}">
                <a16:creationId xmlns:a16="http://schemas.microsoft.com/office/drawing/2014/main" id="{2D9596A9-6AEE-43D9-B51B-79DB9988F6D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Khác đường đi; giống kết quả: dữ liệu bị diễn giải như HTML/JavaScript.</a:t>
            </a:r>
          </a:p>
        </p:txBody>
      </p:sp>
      <p:sp>
        <p:nvSpPr>
          <p:cNvPr id="4" name="S3_TITLE_RULE">
            <a:extLst xmlns:a="http://schemas.openxmlformats.org/drawingml/2006/main">
              <a:ext uri="{FF2B5EF4-FFF2-40B4-BE49-F238E27FC236}">
                <a16:creationId xmlns:a16="http://schemas.microsoft.com/office/drawing/2014/main" id="{31DE54EE-FA00-4132-8595-3A4F762B76E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_FOOTER_RULE">
            <a:extLst xmlns:a="http://schemas.openxmlformats.org/drawingml/2006/main">
              <a:ext uri="{FF2B5EF4-FFF2-40B4-BE49-F238E27FC236}">
                <a16:creationId xmlns:a16="http://schemas.microsoft.com/office/drawing/2014/main" id="{F87AC145-5E6F-46FD-B758-D054D4D42D63}"/>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_SOURCE">
            <a:extLst xmlns:a="http://schemas.openxmlformats.org/drawingml/2006/main">
              <a:ext uri="{FF2B5EF4-FFF2-40B4-BE49-F238E27FC236}">
                <a16:creationId xmlns:a16="http://schemas.microsoft.com/office/drawing/2014/main" id="{31DA062E-AECD-466E-9C14-02340FE0EFC3}"/>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templates · static/js</a:t>
            </a:r>
          </a:p>
        </p:txBody>
      </p:sp>
      <p:sp>
        <p:nvSpPr>
          <p:cNvPr id="7" name="S3_NUMBER">
            <a:extLst xmlns:a="http://schemas.openxmlformats.org/drawingml/2006/main">
              <a:ext uri="{FF2B5EF4-FFF2-40B4-BE49-F238E27FC236}">
                <a16:creationId xmlns:a16="http://schemas.microsoft.com/office/drawing/2014/main" id="{B1F993CF-A6B0-4618-A4C9-64DE23E256D0}"/>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03</a:t>
            </a:r>
          </a:p>
        </p:txBody>
      </p:sp>
      <p:sp>
        <p:nvSpPr>
          <p:cNvPr id="8" name="S3_XSS_MATRIX_H0">
            <a:extLst xmlns:a="http://schemas.openxmlformats.org/drawingml/2006/main">
              <a:ext uri="{FF2B5EF4-FFF2-40B4-BE49-F238E27FC236}">
                <a16:creationId xmlns:a16="http://schemas.microsoft.com/office/drawing/2014/main" id="{D76E12FA-B9BA-4C5F-9671-6A2E23AE8F08}"/>
              </a:ext>
            </a:extLst>
          </p:cNvPr>
          <p:cNvSpPr>
            <a:spLocks xmlns:a="http://schemas.openxmlformats.org/drawingml/2006/main" noGrp="1"/>
          </p:cNvSpPr>
          <p:nvPr/>
        </p:nvSpPr>
        <p:spPr>
          <a:xfrm xmlns:a="http://schemas.openxmlformats.org/drawingml/2006/main">
            <a:off x="533400" y="1733550"/>
            <a:ext cx="180975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BIẾN THỂ</a:t>
            </a:r>
          </a:p>
        </p:txBody>
      </p:sp>
      <p:sp>
        <p:nvSpPr>
          <p:cNvPr id="9" name="S3_XSS_MATRIX_H1">
            <a:extLst xmlns:a="http://schemas.openxmlformats.org/drawingml/2006/main">
              <a:ext uri="{FF2B5EF4-FFF2-40B4-BE49-F238E27FC236}">
                <a16:creationId xmlns:a16="http://schemas.microsoft.com/office/drawing/2014/main" id="{2CCC04CF-DA90-4592-BA2C-1588EC492F21}"/>
              </a:ext>
            </a:extLst>
          </p:cNvPr>
          <p:cNvSpPr>
            <a:spLocks xmlns:a="http://schemas.openxmlformats.org/drawingml/2006/main" noGrp="1"/>
          </p:cNvSpPr>
          <p:nvPr/>
        </p:nvSpPr>
        <p:spPr>
          <a:xfrm xmlns:a="http://schemas.openxmlformats.org/drawingml/2006/main">
            <a:off x="2343150" y="1733550"/>
            <a:ext cx="224790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SOURCE</a:t>
            </a:r>
          </a:p>
        </p:txBody>
      </p:sp>
      <p:sp>
        <p:nvSpPr>
          <p:cNvPr id="10" name="S3_XSS_MATRIX_H2">
            <a:extLst xmlns:a="http://schemas.openxmlformats.org/drawingml/2006/main">
              <a:ext uri="{FF2B5EF4-FFF2-40B4-BE49-F238E27FC236}">
                <a16:creationId xmlns:a16="http://schemas.microsoft.com/office/drawing/2014/main" id="{61298903-3003-4B70-8F2A-94313615EC42}"/>
              </a:ext>
            </a:extLst>
          </p:cNvPr>
          <p:cNvSpPr>
            <a:spLocks xmlns:a="http://schemas.openxmlformats.org/drawingml/2006/main" noGrp="1"/>
          </p:cNvSpPr>
          <p:nvPr/>
        </p:nvSpPr>
        <p:spPr>
          <a:xfrm xmlns:a="http://schemas.openxmlformats.org/drawingml/2006/main">
            <a:off x="4591050" y="1733550"/>
            <a:ext cx="266700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TRUNG GIAN</a:t>
            </a:r>
          </a:p>
        </p:txBody>
      </p:sp>
      <p:sp>
        <p:nvSpPr>
          <p:cNvPr id="11" name="S3_XSS_MATRIX_H3">
            <a:extLst xmlns:a="http://schemas.openxmlformats.org/drawingml/2006/main">
              <a:ext uri="{FF2B5EF4-FFF2-40B4-BE49-F238E27FC236}">
                <a16:creationId xmlns:a16="http://schemas.microsoft.com/office/drawing/2014/main" id="{799B4A28-8F45-4EDC-8451-1B5AD38908C8}"/>
              </a:ext>
            </a:extLst>
          </p:cNvPr>
          <p:cNvSpPr>
            <a:spLocks xmlns:a="http://schemas.openxmlformats.org/drawingml/2006/main" noGrp="1"/>
          </p:cNvSpPr>
          <p:nvPr/>
        </p:nvSpPr>
        <p:spPr>
          <a:xfrm xmlns:a="http://schemas.openxmlformats.org/drawingml/2006/main">
            <a:off x="7258050" y="1733550"/>
            <a:ext cx="4400550" cy="6810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SINK / THỜI ĐIỂM</a:t>
            </a:r>
          </a:p>
        </p:txBody>
      </p:sp>
      <p:sp>
        <p:nvSpPr>
          <p:cNvPr id="12" name="S3_XSS_MATRIX_R0C0">
            <a:extLst xmlns:a="http://schemas.openxmlformats.org/drawingml/2006/main">
              <a:ext uri="{FF2B5EF4-FFF2-40B4-BE49-F238E27FC236}">
                <a16:creationId xmlns:a16="http://schemas.microsoft.com/office/drawing/2014/main" id="{54C4D374-E4D2-43C8-9931-D622167B64D2}"/>
              </a:ext>
            </a:extLst>
          </p:cNvPr>
          <p:cNvSpPr>
            <a:spLocks xmlns:a="http://schemas.openxmlformats.org/drawingml/2006/main" noGrp="1"/>
          </p:cNvSpPr>
          <p:nvPr/>
        </p:nvSpPr>
        <p:spPr>
          <a:xfrm xmlns:a="http://schemas.openxmlformats.org/drawingml/2006/main">
            <a:off x="533400" y="2414588"/>
            <a:ext cx="18097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Reflected</a:t>
            </a:r>
          </a:p>
        </p:txBody>
      </p:sp>
      <p:sp>
        <p:nvSpPr>
          <p:cNvPr id="13" name="S3_XSS_MATRIX_R0C1">
            <a:extLst xmlns:a="http://schemas.openxmlformats.org/drawingml/2006/main">
              <a:ext uri="{FF2B5EF4-FFF2-40B4-BE49-F238E27FC236}">
                <a16:creationId xmlns:a16="http://schemas.microsoft.com/office/drawing/2014/main" id="{21BE738F-4D3C-453A-820C-8DF0D2F3F71C}"/>
              </a:ext>
            </a:extLst>
          </p:cNvPr>
          <p:cNvSpPr>
            <a:spLocks xmlns:a="http://schemas.openxmlformats.org/drawingml/2006/main" noGrp="1"/>
          </p:cNvSpPr>
          <p:nvPr/>
        </p:nvSpPr>
        <p:spPr>
          <a:xfrm xmlns:a="http://schemas.openxmlformats.org/drawingml/2006/main">
            <a:off x="2343150" y="2414588"/>
            <a:ext cx="22479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query q</a:t>
            </a:r>
          </a:p>
        </p:txBody>
      </p:sp>
      <p:sp>
        <p:nvSpPr>
          <p:cNvPr id="14" name="S3_XSS_MATRIX_R0C2">
            <a:extLst xmlns:a="http://schemas.openxmlformats.org/drawingml/2006/main">
              <a:ext uri="{FF2B5EF4-FFF2-40B4-BE49-F238E27FC236}">
                <a16:creationId xmlns:a16="http://schemas.microsoft.com/office/drawing/2014/main" id="{069F38B0-5136-4140-95A8-DE63216B4F2D}"/>
              </a:ext>
            </a:extLst>
          </p:cNvPr>
          <p:cNvSpPr>
            <a:spLocks xmlns:a="http://schemas.openxmlformats.org/drawingml/2006/main" noGrp="1"/>
          </p:cNvSpPr>
          <p:nvPr/>
        </p:nvSpPr>
        <p:spPr>
          <a:xfrm xmlns:a="http://schemas.openxmlformats.org/drawingml/2006/main">
            <a:off x="4591050" y="2414588"/>
            <a:ext cx="26670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request → response</a:t>
            </a:r>
          </a:p>
        </p:txBody>
      </p:sp>
      <p:sp>
        <p:nvSpPr>
          <p:cNvPr id="15" name="S3_XSS_MATRIX_R0C3">
            <a:extLst xmlns:a="http://schemas.openxmlformats.org/drawingml/2006/main">
              <a:ext uri="{FF2B5EF4-FFF2-40B4-BE49-F238E27FC236}">
                <a16:creationId xmlns:a16="http://schemas.microsoft.com/office/drawing/2014/main" id="{25F624D7-FEFF-4FC0-B831-8FA8F67D1D62}"/>
              </a:ext>
            </a:extLst>
          </p:cNvPr>
          <p:cNvSpPr>
            <a:spLocks xmlns:a="http://schemas.openxmlformats.org/drawingml/2006/main" noGrp="1"/>
          </p:cNvSpPr>
          <p:nvPr/>
        </p:nvSpPr>
        <p:spPr>
          <a:xfrm xmlns:a="http://schemas.openxmlformats.org/drawingml/2006/main">
            <a:off x="7258050" y="2414588"/>
            <a:ext cx="44005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Markup(q) · chạy khi mở URL</a:t>
            </a:r>
          </a:p>
        </p:txBody>
      </p:sp>
      <p:sp>
        <p:nvSpPr>
          <p:cNvPr id="16" name="S3_XSS_MATRIX_R1C0">
            <a:extLst xmlns:a="http://schemas.openxmlformats.org/drawingml/2006/main">
              <a:ext uri="{FF2B5EF4-FFF2-40B4-BE49-F238E27FC236}">
                <a16:creationId xmlns:a16="http://schemas.microsoft.com/office/drawing/2014/main" id="{02DC0C74-7D75-4D25-890E-751337671410}"/>
              </a:ext>
            </a:extLst>
          </p:cNvPr>
          <p:cNvSpPr>
            <a:spLocks xmlns:a="http://schemas.openxmlformats.org/drawingml/2006/main" noGrp="1"/>
          </p:cNvSpPr>
          <p:nvPr/>
        </p:nvSpPr>
        <p:spPr>
          <a:xfrm xmlns:a="http://schemas.openxmlformats.org/drawingml/2006/main">
            <a:off x="533400" y="3095625"/>
            <a:ext cx="180975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Stored</a:t>
            </a:r>
          </a:p>
        </p:txBody>
      </p:sp>
      <p:sp>
        <p:nvSpPr>
          <p:cNvPr id="17" name="S3_XSS_MATRIX_R1C1">
            <a:extLst xmlns:a="http://schemas.openxmlformats.org/drawingml/2006/main">
              <a:ext uri="{FF2B5EF4-FFF2-40B4-BE49-F238E27FC236}">
                <a16:creationId xmlns:a16="http://schemas.microsoft.com/office/drawing/2014/main" id="{893CFDF2-BF70-496D-AFE6-7D2634F51F86}"/>
              </a:ext>
            </a:extLst>
          </p:cNvPr>
          <p:cNvSpPr>
            <a:spLocks xmlns:a="http://schemas.openxmlformats.org/drawingml/2006/main" noGrp="1"/>
          </p:cNvSpPr>
          <p:nvPr/>
        </p:nvSpPr>
        <p:spPr>
          <a:xfrm xmlns:a="http://schemas.openxmlformats.org/drawingml/2006/main">
            <a:off x="2343150" y="3095625"/>
            <a:ext cx="224790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comment body</a:t>
            </a:r>
          </a:p>
        </p:txBody>
      </p:sp>
      <p:sp>
        <p:nvSpPr>
          <p:cNvPr id="18" name="S3_XSS_MATRIX_R1C2">
            <a:extLst xmlns:a="http://schemas.openxmlformats.org/drawingml/2006/main">
              <a:ext uri="{FF2B5EF4-FFF2-40B4-BE49-F238E27FC236}">
                <a16:creationId xmlns:a16="http://schemas.microsoft.com/office/drawing/2014/main" id="{885AF3E1-BD14-494F-94FC-B6D74205B6C6}"/>
              </a:ext>
            </a:extLst>
          </p:cNvPr>
          <p:cNvSpPr>
            <a:spLocks xmlns:a="http://schemas.openxmlformats.org/drawingml/2006/main" noGrp="1"/>
          </p:cNvSpPr>
          <p:nvPr/>
        </p:nvSpPr>
        <p:spPr>
          <a:xfrm xmlns:a="http://schemas.openxmlformats.org/drawingml/2006/main">
            <a:off x="4591050" y="3095625"/>
            <a:ext cx="266700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SQLite</a:t>
            </a:r>
          </a:p>
        </p:txBody>
      </p:sp>
      <p:sp>
        <p:nvSpPr>
          <p:cNvPr id="19" name="S3_XSS_MATRIX_R1C3">
            <a:extLst xmlns:a="http://schemas.openxmlformats.org/drawingml/2006/main">
              <a:ext uri="{FF2B5EF4-FFF2-40B4-BE49-F238E27FC236}">
                <a16:creationId xmlns:a16="http://schemas.microsoft.com/office/drawing/2014/main" id="{B803B9A1-5F25-4275-A4DE-9A06E66CBBFB}"/>
              </a:ext>
            </a:extLst>
          </p:cNvPr>
          <p:cNvSpPr>
            <a:spLocks xmlns:a="http://schemas.openxmlformats.org/drawingml/2006/main" noGrp="1"/>
          </p:cNvSpPr>
          <p:nvPr/>
        </p:nvSpPr>
        <p:spPr>
          <a:xfrm xmlns:a="http://schemas.openxmlformats.org/drawingml/2006/main">
            <a:off x="7258050" y="3095625"/>
            <a:ext cx="4400550" cy="6810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Markup(body) · chạy với mọi người xem</a:t>
            </a:r>
          </a:p>
        </p:txBody>
      </p:sp>
      <p:sp>
        <p:nvSpPr>
          <p:cNvPr id="20" name="S3_XSS_MATRIX_R2C0">
            <a:extLst xmlns:a="http://schemas.openxmlformats.org/drawingml/2006/main">
              <a:ext uri="{FF2B5EF4-FFF2-40B4-BE49-F238E27FC236}">
                <a16:creationId xmlns:a16="http://schemas.microsoft.com/office/drawing/2014/main" id="{CC561758-8972-4E78-9CF1-245DD853246B}"/>
              </a:ext>
            </a:extLst>
          </p:cNvPr>
          <p:cNvSpPr>
            <a:spLocks xmlns:a="http://schemas.openxmlformats.org/drawingml/2006/main" noGrp="1"/>
          </p:cNvSpPr>
          <p:nvPr/>
        </p:nvSpPr>
        <p:spPr>
          <a:xfrm xmlns:a="http://schemas.openxmlformats.org/drawingml/2006/main">
            <a:off x="533400" y="3776663"/>
            <a:ext cx="18097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21" name="S3_XSS_MATRIX_R2C1">
            <a:extLst xmlns:a="http://schemas.openxmlformats.org/drawingml/2006/main">
              <a:ext uri="{FF2B5EF4-FFF2-40B4-BE49-F238E27FC236}">
                <a16:creationId xmlns:a16="http://schemas.microsoft.com/office/drawing/2014/main" id="{7CDE8473-EC3D-4E7D-A4CB-730FDB0F1693}"/>
              </a:ext>
            </a:extLst>
          </p:cNvPr>
          <p:cNvSpPr>
            <a:spLocks xmlns:a="http://schemas.openxmlformats.org/drawingml/2006/main" noGrp="1"/>
          </p:cNvSpPr>
          <p:nvPr/>
        </p:nvSpPr>
        <p:spPr>
          <a:xfrm xmlns:a="http://schemas.openxmlformats.org/drawingml/2006/main">
            <a:off x="2343150" y="3776663"/>
            <a:ext cx="22479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location.hash</a:t>
            </a:r>
          </a:p>
        </p:txBody>
      </p:sp>
      <p:sp>
        <p:nvSpPr>
          <p:cNvPr id="22" name="S3_XSS_MATRIX_R2C2">
            <a:extLst xmlns:a="http://schemas.openxmlformats.org/drawingml/2006/main">
              <a:ext uri="{FF2B5EF4-FFF2-40B4-BE49-F238E27FC236}">
                <a16:creationId xmlns:a16="http://schemas.microsoft.com/office/drawing/2014/main" id="{18D2667F-B686-4C58-AE42-EB61DC8A8B11}"/>
              </a:ext>
            </a:extLst>
          </p:cNvPr>
          <p:cNvSpPr>
            <a:spLocks xmlns:a="http://schemas.openxmlformats.org/drawingml/2006/main" noGrp="1"/>
          </p:cNvSpPr>
          <p:nvPr/>
        </p:nvSpPr>
        <p:spPr>
          <a:xfrm xmlns:a="http://schemas.openxmlformats.org/drawingml/2006/main">
            <a:off x="4591050" y="3776663"/>
            <a:ext cx="266700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only</a:t>
            </a:r>
          </a:p>
        </p:txBody>
      </p:sp>
      <p:sp>
        <p:nvSpPr>
          <p:cNvPr id="23" name="S3_XSS_MATRIX_R2C3">
            <a:extLst xmlns:a="http://schemas.openxmlformats.org/drawingml/2006/main">
              <a:ext uri="{FF2B5EF4-FFF2-40B4-BE49-F238E27FC236}">
                <a16:creationId xmlns:a16="http://schemas.microsoft.com/office/drawing/2014/main" id="{E18A6934-371D-464D-B464-1B31643BED96}"/>
              </a:ext>
            </a:extLst>
          </p:cNvPr>
          <p:cNvSpPr>
            <a:spLocks xmlns:a="http://schemas.openxmlformats.org/drawingml/2006/main" noGrp="1"/>
          </p:cNvSpPr>
          <p:nvPr/>
        </p:nvSpPr>
        <p:spPr>
          <a:xfrm xmlns:a="http://schemas.openxmlformats.org/drawingml/2006/main">
            <a:off x="7258050" y="3776663"/>
            <a:ext cx="4400550" cy="6810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innerHTML · không cần server phản chiếu</a:t>
            </a:r>
          </a:p>
        </p:txBody>
      </p:sp>
      <p:sp>
        <p:nvSpPr>
          <p:cNvPr id="24" name="S3_COMMON_ARROW_1">
            <a:extLst xmlns:a="http://schemas.openxmlformats.org/drawingml/2006/main">
              <a:ext uri="{FF2B5EF4-FFF2-40B4-BE49-F238E27FC236}">
                <a16:creationId xmlns:a16="http://schemas.microsoft.com/office/drawing/2014/main" id="{DE6A9DA4-5C7B-4DF3-82E1-CF278325308D}"/>
              </a:ext>
            </a:extLst>
          </p:cNvPr>
          <p:cNvSpPr>
            <a:spLocks xmlns:a="http://schemas.openxmlformats.org/drawingml/2006/main" noGrp="1"/>
          </p:cNvSpPr>
          <p:nvPr/>
        </p:nvSpPr>
        <p:spPr>
          <a:xfrm xmlns:a="http://schemas.openxmlformats.org/drawingml/2006/main">
            <a:off x="4470400" y="52673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25" name="S3_COMMON_ARROW_2">
            <a:extLst xmlns:a="http://schemas.openxmlformats.org/drawingml/2006/main">
              <a:ext uri="{FF2B5EF4-FFF2-40B4-BE49-F238E27FC236}">
                <a16:creationId xmlns:a16="http://schemas.microsoft.com/office/drawing/2014/main" id="{D14A4DEF-23F5-4827-9FAD-12CC7E34BECC}"/>
              </a:ext>
            </a:extLst>
          </p:cNvPr>
          <p:cNvSpPr>
            <a:spLocks xmlns:a="http://schemas.openxmlformats.org/drawingml/2006/main" noGrp="1"/>
          </p:cNvSpPr>
          <p:nvPr/>
        </p:nvSpPr>
        <p:spPr>
          <a:xfrm xmlns:a="http://schemas.openxmlformats.org/drawingml/2006/main">
            <a:off x="7588250" y="52673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26" name="S3_COMMON_NODE_1">
            <a:extLst xmlns:a="http://schemas.openxmlformats.org/drawingml/2006/main">
              <a:ext uri="{FF2B5EF4-FFF2-40B4-BE49-F238E27FC236}">
                <a16:creationId xmlns:a16="http://schemas.microsoft.com/office/drawing/2014/main" id="{903F7A10-49D9-4D38-8735-AD9DA29FD4A4}"/>
              </a:ext>
            </a:extLst>
          </p:cNvPr>
          <p:cNvSpPr>
            <a:spLocks xmlns:a="http://schemas.openxmlformats.org/drawingml/2006/main" noGrp="1"/>
          </p:cNvSpPr>
          <p:nvPr/>
        </p:nvSpPr>
        <p:spPr>
          <a:xfrm xmlns:a="http://schemas.openxmlformats.org/drawingml/2006/main">
            <a:off x="161925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UNTRUSTED</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DATA</a:t>
            </a:r>
          </a:p>
        </p:txBody>
      </p:sp>
      <p:sp>
        <p:nvSpPr>
          <p:cNvPr id="27" name="S3_COMMON_NODE_2">
            <a:extLst xmlns:a="http://schemas.openxmlformats.org/drawingml/2006/main">
              <a:ext uri="{FF2B5EF4-FFF2-40B4-BE49-F238E27FC236}">
                <a16:creationId xmlns:a16="http://schemas.microsoft.com/office/drawing/2014/main" id="{9B04AC30-26A5-45E5-A93A-8B6C12572460}"/>
              </a:ext>
            </a:extLst>
          </p:cNvPr>
          <p:cNvSpPr>
            <a:spLocks xmlns:a="http://schemas.openxmlformats.org/drawingml/2006/main" noGrp="1"/>
          </p:cNvSpPr>
          <p:nvPr/>
        </p:nvSpPr>
        <p:spPr>
          <a:xfrm xmlns:a="http://schemas.openxmlformats.org/drawingml/2006/main">
            <a:off x="473710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UNSAFE</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INTERPRETATION</a:t>
            </a:r>
          </a:p>
        </p:txBody>
      </p:sp>
      <p:sp>
        <p:nvSpPr>
          <p:cNvPr id="28" name="S3_COMMON_NODE_3">
            <a:extLst xmlns:a="http://schemas.openxmlformats.org/drawingml/2006/main">
              <a:ext uri="{FF2B5EF4-FFF2-40B4-BE49-F238E27FC236}">
                <a16:creationId xmlns:a16="http://schemas.microsoft.com/office/drawing/2014/main" id="{23C842E3-AC11-4F66-8E75-59A7E927AF19}"/>
              </a:ext>
            </a:extLst>
          </p:cNvPr>
          <p:cNvSpPr>
            <a:spLocks xmlns:a="http://schemas.openxmlformats.org/drawingml/2006/main" noGrp="1"/>
          </p:cNvSpPr>
          <p:nvPr/>
        </p:nvSpPr>
        <p:spPr>
          <a:xfrm xmlns:a="http://schemas.openxmlformats.org/drawingml/2006/main">
            <a:off x="7854950" y="4876800"/>
            <a:ext cx="2717800" cy="9525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SCRIPT</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EXECUTION</a:t>
            </a:r>
          </a:p>
        </p:txBody>
      </p:sp>
    </p:spTree>
    <p:extLst>
      <p:ext uri="{BB962C8B-B14F-4D97-AF65-F5344CB8AC3E}">
        <p14:creationId xmlns:p14="http://schemas.microsoft.com/office/powerpoint/2010/main" val="763140218"/>
      </p:ext>
    </p:extLst>
  </p:cSld>
</p:sld>
</file>

<file path=ppt/slides/slide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0" name="S4_EYEBROW">
            <a:extLst xmlns:a="http://schemas.openxmlformats.org/drawingml/2006/main">
              <a:ext uri="{FF2B5EF4-FFF2-40B4-BE49-F238E27FC236}">
                <a16:creationId xmlns:a16="http://schemas.microsoft.com/office/drawing/2014/main" id="{AFA97395-C1E0-4A2F-94F3-5C89882D9A9A}"/>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4_TITLE">
            <a:extLst xmlns:a="http://schemas.openxmlformats.org/drawingml/2006/main">
              <a:ext uri="{FF2B5EF4-FFF2-40B4-BE49-F238E27FC236}">
                <a16:creationId xmlns:a16="http://schemas.microsoft.com/office/drawing/2014/main" id="{1B50C1B3-D1F4-4B68-8B99-7E4CF202E83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Reflected và Stored: hai đường phát lại</a:t>
            </a:r>
          </a:p>
        </p:txBody>
      </p:sp>
      <p:sp>
        <p:nvSpPr>
          <p:cNvPr id="3" name="S4_SUBTITLE">
            <a:extLst xmlns:a="http://schemas.openxmlformats.org/drawingml/2006/main">
              <a:ext uri="{FF2B5EF4-FFF2-40B4-BE49-F238E27FC236}">
                <a16:creationId xmlns:a16="http://schemas.microsoft.com/office/drawing/2014/main" id="{13B9AAB0-A53B-41C1-9A0A-8F6345A2D6EE}"/>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Reflected quay về ngay; Stored đi qua database rồi kích hoạt ở lần xem sau.</a:t>
            </a:r>
          </a:p>
        </p:txBody>
      </p:sp>
      <p:sp>
        <p:nvSpPr>
          <p:cNvPr id="4" name="S4_TITLE_RULE">
            <a:extLst xmlns:a="http://schemas.openxmlformats.org/drawingml/2006/main">
              <a:ext uri="{FF2B5EF4-FFF2-40B4-BE49-F238E27FC236}">
                <a16:creationId xmlns:a16="http://schemas.microsoft.com/office/drawing/2014/main" id="{CC0AA58B-396D-4663-BFE7-9A0D7FFA8953}"/>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4_FOOTER_RULE">
            <a:extLst xmlns:a="http://schemas.openxmlformats.org/drawingml/2006/main">
              <a:ext uri="{FF2B5EF4-FFF2-40B4-BE49-F238E27FC236}">
                <a16:creationId xmlns:a16="http://schemas.microsoft.com/office/drawing/2014/main" id="{1F80C714-BB37-473C-8443-EAD3FCE42757}"/>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4_SOURCE">
            <a:extLst xmlns:a="http://schemas.openxmlformats.org/drawingml/2006/main">
              <a:ext uri="{FF2B5EF4-FFF2-40B4-BE49-F238E27FC236}">
                <a16:creationId xmlns:a16="http://schemas.microsoft.com/office/drawing/2014/main" id="{1F45A508-C6C2-4DE7-A1AD-231316B181A7}"/>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reflected/stored templates</a:t>
            </a:r>
          </a:p>
        </p:txBody>
      </p:sp>
      <p:sp>
        <p:nvSpPr>
          <p:cNvPr id="7" name="S4_NUMBER">
            <a:extLst xmlns:a="http://schemas.openxmlformats.org/drawingml/2006/main">
              <a:ext uri="{FF2B5EF4-FFF2-40B4-BE49-F238E27FC236}">
                <a16:creationId xmlns:a16="http://schemas.microsoft.com/office/drawing/2014/main" id="{0F9D869E-DBE2-43D1-9D14-498D7663B91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04</a:t>
            </a:r>
          </a:p>
        </p:txBody>
      </p:sp>
      <p:sp>
        <p:nvSpPr>
          <p:cNvPr id="8" name="S4_REFLECTED_ARROW_1">
            <a:extLst xmlns:a="http://schemas.openxmlformats.org/drawingml/2006/main">
              <a:ext uri="{FF2B5EF4-FFF2-40B4-BE49-F238E27FC236}">
                <a16:creationId xmlns:a16="http://schemas.microsoft.com/office/drawing/2014/main" id="{EBAE6E3A-47A6-4AC9-983D-B28F29C98E39}"/>
              </a:ext>
            </a:extLst>
          </p:cNvPr>
          <p:cNvSpPr>
            <a:spLocks xmlns:a="http://schemas.openxmlformats.org/drawingml/2006/main" noGrp="1"/>
          </p:cNvSpPr>
          <p:nvPr/>
        </p:nvSpPr>
        <p:spPr>
          <a:xfrm xmlns:a="http://schemas.openxmlformats.org/drawingml/2006/main">
            <a:off x="2090738"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4_REFLECTED_ARROW_2">
            <a:extLst xmlns:a="http://schemas.openxmlformats.org/drawingml/2006/main">
              <a:ext uri="{FF2B5EF4-FFF2-40B4-BE49-F238E27FC236}">
                <a16:creationId xmlns:a16="http://schemas.microsoft.com/office/drawing/2014/main" id="{17479672-AFD0-45A5-835E-33DA73622896}"/>
              </a:ext>
            </a:extLst>
          </p:cNvPr>
          <p:cNvSpPr>
            <a:spLocks xmlns:a="http://schemas.openxmlformats.org/drawingml/2006/main" noGrp="1"/>
          </p:cNvSpPr>
          <p:nvPr/>
        </p:nvSpPr>
        <p:spPr>
          <a:xfrm xmlns:a="http://schemas.openxmlformats.org/drawingml/2006/main">
            <a:off x="3914775"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4_REFLECTED_ARROW_3">
            <a:extLst xmlns:a="http://schemas.openxmlformats.org/drawingml/2006/main">
              <a:ext uri="{FF2B5EF4-FFF2-40B4-BE49-F238E27FC236}">
                <a16:creationId xmlns:a16="http://schemas.microsoft.com/office/drawing/2014/main" id="{067E55AE-CCF6-4432-9F94-51AC33AB16AD}"/>
              </a:ext>
            </a:extLst>
          </p:cNvPr>
          <p:cNvSpPr>
            <a:spLocks xmlns:a="http://schemas.openxmlformats.org/drawingml/2006/main" noGrp="1"/>
          </p:cNvSpPr>
          <p:nvPr/>
        </p:nvSpPr>
        <p:spPr>
          <a:xfrm xmlns:a="http://schemas.openxmlformats.org/drawingml/2006/main">
            <a:off x="5738813"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4_REFLECTED_NODE_1">
            <a:extLst xmlns:a="http://schemas.openxmlformats.org/drawingml/2006/main">
              <a:ext uri="{FF2B5EF4-FFF2-40B4-BE49-F238E27FC236}">
                <a16:creationId xmlns:a16="http://schemas.microsoft.com/office/drawing/2014/main" id="{7D8AEC19-45AD-4C8A-8D76-14977D9DFC7A}"/>
              </a:ext>
            </a:extLst>
          </p:cNvPr>
          <p:cNvSpPr>
            <a:spLocks xmlns:a="http://schemas.openxmlformats.org/drawingml/2006/main" noGrp="1"/>
          </p:cNvSpPr>
          <p:nvPr/>
        </p:nvSpPr>
        <p:spPr>
          <a:xfrm xmlns:a="http://schemas.openxmlformats.org/drawingml/2006/main">
            <a:off x="533400"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?q=</a:t>
            </a:r>
          </a:p>
        </p:txBody>
      </p:sp>
      <p:sp>
        <p:nvSpPr>
          <p:cNvPr id="12" name="S4_REFLECTED_NODE_2">
            <a:extLst xmlns:a="http://schemas.openxmlformats.org/drawingml/2006/main">
              <a:ext uri="{FF2B5EF4-FFF2-40B4-BE49-F238E27FC236}">
                <a16:creationId xmlns:a16="http://schemas.microsoft.com/office/drawing/2014/main" id="{A477E903-D806-4CC4-82B1-05F6690C1544}"/>
              </a:ext>
            </a:extLst>
          </p:cNvPr>
          <p:cNvSpPr>
            <a:spLocks xmlns:a="http://schemas.openxmlformats.org/drawingml/2006/main" noGrp="1"/>
          </p:cNvSpPr>
          <p:nvPr/>
        </p:nvSpPr>
        <p:spPr>
          <a:xfrm xmlns:a="http://schemas.openxmlformats.org/drawingml/2006/main">
            <a:off x="2357438"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Markup(q)</a:t>
            </a:r>
          </a:p>
        </p:txBody>
      </p:sp>
      <p:sp>
        <p:nvSpPr>
          <p:cNvPr id="13" name="S4_REFLECTED_NODE_3">
            <a:extLst xmlns:a="http://schemas.openxmlformats.org/drawingml/2006/main">
              <a:ext uri="{FF2B5EF4-FFF2-40B4-BE49-F238E27FC236}">
                <a16:creationId xmlns:a16="http://schemas.microsoft.com/office/drawing/2014/main" id="{BE48E1F8-AD4C-4BBF-A8B0-E7CDF19CEA92}"/>
              </a:ext>
            </a:extLst>
          </p:cNvPr>
          <p:cNvSpPr>
            <a:spLocks xmlns:a="http://schemas.openxmlformats.org/drawingml/2006/main" noGrp="1"/>
          </p:cNvSpPr>
          <p:nvPr/>
        </p:nvSpPr>
        <p:spPr>
          <a:xfrm xmlns:a="http://schemas.openxmlformats.org/drawingml/2006/main">
            <a:off x="4181475"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HTML response</a:t>
            </a:r>
          </a:p>
        </p:txBody>
      </p:sp>
      <p:sp>
        <p:nvSpPr>
          <p:cNvPr id="14" name="S4_REFLECTED_NODE_4">
            <a:extLst xmlns:a="http://schemas.openxmlformats.org/drawingml/2006/main">
              <a:ext uri="{FF2B5EF4-FFF2-40B4-BE49-F238E27FC236}">
                <a16:creationId xmlns:a16="http://schemas.microsoft.com/office/drawing/2014/main" id="{6A91617D-7927-4398-984A-44FD5F967FD2}"/>
              </a:ext>
            </a:extLst>
          </p:cNvPr>
          <p:cNvSpPr>
            <a:spLocks xmlns:a="http://schemas.openxmlformats.org/drawingml/2006/main" noGrp="1"/>
          </p:cNvSpPr>
          <p:nvPr/>
        </p:nvSpPr>
        <p:spPr>
          <a:xfrm xmlns:a="http://schemas.openxmlformats.org/drawingml/2006/main">
            <a:off x="6005513" y="180975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 chạy</a:t>
            </a:r>
          </a:p>
        </p:txBody>
      </p:sp>
      <p:sp>
        <p:nvSpPr>
          <p:cNvPr id="15" name="S4_STORED_ARROW_1">
            <a:extLst xmlns:a="http://schemas.openxmlformats.org/drawingml/2006/main">
              <a:ext uri="{FF2B5EF4-FFF2-40B4-BE49-F238E27FC236}">
                <a16:creationId xmlns:a16="http://schemas.microsoft.com/office/drawing/2014/main" id="{FBDE49EB-CAC6-4340-BCF2-DF5EE507B92D}"/>
              </a:ext>
            </a:extLst>
          </p:cNvPr>
          <p:cNvSpPr>
            <a:spLocks xmlns:a="http://schemas.openxmlformats.org/drawingml/2006/main" noGrp="1"/>
          </p:cNvSpPr>
          <p:nvPr/>
        </p:nvSpPr>
        <p:spPr>
          <a:xfrm xmlns:a="http://schemas.openxmlformats.org/drawingml/2006/main">
            <a:off x="2090738"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6" name="S4_STORED_ARROW_2">
            <a:extLst xmlns:a="http://schemas.openxmlformats.org/drawingml/2006/main">
              <a:ext uri="{FF2B5EF4-FFF2-40B4-BE49-F238E27FC236}">
                <a16:creationId xmlns:a16="http://schemas.microsoft.com/office/drawing/2014/main" id="{0A05C6FF-0739-4026-B083-C6A72666361D}"/>
              </a:ext>
            </a:extLst>
          </p:cNvPr>
          <p:cNvSpPr>
            <a:spLocks xmlns:a="http://schemas.openxmlformats.org/drawingml/2006/main" noGrp="1"/>
          </p:cNvSpPr>
          <p:nvPr/>
        </p:nvSpPr>
        <p:spPr>
          <a:xfrm xmlns:a="http://schemas.openxmlformats.org/drawingml/2006/main">
            <a:off x="3914775"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7" name="S4_STORED_ARROW_3">
            <a:extLst xmlns:a="http://schemas.openxmlformats.org/drawingml/2006/main">
              <a:ext uri="{FF2B5EF4-FFF2-40B4-BE49-F238E27FC236}">
                <a16:creationId xmlns:a16="http://schemas.microsoft.com/office/drawing/2014/main" id="{EB291329-6FB5-4999-9172-A179B20F0920}"/>
              </a:ext>
            </a:extLst>
          </p:cNvPr>
          <p:cNvSpPr>
            <a:spLocks xmlns:a="http://schemas.openxmlformats.org/drawingml/2006/main" noGrp="1"/>
          </p:cNvSpPr>
          <p:nvPr/>
        </p:nvSpPr>
        <p:spPr>
          <a:xfrm xmlns:a="http://schemas.openxmlformats.org/drawingml/2006/main">
            <a:off x="5738813" y="32956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8" name="S4_STORED_NODE_1">
            <a:extLst xmlns:a="http://schemas.openxmlformats.org/drawingml/2006/main">
              <a:ext uri="{FF2B5EF4-FFF2-40B4-BE49-F238E27FC236}">
                <a16:creationId xmlns:a16="http://schemas.microsoft.com/office/drawing/2014/main" id="{A025B037-6B09-47BC-A4D6-E66AABA2E4EB}"/>
              </a:ext>
            </a:extLst>
          </p:cNvPr>
          <p:cNvSpPr>
            <a:spLocks xmlns:a="http://schemas.openxmlformats.org/drawingml/2006/main" noGrp="1"/>
          </p:cNvSpPr>
          <p:nvPr/>
        </p:nvSpPr>
        <p:spPr>
          <a:xfrm xmlns:a="http://schemas.openxmlformats.org/drawingml/2006/main">
            <a:off x="533400"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body</a:t>
            </a:r>
          </a:p>
        </p:txBody>
      </p:sp>
      <p:sp>
        <p:nvSpPr>
          <p:cNvPr id="19" name="S4_STORED_NODE_2">
            <a:extLst xmlns:a="http://schemas.openxmlformats.org/drawingml/2006/main">
              <a:ext uri="{FF2B5EF4-FFF2-40B4-BE49-F238E27FC236}">
                <a16:creationId xmlns:a16="http://schemas.microsoft.com/office/drawing/2014/main" id="{1F08A4CA-8C90-41C8-A9FC-0989C2E47E09}"/>
              </a:ext>
            </a:extLst>
          </p:cNvPr>
          <p:cNvSpPr>
            <a:spLocks xmlns:a="http://schemas.openxmlformats.org/drawingml/2006/main" noGrp="1"/>
          </p:cNvSpPr>
          <p:nvPr/>
        </p:nvSpPr>
        <p:spPr>
          <a:xfrm xmlns:a="http://schemas.openxmlformats.org/drawingml/2006/main">
            <a:off x="2357438"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SQLite</a:t>
            </a:r>
          </a:p>
        </p:txBody>
      </p:sp>
      <p:sp>
        <p:nvSpPr>
          <p:cNvPr id="20" name="S4_STORED_NODE_3">
            <a:extLst xmlns:a="http://schemas.openxmlformats.org/drawingml/2006/main">
              <a:ext uri="{FF2B5EF4-FFF2-40B4-BE49-F238E27FC236}">
                <a16:creationId xmlns:a16="http://schemas.microsoft.com/office/drawing/2014/main" id="{8AE451FD-DE98-4B9E-97D8-E1260F33CF1A}"/>
              </a:ext>
            </a:extLst>
          </p:cNvPr>
          <p:cNvSpPr>
            <a:spLocks xmlns:a="http://schemas.openxmlformats.org/drawingml/2006/main" noGrp="1"/>
          </p:cNvSpPr>
          <p:nvPr/>
        </p:nvSpPr>
        <p:spPr>
          <a:xfrm xmlns:a="http://schemas.openxmlformats.org/drawingml/2006/main">
            <a:off x="4181475"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Markup(body)</a:t>
            </a:r>
          </a:p>
        </p:txBody>
      </p:sp>
      <p:sp>
        <p:nvSpPr>
          <p:cNvPr id="21" name="S4_STORED_NODE_4">
            <a:extLst xmlns:a="http://schemas.openxmlformats.org/drawingml/2006/main">
              <a:ext uri="{FF2B5EF4-FFF2-40B4-BE49-F238E27FC236}">
                <a16:creationId xmlns:a16="http://schemas.microsoft.com/office/drawing/2014/main" id="{8406170B-D65F-4855-8384-AED14D982AA4}"/>
              </a:ext>
            </a:extLst>
          </p:cNvPr>
          <p:cNvSpPr>
            <a:spLocks xmlns:a="http://schemas.openxmlformats.org/drawingml/2006/main" noGrp="1"/>
          </p:cNvSpPr>
          <p:nvPr/>
        </p:nvSpPr>
        <p:spPr>
          <a:xfrm xmlns:a="http://schemas.openxmlformats.org/drawingml/2006/main">
            <a:off x="6005513" y="2971800"/>
            <a:ext cx="1423988"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Mọi viewer</a:t>
            </a:r>
          </a:p>
        </p:txBody>
      </p:sp>
      <p:sp>
        <p:nvSpPr>
          <p:cNvPr id="22" name="PH_S04_Lab01_29_reflected_network_request_png_FRAME">
            <a:extLst xmlns:a="http://schemas.openxmlformats.org/drawingml/2006/main">
              <a:ext uri="{FF2B5EF4-FFF2-40B4-BE49-F238E27FC236}">
                <a16:creationId xmlns:a16="http://schemas.microsoft.com/office/drawing/2014/main" id="{B96A2C54-D9EF-4D01-ADCF-CE36A7EF61F6}"/>
              </a:ext>
            </a:extLst>
          </p:cNvPr>
          <p:cNvSpPr>
            <a:spLocks xmlns:a="http://schemas.openxmlformats.org/drawingml/2006/main" noGrp="1"/>
          </p:cNvSpPr>
          <p:nvPr/>
        </p:nvSpPr>
        <p:spPr>
          <a:xfrm xmlns:a="http://schemas.openxmlformats.org/drawingml/2006/main">
            <a:off x="7762875" y="1724025"/>
            <a:ext cx="3924300" cy="22669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04_Lab01_29_reflected_network_request_png_IMAGE">
            <a:extLst xmlns:a="http://schemas.openxmlformats.org/drawingml/2006/main">
              <a:ext uri="{FF2B5EF4-FFF2-40B4-BE49-F238E27FC236}">
                <a16:creationId xmlns:a16="http://schemas.microsoft.com/office/drawing/2014/main" id="{C027DC3A-BE45-452A-816A-72B2193C258E}"/>
              </a:ext>
            </a:extLst>
          </p:cNvPr>
          <p:cNvSpPr>
            <a:spLocks xmlns:a="http://schemas.openxmlformats.org/drawingml/2006/main" noGrp="1"/>
          </p:cNvSpPr>
          <p:nvPr/>
        </p:nvSpPr>
        <p:spPr>
          <a:xfrm xmlns:a="http://schemas.openxmlformats.org/drawingml/2006/main">
            <a:off x="7791450" y="1752600"/>
            <a:ext cx="3867150" cy="2209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04_Lab01_29_reflected_network_request_png_ICON">
            <a:extLst xmlns:a="http://schemas.openxmlformats.org/drawingml/2006/main">
              <a:ext uri="{FF2B5EF4-FFF2-40B4-BE49-F238E27FC236}">
                <a16:creationId xmlns:a16="http://schemas.microsoft.com/office/drawing/2014/main" id="{78191AD4-A456-46C5-95E6-6E7C3A78F2E8}"/>
              </a:ext>
            </a:extLst>
          </p:cNvPr>
          <p:cNvSpPr>
            <a:spLocks xmlns:a="http://schemas.openxmlformats.org/drawingml/2006/main" noGrp="1"/>
          </p:cNvSpPr>
          <p:nvPr/>
        </p:nvSpPr>
        <p:spPr>
          <a:xfrm xmlns:a="http://schemas.openxmlformats.org/drawingml/2006/main">
            <a:off x="79438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04_Lab01_29_reflected_network_request_png_INSTRUCTION">
            <a:extLst xmlns:a="http://schemas.openxmlformats.org/drawingml/2006/main">
              <a:ext uri="{FF2B5EF4-FFF2-40B4-BE49-F238E27FC236}">
                <a16:creationId xmlns:a16="http://schemas.microsoft.com/office/drawing/2014/main" id="{AD30691D-B118-40E9-8EAC-56BE2E5BE880}"/>
              </a:ext>
            </a:extLst>
          </p:cNvPr>
          <p:cNvSpPr>
            <a:spLocks xmlns:a="http://schemas.openxmlformats.org/drawingml/2006/main" noGrp="1"/>
          </p:cNvSpPr>
          <p:nvPr/>
        </p:nvSpPr>
        <p:spPr>
          <a:xfrm xmlns:a="http://schemas.openxmlformats.org/drawingml/2006/main">
            <a:off x="8458200" y="1924050"/>
            <a:ext cx="30289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29_reflected_network_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request.png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04_Lab01_29_reflected_network_request_png_CAPTION">
            <a:extLst xmlns:a="http://schemas.openxmlformats.org/drawingml/2006/main">
              <a:ext uri="{FF2B5EF4-FFF2-40B4-BE49-F238E27FC236}">
                <a16:creationId xmlns:a16="http://schemas.microsoft.com/office/drawing/2014/main" id="{66707E72-8607-4686-8AB9-713A9BABEA68}"/>
              </a:ext>
            </a:extLst>
          </p:cNvPr>
          <p:cNvSpPr>
            <a:spLocks xmlns:a="http://schemas.openxmlformats.org/drawingml/2006/main" noGrp="1"/>
          </p:cNvSpPr>
          <p:nvPr/>
        </p:nvSpPr>
        <p:spPr>
          <a:xfrm xmlns:a="http://schemas.openxmlformats.org/drawingml/2006/main">
            <a:off x="7791450" y="3552825"/>
            <a:ext cx="3867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Reflected XSS — request GET trong Network</a:t>
            </a:r>
          </a:p>
        </p:txBody>
      </p:sp>
      <p:sp>
        <p:nvSpPr>
          <p:cNvPr id="27" name="S4_IMPACT_BAR">
            <a:extLst xmlns:a="http://schemas.openxmlformats.org/drawingml/2006/main">
              <a:ext uri="{FF2B5EF4-FFF2-40B4-BE49-F238E27FC236}">
                <a16:creationId xmlns:a16="http://schemas.microsoft.com/office/drawing/2014/main" id="{8881588A-2E42-4408-92A5-D307466EFF66}"/>
              </a:ext>
            </a:extLst>
          </p:cNvPr>
          <p:cNvSpPr>
            <a:spLocks xmlns:a="http://schemas.openxmlformats.org/drawingml/2006/main" noGrp="1"/>
          </p:cNvSpPr>
          <p:nvPr/>
        </p:nvSpPr>
        <p:spPr>
          <a:xfrm xmlns:a="http://schemas.openxmlformats.org/drawingml/2006/main">
            <a:off x="533400" y="4343400"/>
            <a:ext cx="76200" cy="0"/>
          </a:xfrm>
          <a:prstGeom xmlns:a="http://schemas.openxmlformats.org/drawingml/2006/main" prst="rect">
            <a:avLst/>
          </a:prstGeom>
          <a:ln xmlns:a="http://schemas.openxmlformats.org/drawingml/2006/main" w="0">
            <a:noFill/>
            <a:prstDash val="solid"/>
          </a:ln>
        </p:spPr>
      </p:sp>
      <p:sp>
        <p:nvSpPr>
          <p:cNvPr id="28" name="S4_IMPACT_LABEL">
            <a:extLst xmlns:a="http://schemas.openxmlformats.org/drawingml/2006/main">
              <a:ext uri="{FF2B5EF4-FFF2-40B4-BE49-F238E27FC236}">
                <a16:creationId xmlns:a16="http://schemas.microsoft.com/office/drawing/2014/main" id="{48DC6D8F-D013-41FD-8A23-082BD1C531EF}"/>
              </a:ext>
            </a:extLst>
          </p:cNvPr>
          <p:cNvSpPr>
            <a:spLocks xmlns:a="http://schemas.openxmlformats.org/drawingml/2006/main" noGrp="1"/>
          </p:cNvSpPr>
          <p:nvPr/>
        </p:nvSpPr>
        <p:spPr>
          <a:xfrm xmlns:a="http://schemas.openxmlformats.org/drawingml/2006/main">
            <a:off x="704850" y="4362450"/>
            <a:ext cx="10934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THỰC HÀNH REFLECTED / STORED</a:t>
            </a:r>
          </a:p>
        </p:txBody>
      </p:sp>
      <p:sp>
        <p:nvSpPr>
          <p:cNvPr id="29" name="S4_IMPACT_BODY">
            <a:extLst xmlns:a="http://schemas.openxmlformats.org/drawingml/2006/main">
              <a:ext uri="{FF2B5EF4-FFF2-40B4-BE49-F238E27FC236}">
                <a16:creationId xmlns:a16="http://schemas.microsoft.com/office/drawing/2014/main" id="{D30A31A9-F85F-4C14-8582-5F8FF8711665}"/>
              </a:ext>
            </a:extLst>
          </p:cNvPr>
          <p:cNvSpPr>
            <a:spLocks xmlns:a="http://schemas.openxmlformats.org/drawingml/2006/main" noGrp="1"/>
          </p:cNvSpPr>
          <p:nvPr/>
        </p:nvSpPr>
        <p:spPr>
          <a:xfrm xmlns:a="http://schemas.openxmlformats.org/drawingml/2006/main">
            <a:off x="704850" y="4667250"/>
            <a:ext cx="10934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1 Chuỗi thường → 2 xem dữ liệu trong HTML → 3 payload alert an toàn → 4 xác định vị trí phản chiếu/nơi lưu → 5 reload hoặc dùng user khác để kiểm Stored chạy lại.</a:t>
            </a:r>
          </a:p>
        </p:txBody>
      </p:sp>
    </p:spTree>
    <p:extLst>
      <p:ext uri="{BB962C8B-B14F-4D97-AF65-F5344CB8AC3E}">
        <p14:creationId xmlns:p14="http://schemas.microsoft.com/office/powerpoint/2010/main" val="1853314474"/>
      </p:ext>
    </p:extLst>
  </p:cSld>
</p:sld>
</file>

<file path=ppt/slides/slide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0" name="S5_EYEBROW">
            <a:extLst xmlns:a="http://schemas.openxmlformats.org/drawingml/2006/main">
              <a:ext uri="{FF2B5EF4-FFF2-40B4-BE49-F238E27FC236}">
                <a16:creationId xmlns:a16="http://schemas.microsoft.com/office/drawing/2014/main" id="{68E5F66F-4C5F-41C0-9A3A-C175EDC0428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5_TITLE">
            <a:extLst xmlns:a="http://schemas.openxmlformats.org/drawingml/2006/main">
              <a:ext uri="{FF2B5EF4-FFF2-40B4-BE49-F238E27FC236}">
                <a16:creationId xmlns:a16="http://schemas.microsoft.com/office/drawing/2014/main" id="{0211EEC3-238A-45A7-A984-6FB60CBEF8C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DOM XSS: source và sink cùng ở browser</a:t>
            </a:r>
          </a:p>
        </p:txBody>
      </p:sp>
      <p:sp>
        <p:nvSpPr>
          <p:cNvPr id="3" name="S5_SUBTITLE">
            <a:extLst xmlns:a="http://schemas.openxmlformats.org/drawingml/2006/main">
              <a:ext uri="{FF2B5EF4-FFF2-40B4-BE49-F238E27FC236}">
                <a16:creationId xmlns:a16="http://schemas.microsoft.com/office/drawing/2014/main" id="{D830A079-8ED9-4F4D-A1E0-2869ED644AC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Fragment không gửi lên server; JavaScript phía client tự biến nó thành DOM.</a:t>
            </a:r>
          </a:p>
        </p:txBody>
      </p:sp>
      <p:sp>
        <p:nvSpPr>
          <p:cNvPr id="4" name="S5_TITLE_RULE">
            <a:extLst xmlns:a="http://schemas.openxmlformats.org/drawingml/2006/main">
              <a:ext uri="{FF2B5EF4-FFF2-40B4-BE49-F238E27FC236}">
                <a16:creationId xmlns:a16="http://schemas.microsoft.com/office/drawing/2014/main" id="{4F54B786-4F5A-4681-8CC3-7888C208449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5_FOOTER_RULE">
            <a:extLst xmlns:a="http://schemas.openxmlformats.org/drawingml/2006/main">
              <a:ext uri="{FF2B5EF4-FFF2-40B4-BE49-F238E27FC236}">
                <a16:creationId xmlns:a16="http://schemas.microsoft.com/office/drawing/2014/main" id="{48F4C852-AB4C-418E-BCDD-FF998529688F}"/>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5_SOURCE">
            <a:extLst xmlns:a="http://schemas.openxmlformats.org/drawingml/2006/main">
              <a:ext uri="{FF2B5EF4-FFF2-40B4-BE49-F238E27FC236}">
                <a16:creationId xmlns:a16="http://schemas.microsoft.com/office/drawing/2014/main" id="{8F202C5E-4063-404E-A245-88ED8CADD0CA}"/>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Lab01/static/js/dom_vulnerable.js · dom_secure.js</a:t>
            </a:r>
          </a:p>
        </p:txBody>
      </p:sp>
      <p:sp>
        <p:nvSpPr>
          <p:cNvPr id="7" name="S5_NUMBER">
            <a:extLst xmlns:a="http://schemas.openxmlformats.org/drawingml/2006/main">
              <a:ext uri="{FF2B5EF4-FFF2-40B4-BE49-F238E27FC236}">
                <a16:creationId xmlns:a16="http://schemas.microsoft.com/office/drawing/2014/main" id="{4A2A564A-84CA-4B28-A446-CEBF6C8252B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05</a:t>
            </a:r>
          </a:p>
        </p:txBody>
      </p:sp>
      <p:sp>
        <p:nvSpPr>
          <p:cNvPr id="8" name="S5_DOM_FLOW_ARROW_1">
            <a:extLst xmlns:a="http://schemas.openxmlformats.org/drawingml/2006/main">
              <a:ext uri="{FF2B5EF4-FFF2-40B4-BE49-F238E27FC236}">
                <a16:creationId xmlns:a16="http://schemas.microsoft.com/office/drawing/2014/main" id="{1A95DE29-B7E1-4884-85AA-A242FC3A0B9B}"/>
              </a:ext>
            </a:extLst>
          </p:cNvPr>
          <p:cNvSpPr>
            <a:spLocks xmlns:a="http://schemas.openxmlformats.org/drawingml/2006/main" noGrp="1"/>
          </p:cNvSpPr>
          <p:nvPr/>
        </p:nvSpPr>
        <p:spPr>
          <a:xfrm xmlns:a="http://schemas.openxmlformats.org/drawingml/2006/main">
            <a:off x="3148013"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5_DOM_FLOW_ARROW_2">
            <a:extLst xmlns:a="http://schemas.openxmlformats.org/drawingml/2006/main">
              <a:ext uri="{FF2B5EF4-FFF2-40B4-BE49-F238E27FC236}">
                <a16:creationId xmlns:a16="http://schemas.microsoft.com/office/drawing/2014/main" id="{05AEC962-99FA-4D84-A67C-250126478D4B}"/>
              </a:ext>
            </a:extLst>
          </p:cNvPr>
          <p:cNvSpPr>
            <a:spLocks xmlns:a="http://schemas.openxmlformats.org/drawingml/2006/main" noGrp="1"/>
          </p:cNvSpPr>
          <p:nvPr/>
        </p:nvSpPr>
        <p:spPr>
          <a:xfrm xmlns:a="http://schemas.openxmlformats.org/drawingml/2006/main">
            <a:off x="6029325"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5_DOM_FLOW_ARROW_3">
            <a:extLst xmlns:a="http://schemas.openxmlformats.org/drawingml/2006/main">
              <a:ext uri="{FF2B5EF4-FFF2-40B4-BE49-F238E27FC236}">
                <a16:creationId xmlns:a16="http://schemas.microsoft.com/office/drawing/2014/main" id="{F253222E-0457-433E-8136-203B972C9D41}"/>
              </a:ext>
            </a:extLst>
          </p:cNvPr>
          <p:cNvSpPr>
            <a:spLocks xmlns:a="http://schemas.openxmlformats.org/drawingml/2006/main" noGrp="1"/>
          </p:cNvSpPr>
          <p:nvPr/>
        </p:nvSpPr>
        <p:spPr>
          <a:xfrm xmlns:a="http://schemas.openxmlformats.org/drawingml/2006/main">
            <a:off x="8910638" y="213360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5_DOM_FLOW_NODE_1">
            <a:extLst xmlns:a="http://schemas.openxmlformats.org/drawingml/2006/main">
              <a:ext uri="{FF2B5EF4-FFF2-40B4-BE49-F238E27FC236}">
                <a16:creationId xmlns:a16="http://schemas.microsoft.com/office/drawing/2014/main" id="{E0D7EAF8-0A13-4F98-A39E-842E5CE39FAD}"/>
              </a:ext>
            </a:extLst>
          </p:cNvPr>
          <p:cNvSpPr>
            <a:spLocks xmlns:a="http://schemas.openxmlformats.org/drawingml/2006/main" noGrp="1"/>
          </p:cNvSpPr>
          <p:nvPr/>
        </p:nvSpPr>
        <p:spPr>
          <a:xfrm xmlns:a="http://schemas.openxmlformats.org/drawingml/2006/main">
            <a:off x="533400"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location.hash</a:t>
            </a:r>
          </a:p>
        </p:txBody>
      </p:sp>
      <p:sp>
        <p:nvSpPr>
          <p:cNvPr id="12" name="S5_DOM_FLOW_NODE_2">
            <a:extLst xmlns:a="http://schemas.openxmlformats.org/drawingml/2006/main">
              <a:ext uri="{FF2B5EF4-FFF2-40B4-BE49-F238E27FC236}">
                <a16:creationId xmlns:a16="http://schemas.microsoft.com/office/drawing/2014/main" id="{8A9E09E2-AA37-4BEC-B650-C9AAF36CE8D6}"/>
              </a:ext>
            </a:extLst>
          </p:cNvPr>
          <p:cNvSpPr>
            <a:spLocks xmlns:a="http://schemas.openxmlformats.org/drawingml/2006/main" noGrp="1"/>
          </p:cNvSpPr>
          <p:nvPr/>
        </p:nvSpPr>
        <p:spPr>
          <a:xfrm xmlns:a="http://schemas.openxmlformats.org/drawingml/2006/main">
            <a:off x="3414713"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decodeURIComponent</a:t>
            </a:r>
          </a:p>
        </p:txBody>
      </p:sp>
      <p:sp>
        <p:nvSpPr>
          <p:cNvPr id="13" name="S5_DOM_FLOW_NODE_3">
            <a:extLst xmlns:a="http://schemas.openxmlformats.org/drawingml/2006/main">
              <a:ext uri="{FF2B5EF4-FFF2-40B4-BE49-F238E27FC236}">
                <a16:creationId xmlns:a16="http://schemas.microsoft.com/office/drawing/2014/main" id="{41698290-9186-4177-84E6-6062436799E1}"/>
              </a:ext>
            </a:extLst>
          </p:cNvPr>
          <p:cNvSpPr>
            <a:spLocks xmlns:a="http://schemas.openxmlformats.org/drawingml/2006/main" noGrp="1"/>
          </p:cNvSpPr>
          <p:nvPr/>
        </p:nvSpPr>
        <p:spPr>
          <a:xfrm xmlns:a="http://schemas.openxmlformats.org/drawingml/2006/main">
            <a:off x="6296025"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innerHTML</a:t>
            </a:r>
          </a:p>
        </p:txBody>
      </p:sp>
      <p:sp>
        <p:nvSpPr>
          <p:cNvPr id="14" name="S5_DOM_FLOW_NODE_4">
            <a:extLst xmlns:a="http://schemas.openxmlformats.org/drawingml/2006/main">
              <a:ext uri="{FF2B5EF4-FFF2-40B4-BE49-F238E27FC236}">
                <a16:creationId xmlns:a16="http://schemas.microsoft.com/office/drawing/2014/main" id="{1F82F7F1-FE2E-4015-9024-B0F3333F8570}"/>
              </a:ext>
            </a:extLst>
          </p:cNvPr>
          <p:cNvSpPr>
            <a:spLocks xmlns:a="http://schemas.openxmlformats.org/drawingml/2006/main" noGrp="1"/>
          </p:cNvSpPr>
          <p:nvPr/>
        </p:nvSpPr>
        <p:spPr>
          <a:xfrm xmlns:a="http://schemas.openxmlformats.org/drawingml/2006/main">
            <a:off x="9177338" y="1752600"/>
            <a:ext cx="2481263"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 node / event</a:t>
            </a:r>
          </a:p>
        </p:txBody>
      </p:sp>
      <p:sp>
        <p:nvSpPr>
          <p:cNvPr id="15" name="S5_VULN_CODE">
            <a:extLst xmlns:a="http://schemas.openxmlformats.org/drawingml/2006/main">
              <a:ext uri="{FF2B5EF4-FFF2-40B4-BE49-F238E27FC236}">
                <a16:creationId xmlns:a16="http://schemas.microsoft.com/office/drawing/2014/main" id="{CE640520-5AEC-4ECE-8469-81F77BD85FD8}"/>
              </a:ext>
            </a:extLst>
          </p:cNvPr>
          <p:cNvSpPr>
            <a:spLocks xmlns:a="http://schemas.openxmlformats.org/drawingml/2006/main" noGrp="1"/>
          </p:cNvSpPr>
          <p:nvPr/>
        </p:nvSpPr>
        <p:spPr>
          <a:xfrm xmlns:a="http://schemas.openxmlformats.org/drawingml/2006/main">
            <a:off x="533400" y="3105150"/>
            <a:ext cx="5314950" cy="17907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const value = decodeURIComponent(location.hash.slice(1));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result.innerHTML = value;</a:t>
            </a:r>
          </a:p>
        </p:txBody>
      </p:sp>
      <p:sp>
        <p:nvSpPr>
          <p:cNvPr id="16" name="S5_SAFE_CODE">
            <a:extLst xmlns:a="http://schemas.openxmlformats.org/drawingml/2006/main">
              <a:ext uri="{FF2B5EF4-FFF2-40B4-BE49-F238E27FC236}">
                <a16:creationId xmlns:a16="http://schemas.microsoft.com/office/drawing/2014/main" id="{78075A93-A7ED-45F3-8164-F9960F1FA6E7}"/>
              </a:ext>
            </a:extLst>
          </p:cNvPr>
          <p:cNvSpPr>
            <a:spLocks xmlns:a="http://schemas.openxmlformats.org/drawingml/2006/main" noGrp="1"/>
          </p:cNvSpPr>
          <p:nvPr/>
        </p:nvSpPr>
        <p:spPr>
          <a:xfrm xmlns:a="http://schemas.openxmlformats.org/drawingml/2006/main">
            <a:off x="6076950" y="3105150"/>
            <a:ext cx="5581650" cy="179070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const value = decodeURIComponent(location.hash.slice(1));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result.textContent = value;</a:t>
            </a:r>
          </a:p>
        </p:txBody>
      </p:sp>
      <p:sp>
        <p:nvSpPr>
          <p:cNvPr id="17" name="S5_ROOT_BAR">
            <a:extLst xmlns:a="http://schemas.openxmlformats.org/drawingml/2006/main">
              <a:ext uri="{FF2B5EF4-FFF2-40B4-BE49-F238E27FC236}">
                <a16:creationId xmlns:a16="http://schemas.microsoft.com/office/drawing/2014/main" id="{17DBBCF8-47F3-40FC-9CC5-0CC85A56BBC0}"/>
              </a:ext>
            </a:extLst>
          </p:cNvPr>
          <p:cNvSpPr>
            <a:spLocks xmlns:a="http://schemas.openxmlformats.org/drawingml/2006/main" noGrp="1"/>
          </p:cNvSpPr>
          <p:nvPr/>
        </p:nvSpPr>
        <p:spPr>
          <a:xfrm xmlns:a="http://schemas.openxmlformats.org/drawingml/2006/main">
            <a:off x="533400" y="5219700"/>
            <a:ext cx="76200" cy="0"/>
          </a:xfrm>
          <a:prstGeom xmlns:a="http://schemas.openxmlformats.org/drawingml/2006/main" prst="rect">
            <a:avLst/>
          </a:prstGeom>
          <a:ln xmlns:a="http://schemas.openxmlformats.org/drawingml/2006/main" w="0">
            <a:noFill/>
            <a:prstDash val="solid"/>
          </a:ln>
        </p:spPr>
      </p:sp>
      <p:sp>
        <p:nvSpPr>
          <p:cNvPr id="18" name="S5_ROOT_LABEL">
            <a:extLst xmlns:a="http://schemas.openxmlformats.org/drawingml/2006/main">
              <a:ext uri="{FF2B5EF4-FFF2-40B4-BE49-F238E27FC236}">
                <a16:creationId xmlns:a16="http://schemas.microsoft.com/office/drawing/2014/main" id="{41710830-CC51-44D0-8524-AD163DA14EBA}"/>
              </a:ext>
            </a:extLst>
          </p:cNvPr>
          <p:cNvSpPr>
            <a:spLocks xmlns:a="http://schemas.openxmlformats.org/drawingml/2006/main" noGrp="1"/>
          </p:cNvSpPr>
          <p:nvPr/>
        </p:nvSpPr>
        <p:spPr>
          <a:xfrm xmlns:a="http://schemas.openxmlformats.org/drawingml/2006/main">
            <a:off x="704850" y="5219700"/>
            <a:ext cx="1638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ROOT CAUSE</a:t>
            </a:r>
          </a:p>
        </p:txBody>
      </p:sp>
      <p:sp>
        <p:nvSpPr>
          <p:cNvPr id="19" name="S5_ROOT_BODY">
            <a:extLst xmlns:a="http://schemas.openxmlformats.org/drawingml/2006/main">
              <a:ext uri="{FF2B5EF4-FFF2-40B4-BE49-F238E27FC236}">
                <a16:creationId xmlns:a16="http://schemas.microsoft.com/office/drawing/2014/main" id="{82AB8C9E-5DFD-4912-892A-178719C27D77}"/>
              </a:ext>
            </a:extLst>
          </p:cNvPr>
          <p:cNvSpPr>
            <a:spLocks xmlns:a="http://schemas.openxmlformats.org/drawingml/2006/main" noGrp="1"/>
          </p:cNvSpPr>
          <p:nvPr/>
        </p:nvSpPr>
        <p:spPr>
          <a:xfrm xmlns:a="http://schemas.openxmlformats.org/drawingml/2006/main">
            <a:off x="2438400" y="5219700"/>
            <a:ext cx="9201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Dữ liệu chỉ nguy hiểm khi đi vào sink diễn giải mã. Kiểm sink DOM: innerHTML · document.write · eval · setTimeout(string) · location.hash.</a:t>
            </a:r>
          </a:p>
        </p:txBody>
      </p:sp>
    </p:spTree>
    <p:extLst>
      <p:ext uri="{BB962C8B-B14F-4D97-AF65-F5344CB8AC3E}">
        <p14:creationId xmlns:p14="http://schemas.microsoft.com/office/powerpoint/2010/main" val="2136278903"/>
      </p:ext>
    </p:extLst>
  </p:cSld>
</p:sld>
</file>

<file path=ppt/slides/slide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S6_EYEBROW">
            <a:extLst xmlns:a="http://schemas.openxmlformats.org/drawingml/2006/main">
              <a:ext uri="{FF2B5EF4-FFF2-40B4-BE49-F238E27FC236}">
                <a16:creationId xmlns:a16="http://schemas.microsoft.com/office/drawing/2014/main" id="{AD2E5BA0-35DD-421E-A14A-B9516A67661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6_TITLE">
            <a:extLst xmlns:a="http://schemas.openxmlformats.org/drawingml/2006/main">
              <a:ext uri="{FF2B5EF4-FFF2-40B4-BE49-F238E27FC236}">
                <a16:creationId xmlns:a16="http://schemas.microsoft.com/office/drawing/2014/main" id="{83C4C8FC-3F66-4A73-9378-55AE215C6AC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Bản vá gốc nằm tại output và DOM sink</a:t>
            </a:r>
          </a:p>
        </p:txBody>
      </p:sp>
      <p:sp>
        <p:nvSpPr>
          <p:cNvPr id="3" name="S6_SUBTITLE">
            <a:extLst xmlns:a="http://schemas.openxmlformats.org/drawingml/2006/main">
              <a:ext uri="{FF2B5EF4-FFF2-40B4-BE49-F238E27FC236}">
                <a16:creationId xmlns:a16="http://schemas.microsoft.com/office/drawing/2014/main" id="{02F24E44-7B42-4F62-8C5C-3EEDA3E836AE}"/>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Encode theo ngữ cảnh · sanitize HTML có chủ đích · dùng API tạo text.</a:t>
            </a:r>
          </a:p>
        </p:txBody>
      </p:sp>
      <p:sp>
        <p:nvSpPr>
          <p:cNvPr id="4" name="S6_TITLE_RULE">
            <a:extLst xmlns:a="http://schemas.openxmlformats.org/drawingml/2006/main">
              <a:ext uri="{FF2B5EF4-FFF2-40B4-BE49-F238E27FC236}">
                <a16:creationId xmlns:a16="http://schemas.microsoft.com/office/drawing/2014/main" id="{2A8D400D-4696-4153-8841-4A652DCD7A20}"/>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6_FOOTER_RULE">
            <a:extLst xmlns:a="http://schemas.openxmlformats.org/drawingml/2006/main">
              <a:ext uri="{FF2B5EF4-FFF2-40B4-BE49-F238E27FC236}">
                <a16:creationId xmlns:a16="http://schemas.microsoft.com/office/drawing/2014/main" id="{DC56AE13-15D8-4DE2-9FB0-CB5DC9A1E764}"/>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6_SOURCE">
            <a:extLst xmlns:a="http://schemas.openxmlformats.org/drawingml/2006/main">
              <a:ext uri="{FF2B5EF4-FFF2-40B4-BE49-F238E27FC236}">
                <a16:creationId xmlns:a16="http://schemas.microsoft.com/office/drawing/2014/main" id="{0830830A-DA32-4CAE-8CCA-A0631B25654E}"/>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Lab01/app.py · dom_secure.js · config.py</a:t>
            </a:r>
          </a:p>
        </p:txBody>
      </p:sp>
      <p:sp>
        <p:nvSpPr>
          <p:cNvPr id="7" name="S6_NUMBER">
            <a:extLst xmlns:a="http://schemas.openxmlformats.org/drawingml/2006/main">
              <a:ext uri="{FF2B5EF4-FFF2-40B4-BE49-F238E27FC236}">
                <a16:creationId xmlns:a16="http://schemas.microsoft.com/office/drawing/2014/main" id="{086C5B82-6680-489E-ABF3-4F4637521D0F}"/>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06</a:t>
            </a:r>
          </a:p>
        </p:txBody>
      </p:sp>
      <p:sp>
        <p:nvSpPr>
          <p:cNvPr id="8" name="S6_PATCH_LEFT">
            <a:extLst xmlns:a="http://schemas.openxmlformats.org/drawingml/2006/main">
              <a:ext uri="{FF2B5EF4-FFF2-40B4-BE49-F238E27FC236}">
                <a16:creationId xmlns:a16="http://schemas.microsoft.com/office/drawing/2014/main" id="{85480E3B-4748-4E47-ADD7-933A8A835DE6}"/>
              </a:ext>
            </a:extLst>
          </p:cNvPr>
          <p:cNvSpPr>
            <a:spLocks xmlns:a="http://schemas.openxmlformats.org/drawingml/2006/main" noGrp="1"/>
          </p:cNvSpPr>
          <p:nvPr/>
        </p:nvSpPr>
        <p:spPr>
          <a:xfrm xmlns:a="http://schemas.openxmlformats.org/drawingml/2006/main">
            <a:off x="533400" y="17526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VULNERABLE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Markup(q)</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Markup(comment.body)</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innerHTML = value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Dữ liệu trở thành markup</a:t>
            </a:r>
          </a:p>
        </p:txBody>
      </p:sp>
      <p:sp>
        <p:nvSpPr>
          <p:cNvPr id="9" name="S6_PATCH_RIGHT">
            <a:extLst xmlns:a="http://schemas.openxmlformats.org/drawingml/2006/main">
              <a:ext uri="{FF2B5EF4-FFF2-40B4-BE49-F238E27FC236}">
                <a16:creationId xmlns:a16="http://schemas.microsoft.com/office/drawing/2014/main" id="{1CC9FA44-6B99-4C34-8F75-C7D941E2AE15}"/>
              </a:ext>
            </a:extLst>
          </p:cNvPr>
          <p:cNvSpPr>
            <a:spLocks xmlns:a="http://schemas.openxmlformats.org/drawingml/2006/main" noGrp="1"/>
          </p:cNvSpPr>
          <p:nvPr/>
        </p:nvSpPr>
        <p:spPr>
          <a:xfrm xmlns:a="http://schemas.openxmlformats.org/drawingml/2006/main">
            <a:off x="6210300" y="17526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SECURE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Jinja auto-escape</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bleach.clean(..., strip=True)</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textContent = value</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CONTEXTUAL ENCODING</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HTML · JavaScript · URL · Attribute</a:t>
            </a:r>
          </a:p>
        </p:txBody>
      </p:sp>
      <p:sp>
        <p:nvSpPr>
          <p:cNvPr id="10" name="PH_S06_Lab01_41_secure_dom_textcontent_png_FRAME">
            <a:extLst xmlns:a="http://schemas.openxmlformats.org/drawingml/2006/main">
              <a:ext uri="{FF2B5EF4-FFF2-40B4-BE49-F238E27FC236}">
                <a16:creationId xmlns:a16="http://schemas.microsoft.com/office/drawing/2014/main" id="{F3E81530-A719-4A39-92E2-9A05B244923A}"/>
              </a:ext>
            </a:extLst>
          </p:cNvPr>
          <p:cNvSpPr>
            <a:spLocks xmlns:a="http://schemas.openxmlformats.org/drawingml/2006/main" noGrp="1"/>
          </p:cNvSpPr>
          <p:nvPr/>
        </p:nvSpPr>
        <p:spPr>
          <a:xfrm xmlns:a="http://schemas.openxmlformats.org/drawingml/2006/main">
            <a:off x="504825" y="4410075"/>
            <a:ext cx="5295900" cy="16764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1" name="PH_S06_Lab01_41_secure_dom_textcontent_png_IMAGE">
            <a:extLst xmlns:a="http://schemas.openxmlformats.org/drawingml/2006/main">
              <a:ext uri="{FF2B5EF4-FFF2-40B4-BE49-F238E27FC236}">
                <a16:creationId xmlns:a16="http://schemas.microsoft.com/office/drawing/2014/main" id="{76B31817-FE03-42DC-A1D8-37FE830FAF78}"/>
              </a:ext>
            </a:extLst>
          </p:cNvPr>
          <p:cNvSpPr>
            <a:spLocks xmlns:a="http://schemas.openxmlformats.org/drawingml/2006/main" noGrp="1"/>
          </p:cNvSpPr>
          <p:nvPr/>
        </p:nvSpPr>
        <p:spPr>
          <a:xfrm xmlns:a="http://schemas.openxmlformats.org/drawingml/2006/main">
            <a:off x="533400" y="4438650"/>
            <a:ext cx="5238750" cy="16192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2" name="PH_S06_Lab01_41_secure_dom_textcontent_png_ICON">
            <a:extLst xmlns:a="http://schemas.openxmlformats.org/drawingml/2006/main">
              <a:ext uri="{FF2B5EF4-FFF2-40B4-BE49-F238E27FC236}">
                <a16:creationId xmlns:a16="http://schemas.microsoft.com/office/drawing/2014/main" id="{766A0D55-FA57-446F-86A7-3B93948A1E02}"/>
              </a:ext>
            </a:extLst>
          </p:cNvPr>
          <p:cNvSpPr>
            <a:spLocks xmlns:a="http://schemas.openxmlformats.org/drawingml/2006/main" noGrp="1"/>
          </p:cNvSpPr>
          <p:nvPr/>
        </p:nvSpPr>
        <p:spPr>
          <a:xfrm xmlns:a="http://schemas.openxmlformats.org/drawingml/2006/main">
            <a:off x="685800" y="45815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3" name="PH_S06_Lab01_41_secure_dom_textcontent_png_INSTRUCTION">
            <a:extLst xmlns:a="http://schemas.openxmlformats.org/drawingml/2006/main">
              <a:ext uri="{FF2B5EF4-FFF2-40B4-BE49-F238E27FC236}">
                <a16:creationId xmlns:a16="http://schemas.microsoft.com/office/drawing/2014/main" id="{236DEC8F-D6B9-4226-BE65-30DF089A1498}"/>
              </a:ext>
            </a:extLst>
          </p:cNvPr>
          <p:cNvSpPr>
            <a:spLocks xmlns:a="http://schemas.openxmlformats.org/drawingml/2006/main" noGrp="1"/>
          </p:cNvSpPr>
          <p:nvPr/>
        </p:nvSpPr>
        <p:spPr>
          <a:xfrm xmlns:a="http://schemas.openxmlformats.org/drawingml/2006/main">
            <a:off x="1200150" y="4610100"/>
            <a:ext cx="4400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41_secure_dom_textcontent.png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4" name="PH_S06_Lab01_41_secure_dom_textcontent_png_CAPTION">
            <a:extLst xmlns:a="http://schemas.openxmlformats.org/drawingml/2006/main">
              <a:ext uri="{FF2B5EF4-FFF2-40B4-BE49-F238E27FC236}">
                <a16:creationId xmlns:a16="http://schemas.microsoft.com/office/drawing/2014/main" id="{53EC1FAB-4034-4571-BF38-F8FB90C6CF6C}"/>
              </a:ext>
            </a:extLst>
          </p:cNvPr>
          <p:cNvSpPr>
            <a:spLocks xmlns:a="http://schemas.openxmlformats.org/drawingml/2006/main" noGrp="1"/>
          </p:cNvSpPr>
          <p:nvPr/>
        </p:nvSpPr>
        <p:spPr>
          <a:xfrm xmlns:a="http://schemas.openxmlformats.org/drawingml/2006/main">
            <a:off x="533400" y="564832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Elements chứng minh textContent an toàn</a:t>
            </a:r>
          </a:p>
        </p:txBody>
      </p:sp>
      <p:sp>
        <p:nvSpPr>
          <p:cNvPr id="15" name="S6_LAYERS_BAR">
            <a:extLst xmlns:a="http://schemas.openxmlformats.org/drawingml/2006/main">
              <a:ext uri="{FF2B5EF4-FFF2-40B4-BE49-F238E27FC236}">
                <a16:creationId xmlns:a16="http://schemas.microsoft.com/office/drawing/2014/main" id="{2E23753C-3075-4051-8DEA-747B1F2DCBB7}"/>
              </a:ext>
            </a:extLst>
          </p:cNvPr>
          <p:cNvSpPr>
            <a:spLocks xmlns:a="http://schemas.openxmlformats.org/drawingml/2006/main" noGrp="1"/>
          </p:cNvSpPr>
          <p:nvPr/>
        </p:nvSpPr>
        <p:spPr>
          <a:xfrm xmlns:a="http://schemas.openxmlformats.org/drawingml/2006/main">
            <a:off x="6096000" y="4476750"/>
            <a:ext cx="76200" cy="0"/>
          </a:xfrm>
          <a:prstGeom xmlns:a="http://schemas.openxmlformats.org/drawingml/2006/main" prst="rect">
            <a:avLst/>
          </a:prstGeom>
          <a:ln xmlns:a="http://schemas.openxmlformats.org/drawingml/2006/main" w="0">
            <a:noFill/>
            <a:prstDash val="solid"/>
          </a:ln>
        </p:spPr>
      </p:sp>
      <p:sp>
        <p:nvSpPr>
          <p:cNvPr id="16" name="S6_LAYERS_LABEL">
            <a:extLst xmlns:a="http://schemas.openxmlformats.org/drawingml/2006/main">
              <a:ext uri="{FF2B5EF4-FFF2-40B4-BE49-F238E27FC236}">
                <a16:creationId xmlns:a16="http://schemas.microsoft.com/office/drawing/2014/main" id="{4543F530-EA52-415B-9D4C-63A0F26CBCA2}"/>
              </a:ext>
            </a:extLst>
          </p:cNvPr>
          <p:cNvSpPr>
            <a:spLocks xmlns:a="http://schemas.openxmlformats.org/drawingml/2006/main" noGrp="1"/>
          </p:cNvSpPr>
          <p:nvPr/>
        </p:nvSpPr>
        <p:spPr>
          <a:xfrm xmlns:a="http://schemas.openxmlformats.org/drawingml/2006/main">
            <a:off x="6267450" y="4495800"/>
            <a:ext cx="537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DEFENSE IN DEPTH</a:t>
            </a:r>
          </a:p>
        </p:txBody>
      </p:sp>
      <p:sp>
        <p:nvSpPr>
          <p:cNvPr id="17" name="S6_LAYERS_BODY">
            <a:extLst xmlns:a="http://schemas.openxmlformats.org/drawingml/2006/main">
              <a:ext uri="{FF2B5EF4-FFF2-40B4-BE49-F238E27FC236}">
                <a16:creationId xmlns:a16="http://schemas.microsoft.com/office/drawing/2014/main" id="{96188827-04B1-414D-A088-2299A4CD2D76}"/>
              </a:ext>
            </a:extLst>
          </p:cNvPr>
          <p:cNvSpPr>
            <a:spLocks xmlns:a="http://schemas.openxmlformats.org/drawingml/2006/main" noGrp="1"/>
          </p:cNvSpPr>
          <p:nvPr/>
        </p:nvSpPr>
        <p:spPr>
          <a:xfrm xmlns:a="http://schemas.openxmlformats.org/drawingml/2006/main">
            <a:off x="6267450" y="4800600"/>
            <a:ext cx="53721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CSP giảm blast radius; HttpOnly/Secure/SameSite bảo vệ cookie; validation giảm input bất thường. Không lớp nào thay thế sửa sink.</a:t>
            </a:r>
          </a:p>
        </p:txBody>
      </p:sp>
    </p:spTree>
    <p:extLst>
      <p:ext uri="{BB962C8B-B14F-4D97-AF65-F5344CB8AC3E}">
        <p14:creationId xmlns:p14="http://schemas.microsoft.com/office/powerpoint/2010/main" val="1966058951"/>
      </p:ext>
    </p:extLst>
  </p:cSld>
</p:sld>
</file>

<file path=ppt/slides/slide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7_EYEBROW">
            <a:extLst xmlns:a="http://schemas.openxmlformats.org/drawingml/2006/main">
              <a:ext uri="{FF2B5EF4-FFF2-40B4-BE49-F238E27FC236}">
                <a16:creationId xmlns:a16="http://schemas.microsoft.com/office/drawing/2014/main" id="{410F0D12-5F87-4F70-88F2-B999AB370718}"/>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LAB01 / XSS</a:t>
            </a:r>
          </a:p>
        </p:txBody>
      </p:sp>
      <p:sp>
        <p:nvSpPr>
          <p:cNvPr id="2" name="S7_TITLE">
            <a:extLst xmlns:a="http://schemas.openxmlformats.org/drawingml/2006/main">
              <a:ext uri="{FF2B5EF4-FFF2-40B4-BE49-F238E27FC236}">
                <a16:creationId xmlns:a16="http://schemas.microsoft.com/office/drawing/2014/main" id="{1A19285B-E7E0-4ED4-973B-D65DFCB18202}"/>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Kiểm chứng và câu trả lời báo cáo</a:t>
            </a:r>
          </a:p>
        </p:txBody>
      </p:sp>
      <p:sp>
        <p:nvSpPr>
          <p:cNvPr id="3" name="S7_SUBTITLE">
            <a:extLst xmlns:a="http://schemas.openxmlformats.org/drawingml/2006/main">
              <a:ext uri="{FF2B5EF4-FFF2-40B4-BE49-F238E27FC236}">
                <a16:creationId xmlns:a16="http://schemas.microsoft.com/office/drawing/2014/main" id="{4263FF66-F5B9-4ED3-9AB1-E15C25D9116D}"/>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Một bảng so sánh, năm kết luận, một checklist bằng chứng.</a:t>
            </a:r>
          </a:p>
        </p:txBody>
      </p:sp>
      <p:sp>
        <p:nvSpPr>
          <p:cNvPr id="4" name="S7_TITLE_RULE">
            <a:extLst xmlns:a="http://schemas.openxmlformats.org/drawingml/2006/main">
              <a:ext uri="{FF2B5EF4-FFF2-40B4-BE49-F238E27FC236}">
                <a16:creationId xmlns:a16="http://schemas.microsoft.com/office/drawing/2014/main" id="{6FA7E5A8-CBFB-4166-AFAA-A6F9D232DD6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7_FOOTER_RULE">
            <a:extLst xmlns:a="http://schemas.openxmlformats.org/drawingml/2006/main">
              <a:ext uri="{FF2B5EF4-FFF2-40B4-BE49-F238E27FC236}">
                <a16:creationId xmlns:a16="http://schemas.microsoft.com/office/drawing/2014/main" id="{36F9436B-7266-4E4F-A78A-D8E1FF9B288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7_SOURCE">
            <a:extLst xmlns:a="http://schemas.openxmlformats.org/drawingml/2006/main">
              <a:ext uri="{FF2B5EF4-FFF2-40B4-BE49-F238E27FC236}">
                <a16:creationId xmlns:a16="http://schemas.microsoft.com/office/drawing/2014/main" id="{908C7115-BD6C-4A34-A00F-97297F6922D8}"/>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Lab01 · report Lab01</a:t>
            </a:r>
          </a:p>
        </p:txBody>
      </p:sp>
      <p:sp>
        <p:nvSpPr>
          <p:cNvPr id="7" name="S7_NUMBER">
            <a:extLst xmlns:a="http://schemas.openxmlformats.org/drawingml/2006/main">
              <a:ext uri="{FF2B5EF4-FFF2-40B4-BE49-F238E27FC236}">
                <a16:creationId xmlns:a16="http://schemas.microsoft.com/office/drawing/2014/main" id="{771BA9DA-CDEB-483B-A1EC-8A986F69BB8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07</a:t>
            </a:r>
          </a:p>
        </p:txBody>
      </p:sp>
      <p:sp>
        <p:nvSpPr>
          <p:cNvPr id="8" name="S7_MATRIX_H0">
            <a:extLst xmlns:a="http://schemas.openxmlformats.org/drawingml/2006/main">
              <a:ext uri="{FF2B5EF4-FFF2-40B4-BE49-F238E27FC236}">
                <a16:creationId xmlns:a16="http://schemas.microsoft.com/office/drawing/2014/main" id="{E94D26CC-0B9C-4150-A39C-9F05E06A12BD}"/>
              </a:ext>
            </a:extLst>
          </p:cNvPr>
          <p:cNvSpPr>
            <a:spLocks xmlns:a="http://schemas.openxmlformats.org/drawingml/2006/main" noGrp="1"/>
          </p:cNvSpPr>
          <p:nvPr/>
        </p:nvSpPr>
        <p:spPr>
          <a:xfrm xmlns:a="http://schemas.openxmlformats.org/drawingml/2006/main">
            <a:off x="533400" y="1695450"/>
            <a:ext cx="11430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LOẠI</a:t>
            </a:r>
          </a:p>
        </p:txBody>
      </p:sp>
      <p:sp>
        <p:nvSpPr>
          <p:cNvPr id="9" name="S7_MATRIX_H1">
            <a:extLst xmlns:a="http://schemas.openxmlformats.org/drawingml/2006/main">
              <a:ext uri="{FF2B5EF4-FFF2-40B4-BE49-F238E27FC236}">
                <a16:creationId xmlns:a16="http://schemas.microsoft.com/office/drawing/2014/main" id="{8D011AFB-3096-4AF0-82D3-011DF21032D3}"/>
              </a:ext>
            </a:extLst>
          </p:cNvPr>
          <p:cNvSpPr>
            <a:spLocks xmlns:a="http://schemas.openxmlformats.org/drawingml/2006/main" noGrp="1"/>
          </p:cNvSpPr>
          <p:nvPr/>
        </p:nvSpPr>
        <p:spPr>
          <a:xfrm xmlns:a="http://schemas.openxmlformats.org/drawingml/2006/main">
            <a:off x="1676400" y="1695450"/>
            <a:ext cx="11620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TỒN TẠI</a:t>
            </a:r>
          </a:p>
        </p:txBody>
      </p:sp>
      <p:sp>
        <p:nvSpPr>
          <p:cNvPr id="10" name="S7_MATRIX_H2">
            <a:extLst xmlns:a="http://schemas.openxmlformats.org/drawingml/2006/main">
              <a:ext uri="{FF2B5EF4-FFF2-40B4-BE49-F238E27FC236}">
                <a16:creationId xmlns:a16="http://schemas.microsoft.com/office/drawing/2014/main" id="{4D52B90F-8B1A-4751-81E8-F3F4B7EAA532}"/>
              </a:ext>
            </a:extLst>
          </p:cNvPr>
          <p:cNvSpPr>
            <a:spLocks xmlns:a="http://schemas.openxmlformats.org/drawingml/2006/main" noGrp="1"/>
          </p:cNvSpPr>
          <p:nvPr/>
        </p:nvSpPr>
        <p:spPr>
          <a:xfrm xmlns:a="http://schemas.openxmlformats.org/drawingml/2006/main">
            <a:off x="2838450" y="1695450"/>
            <a:ext cx="1381125"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a:t>
            </a:r>
          </a:p>
        </p:txBody>
      </p:sp>
      <p:sp>
        <p:nvSpPr>
          <p:cNvPr id="11" name="S7_MATRIX_H3">
            <a:extLst xmlns:a="http://schemas.openxmlformats.org/drawingml/2006/main">
              <a:ext uri="{FF2B5EF4-FFF2-40B4-BE49-F238E27FC236}">
                <a16:creationId xmlns:a16="http://schemas.microsoft.com/office/drawing/2014/main" id="{78A17A47-DA34-428D-8F19-37A248AD6116}"/>
              </a:ext>
            </a:extLst>
          </p:cNvPr>
          <p:cNvSpPr>
            <a:spLocks xmlns:a="http://schemas.openxmlformats.org/drawingml/2006/main" noGrp="1"/>
          </p:cNvSpPr>
          <p:nvPr/>
        </p:nvSpPr>
        <p:spPr>
          <a:xfrm xmlns:a="http://schemas.openxmlformats.org/drawingml/2006/main">
            <a:off x="4219575" y="1695450"/>
            <a:ext cx="1457325"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PATCH GỐC</a:t>
            </a:r>
          </a:p>
        </p:txBody>
      </p:sp>
      <p:sp>
        <p:nvSpPr>
          <p:cNvPr id="12" name="S7_MATRIX_R0C0">
            <a:extLst xmlns:a="http://schemas.openxmlformats.org/drawingml/2006/main">
              <a:ext uri="{FF2B5EF4-FFF2-40B4-BE49-F238E27FC236}">
                <a16:creationId xmlns:a16="http://schemas.microsoft.com/office/drawing/2014/main" id="{979C8A1F-5435-49BE-B45F-868B74C5D705}"/>
              </a:ext>
            </a:extLst>
          </p:cNvPr>
          <p:cNvSpPr>
            <a:spLocks xmlns:a="http://schemas.openxmlformats.org/drawingml/2006/main" noGrp="1"/>
          </p:cNvSpPr>
          <p:nvPr/>
        </p:nvSpPr>
        <p:spPr>
          <a:xfrm xmlns:a="http://schemas.openxmlformats.org/drawingml/2006/main">
            <a:off x="533400" y="2262188"/>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Reflected</a:t>
            </a:r>
          </a:p>
        </p:txBody>
      </p:sp>
      <p:sp>
        <p:nvSpPr>
          <p:cNvPr id="13" name="S7_MATRIX_R0C1">
            <a:extLst xmlns:a="http://schemas.openxmlformats.org/drawingml/2006/main">
              <a:ext uri="{FF2B5EF4-FFF2-40B4-BE49-F238E27FC236}">
                <a16:creationId xmlns:a16="http://schemas.microsoft.com/office/drawing/2014/main" id="{D96BB412-AF55-4910-BFD7-465B29E6A744}"/>
              </a:ext>
            </a:extLst>
          </p:cNvPr>
          <p:cNvSpPr>
            <a:spLocks xmlns:a="http://schemas.openxmlformats.org/drawingml/2006/main" noGrp="1"/>
          </p:cNvSpPr>
          <p:nvPr/>
        </p:nvSpPr>
        <p:spPr>
          <a:xfrm xmlns:a="http://schemas.openxmlformats.org/drawingml/2006/main">
            <a:off x="1676400" y="2262188"/>
            <a:ext cx="11620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14" name="S7_MATRIX_R0C2">
            <a:extLst xmlns:a="http://schemas.openxmlformats.org/drawingml/2006/main">
              <a:ext uri="{FF2B5EF4-FFF2-40B4-BE49-F238E27FC236}">
                <a16:creationId xmlns:a16="http://schemas.microsoft.com/office/drawing/2014/main" id="{0AC0CFF4-6FE8-4AB1-B737-EA201498A15C}"/>
              </a:ext>
            </a:extLst>
          </p:cNvPr>
          <p:cNvSpPr>
            <a:spLocks xmlns:a="http://schemas.openxmlformats.org/drawingml/2006/main" noGrp="1"/>
          </p:cNvSpPr>
          <p:nvPr/>
        </p:nvSpPr>
        <p:spPr>
          <a:xfrm xmlns:a="http://schemas.openxmlformats.org/drawingml/2006/main">
            <a:off x="2838450" y="2262188"/>
            <a:ext cx="13811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phản chiếu</a:t>
            </a:r>
          </a:p>
        </p:txBody>
      </p:sp>
      <p:sp>
        <p:nvSpPr>
          <p:cNvPr id="15" name="S7_MATRIX_R0C3">
            <a:extLst xmlns:a="http://schemas.openxmlformats.org/drawingml/2006/main">
              <a:ext uri="{FF2B5EF4-FFF2-40B4-BE49-F238E27FC236}">
                <a16:creationId xmlns:a16="http://schemas.microsoft.com/office/drawing/2014/main" id="{4EE90C8B-805A-45BA-B90C-B06F3D9ECFC8}"/>
              </a:ext>
            </a:extLst>
          </p:cNvPr>
          <p:cNvSpPr>
            <a:spLocks xmlns:a="http://schemas.openxmlformats.org/drawingml/2006/main" noGrp="1"/>
          </p:cNvSpPr>
          <p:nvPr/>
        </p:nvSpPr>
        <p:spPr>
          <a:xfrm xmlns:a="http://schemas.openxmlformats.org/drawingml/2006/main">
            <a:off x="4219575" y="2262188"/>
            <a:ext cx="14573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contextual encoding</a:t>
            </a:r>
          </a:p>
        </p:txBody>
      </p:sp>
      <p:sp>
        <p:nvSpPr>
          <p:cNvPr id="16" name="S7_MATRIX_R1C0">
            <a:extLst xmlns:a="http://schemas.openxmlformats.org/drawingml/2006/main">
              <a:ext uri="{FF2B5EF4-FFF2-40B4-BE49-F238E27FC236}">
                <a16:creationId xmlns:a16="http://schemas.microsoft.com/office/drawing/2014/main" id="{A3D90986-3FDC-4E24-9E31-2C90AAAC703B}"/>
              </a:ext>
            </a:extLst>
          </p:cNvPr>
          <p:cNvSpPr>
            <a:spLocks xmlns:a="http://schemas.openxmlformats.org/drawingml/2006/main" noGrp="1"/>
          </p:cNvSpPr>
          <p:nvPr/>
        </p:nvSpPr>
        <p:spPr>
          <a:xfrm xmlns:a="http://schemas.openxmlformats.org/drawingml/2006/main">
            <a:off x="533400" y="2828925"/>
            <a:ext cx="11430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Stored</a:t>
            </a:r>
          </a:p>
        </p:txBody>
      </p:sp>
      <p:sp>
        <p:nvSpPr>
          <p:cNvPr id="17" name="S7_MATRIX_R1C1">
            <a:extLst xmlns:a="http://schemas.openxmlformats.org/drawingml/2006/main">
              <a:ext uri="{FF2B5EF4-FFF2-40B4-BE49-F238E27FC236}">
                <a16:creationId xmlns:a16="http://schemas.microsoft.com/office/drawing/2014/main" id="{3E00A45A-92AA-4FC5-BBAA-B9EF0F94EB79}"/>
              </a:ext>
            </a:extLst>
          </p:cNvPr>
          <p:cNvSpPr>
            <a:spLocks xmlns:a="http://schemas.openxmlformats.org/drawingml/2006/main" noGrp="1"/>
          </p:cNvSpPr>
          <p:nvPr/>
        </p:nvSpPr>
        <p:spPr>
          <a:xfrm xmlns:a="http://schemas.openxmlformats.org/drawingml/2006/main">
            <a:off x="1676400" y="2828925"/>
            <a:ext cx="11620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SQLite</a:t>
            </a:r>
          </a:p>
        </p:txBody>
      </p:sp>
      <p:sp>
        <p:nvSpPr>
          <p:cNvPr id="18" name="S7_MATRIX_R1C2">
            <a:extLst xmlns:a="http://schemas.openxmlformats.org/drawingml/2006/main">
              <a:ext uri="{FF2B5EF4-FFF2-40B4-BE49-F238E27FC236}">
                <a16:creationId xmlns:a16="http://schemas.microsoft.com/office/drawing/2014/main" id="{E8563268-5E97-4E8A-B858-45E27F5132C9}"/>
              </a:ext>
            </a:extLst>
          </p:cNvPr>
          <p:cNvSpPr>
            <a:spLocks xmlns:a="http://schemas.openxmlformats.org/drawingml/2006/main" noGrp="1"/>
          </p:cNvSpPr>
          <p:nvPr/>
        </p:nvSpPr>
        <p:spPr>
          <a:xfrm xmlns:a="http://schemas.openxmlformats.org/drawingml/2006/main">
            <a:off x="2838450" y="2828925"/>
            <a:ext cx="1381125"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lưu + phát lại</a:t>
            </a:r>
          </a:p>
        </p:txBody>
      </p:sp>
      <p:sp>
        <p:nvSpPr>
          <p:cNvPr id="19" name="S7_MATRIX_R1C3">
            <a:extLst xmlns:a="http://schemas.openxmlformats.org/drawingml/2006/main">
              <a:ext uri="{FF2B5EF4-FFF2-40B4-BE49-F238E27FC236}">
                <a16:creationId xmlns:a16="http://schemas.microsoft.com/office/drawing/2014/main" id="{3E775761-AD0F-464C-BDF7-6D2F5C527E7B}"/>
              </a:ext>
            </a:extLst>
          </p:cNvPr>
          <p:cNvSpPr>
            <a:spLocks xmlns:a="http://schemas.openxmlformats.org/drawingml/2006/main" noGrp="1"/>
          </p:cNvSpPr>
          <p:nvPr/>
        </p:nvSpPr>
        <p:spPr>
          <a:xfrm xmlns:a="http://schemas.openxmlformats.org/drawingml/2006/main">
            <a:off x="4219575" y="2828925"/>
            <a:ext cx="1457325"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sanitize/encode output</a:t>
            </a:r>
          </a:p>
        </p:txBody>
      </p:sp>
      <p:sp>
        <p:nvSpPr>
          <p:cNvPr id="20" name="S7_MATRIX_R2C0">
            <a:extLst xmlns:a="http://schemas.openxmlformats.org/drawingml/2006/main">
              <a:ext uri="{FF2B5EF4-FFF2-40B4-BE49-F238E27FC236}">
                <a16:creationId xmlns:a16="http://schemas.microsoft.com/office/drawing/2014/main" id="{68CDE764-A3F6-48E8-BC64-412706E514F2}"/>
              </a:ext>
            </a:extLst>
          </p:cNvPr>
          <p:cNvSpPr>
            <a:spLocks xmlns:a="http://schemas.openxmlformats.org/drawingml/2006/main" noGrp="1"/>
          </p:cNvSpPr>
          <p:nvPr/>
        </p:nvSpPr>
        <p:spPr>
          <a:xfrm xmlns:a="http://schemas.openxmlformats.org/drawingml/2006/main">
            <a:off x="533400" y="3395663"/>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DOM</a:t>
            </a:r>
          </a:p>
        </p:txBody>
      </p:sp>
      <p:sp>
        <p:nvSpPr>
          <p:cNvPr id="21" name="S7_MATRIX_R2C1">
            <a:extLst xmlns:a="http://schemas.openxmlformats.org/drawingml/2006/main">
              <a:ext uri="{FF2B5EF4-FFF2-40B4-BE49-F238E27FC236}">
                <a16:creationId xmlns:a16="http://schemas.microsoft.com/office/drawing/2014/main" id="{882C4EB5-9E6C-4DF6-8348-5F1C9B9CEF61}"/>
              </a:ext>
            </a:extLst>
          </p:cNvPr>
          <p:cNvSpPr>
            <a:spLocks xmlns:a="http://schemas.openxmlformats.org/drawingml/2006/main" noGrp="1"/>
          </p:cNvSpPr>
          <p:nvPr/>
        </p:nvSpPr>
        <p:spPr>
          <a:xfrm xmlns:a="http://schemas.openxmlformats.org/drawingml/2006/main">
            <a:off x="1676400" y="3395663"/>
            <a:ext cx="11620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fragment</a:t>
            </a:r>
          </a:p>
        </p:txBody>
      </p:sp>
      <p:sp>
        <p:nvSpPr>
          <p:cNvPr id="22" name="S7_MATRIX_R2C2">
            <a:extLst xmlns:a="http://schemas.openxmlformats.org/drawingml/2006/main">
              <a:ext uri="{FF2B5EF4-FFF2-40B4-BE49-F238E27FC236}">
                <a16:creationId xmlns:a16="http://schemas.microsoft.com/office/drawing/2014/main" id="{AA024DBC-E18D-4225-9402-1546315ACC79}"/>
              </a:ext>
            </a:extLst>
          </p:cNvPr>
          <p:cNvSpPr>
            <a:spLocks xmlns:a="http://schemas.openxmlformats.org/drawingml/2006/main" noGrp="1"/>
          </p:cNvSpPr>
          <p:nvPr/>
        </p:nvSpPr>
        <p:spPr>
          <a:xfrm xmlns:a="http://schemas.openxmlformats.org/drawingml/2006/main">
            <a:off x="2838450" y="3395663"/>
            <a:ext cx="13811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bắt buộc</a:t>
            </a:r>
          </a:p>
        </p:txBody>
      </p:sp>
      <p:sp>
        <p:nvSpPr>
          <p:cNvPr id="23" name="S7_MATRIX_R2C3">
            <a:extLst xmlns:a="http://schemas.openxmlformats.org/drawingml/2006/main">
              <a:ext uri="{FF2B5EF4-FFF2-40B4-BE49-F238E27FC236}">
                <a16:creationId xmlns:a16="http://schemas.microsoft.com/office/drawing/2014/main" id="{6996191B-36D3-4D35-A1D0-91AB026711AF}"/>
              </a:ext>
            </a:extLst>
          </p:cNvPr>
          <p:cNvSpPr>
            <a:spLocks xmlns:a="http://schemas.openxmlformats.org/drawingml/2006/main" noGrp="1"/>
          </p:cNvSpPr>
          <p:nvPr/>
        </p:nvSpPr>
        <p:spPr>
          <a:xfrm xmlns:a="http://schemas.openxmlformats.org/drawingml/2006/main">
            <a:off x="4219575" y="3395663"/>
            <a:ext cx="1457325"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safe DOM API</a:t>
            </a:r>
          </a:p>
        </p:txBody>
      </p:sp>
      <p:sp>
        <p:nvSpPr>
          <p:cNvPr id="24" name="S7_QA_1">
            <a:extLst xmlns:a="http://schemas.openxmlformats.org/drawingml/2006/main">
              <a:ext uri="{FF2B5EF4-FFF2-40B4-BE49-F238E27FC236}">
                <a16:creationId xmlns:a16="http://schemas.microsoft.com/office/drawing/2014/main" id="{0390AA6A-3653-47CB-AE94-D7C0433A5195}"/>
              </a:ext>
            </a:extLst>
          </p:cNvPr>
          <p:cNvSpPr>
            <a:spLocks xmlns:a="http://schemas.openxmlformats.org/drawingml/2006/main" noGrp="1"/>
          </p:cNvSpPr>
          <p:nvPr/>
        </p:nvSpPr>
        <p:spPr>
          <a:xfrm xmlns:a="http://schemas.openxmlformats.org/drawingml/2006/main">
            <a:off x="5943600" y="16954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Validation chưa đủ vì sink/ngữ cảnh quyết định cách diễn giải.</a:t>
            </a:r>
          </a:p>
        </p:txBody>
      </p:sp>
      <p:sp>
        <p:nvSpPr>
          <p:cNvPr id="25" name="S7_QA_2">
            <a:extLst xmlns:a="http://schemas.openxmlformats.org/drawingml/2006/main">
              <a:ext uri="{FF2B5EF4-FFF2-40B4-BE49-F238E27FC236}">
                <a16:creationId xmlns:a16="http://schemas.microsoft.com/office/drawing/2014/main" id="{E4B981D4-315B-4B00-97DD-0FC8FC1725D3}"/>
              </a:ext>
            </a:extLst>
          </p:cNvPr>
          <p:cNvSpPr>
            <a:spLocks xmlns:a="http://schemas.openxmlformats.org/drawingml/2006/main" noGrp="1"/>
          </p:cNvSpPr>
          <p:nvPr/>
        </p:nvSpPr>
        <p:spPr>
          <a:xfrm xmlns:a="http://schemas.openxmlformats.org/drawingml/2006/main">
            <a:off x="8877300" y="16954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Output encoding giữ dữ liệu không trở thành mã.</a:t>
            </a:r>
          </a:p>
        </p:txBody>
      </p:sp>
      <p:sp>
        <p:nvSpPr>
          <p:cNvPr id="26" name="S7_QA_3">
            <a:extLst xmlns:a="http://schemas.openxmlformats.org/drawingml/2006/main">
              <a:ext uri="{FF2B5EF4-FFF2-40B4-BE49-F238E27FC236}">
                <a16:creationId xmlns:a16="http://schemas.microsoft.com/office/drawing/2014/main" id="{1A3A8E1F-21C9-4937-BDF1-E41561C48CE8}"/>
              </a:ext>
            </a:extLst>
          </p:cNvPr>
          <p:cNvSpPr>
            <a:spLocks xmlns:a="http://schemas.openxmlformats.org/drawingml/2006/main" noGrp="1"/>
          </p:cNvSpPr>
          <p:nvPr/>
        </p:nvSpPr>
        <p:spPr>
          <a:xfrm xmlns:a="http://schemas.openxmlformats.org/drawingml/2006/main">
            <a:off x="5943600" y="313690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Stored ảnh hưởng mọi người xem dữ liệu đã lưu.</a:t>
            </a:r>
          </a:p>
        </p:txBody>
      </p:sp>
      <p:sp>
        <p:nvSpPr>
          <p:cNvPr id="27" name="S7_QA_4">
            <a:extLst xmlns:a="http://schemas.openxmlformats.org/drawingml/2006/main">
              <a:ext uri="{FF2B5EF4-FFF2-40B4-BE49-F238E27FC236}">
                <a16:creationId xmlns:a16="http://schemas.microsoft.com/office/drawing/2014/main" id="{649F40CB-71E7-482E-9264-A8C61AC49875}"/>
              </a:ext>
            </a:extLst>
          </p:cNvPr>
          <p:cNvSpPr>
            <a:spLocks xmlns:a="http://schemas.openxmlformats.org/drawingml/2006/main" noGrp="1"/>
          </p:cNvSpPr>
          <p:nvPr/>
        </p:nvSpPr>
        <p:spPr>
          <a:xfrm xmlns:a="http://schemas.openxmlformats.org/drawingml/2006/main">
            <a:off x="8877300" y="313690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DOM XSS phát sinh và thực thi hoàn toàn ở browser.</a:t>
            </a:r>
          </a:p>
        </p:txBody>
      </p:sp>
      <p:sp>
        <p:nvSpPr>
          <p:cNvPr id="28" name="S7_QA_5">
            <a:extLst xmlns:a="http://schemas.openxmlformats.org/drawingml/2006/main">
              <a:ext uri="{FF2B5EF4-FFF2-40B4-BE49-F238E27FC236}">
                <a16:creationId xmlns:a16="http://schemas.microsoft.com/office/drawing/2014/main" id="{713AB223-6E85-47B3-B5ED-CB297E8FCB55}"/>
              </a:ext>
            </a:extLst>
          </p:cNvPr>
          <p:cNvSpPr>
            <a:spLocks xmlns:a="http://schemas.openxmlformats.org/drawingml/2006/main" noGrp="1"/>
          </p:cNvSpPr>
          <p:nvPr/>
        </p:nvSpPr>
        <p:spPr>
          <a:xfrm xmlns:a="http://schemas.openxmlformats.org/drawingml/2006/main">
            <a:off x="5943600" y="45783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CSP hỗ trợ, không thay sửa code.</a:t>
            </a:r>
          </a:p>
        </p:txBody>
      </p:sp>
      <p:sp>
        <p:nvSpPr>
          <p:cNvPr id="29" name="S7_QA_6">
            <a:extLst xmlns:a="http://schemas.openxmlformats.org/drawingml/2006/main">
              <a:ext uri="{FF2B5EF4-FFF2-40B4-BE49-F238E27FC236}">
                <a16:creationId xmlns:a16="http://schemas.microsoft.com/office/drawing/2014/main" id="{7D61F444-05C2-41C0-BFA8-D1AC814BBB2A}"/>
              </a:ext>
            </a:extLst>
          </p:cNvPr>
          <p:cNvSpPr>
            <a:spLocks xmlns:a="http://schemas.openxmlformats.org/drawingml/2006/main" noGrp="1"/>
          </p:cNvSpPr>
          <p:nvPr/>
        </p:nvSpPr>
        <p:spPr>
          <a:xfrm xmlns:a="http://schemas.openxmlformats.org/drawingml/2006/main">
            <a:off x="8877300" y="4578350"/>
            <a:ext cx="2781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Evidence: URL/request · storage · Elements · secure retest.</a:t>
            </a:r>
          </a:p>
        </p:txBody>
      </p:sp>
      <p:sp>
        <p:nvSpPr>
          <p:cNvPr id="30" name="S7_ANSWER_BAR">
            <a:extLst xmlns:a="http://schemas.openxmlformats.org/drawingml/2006/main">
              <a:ext uri="{FF2B5EF4-FFF2-40B4-BE49-F238E27FC236}">
                <a16:creationId xmlns:a16="http://schemas.microsoft.com/office/drawing/2014/main" id="{1142002E-4DD9-4240-88AB-FEC801132CF2}"/>
              </a:ext>
            </a:extLst>
          </p:cNvPr>
          <p:cNvSpPr>
            <a:spLocks xmlns:a="http://schemas.openxmlformats.org/drawingml/2006/main" noGrp="1"/>
          </p:cNvSpPr>
          <p:nvPr/>
        </p:nvSpPr>
        <p:spPr>
          <a:xfrm xmlns:a="http://schemas.openxmlformats.org/drawingml/2006/main">
            <a:off x="533400" y="4286250"/>
            <a:ext cx="76200" cy="0"/>
          </a:xfrm>
          <a:prstGeom xmlns:a="http://schemas.openxmlformats.org/drawingml/2006/main" prst="rect">
            <a:avLst/>
          </a:prstGeom>
          <a:ln xmlns:a="http://schemas.openxmlformats.org/drawingml/2006/main" w="0">
            <a:noFill/>
            <a:prstDash val="solid"/>
          </a:ln>
        </p:spPr>
      </p:sp>
      <p:sp>
        <p:nvSpPr>
          <p:cNvPr id="31" name="S7_ANSWER_LABEL">
            <a:extLst xmlns:a="http://schemas.openxmlformats.org/drawingml/2006/main">
              <a:ext uri="{FF2B5EF4-FFF2-40B4-BE49-F238E27FC236}">
                <a16:creationId xmlns:a16="http://schemas.microsoft.com/office/drawing/2014/main" id="{2CCDF609-9CC7-4EF9-BDE5-AAAEE14BE3BC}"/>
              </a:ext>
            </a:extLst>
          </p:cNvPr>
          <p:cNvSpPr>
            <a:spLocks xmlns:a="http://schemas.openxmlformats.org/drawingml/2006/main" noGrp="1"/>
          </p:cNvSpPr>
          <p:nvPr/>
        </p:nvSpPr>
        <p:spPr>
          <a:xfrm xmlns:a="http://schemas.openxmlformats.org/drawingml/2006/main">
            <a:off x="704850" y="43053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PATCH + ẢNH CẦN CÓ</a:t>
            </a:r>
          </a:p>
        </p:txBody>
      </p:sp>
      <p:sp>
        <p:nvSpPr>
          <p:cNvPr id="32" name="S7_ANSWER_BODY">
            <a:extLst xmlns:a="http://schemas.openxmlformats.org/drawingml/2006/main">
              <a:ext uri="{FF2B5EF4-FFF2-40B4-BE49-F238E27FC236}">
                <a16:creationId xmlns:a16="http://schemas.microsoft.com/office/drawing/2014/main" id="{C38B38E6-73CE-4997-BFBF-32B3E26B5794}"/>
              </a:ext>
            </a:extLst>
          </p:cNvPr>
          <p:cNvSpPr>
            <a:spLocks xmlns:a="http://schemas.openxmlformats.org/drawingml/2006/main" noGrp="1"/>
          </p:cNvSpPr>
          <p:nvPr/>
        </p:nvSpPr>
        <p:spPr>
          <a:xfrm xmlns:a="http://schemas.openxmlformats.org/drawingml/2006/main">
            <a:off x="704850" y="461010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Patch sink: escape output · sanitize HTML · textContent.</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Ảnh cần có: normal input · payload · vị trí HTML/DOM · storage · secure retest.</a:t>
            </a:r>
          </a:p>
        </p:txBody>
      </p:sp>
    </p:spTree>
    <p:extLst>
      <p:ext uri="{BB962C8B-B14F-4D97-AF65-F5344CB8AC3E}">
        <p14:creationId xmlns:p14="http://schemas.microsoft.com/office/powerpoint/2010/main" val="1492140708"/>
      </p:ext>
    </p:extLst>
  </p:cSld>
</p:sld>
</file>

<file path=ppt/slides/slide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2" name="S8_EYEBROW">
            <a:extLst xmlns:a="http://schemas.openxmlformats.org/drawingml/2006/main">
              <a:ext uri="{FF2B5EF4-FFF2-40B4-BE49-F238E27FC236}">
                <a16:creationId xmlns:a16="http://schemas.microsoft.com/office/drawing/2014/main" id="{3DB8C7FC-8642-4645-BA93-7090B692EF9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8_TITLE">
            <a:extLst xmlns:a="http://schemas.openxmlformats.org/drawingml/2006/main">
              <a:ext uri="{FF2B5EF4-FFF2-40B4-BE49-F238E27FC236}">
                <a16:creationId xmlns:a16="http://schemas.microsoft.com/office/drawing/2014/main" id="{6A048AEA-4543-47B3-9FBE-BB1AC53A3BF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HTTP có thể chạm tới lỗi bộ nhớ native</a:t>
            </a:r>
          </a:p>
        </p:txBody>
      </p:sp>
      <p:sp>
        <p:nvSpPr>
          <p:cNvPr id="3" name="S8_SUBTITLE">
            <a:extLst xmlns:a="http://schemas.openxmlformats.org/drawingml/2006/main">
              <a:ext uri="{FF2B5EF4-FFF2-40B4-BE49-F238E27FC236}">
                <a16:creationId xmlns:a16="http://schemas.microsoft.com/office/drawing/2014/main" id="{4C2AE140-6CC1-491B-8AB5-22D9C0DA3394}"/>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Flask chỉ là cầu nối; lỗi xảy ra trong process C khi input vượt sức chứa.</a:t>
            </a:r>
          </a:p>
        </p:txBody>
      </p:sp>
      <p:sp>
        <p:nvSpPr>
          <p:cNvPr id="4" name="S8_TITLE_RULE">
            <a:extLst xmlns:a="http://schemas.openxmlformats.org/drawingml/2006/main">
              <a:ext uri="{FF2B5EF4-FFF2-40B4-BE49-F238E27FC236}">
                <a16:creationId xmlns:a16="http://schemas.microsoft.com/office/drawing/2014/main" id="{BAC46E43-2036-457B-AE8C-8C4BDCF742C8}"/>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8_FOOTER_RULE">
            <a:extLst xmlns:a="http://schemas.openxmlformats.org/drawingml/2006/main">
              <a:ext uri="{FF2B5EF4-FFF2-40B4-BE49-F238E27FC236}">
                <a16:creationId xmlns:a16="http://schemas.microsoft.com/office/drawing/2014/main" id="{F383608E-14B8-47A5-BCFC-9E7760DC3172}"/>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8_SOURCE">
            <a:extLst xmlns:a="http://schemas.openxmlformats.org/drawingml/2006/main">
              <a:ext uri="{FF2B5EF4-FFF2-40B4-BE49-F238E27FC236}">
                <a16:creationId xmlns:a16="http://schemas.microsoft.com/office/drawing/2014/main" id="{7A0EDB97-3F4A-4C4E-8A85-C7D822442195}"/>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Lab02/app.py · native_runner.py · native/*.c</a:t>
            </a:r>
          </a:p>
        </p:txBody>
      </p:sp>
      <p:sp>
        <p:nvSpPr>
          <p:cNvPr id="7" name="S8_NUMBER">
            <a:extLst xmlns:a="http://schemas.openxmlformats.org/drawingml/2006/main">
              <a:ext uri="{FF2B5EF4-FFF2-40B4-BE49-F238E27FC236}">
                <a16:creationId xmlns:a16="http://schemas.microsoft.com/office/drawing/2014/main" id="{31810BEB-492B-451F-AD79-938C1F47982E}"/>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08</a:t>
            </a:r>
          </a:p>
        </p:txBody>
      </p:sp>
      <p:sp>
        <p:nvSpPr>
          <p:cNvPr id="8" name="S8_ARCH_ARROW_1">
            <a:extLst xmlns:a="http://schemas.openxmlformats.org/drawingml/2006/main">
              <a:ext uri="{FF2B5EF4-FFF2-40B4-BE49-F238E27FC236}">
                <a16:creationId xmlns:a16="http://schemas.microsoft.com/office/drawing/2014/main" id="{BDC2E614-A1C4-4B0B-9E07-3B6A05BDE083}"/>
              </a:ext>
            </a:extLst>
          </p:cNvPr>
          <p:cNvSpPr>
            <a:spLocks xmlns:a="http://schemas.openxmlformats.org/drawingml/2006/main" noGrp="1"/>
          </p:cNvSpPr>
          <p:nvPr/>
        </p:nvSpPr>
        <p:spPr>
          <a:xfrm xmlns:a="http://schemas.openxmlformats.org/drawingml/2006/main">
            <a:off x="222567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8_ARCH_ARROW_2">
            <a:extLst xmlns:a="http://schemas.openxmlformats.org/drawingml/2006/main">
              <a:ext uri="{FF2B5EF4-FFF2-40B4-BE49-F238E27FC236}">
                <a16:creationId xmlns:a16="http://schemas.microsoft.com/office/drawing/2014/main" id="{1A722DA6-BB6B-4AF0-804A-A2ED78C9DF3E}"/>
              </a:ext>
            </a:extLst>
          </p:cNvPr>
          <p:cNvSpPr>
            <a:spLocks xmlns:a="http://schemas.openxmlformats.org/drawingml/2006/main" noGrp="1"/>
          </p:cNvSpPr>
          <p:nvPr/>
        </p:nvSpPr>
        <p:spPr>
          <a:xfrm xmlns:a="http://schemas.openxmlformats.org/drawingml/2006/main">
            <a:off x="4127500"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8_ARCH_ARROW_3">
            <a:extLst xmlns:a="http://schemas.openxmlformats.org/drawingml/2006/main">
              <a:ext uri="{FF2B5EF4-FFF2-40B4-BE49-F238E27FC236}">
                <a16:creationId xmlns:a16="http://schemas.microsoft.com/office/drawing/2014/main" id="{B7B8200F-47D5-4ABD-A5A1-2BFAAFF99077}"/>
              </a:ext>
            </a:extLst>
          </p:cNvPr>
          <p:cNvSpPr>
            <a:spLocks xmlns:a="http://schemas.openxmlformats.org/drawingml/2006/main" noGrp="1"/>
          </p:cNvSpPr>
          <p:nvPr/>
        </p:nvSpPr>
        <p:spPr>
          <a:xfrm xmlns:a="http://schemas.openxmlformats.org/drawingml/2006/main">
            <a:off x="602932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8_ARCH_ARROW_4">
            <a:extLst xmlns:a="http://schemas.openxmlformats.org/drawingml/2006/main">
              <a:ext uri="{FF2B5EF4-FFF2-40B4-BE49-F238E27FC236}">
                <a16:creationId xmlns:a16="http://schemas.microsoft.com/office/drawing/2014/main" id="{8EB07E55-106C-4494-AF99-81F72874A955}"/>
              </a:ext>
            </a:extLst>
          </p:cNvPr>
          <p:cNvSpPr>
            <a:spLocks xmlns:a="http://schemas.openxmlformats.org/drawingml/2006/main" noGrp="1"/>
          </p:cNvSpPr>
          <p:nvPr/>
        </p:nvSpPr>
        <p:spPr>
          <a:xfrm xmlns:a="http://schemas.openxmlformats.org/drawingml/2006/main">
            <a:off x="7931150"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8_ARCH_ARROW_5">
            <a:extLst xmlns:a="http://schemas.openxmlformats.org/drawingml/2006/main">
              <a:ext uri="{FF2B5EF4-FFF2-40B4-BE49-F238E27FC236}">
                <a16:creationId xmlns:a16="http://schemas.microsoft.com/office/drawing/2014/main" id="{2F9482C8-3519-4E31-AB41-B43483F3BBCD}"/>
              </a:ext>
            </a:extLst>
          </p:cNvPr>
          <p:cNvSpPr>
            <a:spLocks xmlns:a="http://schemas.openxmlformats.org/drawingml/2006/main" noGrp="1"/>
          </p:cNvSpPr>
          <p:nvPr/>
        </p:nvSpPr>
        <p:spPr>
          <a:xfrm xmlns:a="http://schemas.openxmlformats.org/drawingml/2006/main">
            <a:off x="9832975" y="2133600"/>
            <a:ext cx="2095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8_ARCH_NODE_1">
            <a:extLst xmlns:a="http://schemas.openxmlformats.org/drawingml/2006/main">
              <a:ext uri="{FF2B5EF4-FFF2-40B4-BE49-F238E27FC236}">
                <a16:creationId xmlns:a16="http://schemas.microsoft.com/office/drawing/2014/main" id="{56D82D6A-BC8F-40B0-BAD2-94601A23B4A5}"/>
              </a:ext>
            </a:extLst>
          </p:cNvPr>
          <p:cNvSpPr>
            <a:spLocks xmlns:a="http://schemas.openxmlformats.org/drawingml/2006/main" noGrp="1"/>
          </p:cNvSpPr>
          <p:nvPr/>
        </p:nvSpPr>
        <p:spPr>
          <a:xfrm xmlns:a="http://schemas.openxmlformats.org/drawingml/2006/main">
            <a:off x="53340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p:txBody>
      </p:sp>
      <p:sp>
        <p:nvSpPr>
          <p:cNvPr id="14" name="S8_ARCH_NODE_2">
            <a:extLst xmlns:a="http://schemas.openxmlformats.org/drawingml/2006/main">
              <a:ext uri="{FF2B5EF4-FFF2-40B4-BE49-F238E27FC236}">
                <a16:creationId xmlns:a16="http://schemas.microsoft.com/office/drawing/2014/main" id="{A8B5D3CA-42F9-4460-9A0D-4ED77BE6DDAD}"/>
              </a:ext>
            </a:extLst>
          </p:cNvPr>
          <p:cNvSpPr>
            <a:spLocks xmlns:a="http://schemas.openxmlformats.org/drawingml/2006/main" noGrp="1"/>
          </p:cNvSpPr>
          <p:nvPr/>
        </p:nvSpPr>
        <p:spPr>
          <a:xfrm xmlns:a="http://schemas.openxmlformats.org/drawingml/2006/main">
            <a:off x="243522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/submit</a:t>
            </a:r>
          </a:p>
        </p:txBody>
      </p:sp>
      <p:sp>
        <p:nvSpPr>
          <p:cNvPr id="15" name="S8_ARCH_NODE_3">
            <a:extLst xmlns:a="http://schemas.openxmlformats.org/drawingml/2006/main">
              <a:ext uri="{FF2B5EF4-FFF2-40B4-BE49-F238E27FC236}">
                <a16:creationId xmlns:a16="http://schemas.microsoft.com/office/drawing/2014/main" id="{ABF2352B-D4F0-4F6A-BA96-89483403D9C8}"/>
              </a:ext>
            </a:extLst>
          </p:cNvPr>
          <p:cNvSpPr>
            <a:spLocks xmlns:a="http://schemas.openxmlformats.org/drawingml/2006/main" noGrp="1"/>
          </p:cNvSpPr>
          <p:nvPr/>
        </p:nvSpPr>
        <p:spPr>
          <a:xfrm xmlns:a="http://schemas.openxmlformats.org/drawingml/2006/main">
            <a:off x="433705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Flask</a:t>
            </a:r>
          </a:p>
        </p:txBody>
      </p:sp>
      <p:sp>
        <p:nvSpPr>
          <p:cNvPr id="16" name="S8_ARCH_NODE_4">
            <a:extLst xmlns:a="http://schemas.openxmlformats.org/drawingml/2006/main">
              <a:ext uri="{FF2B5EF4-FFF2-40B4-BE49-F238E27FC236}">
                <a16:creationId xmlns:a16="http://schemas.microsoft.com/office/drawing/2014/main" id="{A60A64D9-87D0-4FDF-B731-9D5B628C3337}"/>
              </a:ext>
            </a:extLst>
          </p:cNvPr>
          <p:cNvSpPr>
            <a:spLocks xmlns:a="http://schemas.openxmlformats.org/drawingml/2006/main" noGrp="1"/>
          </p:cNvSpPr>
          <p:nvPr/>
        </p:nvSpPr>
        <p:spPr>
          <a:xfrm xmlns:a="http://schemas.openxmlformats.org/drawingml/2006/main">
            <a:off x="623887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subprocess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shell=False</a:t>
            </a:r>
          </a:p>
        </p:txBody>
      </p:sp>
      <p:sp>
        <p:nvSpPr>
          <p:cNvPr id="17" name="S8_ARCH_NODE_5">
            <a:extLst xmlns:a="http://schemas.openxmlformats.org/drawingml/2006/main">
              <a:ext uri="{FF2B5EF4-FFF2-40B4-BE49-F238E27FC236}">
                <a16:creationId xmlns:a16="http://schemas.microsoft.com/office/drawing/2014/main" id="{DFC41270-BB4A-4BDF-9EFF-060BF9BDD61A}"/>
              </a:ext>
            </a:extLst>
          </p:cNvPr>
          <p:cNvSpPr>
            <a:spLocks xmlns:a="http://schemas.openxmlformats.org/drawingml/2006/main" noGrp="1"/>
          </p:cNvSpPr>
          <p:nvPr/>
        </p:nvSpPr>
        <p:spPr>
          <a:xfrm xmlns:a="http://schemas.openxmlformats.org/drawingml/2006/main">
            <a:off x="8140700"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 binary</a:t>
            </a:r>
          </a:p>
        </p:txBody>
      </p:sp>
      <p:sp>
        <p:nvSpPr>
          <p:cNvPr id="18" name="S8_ARCH_NODE_6">
            <a:extLst xmlns:a="http://schemas.openxmlformats.org/drawingml/2006/main">
              <a:ext uri="{FF2B5EF4-FFF2-40B4-BE49-F238E27FC236}">
                <a16:creationId xmlns:a16="http://schemas.microsoft.com/office/drawing/2014/main" id="{263702AA-1D33-4366-95AC-E22982B8486C}"/>
              </a:ext>
            </a:extLst>
          </p:cNvPr>
          <p:cNvSpPr>
            <a:spLocks xmlns:a="http://schemas.openxmlformats.org/drawingml/2006/main" noGrp="1"/>
          </p:cNvSpPr>
          <p:nvPr/>
        </p:nvSpPr>
        <p:spPr>
          <a:xfrm xmlns:a="http://schemas.openxmlformats.org/drawingml/2006/main">
            <a:off x="10042525" y="1771650"/>
            <a:ext cx="1616075"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stack</a:t>
            </a:r>
          </a:p>
        </p:txBody>
      </p:sp>
      <p:sp>
        <p:nvSpPr>
          <p:cNvPr id="19" name="S8_SCOPE_BAR">
            <a:extLst xmlns:a="http://schemas.openxmlformats.org/drawingml/2006/main">
              <a:ext uri="{FF2B5EF4-FFF2-40B4-BE49-F238E27FC236}">
                <a16:creationId xmlns:a16="http://schemas.microsoft.com/office/drawing/2014/main" id="{B7BE6F46-815D-45C3-922C-203F1FC3B3D0}"/>
              </a:ext>
            </a:extLst>
          </p:cNvPr>
          <p:cNvSpPr>
            <a:spLocks xmlns:a="http://schemas.openxmlformats.org/drawingml/2006/main" noGrp="1"/>
          </p:cNvSpPr>
          <p:nvPr/>
        </p:nvSpPr>
        <p:spPr>
          <a:xfrm xmlns:a="http://schemas.openxmlformats.org/drawingml/2006/main">
            <a:off x="533400" y="3067050"/>
            <a:ext cx="76200" cy="0"/>
          </a:xfrm>
          <a:prstGeom xmlns:a="http://schemas.openxmlformats.org/drawingml/2006/main" prst="rect">
            <a:avLst/>
          </a:prstGeom>
          <a:ln xmlns:a="http://schemas.openxmlformats.org/drawingml/2006/main" w="0">
            <a:noFill/>
            <a:prstDash val="solid"/>
          </a:ln>
        </p:spPr>
      </p:sp>
      <p:sp>
        <p:nvSpPr>
          <p:cNvPr id="20" name="S8_SCOPE_LABEL">
            <a:extLst xmlns:a="http://schemas.openxmlformats.org/drawingml/2006/main">
              <a:ext uri="{FF2B5EF4-FFF2-40B4-BE49-F238E27FC236}">
                <a16:creationId xmlns:a16="http://schemas.microsoft.com/office/drawing/2014/main" id="{11328D2E-62D1-4F0C-89D8-AFA4E5C732A6}"/>
              </a:ext>
            </a:extLst>
          </p:cNvPr>
          <p:cNvSpPr>
            <a:spLocks xmlns:a="http://schemas.openxmlformats.org/drawingml/2006/main" noGrp="1"/>
          </p:cNvSpPr>
          <p:nvPr/>
        </p:nvSpPr>
        <p:spPr>
          <a:xfrm xmlns:a="http://schemas.openxmlformats.org/drawingml/2006/main">
            <a:off x="704850" y="3086100"/>
            <a:ext cx="512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PHẠM VI AN TOÀN</a:t>
            </a:r>
          </a:p>
        </p:txBody>
      </p:sp>
      <p:sp>
        <p:nvSpPr>
          <p:cNvPr id="21" name="S8_SCOPE_BODY">
            <a:extLst xmlns:a="http://schemas.openxmlformats.org/drawingml/2006/main">
              <a:ext uri="{FF2B5EF4-FFF2-40B4-BE49-F238E27FC236}">
                <a16:creationId xmlns:a16="http://schemas.microsoft.com/office/drawing/2014/main" id="{4ACD0233-75FC-44BC-8DE5-BF569E34EB3B}"/>
              </a:ext>
            </a:extLst>
          </p:cNvPr>
          <p:cNvSpPr>
            <a:spLocks xmlns:a="http://schemas.openxmlformats.org/drawingml/2006/main" noGrp="1"/>
          </p:cNvSpPr>
          <p:nvPr/>
        </p:nvSpPr>
        <p:spPr>
          <a:xfrm xmlns:a="http://schemas.openxmlformats.org/drawingml/2006/main">
            <a:off x="704850" y="3390900"/>
            <a:ext cx="51244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Chỉ input local để quan sát response, ASan/GDB hoặc crash có kiểm soát. Không shellcode, ROP, chiếm quyền hay persistence.</a:t>
            </a:r>
          </a:p>
        </p:txBody>
      </p:sp>
      <p:sp>
        <p:nvSpPr>
          <p:cNvPr id="22" name="S8_THESIS_BAR">
            <a:extLst xmlns:a="http://schemas.openxmlformats.org/drawingml/2006/main">
              <a:ext uri="{FF2B5EF4-FFF2-40B4-BE49-F238E27FC236}">
                <a16:creationId xmlns:a16="http://schemas.microsoft.com/office/drawing/2014/main" id="{E1B7AD53-7B2C-45D3-B7C2-4795DE6588E3}"/>
              </a:ext>
            </a:extLst>
          </p:cNvPr>
          <p:cNvSpPr>
            <a:spLocks xmlns:a="http://schemas.openxmlformats.org/drawingml/2006/main" noGrp="1"/>
          </p:cNvSpPr>
          <p:nvPr/>
        </p:nvSpPr>
        <p:spPr>
          <a:xfrm xmlns:a="http://schemas.openxmlformats.org/drawingml/2006/main">
            <a:off x="6076950" y="3067050"/>
            <a:ext cx="76200" cy="0"/>
          </a:xfrm>
          <a:prstGeom xmlns:a="http://schemas.openxmlformats.org/drawingml/2006/main" prst="rect">
            <a:avLst/>
          </a:prstGeom>
          <a:ln xmlns:a="http://schemas.openxmlformats.org/drawingml/2006/main" w="0">
            <a:noFill/>
            <a:prstDash val="solid"/>
          </a:ln>
        </p:spPr>
      </p:sp>
      <p:sp>
        <p:nvSpPr>
          <p:cNvPr id="23" name="S8_THESIS_LABEL">
            <a:extLst xmlns:a="http://schemas.openxmlformats.org/drawingml/2006/main">
              <a:ext uri="{FF2B5EF4-FFF2-40B4-BE49-F238E27FC236}">
                <a16:creationId xmlns:a16="http://schemas.microsoft.com/office/drawing/2014/main" id="{C9442AC4-6569-4D16-A913-51C4B4C45556}"/>
              </a:ext>
            </a:extLst>
          </p:cNvPr>
          <p:cNvSpPr>
            <a:spLocks xmlns:a="http://schemas.openxmlformats.org/drawingml/2006/main" noGrp="1"/>
          </p:cNvSpPr>
          <p:nvPr/>
        </p:nvSpPr>
        <p:spPr>
          <a:xfrm xmlns:a="http://schemas.openxmlformats.org/drawingml/2006/main">
            <a:off x="6248400" y="3086100"/>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D96C5F"/>
                </a:solidFill>
                <a:latin typeface="Consolas"/>
                <a:ea typeface="Consolas"/>
                <a:cs typeface="Consolas"/>
              </a:defRPr>
            </a:pPr>
            <a:r>
              <a:rPr sz="1425" b="1">
                <a:solidFill>
                  <a:srgbClr val="D96C5F"/>
                </a:solidFill>
                <a:latin typeface="Consolas"/>
                <a:ea typeface="Consolas"/>
                <a:cs typeface="Consolas"/>
              </a:rPr>
              <a:t>ĐIỂM GÃY</a:t>
            </a:r>
          </a:p>
        </p:txBody>
      </p:sp>
      <p:sp>
        <p:nvSpPr>
          <p:cNvPr id="24" name="S8_THESIS_BODY">
            <a:extLst xmlns:a="http://schemas.openxmlformats.org/drawingml/2006/main">
              <a:ext uri="{FF2B5EF4-FFF2-40B4-BE49-F238E27FC236}">
                <a16:creationId xmlns:a16="http://schemas.microsoft.com/office/drawing/2014/main" id="{46118561-18E4-4FD2-BAF8-7A53BD695B0B}"/>
              </a:ext>
            </a:extLst>
          </p:cNvPr>
          <p:cNvSpPr>
            <a:spLocks xmlns:a="http://schemas.openxmlformats.org/drawingml/2006/main" noGrp="1"/>
          </p:cNvSpPr>
          <p:nvPr/>
        </p:nvSpPr>
        <p:spPr>
          <a:xfrm xmlns:a="http://schemas.openxmlformats.org/drawingml/2006/main">
            <a:off x="6248400" y="3390900"/>
            <a:ext cx="53911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Firewall thấy HTTP hợp lệ. Native code lại dùng API copy không biết kích thước đích; memory corruption xuất hiện sau boundary ứng dụng.</a:t>
            </a:r>
          </a:p>
        </p:txBody>
      </p:sp>
      <p:sp>
        <p:nvSpPr>
          <p:cNvPr id="25" name="S8_RESULT_ARROW_1">
            <a:extLst xmlns:a="http://schemas.openxmlformats.org/drawingml/2006/main">
              <a:ext uri="{FF2B5EF4-FFF2-40B4-BE49-F238E27FC236}">
                <a16:creationId xmlns:a16="http://schemas.microsoft.com/office/drawing/2014/main" id="{0F4B84C0-F4D2-409F-8417-035D4A89592E}"/>
              </a:ext>
            </a:extLst>
          </p:cNvPr>
          <p:cNvSpPr>
            <a:spLocks xmlns:a="http://schemas.openxmlformats.org/drawingml/2006/main" noGrp="1"/>
          </p:cNvSpPr>
          <p:nvPr/>
        </p:nvSpPr>
        <p:spPr>
          <a:xfrm xmlns:a="http://schemas.openxmlformats.org/drawingml/2006/main">
            <a:off x="3690938"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6" name="S8_RESULT_ARROW_2">
            <a:extLst xmlns:a="http://schemas.openxmlformats.org/drawingml/2006/main">
              <a:ext uri="{FF2B5EF4-FFF2-40B4-BE49-F238E27FC236}">
                <a16:creationId xmlns:a16="http://schemas.microsoft.com/office/drawing/2014/main" id="{25289D0C-25A3-4BA6-9919-AEA79665F344}"/>
              </a:ext>
            </a:extLst>
          </p:cNvPr>
          <p:cNvSpPr>
            <a:spLocks xmlns:a="http://schemas.openxmlformats.org/drawingml/2006/main" noGrp="1"/>
          </p:cNvSpPr>
          <p:nvPr/>
        </p:nvSpPr>
        <p:spPr>
          <a:xfrm xmlns:a="http://schemas.openxmlformats.org/drawingml/2006/main">
            <a:off x="6029325"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7" name="S8_RESULT_ARROW_3">
            <a:extLst xmlns:a="http://schemas.openxmlformats.org/drawingml/2006/main">
              <a:ext uri="{FF2B5EF4-FFF2-40B4-BE49-F238E27FC236}">
                <a16:creationId xmlns:a16="http://schemas.microsoft.com/office/drawing/2014/main" id="{4B0D2A5D-8948-41E6-B0C5-8B08852B0C6E}"/>
              </a:ext>
            </a:extLst>
          </p:cNvPr>
          <p:cNvSpPr>
            <a:spLocks xmlns:a="http://schemas.openxmlformats.org/drawingml/2006/main" noGrp="1"/>
          </p:cNvSpPr>
          <p:nvPr/>
        </p:nvSpPr>
        <p:spPr>
          <a:xfrm xmlns:a="http://schemas.openxmlformats.org/drawingml/2006/main">
            <a:off x="8367713" y="541972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8" name="S8_RESULT_NODE_1">
            <a:extLst xmlns:a="http://schemas.openxmlformats.org/drawingml/2006/main">
              <a:ext uri="{FF2B5EF4-FFF2-40B4-BE49-F238E27FC236}">
                <a16:creationId xmlns:a16="http://schemas.microsoft.com/office/drawing/2014/main" id="{7693D8E7-9BBD-46D4-90CA-370F3670164E}"/>
              </a:ext>
            </a:extLst>
          </p:cNvPr>
          <p:cNvSpPr>
            <a:spLocks xmlns:a="http://schemas.openxmlformats.org/drawingml/2006/main" noGrp="1"/>
          </p:cNvSpPr>
          <p:nvPr/>
        </p:nvSpPr>
        <p:spPr>
          <a:xfrm xmlns:a="http://schemas.openxmlformats.org/drawingml/2006/main">
            <a:off x="1619250"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input bytes</a:t>
            </a:r>
          </a:p>
        </p:txBody>
      </p:sp>
      <p:sp>
        <p:nvSpPr>
          <p:cNvPr id="29" name="S8_RESULT_NODE_2">
            <a:extLst xmlns:a="http://schemas.openxmlformats.org/drawingml/2006/main">
              <a:ext uri="{FF2B5EF4-FFF2-40B4-BE49-F238E27FC236}">
                <a16:creationId xmlns:a16="http://schemas.microsoft.com/office/drawing/2014/main" id="{F412D5DB-A3B0-4A5C-B264-00053692F090}"/>
              </a:ext>
            </a:extLst>
          </p:cNvPr>
          <p:cNvSpPr>
            <a:spLocks xmlns:a="http://schemas.openxmlformats.org/drawingml/2006/main" noGrp="1"/>
          </p:cNvSpPr>
          <p:nvPr/>
        </p:nvSpPr>
        <p:spPr>
          <a:xfrm xmlns:a="http://schemas.openxmlformats.org/drawingml/2006/main">
            <a:off x="3957638"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unsafe copy</a:t>
            </a:r>
          </a:p>
        </p:txBody>
      </p:sp>
      <p:sp>
        <p:nvSpPr>
          <p:cNvPr id="30" name="S8_RESULT_NODE_3">
            <a:extLst xmlns:a="http://schemas.openxmlformats.org/drawingml/2006/main">
              <a:ext uri="{FF2B5EF4-FFF2-40B4-BE49-F238E27FC236}">
                <a16:creationId xmlns:a16="http://schemas.microsoft.com/office/drawing/2014/main" id="{23C7CE74-785D-40E4-9AF1-4E4E0651DD8D}"/>
              </a:ext>
            </a:extLst>
          </p:cNvPr>
          <p:cNvSpPr>
            <a:spLocks xmlns:a="http://schemas.openxmlformats.org/drawingml/2006/main" noGrp="1"/>
          </p:cNvSpPr>
          <p:nvPr/>
        </p:nvSpPr>
        <p:spPr>
          <a:xfrm xmlns:a="http://schemas.openxmlformats.org/drawingml/2006/main">
            <a:off x="6296025"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adjacent memory</a:t>
            </a:r>
          </a:p>
        </p:txBody>
      </p:sp>
      <p:sp>
        <p:nvSpPr>
          <p:cNvPr id="31" name="S8_RESULT_NODE_4">
            <a:extLst xmlns:a="http://schemas.openxmlformats.org/drawingml/2006/main">
              <a:ext uri="{FF2B5EF4-FFF2-40B4-BE49-F238E27FC236}">
                <a16:creationId xmlns:a16="http://schemas.microsoft.com/office/drawing/2014/main" id="{AB9F5170-B7F2-4E12-A6A0-CE01848CB00C}"/>
              </a:ext>
            </a:extLst>
          </p:cNvPr>
          <p:cNvSpPr>
            <a:spLocks xmlns:a="http://schemas.openxmlformats.org/drawingml/2006/main" noGrp="1"/>
          </p:cNvSpPr>
          <p:nvPr/>
        </p:nvSpPr>
        <p:spPr>
          <a:xfrm xmlns:a="http://schemas.openxmlformats.org/drawingml/2006/main">
            <a:off x="8634413" y="5105400"/>
            <a:ext cx="1938338" cy="8001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crash / UB</a:t>
            </a:r>
          </a:p>
        </p:txBody>
      </p:sp>
    </p:spTree>
    <p:extLst>
      <p:ext uri="{BB962C8B-B14F-4D97-AF65-F5344CB8AC3E}">
        <p14:creationId xmlns:p14="http://schemas.microsoft.com/office/powerpoint/2010/main" val="69561939"/>
      </p:ext>
    </p:extLst>
  </p:cSld>
</p:sld>
</file>

<file path=ppt/slides/slide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1" name="S9_EYEBROW">
            <a:extLst xmlns:a="http://schemas.openxmlformats.org/drawingml/2006/main">
              <a:ext uri="{FF2B5EF4-FFF2-40B4-BE49-F238E27FC236}">
                <a16:creationId xmlns:a16="http://schemas.microsoft.com/office/drawing/2014/main" id="{E40B715E-6CF4-4F46-8F0C-CAFA7260F524}"/>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9_TITLE">
            <a:extLst xmlns:a="http://schemas.openxmlformats.org/drawingml/2006/main">
              <a:ext uri="{FF2B5EF4-FFF2-40B4-BE49-F238E27FC236}">
                <a16:creationId xmlns:a16="http://schemas.microsoft.com/office/drawing/2014/main" id="{35275C22-26A7-4083-A9A8-5A403FBDAB1D}"/>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32 byte nghĩa là 31 byte dữ liệu + null</a:t>
            </a:r>
          </a:p>
        </p:txBody>
      </p:sp>
      <p:sp>
        <p:nvSpPr>
          <p:cNvPr id="3" name="S9_SUBTITLE">
            <a:extLst xmlns:a="http://schemas.openxmlformats.org/drawingml/2006/main">
              <a:ext uri="{FF2B5EF4-FFF2-40B4-BE49-F238E27FC236}">
                <a16:creationId xmlns:a16="http://schemas.microsoft.com/office/drawing/2014/main" id="{5427A567-66D2-41D0-9463-94705E829FCF}"/>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strcpy không nhận capacity; byte thứ 33 bắt đầu chạm vùng lân cận.</a:t>
            </a:r>
          </a:p>
        </p:txBody>
      </p:sp>
      <p:sp>
        <p:nvSpPr>
          <p:cNvPr id="4" name="S9_TITLE_RULE">
            <a:extLst xmlns:a="http://schemas.openxmlformats.org/drawingml/2006/main">
              <a:ext uri="{FF2B5EF4-FFF2-40B4-BE49-F238E27FC236}">
                <a16:creationId xmlns:a16="http://schemas.microsoft.com/office/drawing/2014/main" id="{0D46BD19-84D2-4C62-B4DF-FA7EA47D0FD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9_FOOTER_RULE">
            <a:extLst xmlns:a="http://schemas.openxmlformats.org/drawingml/2006/main">
              <a:ext uri="{FF2B5EF4-FFF2-40B4-BE49-F238E27FC236}">
                <a16:creationId xmlns:a16="http://schemas.microsoft.com/office/drawing/2014/main" id="{2CD0AA12-3EFE-4292-8C4A-A57B5BBFC7D4}"/>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9_SOURCE">
            <a:extLst xmlns:a="http://schemas.openxmlformats.org/drawingml/2006/main">
              <a:ext uri="{FF2B5EF4-FFF2-40B4-BE49-F238E27FC236}">
                <a16:creationId xmlns:a16="http://schemas.microsoft.com/office/drawing/2014/main" id="{3B0AC45D-B412-42A5-B41B-B3E822E584F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Lab02/native/vulnerable_processor.c · processor_common.h</a:t>
            </a:r>
          </a:p>
        </p:txBody>
      </p:sp>
      <p:sp>
        <p:nvSpPr>
          <p:cNvPr id="7" name="S9_NUMBER">
            <a:extLst xmlns:a="http://schemas.openxmlformats.org/drawingml/2006/main">
              <a:ext uri="{FF2B5EF4-FFF2-40B4-BE49-F238E27FC236}">
                <a16:creationId xmlns:a16="http://schemas.microsoft.com/office/drawing/2014/main" id="{756C38DF-A987-4760-A232-94F0277FAC9F}"/>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09</a:t>
            </a:r>
          </a:p>
        </p:txBody>
      </p:sp>
      <p:sp>
        <p:nvSpPr>
          <p:cNvPr id="8" name="S9_CODE">
            <a:extLst xmlns:a="http://schemas.openxmlformats.org/drawingml/2006/main">
              <a:ext uri="{FF2B5EF4-FFF2-40B4-BE49-F238E27FC236}">
                <a16:creationId xmlns:a16="http://schemas.microsoft.com/office/drawing/2014/main" id="{FF367882-0A0D-44DD-9BC6-1A1067119E8C}"/>
              </a:ext>
            </a:extLst>
          </p:cNvPr>
          <p:cNvSpPr>
            <a:spLocks xmlns:a="http://schemas.openxmlformats.org/drawingml/2006/main" noGrp="1"/>
          </p:cNvSpPr>
          <p:nvPr/>
        </p:nvSpPr>
        <p:spPr>
          <a:xfrm xmlns:a="http://schemas.openxmlformats.org/drawingml/2006/main">
            <a:off x="533400" y="1752600"/>
            <a:ext cx="44767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char name[32];</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strcpy(name, user_input);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Không có capacity trong lời gọi</a:t>
            </a:r>
          </a:p>
        </p:txBody>
      </p:sp>
      <p:sp>
        <p:nvSpPr>
          <p:cNvPr id="9" name="S9_STACK_H0">
            <a:extLst xmlns:a="http://schemas.openxmlformats.org/drawingml/2006/main">
              <a:ext uri="{FF2B5EF4-FFF2-40B4-BE49-F238E27FC236}">
                <a16:creationId xmlns:a16="http://schemas.microsoft.com/office/drawing/2014/main" id="{19204157-A8D8-4130-AC21-29562FC285A3}"/>
              </a:ext>
            </a:extLst>
          </p:cNvPr>
          <p:cNvSpPr>
            <a:spLocks xmlns:a="http://schemas.openxmlformats.org/drawingml/2006/main" noGrp="1"/>
          </p:cNvSpPr>
          <p:nvPr/>
        </p:nvSpPr>
        <p:spPr>
          <a:xfrm xmlns:a="http://schemas.openxmlformats.org/drawingml/2006/main">
            <a:off x="5314950" y="1752600"/>
            <a:ext cx="23812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VÙNG STACK</a:t>
            </a:r>
          </a:p>
        </p:txBody>
      </p:sp>
      <p:sp>
        <p:nvSpPr>
          <p:cNvPr id="10" name="S9_STACK_H1">
            <a:extLst xmlns:a="http://schemas.openxmlformats.org/drawingml/2006/main">
              <a:ext uri="{FF2B5EF4-FFF2-40B4-BE49-F238E27FC236}">
                <a16:creationId xmlns:a16="http://schemas.microsoft.com/office/drawing/2014/main" id="{2A6BBED3-EACA-42D1-9204-8C9476C07F5B}"/>
              </a:ext>
            </a:extLst>
          </p:cNvPr>
          <p:cNvSpPr>
            <a:spLocks xmlns:a="http://schemas.openxmlformats.org/drawingml/2006/main" noGrp="1"/>
          </p:cNvSpPr>
          <p:nvPr/>
        </p:nvSpPr>
        <p:spPr>
          <a:xfrm xmlns:a="http://schemas.openxmlformats.org/drawingml/2006/main">
            <a:off x="7696200" y="1752600"/>
            <a:ext cx="1809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INPUT ≤31</a:t>
            </a:r>
          </a:p>
        </p:txBody>
      </p:sp>
      <p:sp>
        <p:nvSpPr>
          <p:cNvPr id="11" name="S9_STACK_H2">
            <a:extLst xmlns:a="http://schemas.openxmlformats.org/drawingml/2006/main">
              <a:ext uri="{FF2B5EF4-FFF2-40B4-BE49-F238E27FC236}">
                <a16:creationId xmlns:a16="http://schemas.microsoft.com/office/drawing/2014/main" id="{5248F48E-5672-470C-A929-308081349FFB}"/>
              </a:ext>
            </a:extLst>
          </p:cNvPr>
          <p:cNvSpPr>
            <a:spLocks xmlns:a="http://schemas.openxmlformats.org/drawingml/2006/main" noGrp="1"/>
          </p:cNvSpPr>
          <p:nvPr/>
        </p:nvSpPr>
        <p:spPr>
          <a:xfrm xmlns:a="http://schemas.openxmlformats.org/drawingml/2006/main">
            <a:off x="9505950" y="1752600"/>
            <a:ext cx="21526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INPUT 64</a:t>
            </a:r>
          </a:p>
        </p:txBody>
      </p:sp>
      <p:sp>
        <p:nvSpPr>
          <p:cNvPr id="12" name="S9_STACK_R0C0">
            <a:extLst xmlns:a="http://schemas.openxmlformats.org/drawingml/2006/main">
              <a:ext uri="{FF2B5EF4-FFF2-40B4-BE49-F238E27FC236}">
                <a16:creationId xmlns:a16="http://schemas.microsoft.com/office/drawing/2014/main" id="{E809F94F-CBB4-4639-8103-C95D15059410}"/>
              </a:ext>
            </a:extLst>
          </p:cNvPr>
          <p:cNvSpPr>
            <a:spLocks xmlns:a="http://schemas.openxmlformats.org/drawingml/2006/main" noGrp="1"/>
          </p:cNvSpPr>
          <p:nvPr/>
        </p:nvSpPr>
        <p:spPr>
          <a:xfrm xmlns:a="http://schemas.openxmlformats.org/drawingml/2006/main">
            <a:off x="5314950" y="2319338"/>
            <a:ext cx="23812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name[32]</a:t>
            </a:r>
          </a:p>
        </p:txBody>
      </p:sp>
      <p:sp>
        <p:nvSpPr>
          <p:cNvPr id="13" name="S9_STACK_R0C1">
            <a:extLst xmlns:a="http://schemas.openxmlformats.org/drawingml/2006/main">
              <a:ext uri="{FF2B5EF4-FFF2-40B4-BE49-F238E27FC236}">
                <a16:creationId xmlns:a16="http://schemas.microsoft.com/office/drawing/2014/main" id="{D0A0A751-E2CC-4C7E-8822-18154F069797}"/>
              </a:ext>
            </a:extLst>
          </p:cNvPr>
          <p:cNvSpPr>
            <a:spLocks xmlns:a="http://schemas.openxmlformats.org/drawingml/2006/main" noGrp="1"/>
          </p:cNvSpPr>
          <p:nvPr/>
        </p:nvSpPr>
        <p:spPr>
          <a:xfrm xmlns:a="http://schemas.openxmlformats.org/drawingml/2006/main">
            <a:off x="7696200" y="2319338"/>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data + \0</a:t>
            </a:r>
          </a:p>
        </p:txBody>
      </p:sp>
      <p:sp>
        <p:nvSpPr>
          <p:cNvPr id="14" name="S9_STACK_R0C2">
            <a:extLst xmlns:a="http://schemas.openxmlformats.org/drawingml/2006/main">
              <a:ext uri="{FF2B5EF4-FFF2-40B4-BE49-F238E27FC236}">
                <a16:creationId xmlns:a16="http://schemas.microsoft.com/office/drawing/2014/main" id="{EA5D4D17-90D8-44F4-9918-3699504F1F37}"/>
              </a:ext>
            </a:extLst>
          </p:cNvPr>
          <p:cNvSpPr>
            <a:spLocks xmlns:a="http://schemas.openxmlformats.org/drawingml/2006/main" noGrp="1"/>
          </p:cNvSpPr>
          <p:nvPr/>
        </p:nvSpPr>
        <p:spPr>
          <a:xfrm xmlns:a="http://schemas.openxmlformats.org/drawingml/2006/main">
            <a:off x="9505950" y="2319338"/>
            <a:ext cx="21526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đầy + vượt</a:t>
            </a:r>
          </a:p>
        </p:txBody>
      </p:sp>
      <p:sp>
        <p:nvSpPr>
          <p:cNvPr id="15" name="S9_STACK_R1C0">
            <a:extLst xmlns:a="http://schemas.openxmlformats.org/drawingml/2006/main">
              <a:ext uri="{FF2B5EF4-FFF2-40B4-BE49-F238E27FC236}">
                <a16:creationId xmlns:a16="http://schemas.microsoft.com/office/drawing/2014/main" id="{E7322AEB-DA67-4913-8AC8-3B6FFE9A7199}"/>
              </a:ext>
            </a:extLst>
          </p:cNvPr>
          <p:cNvSpPr>
            <a:spLocks xmlns:a="http://schemas.openxmlformats.org/drawingml/2006/main" noGrp="1"/>
          </p:cNvSpPr>
          <p:nvPr/>
        </p:nvSpPr>
        <p:spPr>
          <a:xfrm xmlns:a="http://schemas.openxmlformats.org/drawingml/2006/main">
            <a:off x="5314950" y="2886075"/>
            <a:ext cx="23812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canary / padding</a:t>
            </a:r>
          </a:p>
        </p:txBody>
      </p:sp>
      <p:sp>
        <p:nvSpPr>
          <p:cNvPr id="16" name="S9_STACK_R1C1">
            <a:extLst xmlns:a="http://schemas.openxmlformats.org/drawingml/2006/main">
              <a:ext uri="{FF2B5EF4-FFF2-40B4-BE49-F238E27FC236}">
                <a16:creationId xmlns:a16="http://schemas.microsoft.com/office/drawing/2014/main" id="{28A484BE-2278-421D-8050-07E19E102B90}"/>
              </a:ext>
            </a:extLst>
          </p:cNvPr>
          <p:cNvSpPr>
            <a:spLocks xmlns:a="http://schemas.openxmlformats.org/drawingml/2006/main" noGrp="1"/>
          </p:cNvSpPr>
          <p:nvPr/>
        </p:nvSpPr>
        <p:spPr>
          <a:xfrm xmlns:a="http://schemas.openxmlformats.org/drawingml/2006/main">
            <a:off x="7696200" y="2886075"/>
            <a:ext cx="1809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đổi</a:t>
            </a:r>
          </a:p>
        </p:txBody>
      </p:sp>
      <p:sp>
        <p:nvSpPr>
          <p:cNvPr id="17" name="S9_STACK_R1C2">
            <a:extLst xmlns:a="http://schemas.openxmlformats.org/drawingml/2006/main">
              <a:ext uri="{FF2B5EF4-FFF2-40B4-BE49-F238E27FC236}">
                <a16:creationId xmlns:a16="http://schemas.microsoft.com/office/drawing/2014/main" id="{5FB1B545-EF2C-449F-A7D4-551C7B1E7AF7}"/>
              </a:ext>
            </a:extLst>
          </p:cNvPr>
          <p:cNvSpPr>
            <a:spLocks xmlns:a="http://schemas.openxmlformats.org/drawingml/2006/main" noGrp="1"/>
          </p:cNvSpPr>
          <p:nvPr/>
        </p:nvSpPr>
        <p:spPr>
          <a:xfrm xmlns:a="http://schemas.openxmlformats.org/drawingml/2006/main">
            <a:off x="9505950" y="2886075"/>
            <a:ext cx="21526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 thể bị ghi</a:t>
            </a:r>
          </a:p>
        </p:txBody>
      </p:sp>
      <p:sp>
        <p:nvSpPr>
          <p:cNvPr id="18" name="S9_STACK_R2C0">
            <a:extLst xmlns:a="http://schemas.openxmlformats.org/drawingml/2006/main">
              <a:ext uri="{FF2B5EF4-FFF2-40B4-BE49-F238E27FC236}">
                <a16:creationId xmlns:a16="http://schemas.microsoft.com/office/drawing/2014/main" id="{BA55A511-8D96-4CFA-A7D4-9BBE03DA5F17}"/>
              </a:ext>
            </a:extLst>
          </p:cNvPr>
          <p:cNvSpPr>
            <a:spLocks xmlns:a="http://schemas.openxmlformats.org/drawingml/2006/main" noGrp="1"/>
          </p:cNvSpPr>
          <p:nvPr/>
        </p:nvSpPr>
        <p:spPr>
          <a:xfrm xmlns:a="http://schemas.openxmlformats.org/drawingml/2006/main">
            <a:off x="5314950" y="3452813"/>
            <a:ext cx="23812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frame / return</a:t>
            </a:r>
          </a:p>
        </p:txBody>
      </p:sp>
      <p:sp>
        <p:nvSpPr>
          <p:cNvPr id="19" name="S9_STACK_R2C1">
            <a:extLst xmlns:a="http://schemas.openxmlformats.org/drawingml/2006/main">
              <a:ext uri="{FF2B5EF4-FFF2-40B4-BE49-F238E27FC236}">
                <a16:creationId xmlns:a16="http://schemas.microsoft.com/office/drawing/2014/main" id="{265F8583-B746-4B37-A9FF-6B05F57603BC}"/>
              </a:ext>
            </a:extLst>
          </p:cNvPr>
          <p:cNvSpPr>
            <a:spLocks xmlns:a="http://schemas.openxmlformats.org/drawingml/2006/main" noGrp="1"/>
          </p:cNvSpPr>
          <p:nvPr/>
        </p:nvSpPr>
        <p:spPr>
          <a:xfrm xmlns:a="http://schemas.openxmlformats.org/drawingml/2006/main">
            <a:off x="7696200" y="3452813"/>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đổi</a:t>
            </a:r>
          </a:p>
        </p:txBody>
      </p:sp>
      <p:sp>
        <p:nvSpPr>
          <p:cNvPr id="20" name="S9_STACK_R2C2">
            <a:extLst xmlns:a="http://schemas.openxmlformats.org/drawingml/2006/main">
              <a:ext uri="{FF2B5EF4-FFF2-40B4-BE49-F238E27FC236}">
                <a16:creationId xmlns:a16="http://schemas.microsoft.com/office/drawing/2014/main" id="{AAB10D99-6CE2-439D-A53D-49EDBA2DF5E8}"/>
              </a:ext>
            </a:extLst>
          </p:cNvPr>
          <p:cNvSpPr>
            <a:spLocks xmlns:a="http://schemas.openxmlformats.org/drawingml/2006/main" noGrp="1"/>
          </p:cNvSpPr>
          <p:nvPr/>
        </p:nvSpPr>
        <p:spPr>
          <a:xfrm xmlns:a="http://schemas.openxmlformats.org/drawingml/2006/main">
            <a:off x="9505950" y="3452813"/>
            <a:ext cx="21526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corruption / UB</a:t>
            </a:r>
          </a:p>
        </p:txBody>
      </p:sp>
      <p:sp>
        <p:nvSpPr>
          <p:cNvPr id="21" name="S9_BYTES_ARROW_1">
            <a:extLst xmlns:a="http://schemas.openxmlformats.org/drawingml/2006/main">
              <a:ext uri="{FF2B5EF4-FFF2-40B4-BE49-F238E27FC236}">
                <a16:creationId xmlns:a16="http://schemas.microsoft.com/office/drawing/2014/main" id="{7C298646-B823-4F3B-8BFB-28F0ADA0D624}"/>
              </a:ext>
            </a:extLst>
          </p:cNvPr>
          <p:cNvSpPr>
            <a:spLocks xmlns:a="http://schemas.openxmlformats.org/drawingml/2006/main" noGrp="1"/>
          </p:cNvSpPr>
          <p:nvPr/>
        </p:nvSpPr>
        <p:spPr>
          <a:xfrm xmlns:a="http://schemas.openxmlformats.org/drawingml/2006/main">
            <a:off x="3148013"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2" name="S9_BYTES_ARROW_2">
            <a:extLst xmlns:a="http://schemas.openxmlformats.org/drawingml/2006/main">
              <a:ext uri="{FF2B5EF4-FFF2-40B4-BE49-F238E27FC236}">
                <a16:creationId xmlns:a16="http://schemas.microsoft.com/office/drawing/2014/main" id="{FF679364-194C-475A-8E71-ED69A397C09D}"/>
              </a:ext>
            </a:extLst>
          </p:cNvPr>
          <p:cNvSpPr>
            <a:spLocks xmlns:a="http://schemas.openxmlformats.org/drawingml/2006/main" noGrp="1"/>
          </p:cNvSpPr>
          <p:nvPr/>
        </p:nvSpPr>
        <p:spPr>
          <a:xfrm xmlns:a="http://schemas.openxmlformats.org/drawingml/2006/main">
            <a:off x="6029325"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3" name="S9_BYTES_ARROW_3">
            <a:extLst xmlns:a="http://schemas.openxmlformats.org/drawingml/2006/main">
              <a:ext uri="{FF2B5EF4-FFF2-40B4-BE49-F238E27FC236}">
                <a16:creationId xmlns:a16="http://schemas.microsoft.com/office/drawing/2014/main" id="{94421EAE-94F7-4E18-BD0F-99F2BF9B6FEA}"/>
              </a:ext>
            </a:extLst>
          </p:cNvPr>
          <p:cNvSpPr>
            <a:spLocks xmlns:a="http://schemas.openxmlformats.org/drawingml/2006/main" noGrp="1"/>
          </p:cNvSpPr>
          <p:nvPr/>
        </p:nvSpPr>
        <p:spPr>
          <a:xfrm xmlns:a="http://schemas.openxmlformats.org/drawingml/2006/main">
            <a:off x="8910638" y="48291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24" name="S9_BYTES_NODE_1">
            <a:extLst xmlns:a="http://schemas.openxmlformats.org/drawingml/2006/main">
              <a:ext uri="{FF2B5EF4-FFF2-40B4-BE49-F238E27FC236}">
                <a16:creationId xmlns:a16="http://schemas.microsoft.com/office/drawing/2014/main" id="{02D35BD1-00A5-43E8-BBEA-6082F8A849A2}"/>
              </a:ext>
            </a:extLst>
          </p:cNvPr>
          <p:cNvSpPr>
            <a:spLocks xmlns:a="http://schemas.openxmlformats.org/drawingml/2006/main" noGrp="1"/>
          </p:cNvSpPr>
          <p:nvPr/>
        </p:nvSpPr>
        <p:spPr>
          <a:xfrm xmlns:a="http://schemas.openxmlformats.org/drawingml/2006/main">
            <a:off x="533400"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31 DATA</a:t>
            </a:r>
          </a:p>
        </p:txBody>
      </p:sp>
      <p:sp>
        <p:nvSpPr>
          <p:cNvPr id="25" name="S9_BYTES_NODE_2">
            <a:extLst xmlns:a="http://schemas.openxmlformats.org/drawingml/2006/main">
              <a:ext uri="{FF2B5EF4-FFF2-40B4-BE49-F238E27FC236}">
                <a16:creationId xmlns:a16="http://schemas.microsoft.com/office/drawing/2014/main" id="{8DC26204-54DB-4386-B8D6-D1515B7AAEDA}"/>
              </a:ext>
            </a:extLst>
          </p:cNvPr>
          <p:cNvSpPr>
            <a:spLocks xmlns:a="http://schemas.openxmlformats.org/drawingml/2006/main" noGrp="1"/>
          </p:cNvSpPr>
          <p:nvPr/>
        </p:nvSpPr>
        <p:spPr>
          <a:xfrm xmlns:a="http://schemas.openxmlformats.org/drawingml/2006/main">
            <a:off x="3414713"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 NULL</a:t>
            </a:r>
          </a:p>
        </p:txBody>
      </p:sp>
      <p:sp>
        <p:nvSpPr>
          <p:cNvPr id="26" name="S9_BYTES_NODE_3">
            <a:extLst xmlns:a="http://schemas.openxmlformats.org/drawingml/2006/main">
              <a:ext uri="{FF2B5EF4-FFF2-40B4-BE49-F238E27FC236}">
                <a16:creationId xmlns:a16="http://schemas.microsoft.com/office/drawing/2014/main" id="{60FCBD69-8BB1-46C2-993D-D9BB215CE86B}"/>
              </a:ext>
            </a:extLst>
          </p:cNvPr>
          <p:cNvSpPr>
            <a:spLocks xmlns:a="http://schemas.openxmlformats.org/drawingml/2006/main" noGrp="1"/>
          </p:cNvSpPr>
          <p:nvPr/>
        </p:nvSpPr>
        <p:spPr>
          <a:xfrm xmlns:a="http://schemas.openxmlformats.org/drawingml/2006/main">
            <a:off x="6296025"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BYTE 33+</a:t>
            </a:r>
          </a:p>
        </p:txBody>
      </p:sp>
      <p:sp>
        <p:nvSpPr>
          <p:cNvPr id="27" name="S9_BYTES_NODE_4">
            <a:extLst xmlns:a="http://schemas.openxmlformats.org/drawingml/2006/main">
              <a:ext uri="{FF2B5EF4-FFF2-40B4-BE49-F238E27FC236}">
                <a16:creationId xmlns:a16="http://schemas.microsoft.com/office/drawing/2014/main" id="{B19C19D0-C4BF-4AD3-9E3F-A9B8AF1C8B06}"/>
              </a:ext>
            </a:extLst>
          </p:cNvPr>
          <p:cNvSpPr>
            <a:spLocks xmlns:a="http://schemas.openxmlformats.org/drawingml/2006/main" noGrp="1"/>
          </p:cNvSpPr>
          <p:nvPr/>
        </p:nvSpPr>
        <p:spPr>
          <a:xfrm xmlns:a="http://schemas.openxmlformats.org/drawingml/2006/main">
            <a:off x="9177338" y="4476750"/>
            <a:ext cx="2481263" cy="876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ADJACENT MEMORY</a:t>
            </a:r>
          </a:p>
        </p:txBody>
      </p:sp>
      <p:sp>
        <p:nvSpPr>
          <p:cNvPr id="28" name="S9_DIFF_BAR">
            <a:extLst xmlns:a="http://schemas.openxmlformats.org/drawingml/2006/main">
              <a:ext uri="{FF2B5EF4-FFF2-40B4-BE49-F238E27FC236}">
                <a16:creationId xmlns:a16="http://schemas.microsoft.com/office/drawing/2014/main" id="{2092C5D7-C2B9-43FB-8CF5-CDCCB40742A4}"/>
              </a:ext>
            </a:extLst>
          </p:cNvPr>
          <p:cNvSpPr>
            <a:spLocks xmlns:a="http://schemas.openxmlformats.org/drawingml/2006/main" noGrp="1"/>
          </p:cNvSpPr>
          <p:nvPr/>
        </p:nvSpPr>
        <p:spPr>
          <a:xfrm xmlns:a="http://schemas.openxmlformats.org/drawingml/2006/main">
            <a:off x="533400" y="5638800"/>
            <a:ext cx="76200" cy="0"/>
          </a:xfrm>
          <a:prstGeom xmlns:a="http://schemas.openxmlformats.org/drawingml/2006/main" prst="rect">
            <a:avLst/>
          </a:prstGeom>
          <a:ln xmlns:a="http://schemas.openxmlformats.org/drawingml/2006/main" w="0">
            <a:noFill/>
            <a:prstDash val="solid"/>
          </a:ln>
        </p:spPr>
      </p:sp>
      <p:sp>
        <p:nvSpPr>
          <p:cNvPr id="29" name="S9_DIFF_LABEL">
            <a:extLst xmlns:a="http://schemas.openxmlformats.org/drawingml/2006/main">
              <a:ext uri="{FF2B5EF4-FFF2-40B4-BE49-F238E27FC236}">
                <a16:creationId xmlns:a16="http://schemas.microsoft.com/office/drawing/2014/main" id="{E7B2F79A-4C22-4CA0-BD87-6454BAADD218}"/>
              </a:ext>
            </a:extLst>
          </p:cNvPr>
          <p:cNvSpPr>
            <a:spLocks xmlns:a="http://schemas.openxmlformats.org/drawingml/2006/main" noGrp="1"/>
          </p:cNvSpPr>
          <p:nvPr/>
        </p:nvSpPr>
        <p:spPr>
          <a:xfrm xmlns:a="http://schemas.openxmlformats.org/drawingml/2006/main">
            <a:off x="704850" y="5638800"/>
            <a:ext cx="1638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KHÁC INJECTION</a:t>
            </a:r>
          </a:p>
        </p:txBody>
      </p:sp>
      <p:sp>
        <p:nvSpPr>
          <p:cNvPr id="30" name="S9_DIFF_BODY">
            <a:extLst xmlns:a="http://schemas.openxmlformats.org/drawingml/2006/main">
              <a:ext uri="{FF2B5EF4-FFF2-40B4-BE49-F238E27FC236}">
                <a16:creationId xmlns:a16="http://schemas.microsoft.com/office/drawing/2014/main" id="{86217352-4F9D-4673-9509-D72A6D86429D}"/>
              </a:ext>
            </a:extLst>
          </p:cNvPr>
          <p:cNvSpPr>
            <a:spLocks xmlns:a="http://schemas.openxmlformats.org/drawingml/2006/main" noGrp="1"/>
          </p:cNvSpPr>
          <p:nvPr/>
        </p:nvSpPr>
        <p:spPr>
          <a:xfrm xmlns:a="http://schemas.openxmlformats.org/drawingml/2006/main">
            <a:off x="2438400" y="5638800"/>
            <a:ext cx="9201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Injection đổi ý nghĩa lệnh/query; Buffer Overflow ghi vượt vùng nhớ. Cả hai đều bắt đầu từ trust boundary nhưng phá vỡ primitive khác nhau.</a:t>
            </a:r>
          </a:p>
        </p:txBody>
      </p:sp>
    </p:spTree>
    <p:extLst>
      <p:ext uri="{BB962C8B-B14F-4D97-AF65-F5344CB8AC3E}">
        <p14:creationId xmlns:p14="http://schemas.microsoft.com/office/powerpoint/2010/main" val="587739903"/>
      </p:ext>
    </p:extLst>
  </p:cSld>
</p:sld>
</file>

<file path=ppt/slides/slide1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1" name="S10_EYEBROW">
            <a:extLst xmlns:a="http://schemas.openxmlformats.org/drawingml/2006/main">
              <a:ext uri="{FF2B5EF4-FFF2-40B4-BE49-F238E27FC236}">
                <a16:creationId xmlns:a16="http://schemas.microsoft.com/office/drawing/2014/main" id="{9EAFEEC0-299A-40E8-9529-8208131FE9DC}"/>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0_TITLE">
            <a:extLst xmlns:a="http://schemas.openxmlformats.org/drawingml/2006/main">
              <a:ext uri="{FF2B5EF4-FFF2-40B4-BE49-F238E27FC236}">
                <a16:creationId xmlns:a16="http://schemas.microsoft.com/office/drawing/2014/main" id="{76859082-29E8-4600-890B-8CEE054268A5}"/>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Quan sát: từ request tới từ chối trước copy</a:t>
            </a:r>
          </a:p>
        </p:txBody>
      </p:sp>
      <p:sp>
        <p:nvSpPr>
          <p:cNvPr id="3" name="S10_SUBTITLE">
            <a:extLst xmlns:a="http://schemas.openxmlformats.org/drawingml/2006/main">
              <a:ext uri="{FF2B5EF4-FFF2-40B4-BE49-F238E27FC236}">
                <a16:creationId xmlns:a16="http://schemas.microsoft.com/office/drawing/2014/main" id="{15411F3A-C425-43E1-8A53-A14906890515}"/>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Ghi bằng chứng thật; không dựng crash log hoặc response giả.</a:t>
            </a:r>
          </a:p>
        </p:txBody>
      </p:sp>
      <p:sp>
        <p:nvSpPr>
          <p:cNvPr id="4" name="S10_TITLE_RULE">
            <a:extLst xmlns:a="http://schemas.openxmlformats.org/drawingml/2006/main">
              <a:ext uri="{FF2B5EF4-FFF2-40B4-BE49-F238E27FC236}">
                <a16:creationId xmlns:a16="http://schemas.microsoft.com/office/drawing/2014/main" id="{7F97C67F-C041-42A8-AD3B-354F24A72BE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0_FOOTER_RULE">
            <a:extLst xmlns:a="http://schemas.openxmlformats.org/drawingml/2006/main">
              <a:ext uri="{FF2B5EF4-FFF2-40B4-BE49-F238E27FC236}">
                <a16:creationId xmlns:a16="http://schemas.microsoft.com/office/drawing/2014/main" id="{28C11EF8-B30D-485D-9D7B-7AF81FAEA93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0_SOURCE">
            <a:extLst xmlns:a="http://schemas.openxmlformats.org/drawingml/2006/main">
              <a:ext uri="{FF2B5EF4-FFF2-40B4-BE49-F238E27FC236}">
                <a16:creationId xmlns:a16="http://schemas.microsoft.com/office/drawing/2014/main" id="{D6758682-D3F2-4B74-BA21-738591DBA8F7}"/>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Lab02/README.md · gdb/README_GDB.md · evidence logs</a:t>
            </a:r>
          </a:p>
        </p:txBody>
      </p:sp>
      <p:sp>
        <p:nvSpPr>
          <p:cNvPr id="7" name="S10_NUMBER">
            <a:extLst xmlns:a="http://schemas.openxmlformats.org/drawingml/2006/main">
              <a:ext uri="{FF2B5EF4-FFF2-40B4-BE49-F238E27FC236}">
                <a16:creationId xmlns:a16="http://schemas.microsoft.com/office/drawing/2014/main" id="{F94FF71E-BC37-4B3C-BADE-C2FF1EC4592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10</a:t>
            </a:r>
          </a:p>
        </p:txBody>
      </p:sp>
      <p:sp>
        <p:nvSpPr>
          <p:cNvPr id="8" name="S10_STEPS_ARROW_1">
            <a:extLst xmlns:a="http://schemas.openxmlformats.org/drawingml/2006/main">
              <a:ext uri="{FF2B5EF4-FFF2-40B4-BE49-F238E27FC236}">
                <a16:creationId xmlns:a16="http://schemas.microsoft.com/office/drawing/2014/main" id="{54ABFC54-6B44-4E59-A924-86F72073EF29}"/>
              </a:ext>
            </a:extLst>
          </p:cNvPr>
          <p:cNvSpPr>
            <a:spLocks xmlns:a="http://schemas.openxmlformats.org/drawingml/2006/main" noGrp="1"/>
          </p:cNvSpPr>
          <p:nvPr/>
        </p:nvSpPr>
        <p:spPr>
          <a:xfrm xmlns:a="http://schemas.openxmlformats.org/drawingml/2006/main">
            <a:off x="1812131"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0_STEPS_ARROW_2">
            <a:extLst xmlns:a="http://schemas.openxmlformats.org/drawingml/2006/main">
              <a:ext uri="{FF2B5EF4-FFF2-40B4-BE49-F238E27FC236}">
                <a16:creationId xmlns:a16="http://schemas.microsoft.com/office/drawing/2014/main" id="{5E3BAC72-8205-460D-99AA-E7FDEC912370}"/>
              </a:ext>
            </a:extLst>
          </p:cNvPr>
          <p:cNvSpPr>
            <a:spLocks xmlns:a="http://schemas.openxmlformats.org/drawingml/2006/main" noGrp="1"/>
          </p:cNvSpPr>
          <p:nvPr/>
        </p:nvSpPr>
        <p:spPr>
          <a:xfrm xmlns:a="http://schemas.openxmlformats.org/drawingml/2006/main">
            <a:off x="3224213"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0_STEPS_ARROW_3">
            <a:extLst xmlns:a="http://schemas.openxmlformats.org/drawingml/2006/main">
              <a:ext uri="{FF2B5EF4-FFF2-40B4-BE49-F238E27FC236}">
                <a16:creationId xmlns:a16="http://schemas.microsoft.com/office/drawing/2014/main" id="{95B5274C-E1F8-462D-B845-4DEA5D8953D1}"/>
              </a:ext>
            </a:extLst>
          </p:cNvPr>
          <p:cNvSpPr>
            <a:spLocks xmlns:a="http://schemas.openxmlformats.org/drawingml/2006/main" noGrp="1"/>
          </p:cNvSpPr>
          <p:nvPr/>
        </p:nvSpPr>
        <p:spPr>
          <a:xfrm xmlns:a="http://schemas.openxmlformats.org/drawingml/2006/main">
            <a:off x="4636294"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0_STEPS_ARROW_4">
            <a:extLst xmlns:a="http://schemas.openxmlformats.org/drawingml/2006/main">
              <a:ext uri="{FF2B5EF4-FFF2-40B4-BE49-F238E27FC236}">
                <a16:creationId xmlns:a16="http://schemas.microsoft.com/office/drawing/2014/main" id="{680E57EA-1E93-4667-9EA9-219A5F912D01}"/>
              </a:ext>
            </a:extLst>
          </p:cNvPr>
          <p:cNvSpPr>
            <a:spLocks xmlns:a="http://schemas.openxmlformats.org/drawingml/2006/main" noGrp="1"/>
          </p:cNvSpPr>
          <p:nvPr/>
        </p:nvSpPr>
        <p:spPr>
          <a:xfrm xmlns:a="http://schemas.openxmlformats.org/drawingml/2006/main">
            <a:off x="6048375"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0_STEPS_ARROW_5">
            <a:extLst xmlns:a="http://schemas.openxmlformats.org/drawingml/2006/main">
              <a:ext uri="{FF2B5EF4-FFF2-40B4-BE49-F238E27FC236}">
                <a16:creationId xmlns:a16="http://schemas.microsoft.com/office/drawing/2014/main" id="{C160DF56-285A-4A78-A653-2865CBEE7485}"/>
              </a:ext>
            </a:extLst>
          </p:cNvPr>
          <p:cNvSpPr>
            <a:spLocks xmlns:a="http://schemas.openxmlformats.org/drawingml/2006/main" noGrp="1"/>
          </p:cNvSpPr>
          <p:nvPr/>
        </p:nvSpPr>
        <p:spPr>
          <a:xfrm xmlns:a="http://schemas.openxmlformats.org/drawingml/2006/main">
            <a:off x="7460456"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10_STEPS_ARROW_6">
            <a:extLst xmlns:a="http://schemas.openxmlformats.org/drawingml/2006/main">
              <a:ext uri="{FF2B5EF4-FFF2-40B4-BE49-F238E27FC236}">
                <a16:creationId xmlns:a16="http://schemas.microsoft.com/office/drawing/2014/main" id="{701F2539-4B53-452E-B45D-A07BCBF37308}"/>
              </a:ext>
            </a:extLst>
          </p:cNvPr>
          <p:cNvSpPr>
            <a:spLocks xmlns:a="http://schemas.openxmlformats.org/drawingml/2006/main" noGrp="1"/>
          </p:cNvSpPr>
          <p:nvPr/>
        </p:nvSpPr>
        <p:spPr>
          <a:xfrm xmlns:a="http://schemas.openxmlformats.org/drawingml/2006/main">
            <a:off x="8872538"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4" name="S10_STEPS_ARROW_7">
            <a:extLst xmlns:a="http://schemas.openxmlformats.org/drawingml/2006/main">
              <a:ext uri="{FF2B5EF4-FFF2-40B4-BE49-F238E27FC236}">
                <a16:creationId xmlns:a16="http://schemas.microsoft.com/office/drawing/2014/main" id="{50F58DF7-0857-423C-ABC2-BE4C5C5F980B}"/>
              </a:ext>
            </a:extLst>
          </p:cNvPr>
          <p:cNvSpPr>
            <a:spLocks xmlns:a="http://schemas.openxmlformats.org/drawingml/2006/main" noGrp="1"/>
          </p:cNvSpPr>
          <p:nvPr/>
        </p:nvSpPr>
        <p:spPr>
          <a:xfrm xmlns:a="http://schemas.openxmlformats.org/drawingml/2006/main">
            <a:off x="10284619" y="1924050"/>
            <a:ext cx="1333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5" name="S10_STEPS_NODE_1">
            <a:extLst xmlns:a="http://schemas.openxmlformats.org/drawingml/2006/main">
              <a:ext uri="{FF2B5EF4-FFF2-40B4-BE49-F238E27FC236}">
                <a16:creationId xmlns:a16="http://schemas.microsoft.com/office/drawing/2014/main" id="{5D0BBEC6-6293-48AE-9962-D896D70DD0C2}"/>
              </a:ext>
            </a:extLst>
          </p:cNvPr>
          <p:cNvSpPr>
            <a:spLocks xmlns:a="http://schemas.openxmlformats.org/drawingml/2006/main" noGrp="1"/>
          </p:cNvSpPr>
          <p:nvPr/>
        </p:nvSpPr>
        <p:spPr>
          <a:xfrm xmlns:a="http://schemas.openxmlformats.org/drawingml/2006/main">
            <a:off x="533400"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 RUN</a:t>
            </a:r>
          </a:p>
        </p:txBody>
      </p:sp>
      <p:sp>
        <p:nvSpPr>
          <p:cNvPr id="16" name="S10_STEPS_NODE_2">
            <a:extLst xmlns:a="http://schemas.openxmlformats.org/drawingml/2006/main">
              <a:ext uri="{FF2B5EF4-FFF2-40B4-BE49-F238E27FC236}">
                <a16:creationId xmlns:a16="http://schemas.microsoft.com/office/drawing/2014/main" id="{9723994F-AA0B-4D8D-8928-F25436EC43F4}"/>
              </a:ext>
            </a:extLst>
          </p:cNvPr>
          <p:cNvSpPr>
            <a:spLocks xmlns:a="http://schemas.openxmlformats.org/drawingml/2006/main" noGrp="1"/>
          </p:cNvSpPr>
          <p:nvPr/>
        </p:nvSpPr>
        <p:spPr>
          <a:xfrm xmlns:a="http://schemas.openxmlformats.org/drawingml/2006/main">
            <a:off x="1945481"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2 INPUT</a:t>
            </a:r>
          </a:p>
        </p:txBody>
      </p:sp>
      <p:sp>
        <p:nvSpPr>
          <p:cNvPr id="17" name="S10_STEPS_NODE_3">
            <a:extLst xmlns:a="http://schemas.openxmlformats.org/drawingml/2006/main">
              <a:ext uri="{FF2B5EF4-FFF2-40B4-BE49-F238E27FC236}">
                <a16:creationId xmlns:a16="http://schemas.microsoft.com/office/drawing/2014/main" id="{E50E5F04-3963-45BD-A17B-BCA24A86AF42}"/>
              </a:ext>
            </a:extLst>
          </p:cNvPr>
          <p:cNvSpPr>
            <a:spLocks xmlns:a="http://schemas.openxmlformats.org/drawingml/2006/main" noGrp="1"/>
          </p:cNvSpPr>
          <p:nvPr/>
        </p:nvSpPr>
        <p:spPr>
          <a:xfrm xmlns:a="http://schemas.openxmlformats.org/drawingml/2006/main">
            <a:off x="3357563"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3 POST</a:t>
            </a:r>
          </a:p>
        </p:txBody>
      </p:sp>
      <p:sp>
        <p:nvSpPr>
          <p:cNvPr id="18" name="S10_STEPS_NODE_4">
            <a:extLst xmlns:a="http://schemas.openxmlformats.org/drawingml/2006/main">
              <a:ext uri="{FF2B5EF4-FFF2-40B4-BE49-F238E27FC236}">
                <a16:creationId xmlns:a16="http://schemas.microsoft.com/office/drawing/2014/main" id="{FAF832DB-F947-47BE-B077-668D33160B0D}"/>
              </a:ext>
            </a:extLst>
          </p:cNvPr>
          <p:cNvSpPr>
            <a:spLocks xmlns:a="http://schemas.openxmlformats.org/drawingml/2006/main" noGrp="1"/>
          </p:cNvSpPr>
          <p:nvPr/>
        </p:nvSpPr>
        <p:spPr>
          <a:xfrm xmlns:a="http://schemas.openxmlformats.org/drawingml/2006/main">
            <a:off x="4769644"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4 TRACE</a:t>
            </a:r>
          </a:p>
        </p:txBody>
      </p:sp>
      <p:sp>
        <p:nvSpPr>
          <p:cNvPr id="19" name="S10_STEPS_NODE_5">
            <a:extLst xmlns:a="http://schemas.openxmlformats.org/drawingml/2006/main">
              <a:ext uri="{FF2B5EF4-FFF2-40B4-BE49-F238E27FC236}">
                <a16:creationId xmlns:a16="http://schemas.microsoft.com/office/drawing/2014/main" id="{E339433D-832C-4D46-B655-C62B706CFE33}"/>
              </a:ext>
            </a:extLst>
          </p:cNvPr>
          <p:cNvSpPr>
            <a:spLocks xmlns:a="http://schemas.openxmlformats.org/drawingml/2006/main" noGrp="1"/>
          </p:cNvSpPr>
          <p:nvPr/>
        </p:nvSpPr>
        <p:spPr>
          <a:xfrm xmlns:a="http://schemas.openxmlformats.org/drawingml/2006/main">
            <a:off x="6181725"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5 ASan/GDB</a:t>
            </a:r>
          </a:p>
        </p:txBody>
      </p:sp>
      <p:sp>
        <p:nvSpPr>
          <p:cNvPr id="20" name="S10_STEPS_NODE_6">
            <a:extLst xmlns:a="http://schemas.openxmlformats.org/drawingml/2006/main">
              <a:ext uri="{FF2B5EF4-FFF2-40B4-BE49-F238E27FC236}">
                <a16:creationId xmlns:a16="http://schemas.microsoft.com/office/drawing/2014/main" id="{B2681762-3E8E-44A4-B555-62FCF0DD4E2E}"/>
              </a:ext>
            </a:extLst>
          </p:cNvPr>
          <p:cNvSpPr>
            <a:spLocks xmlns:a="http://schemas.openxmlformats.org/drawingml/2006/main" noGrp="1"/>
          </p:cNvSpPr>
          <p:nvPr/>
        </p:nvSpPr>
        <p:spPr>
          <a:xfrm xmlns:a="http://schemas.openxmlformats.org/drawingml/2006/main">
            <a:off x="7593806"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6 PATCH</a:t>
            </a:r>
          </a:p>
        </p:txBody>
      </p:sp>
      <p:sp>
        <p:nvSpPr>
          <p:cNvPr id="21" name="S10_STEPS_NODE_7">
            <a:extLst xmlns:a="http://schemas.openxmlformats.org/drawingml/2006/main">
              <a:ext uri="{FF2B5EF4-FFF2-40B4-BE49-F238E27FC236}">
                <a16:creationId xmlns:a16="http://schemas.microsoft.com/office/drawing/2014/main" id="{0819946F-836B-4CBC-AC04-1CA58804F843}"/>
              </a:ext>
            </a:extLst>
          </p:cNvPr>
          <p:cNvSpPr>
            <a:spLocks xmlns:a="http://schemas.openxmlformats.org/drawingml/2006/main" noGrp="1"/>
          </p:cNvSpPr>
          <p:nvPr/>
        </p:nvSpPr>
        <p:spPr>
          <a:xfrm xmlns:a="http://schemas.openxmlformats.org/drawingml/2006/main">
            <a:off x="9005888"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7 RETEST</a:t>
            </a:r>
          </a:p>
        </p:txBody>
      </p:sp>
      <p:sp>
        <p:nvSpPr>
          <p:cNvPr id="22" name="S10_STEPS_NODE_8">
            <a:extLst xmlns:a="http://schemas.openxmlformats.org/drawingml/2006/main">
              <a:ext uri="{FF2B5EF4-FFF2-40B4-BE49-F238E27FC236}">
                <a16:creationId xmlns:a16="http://schemas.microsoft.com/office/drawing/2014/main" id="{0376F973-5166-4C93-A4E5-4CA987F72ED9}"/>
              </a:ext>
            </a:extLst>
          </p:cNvPr>
          <p:cNvSpPr>
            <a:spLocks xmlns:a="http://schemas.openxmlformats.org/drawingml/2006/main" noGrp="1"/>
          </p:cNvSpPr>
          <p:nvPr/>
        </p:nvSpPr>
        <p:spPr>
          <a:xfrm xmlns:a="http://schemas.openxmlformats.org/drawingml/2006/main">
            <a:off x="10417969" y="1676400"/>
            <a:ext cx="1240631" cy="666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8 REPORT</a:t>
            </a:r>
          </a:p>
        </p:txBody>
      </p:sp>
      <p:sp>
        <p:nvSpPr>
          <p:cNvPr id="23" name="S10_ENV_BAR">
            <a:extLst xmlns:a="http://schemas.openxmlformats.org/drawingml/2006/main">
              <a:ext uri="{FF2B5EF4-FFF2-40B4-BE49-F238E27FC236}">
                <a16:creationId xmlns:a16="http://schemas.microsoft.com/office/drawing/2014/main" id="{C1BE533A-C9D6-4B4E-908B-EA26D6A89056}"/>
              </a:ext>
            </a:extLst>
          </p:cNvPr>
          <p:cNvSpPr>
            <a:spLocks xmlns:a="http://schemas.openxmlformats.org/drawingml/2006/main" noGrp="1"/>
          </p:cNvSpPr>
          <p:nvPr/>
        </p:nvSpPr>
        <p:spPr>
          <a:xfrm xmlns:a="http://schemas.openxmlformats.org/drawingml/2006/main">
            <a:off x="533400" y="2438400"/>
            <a:ext cx="76200" cy="0"/>
          </a:xfrm>
          <a:prstGeom xmlns:a="http://schemas.openxmlformats.org/drawingml/2006/main" prst="rect">
            <a:avLst/>
          </a:prstGeom>
          <a:ln xmlns:a="http://schemas.openxmlformats.org/drawingml/2006/main" w="0">
            <a:noFill/>
            <a:prstDash val="solid"/>
          </a:ln>
        </p:spPr>
      </p:sp>
      <p:sp>
        <p:nvSpPr>
          <p:cNvPr id="24" name="S10_ENV_LABEL">
            <a:extLst xmlns:a="http://schemas.openxmlformats.org/drawingml/2006/main">
              <a:ext uri="{FF2B5EF4-FFF2-40B4-BE49-F238E27FC236}">
                <a16:creationId xmlns:a16="http://schemas.microsoft.com/office/drawing/2014/main" id="{E4DA357C-6860-413B-AC64-40B70627EB56}"/>
              </a:ext>
            </a:extLst>
          </p:cNvPr>
          <p:cNvSpPr>
            <a:spLocks xmlns:a="http://schemas.openxmlformats.org/drawingml/2006/main" noGrp="1"/>
          </p:cNvSpPr>
          <p:nvPr/>
        </p:nvSpPr>
        <p:spPr>
          <a:xfrm xmlns:a="http://schemas.openxmlformats.org/drawingml/2006/main">
            <a:off x="704850"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MÔI TRƯỜNG</a:t>
            </a:r>
          </a:p>
        </p:txBody>
      </p:sp>
      <p:sp>
        <p:nvSpPr>
          <p:cNvPr id="25" name="S10_ENV_BODY">
            <a:extLst xmlns:a="http://schemas.openxmlformats.org/drawingml/2006/main">
              <a:ext uri="{FF2B5EF4-FFF2-40B4-BE49-F238E27FC236}">
                <a16:creationId xmlns:a16="http://schemas.microsoft.com/office/drawing/2014/main" id="{B0F5A3A5-F279-403B-83BC-48247C33E037}"/>
              </a:ext>
            </a:extLst>
          </p:cNvPr>
          <p:cNvSpPr>
            <a:spLocks xmlns:a="http://schemas.openxmlformats.org/drawingml/2006/main" noGrp="1"/>
          </p:cNvSpPr>
          <p:nvPr/>
        </p:nvSpPr>
        <p:spPr>
          <a:xfrm xmlns:a="http://schemas.openxmlformats.org/drawingml/2006/main">
            <a:off x="2438400" y="2438400"/>
            <a:ext cx="920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Linux VM local · GCC · GDB · Python gửi request local.</a:t>
            </a:r>
          </a:p>
        </p:txBody>
      </p:sp>
      <p:sp>
        <p:nvSpPr>
          <p:cNvPr id="26" name="PH_S10_Lab02_31_long_input_network_payload_png_FRAME">
            <a:extLst xmlns:a="http://schemas.openxmlformats.org/drawingml/2006/main">
              <a:ext uri="{FF2B5EF4-FFF2-40B4-BE49-F238E27FC236}">
                <a16:creationId xmlns:a16="http://schemas.microsoft.com/office/drawing/2014/main" id="{0E397776-5842-4282-8624-EBBEBB8303B4}"/>
              </a:ext>
            </a:extLst>
          </p:cNvPr>
          <p:cNvSpPr>
            <a:spLocks xmlns:a="http://schemas.openxmlformats.org/drawingml/2006/main" noGrp="1"/>
          </p:cNvSpPr>
          <p:nvPr/>
        </p:nvSpPr>
        <p:spPr>
          <a:xfrm xmlns:a="http://schemas.openxmlformats.org/drawingml/2006/main">
            <a:off x="5048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7" name="PH_S10_Lab02_31_long_input_network_payload_png_IMAGE">
            <a:extLst xmlns:a="http://schemas.openxmlformats.org/drawingml/2006/main">
              <a:ext uri="{FF2B5EF4-FFF2-40B4-BE49-F238E27FC236}">
                <a16:creationId xmlns:a16="http://schemas.microsoft.com/office/drawing/2014/main" id="{0A06DE33-0FE8-47AE-AD4C-A7F1EAC88B86}"/>
              </a:ext>
            </a:extLst>
          </p:cNvPr>
          <p:cNvSpPr>
            <a:spLocks xmlns:a="http://schemas.openxmlformats.org/drawingml/2006/main" noGrp="1"/>
          </p:cNvSpPr>
          <p:nvPr/>
        </p:nvSpPr>
        <p:spPr>
          <a:xfrm xmlns:a="http://schemas.openxmlformats.org/drawingml/2006/main">
            <a:off x="5334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8" name="PH_S10_Lab02_31_long_input_network_payload_png_ICON">
            <a:extLst xmlns:a="http://schemas.openxmlformats.org/drawingml/2006/main">
              <a:ext uri="{FF2B5EF4-FFF2-40B4-BE49-F238E27FC236}">
                <a16:creationId xmlns:a16="http://schemas.microsoft.com/office/drawing/2014/main" id="{67ED8445-03E8-466B-9BC0-C8517611B4FC}"/>
              </a:ext>
            </a:extLst>
          </p:cNvPr>
          <p:cNvSpPr>
            <a:spLocks xmlns:a="http://schemas.openxmlformats.org/drawingml/2006/main" noGrp="1"/>
          </p:cNvSpPr>
          <p:nvPr/>
        </p:nvSpPr>
        <p:spPr>
          <a:xfrm xmlns:a="http://schemas.openxmlformats.org/drawingml/2006/main">
            <a:off x="6858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9" name="PH_S10_Lab02_31_long_input_network_payload_png_INSTRUCTION">
            <a:extLst xmlns:a="http://schemas.openxmlformats.org/drawingml/2006/main">
              <a:ext uri="{FF2B5EF4-FFF2-40B4-BE49-F238E27FC236}">
                <a16:creationId xmlns:a16="http://schemas.microsoft.com/office/drawing/2014/main" id="{82B322AA-6284-4493-B47D-B17EC34D1F7B}"/>
              </a:ext>
            </a:extLst>
          </p:cNvPr>
          <p:cNvSpPr>
            <a:spLocks xmlns:a="http://schemas.openxmlformats.org/drawingml/2006/main" noGrp="1"/>
          </p:cNvSpPr>
          <p:nvPr/>
        </p:nvSpPr>
        <p:spPr>
          <a:xfrm xmlns:a="http://schemas.openxmlformats.org/drawingml/2006/main">
            <a:off x="12001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31_long_input_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network_payload.png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0" name="PH_S10_Lab02_31_long_input_network_payload_png_CAPTION">
            <a:extLst xmlns:a="http://schemas.openxmlformats.org/drawingml/2006/main">
              <a:ext uri="{FF2B5EF4-FFF2-40B4-BE49-F238E27FC236}">
                <a16:creationId xmlns:a16="http://schemas.microsoft.com/office/drawing/2014/main" id="{3EDEC1FF-3D65-4E98-9A76-EEE3BCCD1B5B}"/>
              </a:ext>
            </a:extLst>
          </p:cNvPr>
          <p:cNvSpPr>
            <a:spLocks xmlns:a="http://schemas.openxmlformats.org/drawingml/2006/main" noGrp="1"/>
          </p:cNvSpPr>
          <p:nvPr/>
        </p:nvSpPr>
        <p:spPr>
          <a:xfrm xmlns:a="http://schemas.openxmlformats.org/drawingml/2006/main">
            <a:off x="5334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Payload 64 byte tới vulnerable</a:t>
            </a:r>
          </a:p>
        </p:txBody>
      </p:sp>
      <p:sp>
        <p:nvSpPr>
          <p:cNvPr id="31" name="PH_S10_Lab02_34_secure_length_network_response_png_FRAME">
            <a:extLst xmlns:a="http://schemas.openxmlformats.org/drawingml/2006/main">
              <a:ext uri="{FF2B5EF4-FFF2-40B4-BE49-F238E27FC236}">
                <a16:creationId xmlns:a16="http://schemas.microsoft.com/office/drawing/2014/main" id="{27231638-3861-49DD-B4E2-BE7BB445E08F}"/>
              </a:ext>
            </a:extLst>
          </p:cNvPr>
          <p:cNvSpPr>
            <a:spLocks xmlns:a="http://schemas.openxmlformats.org/drawingml/2006/main" noGrp="1"/>
          </p:cNvSpPr>
          <p:nvPr/>
        </p:nvSpPr>
        <p:spPr>
          <a:xfrm xmlns:a="http://schemas.openxmlformats.org/drawingml/2006/main">
            <a:off x="43529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32" name="PH_S10_Lab02_34_secure_length_network_response_png_IMAGE">
            <a:extLst xmlns:a="http://schemas.openxmlformats.org/drawingml/2006/main">
              <a:ext uri="{FF2B5EF4-FFF2-40B4-BE49-F238E27FC236}">
                <a16:creationId xmlns:a16="http://schemas.microsoft.com/office/drawing/2014/main" id="{B5EE1C5B-7FE2-4004-8C2B-DEEC4419E22E}"/>
              </a:ext>
            </a:extLst>
          </p:cNvPr>
          <p:cNvSpPr>
            <a:spLocks xmlns:a="http://schemas.openxmlformats.org/drawingml/2006/main" noGrp="1"/>
          </p:cNvSpPr>
          <p:nvPr/>
        </p:nvSpPr>
        <p:spPr>
          <a:xfrm xmlns:a="http://schemas.openxmlformats.org/drawingml/2006/main">
            <a:off x="43815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33" name="PH_S10_Lab02_34_secure_length_network_response_png_ICON">
            <a:extLst xmlns:a="http://schemas.openxmlformats.org/drawingml/2006/main">
              <a:ext uri="{FF2B5EF4-FFF2-40B4-BE49-F238E27FC236}">
                <a16:creationId xmlns:a16="http://schemas.microsoft.com/office/drawing/2014/main" id="{C42A267C-A19C-4A6F-8E11-C6046E4353E2}"/>
              </a:ext>
            </a:extLst>
          </p:cNvPr>
          <p:cNvSpPr>
            <a:spLocks xmlns:a="http://schemas.openxmlformats.org/drawingml/2006/main" noGrp="1"/>
          </p:cNvSpPr>
          <p:nvPr/>
        </p:nvSpPr>
        <p:spPr>
          <a:xfrm xmlns:a="http://schemas.openxmlformats.org/drawingml/2006/main">
            <a:off x="45339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4" name="PH_S10_Lab02_34_secure_length_network_response_png_INSTRUCTION">
            <a:extLst xmlns:a="http://schemas.openxmlformats.org/drawingml/2006/main">
              <a:ext uri="{FF2B5EF4-FFF2-40B4-BE49-F238E27FC236}">
                <a16:creationId xmlns:a16="http://schemas.microsoft.com/office/drawing/2014/main" id="{87E2E663-022B-4A06-9572-C9BF07686E4D}"/>
              </a:ext>
            </a:extLst>
          </p:cNvPr>
          <p:cNvSpPr>
            <a:spLocks xmlns:a="http://schemas.openxmlformats.org/drawingml/2006/main" noGrp="1"/>
          </p:cNvSpPr>
          <p:nvPr/>
        </p:nvSpPr>
        <p:spPr>
          <a:xfrm xmlns:a="http://schemas.openxmlformats.org/drawingml/2006/main">
            <a:off x="50482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34_secure_length_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network_response.png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5" name="PH_S10_Lab02_34_secure_length_network_response_png_CAPTION">
            <a:extLst xmlns:a="http://schemas.openxmlformats.org/drawingml/2006/main">
              <a:ext uri="{FF2B5EF4-FFF2-40B4-BE49-F238E27FC236}">
                <a16:creationId xmlns:a16="http://schemas.microsoft.com/office/drawing/2014/main" id="{78B68CCF-7FAD-433A-845B-BC92EB44BC62}"/>
              </a:ext>
            </a:extLst>
          </p:cNvPr>
          <p:cNvSpPr>
            <a:spLocks xmlns:a="http://schemas.openxmlformats.org/drawingml/2006/main" noGrp="1"/>
          </p:cNvSpPr>
          <p:nvPr/>
        </p:nvSpPr>
        <p:spPr>
          <a:xfrm xmlns:a="http://schemas.openxmlformats.org/drawingml/2006/main">
            <a:off x="43815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secure_length từ chối trước copy</a:t>
            </a:r>
          </a:p>
        </p:txBody>
      </p:sp>
      <p:sp>
        <p:nvSpPr>
          <p:cNvPr id="36" name="PH_S10_Lab02_Lab02_gdb_crash_log_png_FRAME">
            <a:extLst xmlns:a="http://schemas.openxmlformats.org/drawingml/2006/main">
              <a:ext uri="{FF2B5EF4-FFF2-40B4-BE49-F238E27FC236}">
                <a16:creationId xmlns:a16="http://schemas.microsoft.com/office/drawing/2014/main" id="{4D071E28-8C91-451E-B6E8-F07990766156}"/>
              </a:ext>
            </a:extLst>
          </p:cNvPr>
          <p:cNvSpPr>
            <a:spLocks xmlns:a="http://schemas.openxmlformats.org/drawingml/2006/main" noGrp="1"/>
          </p:cNvSpPr>
          <p:nvPr/>
        </p:nvSpPr>
        <p:spPr>
          <a:xfrm xmlns:a="http://schemas.openxmlformats.org/drawingml/2006/main">
            <a:off x="8201025" y="3076575"/>
            <a:ext cx="3486150" cy="26289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37" name="PH_S10_Lab02_Lab02_gdb_crash_log_png_IMAGE">
            <a:extLst xmlns:a="http://schemas.openxmlformats.org/drawingml/2006/main">
              <a:ext uri="{FF2B5EF4-FFF2-40B4-BE49-F238E27FC236}">
                <a16:creationId xmlns:a16="http://schemas.microsoft.com/office/drawing/2014/main" id="{1F4F2EBE-C107-44FC-AC5E-D356C43F9680}"/>
              </a:ext>
            </a:extLst>
          </p:cNvPr>
          <p:cNvSpPr>
            <a:spLocks xmlns:a="http://schemas.openxmlformats.org/drawingml/2006/main" noGrp="1"/>
          </p:cNvSpPr>
          <p:nvPr/>
        </p:nvSpPr>
        <p:spPr>
          <a:xfrm xmlns:a="http://schemas.openxmlformats.org/drawingml/2006/main">
            <a:off x="8229600" y="3105150"/>
            <a:ext cx="3429000" cy="25717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38" name="PH_S10_Lab02_Lab02_gdb_crash_log_png_ICON">
            <a:extLst xmlns:a="http://schemas.openxmlformats.org/drawingml/2006/main">
              <a:ext uri="{FF2B5EF4-FFF2-40B4-BE49-F238E27FC236}">
                <a16:creationId xmlns:a16="http://schemas.microsoft.com/office/drawing/2014/main" id="{A25CFDAA-44CB-4D2E-8875-26305A968056}"/>
              </a:ext>
            </a:extLst>
          </p:cNvPr>
          <p:cNvSpPr>
            <a:spLocks xmlns:a="http://schemas.openxmlformats.org/drawingml/2006/main" noGrp="1"/>
          </p:cNvSpPr>
          <p:nvPr/>
        </p:nvSpPr>
        <p:spPr>
          <a:xfrm xmlns:a="http://schemas.openxmlformats.org/drawingml/2006/main">
            <a:off x="8382000" y="3248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9" name="PH_S10_Lab02_Lab02_gdb_crash_log_png_INSTRUCTION">
            <a:extLst xmlns:a="http://schemas.openxmlformats.org/drawingml/2006/main">
              <a:ext uri="{FF2B5EF4-FFF2-40B4-BE49-F238E27FC236}">
                <a16:creationId xmlns:a16="http://schemas.microsoft.com/office/drawing/2014/main" id="{AF29E332-B35D-42E6-9E3A-F0A85C8BB1BA}"/>
              </a:ext>
            </a:extLst>
          </p:cNvPr>
          <p:cNvSpPr>
            <a:spLocks xmlns:a="http://schemas.openxmlformats.org/drawingml/2006/main" noGrp="1"/>
          </p:cNvSpPr>
          <p:nvPr/>
        </p:nvSpPr>
        <p:spPr>
          <a:xfrm xmlns:a="http://schemas.openxmlformats.org/drawingml/2006/main">
            <a:off x="8896350" y="3276600"/>
            <a:ext cx="25908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Lab02_gdb_crash_log.png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40" name="PH_S10_Lab02_Lab02_gdb_crash_log_png_CAPTION">
            <a:extLst xmlns:a="http://schemas.openxmlformats.org/drawingml/2006/main">
              <a:ext uri="{FF2B5EF4-FFF2-40B4-BE49-F238E27FC236}">
                <a16:creationId xmlns:a16="http://schemas.microsoft.com/office/drawing/2014/main" id="{82BCDAB8-F665-44C3-9FA2-0DA0E97CA88D}"/>
              </a:ext>
            </a:extLst>
          </p:cNvPr>
          <p:cNvSpPr>
            <a:spLocks xmlns:a="http://schemas.openxmlformats.org/drawingml/2006/main" noGrp="1"/>
          </p:cNvSpPr>
          <p:nvPr/>
        </p:nvSpPr>
        <p:spPr>
          <a:xfrm xmlns:a="http://schemas.openxmlformats.org/drawingml/2006/main">
            <a:off x="8229600" y="5267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GDB/ASan: crash, stack, input length</a:t>
            </a:r>
          </a:p>
        </p:txBody>
      </p:sp>
    </p:spTree>
    <p:extLst>
      <p:ext uri="{BB962C8B-B14F-4D97-AF65-F5344CB8AC3E}">
        <p14:creationId xmlns:p14="http://schemas.microsoft.com/office/powerpoint/2010/main" val="107766338"/>
      </p:ext>
    </p:extLst>
  </p:cSld>
</p:sld>
</file>

<file path=ppt/slides/slide1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3" name="S11_EYEBROW">
            <a:extLst xmlns:a="http://schemas.openxmlformats.org/drawingml/2006/main">
              <a:ext uri="{FF2B5EF4-FFF2-40B4-BE49-F238E27FC236}">
                <a16:creationId xmlns:a16="http://schemas.microsoft.com/office/drawing/2014/main" id="{E3A32F2A-187F-441B-8F41-A5FC3607301B}"/>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1_TITLE">
            <a:extLst xmlns:a="http://schemas.openxmlformats.org/drawingml/2006/main">
              <a:ext uri="{FF2B5EF4-FFF2-40B4-BE49-F238E27FC236}">
                <a16:creationId xmlns:a16="http://schemas.microsoft.com/office/drawing/2014/main" id="{15C83AD7-4F57-4BFF-82F5-42D4B6235D5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Hai bản vá chặn lỗi trước thao tác copy</a:t>
            </a:r>
          </a:p>
        </p:txBody>
      </p:sp>
      <p:sp>
        <p:nvSpPr>
          <p:cNvPr id="3" name="S11_SUBTITLE">
            <a:extLst xmlns:a="http://schemas.openxmlformats.org/drawingml/2006/main">
              <a:ext uri="{FF2B5EF4-FFF2-40B4-BE49-F238E27FC236}">
                <a16:creationId xmlns:a16="http://schemas.microsoft.com/office/drawing/2014/main" id="{CC03D15D-85F7-4376-BDDA-DEA274D7498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Length check đặt invariant 31 byte; snprintf ràng buộc mọi ghi theo capacity.</a:t>
            </a:r>
          </a:p>
        </p:txBody>
      </p:sp>
      <p:sp>
        <p:nvSpPr>
          <p:cNvPr id="4" name="S11_TITLE_RULE">
            <a:extLst xmlns:a="http://schemas.openxmlformats.org/drawingml/2006/main">
              <a:ext uri="{FF2B5EF4-FFF2-40B4-BE49-F238E27FC236}">
                <a16:creationId xmlns:a16="http://schemas.microsoft.com/office/drawing/2014/main" id="{687AA367-6B74-475C-AEE0-197AC7A7DEC7}"/>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1_FOOTER_RULE">
            <a:extLst xmlns:a="http://schemas.openxmlformats.org/drawingml/2006/main">
              <a:ext uri="{FF2B5EF4-FFF2-40B4-BE49-F238E27FC236}">
                <a16:creationId xmlns:a16="http://schemas.microsoft.com/office/drawing/2014/main" id="{70917746-3C3A-4CD3-BABC-6B97B241F312}"/>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1_SOURCE">
            <a:extLst xmlns:a="http://schemas.openxmlformats.org/drawingml/2006/main">
              <a:ext uri="{FF2B5EF4-FFF2-40B4-BE49-F238E27FC236}">
                <a16:creationId xmlns:a16="http://schemas.microsoft.com/office/drawing/2014/main" id="{80107539-67E3-4765-B972-91B301BE496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Lab02/native/secure_*_processor.c · config.py</a:t>
            </a:r>
          </a:p>
        </p:txBody>
      </p:sp>
      <p:sp>
        <p:nvSpPr>
          <p:cNvPr id="7" name="S11_NUMBER">
            <a:extLst xmlns:a="http://schemas.openxmlformats.org/drawingml/2006/main">
              <a:ext uri="{FF2B5EF4-FFF2-40B4-BE49-F238E27FC236}">
                <a16:creationId xmlns:a16="http://schemas.microsoft.com/office/drawing/2014/main" id="{5D798014-3615-43FB-B81E-19EED983CFC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11</a:t>
            </a:r>
          </a:p>
        </p:txBody>
      </p:sp>
      <p:sp>
        <p:nvSpPr>
          <p:cNvPr id="8" name="S11_VULN">
            <a:extLst xmlns:a="http://schemas.openxmlformats.org/drawingml/2006/main">
              <a:ext uri="{FF2B5EF4-FFF2-40B4-BE49-F238E27FC236}">
                <a16:creationId xmlns:a16="http://schemas.microsoft.com/office/drawing/2014/main" id="{3CB735F9-0C39-4C8D-B38E-CAA0AE07BB69}"/>
              </a:ext>
            </a:extLst>
          </p:cNvPr>
          <p:cNvSpPr>
            <a:spLocks xmlns:a="http://schemas.openxmlformats.org/drawingml/2006/main" noGrp="1"/>
          </p:cNvSpPr>
          <p:nvPr/>
        </p:nvSpPr>
        <p:spPr>
          <a:xfrm xmlns:a="http://schemas.openxmlformats.org/drawingml/2006/main">
            <a:off x="533400" y="1752600"/>
            <a:ext cx="33337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char name[32];</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strcpy(name, user_input);</a:t>
            </a:r>
          </a:p>
        </p:txBody>
      </p:sp>
      <p:sp>
        <p:nvSpPr>
          <p:cNvPr id="9" name="S11_LENGTH">
            <a:extLst xmlns:a="http://schemas.openxmlformats.org/drawingml/2006/main">
              <a:ext uri="{FF2B5EF4-FFF2-40B4-BE49-F238E27FC236}">
                <a16:creationId xmlns:a16="http://schemas.microsoft.com/office/drawing/2014/main" id="{89B8B40E-2FA1-4FB2-A86C-CB8FFFEA7115}"/>
              </a:ext>
            </a:extLst>
          </p:cNvPr>
          <p:cNvSpPr>
            <a:spLocks xmlns:a="http://schemas.openxmlformats.org/drawingml/2006/main" noGrp="1"/>
          </p:cNvSpPr>
          <p:nvPr/>
        </p:nvSpPr>
        <p:spPr>
          <a:xfrm xmlns:a="http://schemas.openxmlformats.org/drawingml/2006/main">
            <a:off x="4095750" y="1752600"/>
            <a:ext cx="363855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secure_length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len = strnlen(input, 33);</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if (len &gt; 31) reject();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memcpy(name, input, len + 1);</a:t>
            </a:r>
          </a:p>
        </p:txBody>
      </p:sp>
      <p:sp>
        <p:nvSpPr>
          <p:cNvPr id="10" name="S11_SNPRINTF">
            <a:extLst xmlns:a="http://schemas.openxmlformats.org/drawingml/2006/main">
              <a:ext uri="{FF2B5EF4-FFF2-40B4-BE49-F238E27FC236}">
                <a16:creationId xmlns:a16="http://schemas.microsoft.com/office/drawing/2014/main" id="{CDDBE36E-855F-4551-8739-0B1F017A3CE7}"/>
              </a:ext>
            </a:extLst>
          </p:cNvPr>
          <p:cNvSpPr>
            <a:spLocks xmlns:a="http://schemas.openxmlformats.org/drawingml/2006/main" noGrp="1"/>
          </p:cNvSpPr>
          <p:nvPr/>
        </p:nvSpPr>
        <p:spPr>
          <a:xfrm xmlns:a="http://schemas.openxmlformats.org/drawingml/2006/main">
            <a:off x="7962900" y="1752600"/>
            <a:ext cx="3695700" cy="14668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secure_snprintf</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written = snprintf(name, 32, "%s", input);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if (written &gt;= 32) reject();</a:t>
            </a:r>
          </a:p>
        </p:txBody>
      </p:sp>
      <p:sp>
        <p:nvSpPr>
          <p:cNvPr id="11" name="S11_LAYERS_H0">
            <a:extLst xmlns:a="http://schemas.openxmlformats.org/drawingml/2006/main">
              <a:ext uri="{FF2B5EF4-FFF2-40B4-BE49-F238E27FC236}">
                <a16:creationId xmlns:a16="http://schemas.microsoft.com/office/drawing/2014/main" id="{52F794E0-4228-4E04-8604-991A8C4CD1AA}"/>
              </a:ext>
            </a:extLst>
          </p:cNvPr>
          <p:cNvSpPr>
            <a:spLocks xmlns:a="http://schemas.openxmlformats.org/drawingml/2006/main" noGrp="1"/>
          </p:cNvSpPr>
          <p:nvPr/>
        </p:nvSpPr>
        <p:spPr>
          <a:xfrm xmlns:a="http://schemas.openxmlformats.org/drawingml/2006/main">
            <a:off x="533400" y="3638550"/>
            <a:ext cx="219075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12" name="S11_LAYERS_H1">
            <a:extLst xmlns:a="http://schemas.openxmlformats.org/drawingml/2006/main">
              <a:ext uri="{FF2B5EF4-FFF2-40B4-BE49-F238E27FC236}">
                <a16:creationId xmlns:a16="http://schemas.microsoft.com/office/drawing/2014/main" id="{D805C939-AFB8-41F3-A9AD-8FE4BAF41333}"/>
              </a:ext>
            </a:extLst>
          </p:cNvPr>
          <p:cNvSpPr>
            <a:spLocks xmlns:a="http://schemas.openxmlformats.org/drawingml/2006/main" noGrp="1"/>
          </p:cNvSpPr>
          <p:nvPr/>
        </p:nvSpPr>
        <p:spPr>
          <a:xfrm xmlns:a="http://schemas.openxmlformats.org/drawingml/2006/main">
            <a:off x="2724150" y="3638550"/>
            <a:ext cx="428625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GIÁ TRỊ</a:t>
            </a:r>
          </a:p>
        </p:txBody>
      </p:sp>
      <p:sp>
        <p:nvSpPr>
          <p:cNvPr id="13" name="S11_LAYERS_H2">
            <a:extLst xmlns:a="http://schemas.openxmlformats.org/drawingml/2006/main">
              <a:ext uri="{FF2B5EF4-FFF2-40B4-BE49-F238E27FC236}">
                <a16:creationId xmlns:a16="http://schemas.microsoft.com/office/drawing/2014/main" id="{B2D9745C-839F-4136-992B-21CE8FBC9CE2}"/>
              </a:ext>
            </a:extLst>
          </p:cNvPr>
          <p:cNvSpPr>
            <a:spLocks xmlns:a="http://schemas.openxmlformats.org/drawingml/2006/main" noGrp="1"/>
          </p:cNvSpPr>
          <p:nvPr/>
        </p:nvSpPr>
        <p:spPr>
          <a:xfrm xmlns:a="http://schemas.openxmlformats.org/drawingml/2006/main">
            <a:off x="7010400" y="3638550"/>
            <a:ext cx="4648200" cy="5381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GIỚI HẠN</a:t>
            </a:r>
          </a:p>
        </p:txBody>
      </p:sp>
      <p:sp>
        <p:nvSpPr>
          <p:cNvPr id="14" name="S11_LAYERS_R0C0">
            <a:extLst xmlns:a="http://schemas.openxmlformats.org/drawingml/2006/main">
              <a:ext uri="{FF2B5EF4-FFF2-40B4-BE49-F238E27FC236}">
                <a16:creationId xmlns:a16="http://schemas.microsoft.com/office/drawing/2014/main" id="{4BBAE20B-AE1E-4C5C-89D3-06B744BD9F62}"/>
              </a:ext>
            </a:extLst>
          </p:cNvPr>
          <p:cNvSpPr>
            <a:spLocks xmlns:a="http://schemas.openxmlformats.org/drawingml/2006/main" noGrp="1"/>
          </p:cNvSpPr>
          <p:nvPr/>
        </p:nvSpPr>
        <p:spPr>
          <a:xfrm xmlns:a="http://schemas.openxmlformats.org/drawingml/2006/main">
            <a:off x="533400" y="4176713"/>
            <a:ext cx="21907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5" name="S11_LAYERS_R0C1">
            <a:extLst xmlns:a="http://schemas.openxmlformats.org/drawingml/2006/main">
              <a:ext uri="{FF2B5EF4-FFF2-40B4-BE49-F238E27FC236}">
                <a16:creationId xmlns:a16="http://schemas.microsoft.com/office/drawing/2014/main" id="{6F236D02-2762-4DA5-AC49-A6D2E84A759B}"/>
              </a:ext>
            </a:extLst>
          </p:cNvPr>
          <p:cNvSpPr>
            <a:spLocks xmlns:a="http://schemas.openxmlformats.org/drawingml/2006/main" noGrp="1"/>
          </p:cNvSpPr>
          <p:nvPr/>
        </p:nvSpPr>
        <p:spPr>
          <a:xfrm xmlns:a="http://schemas.openxmlformats.org/drawingml/2006/main">
            <a:off x="2724150" y="4176713"/>
            <a:ext cx="42862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MAX_CONTENT_LENGTH=4096</a:t>
            </a:r>
          </a:p>
        </p:txBody>
      </p:sp>
      <p:sp>
        <p:nvSpPr>
          <p:cNvPr id="16" name="S11_LAYERS_R0C2">
            <a:extLst xmlns:a="http://schemas.openxmlformats.org/drawingml/2006/main">
              <a:ext uri="{FF2B5EF4-FFF2-40B4-BE49-F238E27FC236}">
                <a16:creationId xmlns:a16="http://schemas.microsoft.com/office/drawing/2014/main" id="{31BE1C5A-E4F0-4704-B1A9-634FADB81314}"/>
              </a:ext>
            </a:extLst>
          </p:cNvPr>
          <p:cNvSpPr>
            <a:spLocks xmlns:a="http://schemas.openxmlformats.org/drawingml/2006/main" noGrp="1"/>
          </p:cNvSpPr>
          <p:nvPr/>
        </p:nvSpPr>
        <p:spPr>
          <a:xfrm xmlns:a="http://schemas.openxmlformats.org/drawingml/2006/main">
            <a:off x="7010400" y="4176713"/>
            <a:ext cx="464820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biết capacity C</a:t>
            </a:r>
          </a:p>
        </p:txBody>
      </p:sp>
      <p:sp>
        <p:nvSpPr>
          <p:cNvPr id="17" name="S11_LAYERS_R1C0">
            <a:extLst xmlns:a="http://schemas.openxmlformats.org/drawingml/2006/main">
              <a:ext uri="{FF2B5EF4-FFF2-40B4-BE49-F238E27FC236}">
                <a16:creationId xmlns:a16="http://schemas.microsoft.com/office/drawing/2014/main" id="{88C48B44-E29D-4E6F-9D6D-5293B4EBCE2D}"/>
              </a:ext>
            </a:extLst>
          </p:cNvPr>
          <p:cNvSpPr>
            <a:spLocks xmlns:a="http://schemas.openxmlformats.org/drawingml/2006/main" noGrp="1"/>
          </p:cNvSpPr>
          <p:nvPr/>
        </p:nvSpPr>
        <p:spPr>
          <a:xfrm xmlns:a="http://schemas.openxmlformats.org/drawingml/2006/main">
            <a:off x="533400" y="4714875"/>
            <a:ext cx="219075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Validation</a:t>
            </a:r>
          </a:p>
        </p:txBody>
      </p:sp>
      <p:sp>
        <p:nvSpPr>
          <p:cNvPr id="18" name="S11_LAYERS_R1C1">
            <a:extLst xmlns:a="http://schemas.openxmlformats.org/drawingml/2006/main">
              <a:ext uri="{FF2B5EF4-FFF2-40B4-BE49-F238E27FC236}">
                <a16:creationId xmlns:a16="http://schemas.microsoft.com/office/drawing/2014/main" id="{59387A1A-6F23-4D3F-9F37-F21427758DF8}"/>
              </a:ext>
            </a:extLst>
          </p:cNvPr>
          <p:cNvSpPr>
            <a:spLocks xmlns:a="http://schemas.openxmlformats.org/drawingml/2006/main" noGrp="1"/>
          </p:cNvSpPr>
          <p:nvPr/>
        </p:nvSpPr>
        <p:spPr>
          <a:xfrm xmlns:a="http://schemas.openxmlformats.org/drawingml/2006/main">
            <a:off x="2724150" y="4714875"/>
            <a:ext cx="428625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MAX_NAME_BYTES=256</a:t>
            </a:r>
          </a:p>
        </p:txBody>
      </p:sp>
      <p:sp>
        <p:nvSpPr>
          <p:cNvPr id="19" name="S11_LAYERS_R1C2">
            <a:extLst xmlns:a="http://schemas.openxmlformats.org/drawingml/2006/main">
              <a:ext uri="{FF2B5EF4-FFF2-40B4-BE49-F238E27FC236}">
                <a16:creationId xmlns:a16="http://schemas.microsoft.com/office/drawing/2014/main" id="{B41CDB63-18E2-4EFD-BFEA-2D765A374106}"/>
              </a:ext>
            </a:extLst>
          </p:cNvPr>
          <p:cNvSpPr>
            <a:spLocks xmlns:a="http://schemas.openxmlformats.org/drawingml/2006/main" noGrp="1"/>
          </p:cNvSpPr>
          <p:nvPr/>
        </p:nvSpPr>
        <p:spPr>
          <a:xfrm xmlns:a="http://schemas.openxmlformats.org/drawingml/2006/main">
            <a:off x="7010400" y="4714875"/>
            <a:ext cx="4648200" cy="5381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chưa đủ cho name[32]</a:t>
            </a:r>
          </a:p>
        </p:txBody>
      </p:sp>
      <p:sp>
        <p:nvSpPr>
          <p:cNvPr id="20" name="S11_LAYERS_R2C0">
            <a:extLst xmlns:a="http://schemas.openxmlformats.org/drawingml/2006/main">
              <a:ext uri="{FF2B5EF4-FFF2-40B4-BE49-F238E27FC236}">
                <a16:creationId xmlns:a16="http://schemas.microsoft.com/office/drawing/2014/main" id="{8F4D7E0B-D3A9-4934-84ED-431B6E585B72}"/>
              </a:ext>
            </a:extLst>
          </p:cNvPr>
          <p:cNvSpPr>
            <a:spLocks xmlns:a="http://schemas.openxmlformats.org/drawingml/2006/main" noGrp="1"/>
          </p:cNvSpPr>
          <p:nvPr/>
        </p:nvSpPr>
        <p:spPr>
          <a:xfrm xmlns:a="http://schemas.openxmlformats.org/drawingml/2006/main">
            <a:off x="533400" y="5253038"/>
            <a:ext cx="21907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Native</a:t>
            </a:r>
          </a:p>
        </p:txBody>
      </p:sp>
      <p:sp>
        <p:nvSpPr>
          <p:cNvPr id="21" name="S11_LAYERS_R2C1">
            <a:extLst xmlns:a="http://schemas.openxmlformats.org/drawingml/2006/main">
              <a:ext uri="{FF2B5EF4-FFF2-40B4-BE49-F238E27FC236}">
                <a16:creationId xmlns:a16="http://schemas.microsoft.com/office/drawing/2014/main" id="{E2CBF3F8-9D8F-4437-B8A6-B5A505810274}"/>
              </a:ext>
            </a:extLst>
          </p:cNvPr>
          <p:cNvSpPr>
            <a:spLocks xmlns:a="http://schemas.openxmlformats.org/drawingml/2006/main" noGrp="1"/>
          </p:cNvSpPr>
          <p:nvPr/>
        </p:nvSpPr>
        <p:spPr>
          <a:xfrm xmlns:a="http://schemas.openxmlformats.org/drawingml/2006/main">
            <a:off x="2724150" y="5253038"/>
            <a:ext cx="428625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31-byte invariant</a:t>
            </a:r>
          </a:p>
        </p:txBody>
      </p:sp>
      <p:sp>
        <p:nvSpPr>
          <p:cNvPr id="22" name="S11_LAYERS_R2C2">
            <a:extLst xmlns:a="http://schemas.openxmlformats.org/drawingml/2006/main">
              <a:ext uri="{FF2B5EF4-FFF2-40B4-BE49-F238E27FC236}">
                <a16:creationId xmlns:a16="http://schemas.microsoft.com/office/drawing/2014/main" id="{E1A93969-6342-4368-8696-23E191EF4AC5}"/>
              </a:ext>
            </a:extLst>
          </p:cNvPr>
          <p:cNvSpPr>
            <a:spLocks xmlns:a="http://schemas.openxmlformats.org/drawingml/2006/main" noGrp="1"/>
          </p:cNvSpPr>
          <p:nvPr/>
        </p:nvSpPr>
        <p:spPr>
          <a:xfrm xmlns:a="http://schemas.openxmlformats.org/drawingml/2006/main">
            <a:off x="7010400" y="5253038"/>
            <a:ext cx="4648200" cy="5381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bản vá nguyên nhân gốc</a:t>
            </a:r>
          </a:p>
        </p:txBody>
      </p:sp>
    </p:spTree>
    <p:extLst>
      <p:ext uri="{BB962C8B-B14F-4D97-AF65-F5344CB8AC3E}">
        <p14:creationId xmlns:p14="http://schemas.microsoft.com/office/powerpoint/2010/main" val="1601491187"/>
      </p:ext>
    </p:extLst>
  </p:cSld>
</p:sld>
</file>

<file path=ppt/slides/slide1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5" name="S12_EYEBROW">
            <a:extLst xmlns:a="http://schemas.openxmlformats.org/drawingml/2006/main">
              <a:ext uri="{FF2B5EF4-FFF2-40B4-BE49-F238E27FC236}">
                <a16:creationId xmlns:a16="http://schemas.microsoft.com/office/drawing/2014/main" id="{41D3F37F-8D3A-4CC9-8D5A-DC384D17899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LAB02 / BUFFER OVERFLOW</a:t>
            </a:r>
          </a:p>
        </p:txBody>
      </p:sp>
      <p:sp>
        <p:nvSpPr>
          <p:cNvPr id="2" name="S12_TITLE">
            <a:extLst xmlns:a="http://schemas.openxmlformats.org/drawingml/2006/main">
              <a:ext uri="{FF2B5EF4-FFF2-40B4-BE49-F238E27FC236}">
                <a16:creationId xmlns:a16="http://schemas.microsoft.com/office/drawing/2014/main" id="{4D4E6C66-5B4B-4D7B-9110-3466B4F27D44}"/>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Hardening giảm khả năng khai thác — không vá strcpy</a:t>
            </a:r>
          </a:p>
        </p:txBody>
      </p:sp>
      <p:sp>
        <p:nvSpPr>
          <p:cNvPr id="3" name="S12_SUBTITLE">
            <a:extLst xmlns:a="http://schemas.openxmlformats.org/drawingml/2006/main">
              <a:ext uri="{FF2B5EF4-FFF2-40B4-BE49-F238E27FC236}">
                <a16:creationId xmlns:a16="http://schemas.microsoft.com/office/drawing/2014/main" id="{5C2F1E19-707C-4391-91C1-AFD0AD65D9E8}"/>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Source fix trước; compiler, loader và OS thu hẹp hậu quả.</a:t>
            </a:r>
          </a:p>
        </p:txBody>
      </p:sp>
      <p:sp>
        <p:nvSpPr>
          <p:cNvPr id="4" name="S12_TITLE_RULE">
            <a:extLst xmlns:a="http://schemas.openxmlformats.org/drawingml/2006/main">
              <a:ext uri="{FF2B5EF4-FFF2-40B4-BE49-F238E27FC236}">
                <a16:creationId xmlns:a16="http://schemas.microsoft.com/office/drawing/2014/main" id="{EFCF7CCC-3D21-4B17-A214-C7404C02E4B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2_FOOTER_RULE">
            <a:extLst xmlns:a="http://schemas.openxmlformats.org/drawingml/2006/main">
              <a:ext uri="{FF2B5EF4-FFF2-40B4-BE49-F238E27FC236}">
                <a16:creationId xmlns:a16="http://schemas.microsoft.com/office/drawing/2014/main" id="{36CC5238-9B4E-48F1-A8EC-93B4D9C785A7}"/>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2_SOURCE">
            <a:extLst xmlns:a="http://schemas.openxmlformats.org/drawingml/2006/main">
              <a:ext uri="{FF2B5EF4-FFF2-40B4-BE49-F238E27FC236}">
                <a16:creationId xmlns:a16="http://schemas.microsoft.com/office/drawing/2014/main" id="{AB73A2F2-F53D-4BFF-973B-F834946F2D90}"/>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Lab02/Makefile · BaiTapTopic04.docx · mục Lab02</a:t>
            </a:r>
          </a:p>
        </p:txBody>
      </p:sp>
      <p:sp>
        <p:nvSpPr>
          <p:cNvPr id="7" name="S12_NUMBER">
            <a:extLst xmlns:a="http://schemas.openxmlformats.org/drawingml/2006/main">
              <a:ext uri="{FF2B5EF4-FFF2-40B4-BE49-F238E27FC236}">
                <a16:creationId xmlns:a16="http://schemas.microsoft.com/office/drawing/2014/main" id="{F5F408D0-7974-419C-BA7A-503AD1120379}"/>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12</a:t>
            </a:r>
          </a:p>
        </p:txBody>
      </p:sp>
      <p:sp>
        <p:nvSpPr>
          <p:cNvPr id="8" name="S12_HARDEN_H0">
            <a:extLst xmlns:a="http://schemas.openxmlformats.org/drawingml/2006/main">
              <a:ext uri="{FF2B5EF4-FFF2-40B4-BE49-F238E27FC236}">
                <a16:creationId xmlns:a16="http://schemas.microsoft.com/office/drawing/2014/main" id="{3BB21665-F217-453C-B670-D4BEAB1D5875}"/>
              </a:ext>
            </a:extLst>
          </p:cNvPr>
          <p:cNvSpPr>
            <a:spLocks xmlns:a="http://schemas.openxmlformats.org/drawingml/2006/main" noGrp="1"/>
          </p:cNvSpPr>
          <p:nvPr/>
        </p:nvSpPr>
        <p:spPr>
          <a:xfrm xmlns:a="http://schemas.openxmlformats.org/drawingml/2006/main">
            <a:off x="533400" y="1695450"/>
            <a:ext cx="14287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9" name="S12_HARDEN_H1">
            <a:extLst xmlns:a="http://schemas.openxmlformats.org/drawingml/2006/main">
              <a:ext uri="{FF2B5EF4-FFF2-40B4-BE49-F238E27FC236}">
                <a16:creationId xmlns:a16="http://schemas.microsoft.com/office/drawing/2014/main" id="{FA3B6F9C-D63B-44C6-84E4-B9E4C57C2772}"/>
              </a:ext>
            </a:extLst>
          </p:cNvPr>
          <p:cNvSpPr>
            <a:spLocks xmlns:a="http://schemas.openxmlformats.org/drawingml/2006/main" noGrp="1"/>
          </p:cNvSpPr>
          <p:nvPr/>
        </p:nvSpPr>
        <p:spPr>
          <a:xfrm xmlns:a="http://schemas.openxmlformats.org/drawingml/2006/main">
            <a:off x="1962150" y="1695450"/>
            <a:ext cx="23812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CƠ CHẾ</a:t>
            </a:r>
          </a:p>
        </p:txBody>
      </p:sp>
      <p:sp>
        <p:nvSpPr>
          <p:cNvPr id="10" name="S12_HARDEN_H2">
            <a:extLst xmlns:a="http://schemas.openxmlformats.org/drawingml/2006/main">
              <a:ext uri="{FF2B5EF4-FFF2-40B4-BE49-F238E27FC236}">
                <a16:creationId xmlns:a16="http://schemas.microsoft.com/office/drawing/2014/main" id="{EF61FCD8-A378-4462-9469-39203AB797C9}"/>
              </a:ext>
            </a:extLst>
          </p:cNvPr>
          <p:cNvSpPr>
            <a:spLocks xmlns:a="http://schemas.openxmlformats.org/drawingml/2006/main" noGrp="1"/>
          </p:cNvSpPr>
          <p:nvPr/>
        </p:nvSpPr>
        <p:spPr>
          <a:xfrm xmlns:a="http://schemas.openxmlformats.org/drawingml/2006/main">
            <a:off x="4343400" y="1695450"/>
            <a:ext cx="2571750" cy="619125"/>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TÁC DỤNG</a:t>
            </a:r>
          </a:p>
        </p:txBody>
      </p:sp>
      <p:sp>
        <p:nvSpPr>
          <p:cNvPr id="11" name="S12_HARDEN_R0C0">
            <a:extLst xmlns:a="http://schemas.openxmlformats.org/drawingml/2006/main">
              <a:ext uri="{FF2B5EF4-FFF2-40B4-BE49-F238E27FC236}">
                <a16:creationId xmlns:a16="http://schemas.microsoft.com/office/drawing/2014/main" id="{6DA33327-5DC0-4FF7-A94E-9D58E244BB51}"/>
              </a:ext>
            </a:extLst>
          </p:cNvPr>
          <p:cNvSpPr>
            <a:spLocks xmlns:a="http://schemas.openxmlformats.org/drawingml/2006/main" noGrp="1"/>
          </p:cNvSpPr>
          <p:nvPr/>
        </p:nvSpPr>
        <p:spPr>
          <a:xfrm xmlns:a="http://schemas.openxmlformats.org/drawingml/2006/main">
            <a:off x="533400" y="231457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Source</a:t>
            </a:r>
          </a:p>
        </p:txBody>
      </p:sp>
      <p:sp>
        <p:nvSpPr>
          <p:cNvPr id="12" name="S12_HARDEN_R0C1">
            <a:extLst xmlns:a="http://schemas.openxmlformats.org/drawingml/2006/main">
              <a:ext uri="{FF2B5EF4-FFF2-40B4-BE49-F238E27FC236}">
                <a16:creationId xmlns:a16="http://schemas.microsoft.com/office/drawing/2014/main" id="{F2308B20-4FA8-44C6-93BB-B01644AFBC8C}"/>
              </a:ext>
            </a:extLst>
          </p:cNvPr>
          <p:cNvSpPr>
            <a:spLocks xmlns:a="http://schemas.openxmlformats.org/drawingml/2006/main" noGrp="1"/>
          </p:cNvSpPr>
          <p:nvPr/>
        </p:nvSpPr>
        <p:spPr>
          <a:xfrm xmlns:a="http://schemas.openxmlformats.org/drawingml/2006/main">
            <a:off x="1962150" y="231457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bounded copy + invariant</a:t>
            </a:r>
          </a:p>
        </p:txBody>
      </p:sp>
      <p:sp>
        <p:nvSpPr>
          <p:cNvPr id="13" name="S12_HARDEN_R0C2">
            <a:extLst xmlns:a="http://schemas.openxmlformats.org/drawingml/2006/main">
              <a:ext uri="{FF2B5EF4-FFF2-40B4-BE49-F238E27FC236}">
                <a16:creationId xmlns:a16="http://schemas.microsoft.com/office/drawing/2014/main" id="{17194E83-D28F-475B-8DA4-797291237F7E}"/>
              </a:ext>
            </a:extLst>
          </p:cNvPr>
          <p:cNvSpPr>
            <a:spLocks xmlns:a="http://schemas.openxmlformats.org/drawingml/2006/main" noGrp="1"/>
          </p:cNvSpPr>
          <p:nvPr/>
        </p:nvSpPr>
        <p:spPr>
          <a:xfrm xmlns:a="http://schemas.openxmlformats.org/drawingml/2006/main">
            <a:off x="4343400" y="231457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ngăn overflow</a:t>
            </a:r>
          </a:p>
        </p:txBody>
      </p:sp>
      <p:sp>
        <p:nvSpPr>
          <p:cNvPr id="14" name="S12_HARDEN_R1C0">
            <a:extLst xmlns:a="http://schemas.openxmlformats.org/drawingml/2006/main">
              <a:ext uri="{FF2B5EF4-FFF2-40B4-BE49-F238E27FC236}">
                <a16:creationId xmlns:a16="http://schemas.microsoft.com/office/drawing/2014/main" id="{7952D54F-3D46-4254-8CA5-2D3265510666}"/>
              </a:ext>
            </a:extLst>
          </p:cNvPr>
          <p:cNvSpPr>
            <a:spLocks xmlns:a="http://schemas.openxmlformats.org/drawingml/2006/main" noGrp="1"/>
          </p:cNvSpPr>
          <p:nvPr/>
        </p:nvSpPr>
        <p:spPr>
          <a:xfrm xmlns:a="http://schemas.openxmlformats.org/drawingml/2006/main">
            <a:off x="533400" y="2933700"/>
            <a:ext cx="1428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Compiler</a:t>
            </a:r>
          </a:p>
        </p:txBody>
      </p:sp>
      <p:sp>
        <p:nvSpPr>
          <p:cNvPr id="15" name="S12_HARDEN_R1C1">
            <a:extLst xmlns:a="http://schemas.openxmlformats.org/drawingml/2006/main">
              <a:ext uri="{FF2B5EF4-FFF2-40B4-BE49-F238E27FC236}">
                <a16:creationId xmlns:a16="http://schemas.microsoft.com/office/drawing/2014/main" id="{B20B2ACE-9677-46FF-B9CA-FF1826869A31}"/>
              </a:ext>
            </a:extLst>
          </p:cNvPr>
          <p:cNvSpPr>
            <a:spLocks xmlns:a="http://schemas.openxmlformats.org/drawingml/2006/main" noGrp="1"/>
          </p:cNvSpPr>
          <p:nvPr/>
        </p:nvSpPr>
        <p:spPr>
          <a:xfrm xmlns:a="http://schemas.openxmlformats.org/drawingml/2006/main">
            <a:off x="1962150" y="2933700"/>
            <a:ext cx="23812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stack protector · FORTIFY</a:t>
            </a:r>
          </a:p>
        </p:txBody>
      </p:sp>
      <p:sp>
        <p:nvSpPr>
          <p:cNvPr id="16" name="S12_HARDEN_R1C2">
            <a:extLst xmlns:a="http://schemas.openxmlformats.org/drawingml/2006/main">
              <a:ext uri="{FF2B5EF4-FFF2-40B4-BE49-F238E27FC236}">
                <a16:creationId xmlns:a16="http://schemas.microsoft.com/office/drawing/2014/main" id="{237619D4-AF22-4AB7-BE74-01839E8BB2F3}"/>
              </a:ext>
            </a:extLst>
          </p:cNvPr>
          <p:cNvSpPr>
            <a:spLocks xmlns:a="http://schemas.openxmlformats.org/drawingml/2006/main" noGrp="1"/>
          </p:cNvSpPr>
          <p:nvPr/>
        </p:nvSpPr>
        <p:spPr>
          <a:xfrm xmlns:a="http://schemas.openxmlformats.org/drawingml/2006/main">
            <a:off x="4343400" y="2933700"/>
            <a:ext cx="2571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phát hiện / abort</a:t>
            </a:r>
          </a:p>
        </p:txBody>
      </p:sp>
      <p:sp>
        <p:nvSpPr>
          <p:cNvPr id="17" name="S12_HARDEN_R2C0">
            <a:extLst xmlns:a="http://schemas.openxmlformats.org/drawingml/2006/main">
              <a:ext uri="{FF2B5EF4-FFF2-40B4-BE49-F238E27FC236}">
                <a16:creationId xmlns:a16="http://schemas.microsoft.com/office/drawing/2014/main" id="{18701C9E-8A0F-411D-9511-7466C452214A}"/>
              </a:ext>
            </a:extLst>
          </p:cNvPr>
          <p:cNvSpPr>
            <a:spLocks xmlns:a="http://schemas.openxmlformats.org/drawingml/2006/main" noGrp="1"/>
          </p:cNvSpPr>
          <p:nvPr/>
        </p:nvSpPr>
        <p:spPr>
          <a:xfrm xmlns:a="http://schemas.openxmlformats.org/drawingml/2006/main">
            <a:off x="533400" y="355282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Binary</a:t>
            </a:r>
          </a:p>
        </p:txBody>
      </p:sp>
      <p:sp>
        <p:nvSpPr>
          <p:cNvPr id="18" name="S12_HARDEN_R2C1">
            <a:extLst xmlns:a="http://schemas.openxmlformats.org/drawingml/2006/main">
              <a:ext uri="{FF2B5EF4-FFF2-40B4-BE49-F238E27FC236}">
                <a16:creationId xmlns:a16="http://schemas.microsoft.com/office/drawing/2014/main" id="{0C851ADD-1790-47CD-A0E7-5FB3CCDC1B65}"/>
              </a:ext>
            </a:extLst>
          </p:cNvPr>
          <p:cNvSpPr>
            <a:spLocks xmlns:a="http://schemas.openxmlformats.org/drawingml/2006/main" noGrp="1"/>
          </p:cNvSpPr>
          <p:nvPr/>
        </p:nvSpPr>
        <p:spPr>
          <a:xfrm xmlns:a="http://schemas.openxmlformats.org/drawingml/2006/main">
            <a:off x="1962150" y="355282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PIE · RELRO · NOW</a:t>
            </a:r>
          </a:p>
        </p:txBody>
      </p:sp>
      <p:sp>
        <p:nvSpPr>
          <p:cNvPr id="19" name="S12_HARDEN_R2C2">
            <a:extLst xmlns:a="http://schemas.openxmlformats.org/drawingml/2006/main">
              <a:ext uri="{FF2B5EF4-FFF2-40B4-BE49-F238E27FC236}">
                <a16:creationId xmlns:a16="http://schemas.microsoft.com/office/drawing/2014/main" id="{1286997E-8061-4124-A361-0621B6B7F19F}"/>
              </a:ext>
            </a:extLst>
          </p:cNvPr>
          <p:cNvSpPr>
            <a:spLocks xmlns:a="http://schemas.openxmlformats.org/drawingml/2006/main" noGrp="1"/>
          </p:cNvSpPr>
          <p:nvPr/>
        </p:nvSpPr>
        <p:spPr>
          <a:xfrm xmlns:a="http://schemas.openxmlformats.org/drawingml/2006/main">
            <a:off x="4343400" y="355282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 tái định vị/ghi GOT</a:t>
            </a:r>
          </a:p>
        </p:txBody>
      </p:sp>
      <p:sp>
        <p:nvSpPr>
          <p:cNvPr id="20" name="S12_HARDEN_R3C0">
            <a:extLst xmlns:a="http://schemas.openxmlformats.org/drawingml/2006/main">
              <a:ext uri="{FF2B5EF4-FFF2-40B4-BE49-F238E27FC236}">
                <a16:creationId xmlns:a16="http://schemas.microsoft.com/office/drawing/2014/main" id="{B018D4A6-4EEA-4E34-8B66-37401574A3C9}"/>
              </a:ext>
            </a:extLst>
          </p:cNvPr>
          <p:cNvSpPr>
            <a:spLocks xmlns:a="http://schemas.openxmlformats.org/drawingml/2006/main" noGrp="1"/>
          </p:cNvSpPr>
          <p:nvPr/>
        </p:nvSpPr>
        <p:spPr>
          <a:xfrm xmlns:a="http://schemas.openxmlformats.org/drawingml/2006/main">
            <a:off x="533400" y="4171950"/>
            <a:ext cx="1428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OS</a:t>
            </a:r>
          </a:p>
        </p:txBody>
      </p:sp>
      <p:sp>
        <p:nvSpPr>
          <p:cNvPr id="21" name="S12_HARDEN_R3C1">
            <a:extLst xmlns:a="http://schemas.openxmlformats.org/drawingml/2006/main">
              <a:ext uri="{FF2B5EF4-FFF2-40B4-BE49-F238E27FC236}">
                <a16:creationId xmlns:a16="http://schemas.microsoft.com/office/drawing/2014/main" id="{FE5C6460-D1C0-4BEB-84F5-5B87BAF46DB9}"/>
              </a:ext>
            </a:extLst>
          </p:cNvPr>
          <p:cNvSpPr>
            <a:spLocks xmlns:a="http://schemas.openxmlformats.org/drawingml/2006/main" noGrp="1"/>
          </p:cNvSpPr>
          <p:nvPr/>
        </p:nvSpPr>
        <p:spPr>
          <a:xfrm xmlns:a="http://schemas.openxmlformats.org/drawingml/2006/main">
            <a:off x="1962150" y="4171950"/>
            <a:ext cx="23812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ASLR · NX/DEP</a:t>
            </a:r>
          </a:p>
        </p:txBody>
      </p:sp>
      <p:sp>
        <p:nvSpPr>
          <p:cNvPr id="22" name="S12_HARDEN_R3C2">
            <a:extLst xmlns:a="http://schemas.openxmlformats.org/drawingml/2006/main">
              <a:ext uri="{FF2B5EF4-FFF2-40B4-BE49-F238E27FC236}">
                <a16:creationId xmlns:a16="http://schemas.microsoft.com/office/drawing/2014/main" id="{479D5D01-E4B6-4854-BB5E-F4B167103F55}"/>
              </a:ext>
            </a:extLst>
          </p:cNvPr>
          <p:cNvSpPr>
            <a:spLocks xmlns:a="http://schemas.openxmlformats.org/drawingml/2006/main" noGrp="1"/>
          </p:cNvSpPr>
          <p:nvPr/>
        </p:nvSpPr>
        <p:spPr>
          <a:xfrm xmlns:a="http://schemas.openxmlformats.org/drawingml/2006/main">
            <a:off x="4343400" y="4171950"/>
            <a:ext cx="2571750" cy="619125"/>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 dự đoán / chạy code</a:t>
            </a:r>
          </a:p>
        </p:txBody>
      </p:sp>
      <p:sp>
        <p:nvSpPr>
          <p:cNvPr id="23" name="S12_HARDEN_R4C0">
            <a:extLst xmlns:a="http://schemas.openxmlformats.org/drawingml/2006/main">
              <a:ext uri="{FF2B5EF4-FFF2-40B4-BE49-F238E27FC236}">
                <a16:creationId xmlns:a16="http://schemas.microsoft.com/office/drawing/2014/main" id="{9995557D-24E9-4FD9-8B75-78255F8CFBD6}"/>
              </a:ext>
            </a:extLst>
          </p:cNvPr>
          <p:cNvSpPr>
            <a:spLocks xmlns:a="http://schemas.openxmlformats.org/drawingml/2006/main" noGrp="1"/>
          </p:cNvSpPr>
          <p:nvPr/>
        </p:nvSpPr>
        <p:spPr>
          <a:xfrm xmlns:a="http://schemas.openxmlformats.org/drawingml/2006/main">
            <a:off x="533400" y="4791075"/>
            <a:ext cx="1428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Language</a:t>
            </a:r>
          </a:p>
        </p:txBody>
      </p:sp>
      <p:sp>
        <p:nvSpPr>
          <p:cNvPr id="24" name="S12_HARDEN_R4C1">
            <a:extLst xmlns:a="http://schemas.openxmlformats.org/drawingml/2006/main">
              <a:ext uri="{FF2B5EF4-FFF2-40B4-BE49-F238E27FC236}">
                <a16:creationId xmlns:a16="http://schemas.microsoft.com/office/drawing/2014/main" id="{704F7B8F-2482-44F0-88D7-1855ACA0BE65}"/>
              </a:ext>
            </a:extLst>
          </p:cNvPr>
          <p:cNvSpPr>
            <a:spLocks xmlns:a="http://schemas.openxmlformats.org/drawingml/2006/main" noGrp="1"/>
          </p:cNvSpPr>
          <p:nvPr/>
        </p:nvSpPr>
        <p:spPr>
          <a:xfrm xmlns:a="http://schemas.openxmlformats.org/drawingml/2006/main">
            <a:off x="1962150" y="4791075"/>
            <a:ext cx="23812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memory-safe runtime</a:t>
            </a:r>
          </a:p>
        </p:txBody>
      </p:sp>
      <p:sp>
        <p:nvSpPr>
          <p:cNvPr id="25" name="S12_HARDEN_R4C2">
            <a:extLst xmlns:a="http://schemas.openxmlformats.org/drawingml/2006/main">
              <a:ext uri="{FF2B5EF4-FFF2-40B4-BE49-F238E27FC236}">
                <a16:creationId xmlns:a16="http://schemas.microsoft.com/office/drawing/2014/main" id="{2BC5C404-69D7-47B2-A9C0-079DEA93F376}"/>
              </a:ext>
            </a:extLst>
          </p:cNvPr>
          <p:cNvSpPr>
            <a:spLocks xmlns:a="http://schemas.openxmlformats.org/drawingml/2006/main" noGrp="1"/>
          </p:cNvSpPr>
          <p:nvPr/>
        </p:nvSpPr>
        <p:spPr>
          <a:xfrm xmlns:a="http://schemas.openxmlformats.org/drawingml/2006/main">
            <a:off x="4343400" y="4791075"/>
            <a:ext cx="2571750" cy="619125"/>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loại lớp lỗi phổ biến</a:t>
            </a:r>
          </a:p>
        </p:txBody>
      </p:sp>
      <p:sp>
        <p:nvSpPr>
          <p:cNvPr id="26" name="S12_QA_1">
            <a:extLst xmlns:a="http://schemas.openxmlformats.org/drawingml/2006/main">
              <a:ext uri="{FF2B5EF4-FFF2-40B4-BE49-F238E27FC236}">
                <a16:creationId xmlns:a16="http://schemas.microsoft.com/office/drawing/2014/main" id="{425F0C1E-B7E5-430B-A1FD-52B9256B4A10}"/>
              </a:ext>
            </a:extLst>
          </p:cNvPr>
          <p:cNvSpPr>
            <a:spLocks xmlns:a="http://schemas.openxmlformats.org/drawingml/2006/main" noGrp="1"/>
          </p:cNvSpPr>
          <p:nvPr/>
        </p:nvSpPr>
        <p:spPr>
          <a:xfrm xmlns:a="http://schemas.openxmlformats.org/drawingml/2006/main">
            <a:off x="7181850" y="16954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CRASH XẢY RA Ở ĐÂU?</a:t>
            </a:r>
          </a:p>
        </p:txBody>
      </p:sp>
      <p:sp>
        <p:nvSpPr>
          <p:cNvPr id="27" name="S12_QA_2">
            <a:extLst xmlns:a="http://schemas.openxmlformats.org/drawingml/2006/main">
              <a:ext uri="{FF2B5EF4-FFF2-40B4-BE49-F238E27FC236}">
                <a16:creationId xmlns:a16="http://schemas.microsoft.com/office/drawing/2014/main" id="{E5F9C668-3300-459A-A34E-644E870015E3}"/>
              </a:ext>
            </a:extLst>
          </p:cNvPr>
          <p:cNvSpPr>
            <a:spLocks xmlns:a="http://schemas.openxmlformats.org/drawingml/2006/main" noGrp="1"/>
          </p:cNvSpPr>
          <p:nvPr/>
        </p:nvSpPr>
        <p:spPr>
          <a:xfrm xmlns:a="http://schemas.openxmlformats.org/drawingml/2006/main">
            <a:off x="9496425" y="16954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STACK CÓ BỊ GHI ĐÈ KHÔNG?</a:t>
            </a:r>
          </a:p>
        </p:txBody>
      </p:sp>
      <p:sp>
        <p:nvSpPr>
          <p:cNvPr id="28" name="S12_QA_3">
            <a:extLst xmlns:a="http://schemas.openxmlformats.org/drawingml/2006/main">
              <a:ext uri="{FF2B5EF4-FFF2-40B4-BE49-F238E27FC236}">
                <a16:creationId xmlns:a16="http://schemas.microsoft.com/office/drawing/2014/main" id="{5A844689-50EC-4055-9CBD-C384F7986707}"/>
              </a:ext>
            </a:extLst>
          </p:cNvPr>
          <p:cNvSpPr>
            <a:spLocks xmlns:a="http://schemas.openxmlformats.org/drawingml/2006/main" noGrp="1"/>
          </p:cNvSpPr>
          <p:nvPr/>
        </p:nvSpPr>
        <p:spPr>
          <a:xfrm xmlns:a="http://schemas.openxmlformats.org/drawingml/2006/main">
            <a:off x="7181850" y="313690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ĐỘ DÀI INPUT BẮT ĐẦU LỖI?</a:t>
            </a:r>
          </a:p>
        </p:txBody>
      </p:sp>
      <p:sp>
        <p:nvSpPr>
          <p:cNvPr id="29" name="S12_QA_4">
            <a:extLst xmlns:a="http://schemas.openxmlformats.org/drawingml/2006/main">
              <a:ext uri="{FF2B5EF4-FFF2-40B4-BE49-F238E27FC236}">
                <a16:creationId xmlns:a16="http://schemas.microsoft.com/office/drawing/2014/main" id="{92AC2107-6F01-47DE-B772-16B0F3E8B1B6}"/>
              </a:ext>
            </a:extLst>
          </p:cNvPr>
          <p:cNvSpPr>
            <a:spLocks xmlns:a="http://schemas.openxmlformats.org/drawingml/2006/main" noGrp="1"/>
          </p:cNvSpPr>
          <p:nvPr/>
        </p:nvSpPr>
        <p:spPr>
          <a:xfrm xmlns:a="http://schemas.openxmlformats.org/drawingml/2006/main">
            <a:off x="9496425" y="313690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Bản vá hiệu quả vì chặn trước copy.</a:t>
            </a:r>
          </a:p>
        </p:txBody>
      </p:sp>
      <p:sp>
        <p:nvSpPr>
          <p:cNvPr id="30" name="S12_QA_5">
            <a:extLst xmlns:a="http://schemas.openxmlformats.org/drawingml/2006/main">
              <a:ext uri="{FF2B5EF4-FFF2-40B4-BE49-F238E27FC236}">
                <a16:creationId xmlns:a16="http://schemas.microsoft.com/office/drawing/2014/main" id="{FED6597E-26EF-4F96-AA38-E067537BBE6C}"/>
              </a:ext>
            </a:extLst>
          </p:cNvPr>
          <p:cNvSpPr>
            <a:spLocks xmlns:a="http://schemas.openxmlformats.org/drawingml/2006/main" noGrp="1"/>
          </p:cNvSpPr>
          <p:nvPr/>
        </p:nvSpPr>
        <p:spPr>
          <a:xfrm xmlns:a="http://schemas.openxmlformats.org/drawingml/2006/main">
            <a:off x="7181850" y="45783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Canary/PIE/RELRO/NX là hardening, không root fix.</a:t>
            </a:r>
          </a:p>
        </p:txBody>
      </p:sp>
      <p:sp>
        <p:nvSpPr>
          <p:cNvPr id="31" name="S12_QA_6">
            <a:extLst xmlns:a="http://schemas.openxmlformats.org/drawingml/2006/main">
              <a:ext uri="{FF2B5EF4-FFF2-40B4-BE49-F238E27FC236}">
                <a16:creationId xmlns:a16="http://schemas.microsoft.com/office/drawing/2014/main" id="{55AA64B9-D538-4E12-BCC3-11377DD19E97}"/>
              </a:ext>
            </a:extLst>
          </p:cNvPr>
          <p:cNvSpPr>
            <a:spLocks xmlns:a="http://schemas.openxmlformats.org/drawingml/2006/main" noGrp="1"/>
          </p:cNvSpPr>
          <p:nvPr/>
        </p:nvSpPr>
        <p:spPr>
          <a:xfrm xmlns:a="http://schemas.openxmlformats.org/drawingml/2006/main">
            <a:off x="9496425" y="4578350"/>
            <a:ext cx="216217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Retest input ngắn, 31 byte, 32+, 64 byte.</a:t>
            </a:r>
          </a:p>
        </p:txBody>
      </p:sp>
      <p:sp>
        <p:nvSpPr>
          <p:cNvPr id="32" name="S12_ORDER_BAR">
            <a:extLst xmlns:a="http://schemas.openxmlformats.org/drawingml/2006/main">
              <a:ext uri="{FF2B5EF4-FFF2-40B4-BE49-F238E27FC236}">
                <a16:creationId xmlns:a16="http://schemas.microsoft.com/office/drawing/2014/main" id="{2538EAF2-1362-44F3-9681-AA7A785DFCAB}"/>
              </a:ext>
            </a:extLst>
          </p:cNvPr>
          <p:cNvSpPr>
            <a:spLocks xmlns:a="http://schemas.openxmlformats.org/drawingml/2006/main" noGrp="1"/>
          </p:cNvSpPr>
          <p:nvPr/>
        </p:nvSpPr>
        <p:spPr>
          <a:xfrm xmlns:a="http://schemas.openxmlformats.org/drawingml/2006/main">
            <a:off x="533400" y="5657850"/>
            <a:ext cx="76200" cy="0"/>
          </a:xfrm>
          <a:prstGeom xmlns:a="http://schemas.openxmlformats.org/drawingml/2006/main" prst="rect">
            <a:avLst/>
          </a:prstGeom>
          <a:ln xmlns:a="http://schemas.openxmlformats.org/drawingml/2006/main" w="0">
            <a:noFill/>
            <a:prstDash val="solid"/>
          </a:ln>
        </p:spPr>
      </p:sp>
      <p:sp>
        <p:nvSpPr>
          <p:cNvPr id="33" name="S12_ORDER_LABEL">
            <a:extLst xmlns:a="http://schemas.openxmlformats.org/drawingml/2006/main">
              <a:ext uri="{FF2B5EF4-FFF2-40B4-BE49-F238E27FC236}">
                <a16:creationId xmlns:a16="http://schemas.microsoft.com/office/drawing/2014/main" id="{67BFC882-0394-4FE4-9236-1AADBB85BBC7}"/>
              </a:ext>
            </a:extLst>
          </p:cNvPr>
          <p:cNvSpPr>
            <a:spLocks xmlns:a="http://schemas.openxmlformats.org/drawingml/2006/main" noGrp="1"/>
          </p:cNvSpPr>
          <p:nvPr/>
        </p:nvSpPr>
        <p:spPr>
          <a:xfrm xmlns:a="http://schemas.openxmlformats.org/drawingml/2006/main">
            <a:off x="704850" y="5657850"/>
            <a:ext cx="1638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THỨ TỰ</a:t>
            </a:r>
          </a:p>
        </p:txBody>
      </p:sp>
      <p:sp>
        <p:nvSpPr>
          <p:cNvPr id="34" name="S12_ORDER_BODY">
            <a:extLst xmlns:a="http://schemas.openxmlformats.org/drawingml/2006/main">
              <a:ext uri="{FF2B5EF4-FFF2-40B4-BE49-F238E27FC236}">
                <a16:creationId xmlns:a16="http://schemas.microsoft.com/office/drawing/2014/main" id="{C98AD002-23D1-49FC-8B6D-75339C8CF09B}"/>
              </a:ext>
            </a:extLst>
          </p:cNvPr>
          <p:cNvSpPr>
            <a:spLocks xmlns:a="http://schemas.openxmlformats.org/drawingml/2006/main" noGrp="1"/>
          </p:cNvSpPr>
          <p:nvPr/>
        </p:nvSpPr>
        <p:spPr>
          <a:xfrm xmlns:a="http://schemas.openxmlformats.org/drawingml/2006/main">
            <a:off x="2438400" y="5657850"/>
            <a:ext cx="4457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Vá code → build hardening → kiểm thử boundary → ghi bằng chứng.</a:t>
            </a:r>
          </a:p>
        </p:txBody>
      </p:sp>
    </p:spTree>
    <p:extLst>
      <p:ext uri="{BB962C8B-B14F-4D97-AF65-F5344CB8AC3E}">
        <p14:creationId xmlns:p14="http://schemas.microsoft.com/office/powerpoint/2010/main" val="602689781"/>
      </p:ext>
    </p:extLst>
  </p:cSld>
</p:sld>
</file>

<file path=ppt/slides/slide1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2" name="S13_EYEBROW">
            <a:extLst xmlns:a="http://schemas.openxmlformats.org/drawingml/2006/main">
              <a:ext uri="{FF2B5EF4-FFF2-40B4-BE49-F238E27FC236}">
                <a16:creationId xmlns:a16="http://schemas.microsoft.com/office/drawing/2014/main" id="{FBEDC8CA-1E75-45F5-AE9F-9A61F1FCC4E5}"/>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3_TITLE">
            <a:extLst xmlns:a="http://schemas.openxmlformats.org/drawingml/2006/main">
              <a:ext uri="{FF2B5EF4-FFF2-40B4-BE49-F238E27FC236}">
                <a16:creationId xmlns:a16="http://schemas.microsoft.com/office/drawing/2014/main" id="{A33BCF73-2833-4C42-B233-1FCE87B77440}"/>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Kiểu dữ liệu hợp lệ vẫn có thể trái policy</a:t>
            </a:r>
          </a:p>
        </p:txBody>
      </p:sp>
      <p:sp>
        <p:nvSpPr>
          <p:cNvPr id="3" name="S13_SUBTITLE">
            <a:extLst xmlns:a="http://schemas.openxmlformats.org/drawingml/2006/main">
              <a:ext uri="{FF2B5EF4-FFF2-40B4-BE49-F238E27FC236}">
                <a16:creationId xmlns:a16="http://schemas.microsoft.com/office/drawing/2014/main" id="{37129500-B204-4CF7-B0F3-1FE27F2429F0}"/>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Price, invoice id, user id và role đều do browser kiểm soát cho tới khi server xác minh.</a:t>
            </a:r>
          </a:p>
        </p:txBody>
      </p:sp>
      <p:sp>
        <p:nvSpPr>
          <p:cNvPr id="4" name="S13_TITLE_RULE">
            <a:extLst xmlns:a="http://schemas.openxmlformats.org/drawingml/2006/main">
              <a:ext uri="{FF2B5EF4-FFF2-40B4-BE49-F238E27FC236}">
                <a16:creationId xmlns:a16="http://schemas.microsoft.com/office/drawing/2014/main" id="{AF82939A-8991-4513-8C2A-C7F2C43EDA0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3_FOOTER_RULE">
            <a:extLst xmlns:a="http://schemas.openxmlformats.org/drawingml/2006/main">
              <a:ext uri="{FF2B5EF4-FFF2-40B4-BE49-F238E27FC236}">
                <a16:creationId xmlns:a16="http://schemas.microsoft.com/office/drawing/2014/main" id="{406659DC-AB52-4B21-B884-872BEB4ADD1C}"/>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3_SOURCE">
            <a:extLst xmlns:a="http://schemas.openxmlformats.org/drawingml/2006/main">
              <a:ext uri="{FF2B5EF4-FFF2-40B4-BE49-F238E27FC236}">
                <a16:creationId xmlns:a16="http://schemas.microsoft.com/office/drawing/2014/main" id="{0AFB701F-EFDD-40EA-99EC-B3C81B520ACD}"/>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Lab03/app.py · services.py · authorization.py</a:t>
            </a:r>
          </a:p>
        </p:txBody>
      </p:sp>
      <p:sp>
        <p:nvSpPr>
          <p:cNvPr id="7" name="S13_NUMBER">
            <a:extLst xmlns:a="http://schemas.openxmlformats.org/drawingml/2006/main">
              <a:ext uri="{FF2B5EF4-FFF2-40B4-BE49-F238E27FC236}">
                <a16:creationId xmlns:a16="http://schemas.microsoft.com/office/drawing/2014/main" id="{024222B2-339A-4529-8762-0BDE5FA0792C}"/>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13</a:t>
            </a:r>
          </a:p>
        </p:txBody>
      </p:sp>
      <p:sp>
        <p:nvSpPr>
          <p:cNvPr id="8" name="S13_BOUNDARY_ARROW_1">
            <a:extLst xmlns:a="http://schemas.openxmlformats.org/drawingml/2006/main">
              <a:ext uri="{FF2B5EF4-FFF2-40B4-BE49-F238E27FC236}">
                <a16:creationId xmlns:a16="http://schemas.microsoft.com/office/drawing/2014/main" id="{DF609264-238B-497B-B915-DD19DC10AC77}"/>
              </a:ext>
            </a:extLst>
          </p:cNvPr>
          <p:cNvSpPr>
            <a:spLocks xmlns:a="http://schemas.openxmlformats.org/drawingml/2006/main" noGrp="1"/>
          </p:cNvSpPr>
          <p:nvPr/>
        </p:nvSpPr>
        <p:spPr>
          <a:xfrm xmlns:a="http://schemas.openxmlformats.org/drawingml/2006/main">
            <a:off x="257175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3_BOUNDARY_ARROW_2">
            <a:extLst xmlns:a="http://schemas.openxmlformats.org/drawingml/2006/main">
              <a:ext uri="{FF2B5EF4-FFF2-40B4-BE49-F238E27FC236}">
                <a16:creationId xmlns:a16="http://schemas.microsoft.com/office/drawing/2014/main" id="{A88CA562-5633-4B49-822F-92808A7C4A21}"/>
              </a:ext>
            </a:extLst>
          </p:cNvPr>
          <p:cNvSpPr>
            <a:spLocks xmlns:a="http://schemas.openxmlformats.org/drawingml/2006/main" noGrp="1"/>
          </p:cNvSpPr>
          <p:nvPr/>
        </p:nvSpPr>
        <p:spPr>
          <a:xfrm xmlns:a="http://schemas.openxmlformats.org/drawingml/2006/main">
            <a:off x="487680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3_BOUNDARY_ARROW_3">
            <a:extLst xmlns:a="http://schemas.openxmlformats.org/drawingml/2006/main">
              <a:ext uri="{FF2B5EF4-FFF2-40B4-BE49-F238E27FC236}">
                <a16:creationId xmlns:a16="http://schemas.microsoft.com/office/drawing/2014/main" id="{99F2C526-8D83-44D5-A934-F82FB264B7B8}"/>
              </a:ext>
            </a:extLst>
          </p:cNvPr>
          <p:cNvSpPr>
            <a:spLocks xmlns:a="http://schemas.openxmlformats.org/drawingml/2006/main" noGrp="1"/>
          </p:cNvSpPr>
          <p:nvPr/>
        </p:nvSpPr>
        <p:spPr>
          <a:xfrm xmlns:a="http://schemas.openxmlformats.org/drawingml/2006/main">
            <a:off x="718185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3_BOUNDARY_ARROW_4">
            <a:extLst xmlns:a="http://schemas.openxmlformats.org/drawingml/2006/main">
              <a:ext uri="{FF2B5EF4-FFF2-40B4-BE49-F238E27FC236}">
                <a16:creationId xmlns:a16="http://schemas.microsoft.com/office/drawing/2014/main" id="{4E5C454E-30F8-45FD-B0B7-6CFBAF4EA98C}"/>
              </a:ext>
            </a:extLst>
          </p:cNvPr>
          <p:cNvSpPr>
            <a:spLocks xmlns:a="http://schemas.openxmlformats.org/drawingml/2006/main" noGrp="1"/>
          </p:cNvSpPr>
          <p:nvPr/>
        </p:nvSpPr>
        <p:spPr>
          <a:xfrm xmlns:a="http://schemas.openxmlformats.org/drawingml/2006/main">
            <a:off x="9486900" y="2152650"/>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3_BOUNDARY_NODE_1">
            <a:extLst xmlns:a="http://schemas.openxmlformats.org/drawingml/2006/main">
              <a:ext uri="{FF2B5EF4-FFF2-40B4-BE49-F238E27FC236}">
                <a16:creationId xmlns:a16="http://schemas.microsoft.com/office/drawing/2014/main" id="{11D08B41-8AAB-4BB0-8279-3FC2DCD6A40B}"/>
              </a:ext>
            </a:extLst>
          </p:cNvPr>
          <p:cNvSpPr>
            <a:spLocks xmlns:a="http://schemas.openxmlformats.org/drawingml/2006/main" noGrp="1"/>
          </p:cNvSpPr>
          <p:nvPr/>
        </p:nvSpPr>
        <p:spPr>
          <a:xfrm xmlns:a="http://schemas.openxmlformats.org/drawingml/2006/main">
            <a:off x="5334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FORM / URL /</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HIDDEN / COOKIE</a:t>
            </a:r>
          </a:p>
        </p:txBody>
      </p:sp>
      <p:sp>
        <p:nvSpPr>
          <p:cNvPr id="13" name="S13_BOUNDARY_NODE_2">
            <a:extLst xmlns:a="http://schemas.openxmlformats.org/drawingml/2006/main">
              <a:ext uri="{FF2B5EF4-FFF2-40B4-BE49-F238E27FC236}">
                <a16:creationId xmlns:a16="http://schemas.microsoft.com/office/drawing/2014/main" id="{C7D8EF17-B569-4933-A87B-1CD0F1CBF3C7}"/>
              </a:ext>
            </a:extLst>
          </p:cNvPr>
          <p:cNvSpPr>
            <a:spLocks xmlns:a="http://schemas.openxmlformats.org/drawingml/2006/main" noGrp="1"/>
          </p:cNvSpPr>
          <p:nvPr/>
        </p:nvSpPr>
        <p:spPr>
          <a:xfrm xmlns:a="http://schemas.openxmlformats.org/drawingml/2006/main">
            <a:off x="283845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14" name="S13_BOUNDARY_NODE_3">
            <a:extLst xmlns:a="http://schemas.openxmlformats.org/drawingml/2006/main">
              <a:ext uri="{FF2B5EF4-FFF2-40B4-BE49-F238E27FC236}">
                <a16:creationId xmlns:a16="http://schemas.microsoft.com/office/drawing/2014/main" id="{7F6EB82F-E857-49BE-9F8E-C9FBC90C0BC4}"/>
              </a:ext>
            </a:extLst>
          </p:cNvPr>
          <p:cNvSpPr>
            <a:spLocks xmlns:a="http://schemas.openxmlformats.org/drawingml/2006/main" noGrp="1"/>
          </p:cNvSpPr>
          <p:nvPr/>
        </p:nvSpPr>
        <p:spPr>
          <a:xfrm xmlns:a="http://schemas.openxmlformats.org/drawingml/2006/main">
            <a:off x="51435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VALIDATION</a:t>
            </a:r>
          </a:p>
        </p:txBody>
      </p:sp>
      <p:sp>
        <p:nvSpPr>
          <p:cNvPr id="15" name="S13_BOUNDARY_NODE_4">
            <a:extLst xmlns:a="http://schemas.openxmlformats.org/drawingml/2006/main">
              <a:ext uri="{FF2B5EF4-FFF2-40B4-BE49-F238E27FC236}">
                <a16:creationId xmlns:a16="http://schemas.microsoft.com/office/drawing/2014/main" id="{9B5B69AF-E314-4EC6-8D77-CFEF2B2633AD}"/>
              </a:ext>
            </a:extLst>
          </p:cNvPr>
          <p:cNvSpPr>
            <a:spLocks xmlns:a="http://schemas.openxmlformats.org/drawingml/2006/main" noGrp="1"/>
          </p:cNvSpPr>
          <p:nvPr/>
        </p:nvSpPr>
        <p:spPr>
          <a:xfrm xmlns:a="http://schemas.openxmlformats.org/drawingml/2006/main">
            <a:off x="744855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AUTHORIZATION</a:t>
            </a:r>
          </a:p>
        </p:txBody>
      </p:sp>
      <p:sp>
        <p:nvSpPr>
          <p:cNvPr id="16" name="S13_BOUNDARY_NODE_5">
            <a:extLst xmlns:a="http://schemas.openxmlformats.org/drawingml/2006/main">
              <a:ext uri="{FF2B5EF4-FFF2-40B4-BE49-F238E27FC236}">
                <a16:creationId xmlns:a16="http://schemas.microsoft.com/office/drawing/2014/main" id="{671ECAEF-3724-4407-802B-4986732715D7}"/>
              </a:ext>
            </a:extLst>
          </p:cNvPr>
          <p:cNvSpPr>
            <a:spLocks xmlns:a="http://schemas.openxmlformats.org/drawingml/2006/main" noGrp="1"/>
          </p:cNvSpPr>
          <p:nvPr/>
        </p:nvSpPr>
        <p:spPr>
          <a:xfrm xmlns:a="http://schemas.openxmlformats.org/drawingml/2006/main">
            <a:off x="9753600" y="1771650"/>
            <a:ext cx="190500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 RESPONSE</a:t>
            </a:r>
          </a:p>
        </p:txBody>
      </p:sp>
      <p:sp>
        <p:nvSpPr>
          <p:cNvPr id="17" name="S13_PARAMS_H0">
            <a:extLst xmlns:a="http://schemas.openxmlformats.org/drawingml/2006/main">
              <a:ext uri="{FF2B5EF4-FFF2-40B4-BE49-F238E27FC236}">
                <a16:creationId xmlns:a16="http://schemas.microsoft.com/office/drawing/2014/main" id="{1178E2D9-861E-418D-A2B7-C0B6A12F4CFB}"/>
              </a:ext>
            </a:extLst>
          </p:cNvPr>
          <p:cNvSpPr>
            <a:spLocks xmlns:a="http://schemas.openxmlformats.org/drawingml/2006/main" noGrp="1"/>
          </p:cNvSpPr>
          <p:nvPr/>
        </p:nvSpPr>
        <p:spPr>
          <a:xfrm xmlns:a="http://schemas.openxmlformats.org/drawingml/2006/main">
            <a:off x="533400" y="3181350"/>
            <a:ext cx="20955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PARAMETER</a:t>
            </a:r>
          </a:p>
        </p:txBody>
      </p:sp>
      <p:sp>
        <p:nvSpPr>
          <p:cNvPr id="18" name="S13_PARAMS_H1">
            <a:extLst xmlns:a="http://schemas.openxmlformats.org/drawingml/2006/main">
              <a:ext uri="{FF2B5EF4-FFF2-40B4-BE49-F238E27FC236}">
                <a16:creationId xmlns:a16="http://schemas.microsoft.com/office/drawing/2014/main" id="{616C7F74-A75F-4213-8698-71C5A0ED7070}"/>
              </a:ext>
            </a:extLst>
          </p:cNvPr>
          <p:cNvSpPr>
            <a:spLocks xmlns:a="http://schemas.openxmlformats.org/drawingml/2006/main" noGrp="1"/>
          </p:cNvSpPr>
          <p:nvPr/>
        </p:nvSpPr>
        <p:spPr>
          <a:xfrm xmlns:a="http://schemas.openxmlformats.org/drawingml/2006/main">
            <a:off x="2628900" y="3181350"/>
            <a:ext cx="30480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HỢP LỆ VỀ KIỂU</a:t>
            </a:r>
          </a:p>
        </p:txBody>
      </p:sp>
      <p:sp>
        <p:nvSpPr>
          <p:cNvPr id="19" name="S13_PARAMS_H2">
            <a:extLst xmlns:a="http://schemas.openxmlformats.org/drawingml/2006/main">
              <a:ext uri="{FF2B5EF4-FFF2-40B4-BE49-F238E27FC236}">
                <a16:creationId xmlns:a16="http://schemas.microsoft.com/office/drawing/2014/main" id="{0D2BD25D-DFA2-4DD8-8058-5B2B9BCC3D68}"/>
              </a:ext>
            </a:extLst>
          </p:cNvPr>
          <p:cNvSpPr>
            <a:spLocks xmlns:a="http://schemas.openxmlformats.org/drawingml/2006/main" noGrp="1"/>
          </p:cNvSpPr>
          <p:nvPr/>
        </p:nvSpPr>
        <p:spPr>
          <a:xfrm xmlns:a="http://schemas.openxmlformats.org/drawingml/2006/main">
            <a:off x="5676900" y="3181350"/>
            <a:ext cx="5981700" cy="576263"/>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CÂU HỎI POLICY</a:t>
            </a:r>
          </a:p>
        </p:txBody>
      </p:sp>
      <p:sp>
        <p:nvSpPr>
          <p:cNvPr id="20" name="S13_PARAMS_R0C0">
            <a:extLst xmlns:a="http://schemas.openxmlformats.org/drawingml/2006/main">
              <a:ext uri="{FF2B5EF4-FFF2-40B4-BE49-F238E27FC236}">
                <a16:creationId xmlns:a16="http://schemas.microsoft.com/office/drawing/2014/main" id="{55B7EC3C-8424-4509-BCE3-CCB0224FA129}"/>
              </a:ext>
            </a:extLst>
          </p:cNvPr>
          <p:cNvSpPr>
            <a:spLocks xmlns:a="http://schemas.openxmlformats.org/drawingml/2006/main" noGrp="1"/>
          </p:cNvSpPr>
          <p:nvPr/>
        </p:nvSpPr>
        <p:spPr>
          <a:xfrm xmlns:a="http://schemas.openxmlformats.org/drawingml/2006/main">
            <a:off x="533400" y="3757613"/>
            <a:ext cx="20955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a:t>
            </a:r>
          </a:p>
        </p:txBody>
      </p:sp>
      <p:sp>
        <p:nvSpPr>
          <p:cNvPr id="21" name="S13_PARAMS_R0C1">
            <a:extLst xmlns:a="http://schemas.openxmlformats.org/drawingml/2006/main">
              <a:ext uri="{FF2B5EF4-FFF2-40B4-BE49-F238E27FC236}">
                <a16:creationId xmlns:a16="http://schemas.microsoft.com/office/drawing/2014/main" id="{6ED20ABA-185A-452C-9A9A-1982A56AAC4E}"/>
              </a:ext>
            </a:extLst>
          </p:cNvPr>
          <p:cNvSpPr>
            <a:spLocks xmlns:a="http://schemas.openxmlformats.org/drawingml/2006/main" noGrp="1"/>
          </p:cNvSpPr>
          <p:nvPr/>
        </p:nvSpPr>
        <p:spPr>
          <a:xfrm xmlns:a="http://schemas.openxmlformats.org/drawingml/2006/main">
            <a:off x="2628900" y="3757613"/>
            <a:ext cx="30480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integer</a:t>
            </a:r>
          </a:p>
        </p:txBody>
      </p:sp>
      <p:sp>
        <p:nvSpPr>
          <p:cNvPr id="22" name="S13_PARAMS_R0C2">
            <a:extLst xmlns:a="http://schemas.openxmlformats.org/drawingml/2006/main">
              <a:ext uri="{FF2B5EF4-FFF2-40B4-BE49-F238E27FC236}">
                <a16:creationId xmlns:a16="http://schemas.microsoft.com/office/drawing/2014/main" id="{94F3CD37-23C9-4695-B5E4-357660C7211B}"/>
              </a:ext>
            </a:extLst>
          </p:cNvPr>
          <p:cNvSpPr>
            <a:spLocks xmlns:a="http://schemas.openxmlformats.org/drawingml/2006/main" noGrp="1"/>
          </p:cNvSpPr>
          <p:nvPr/>
        </p:nvSpPr>
        <p:spPr>
          <a:xfrm xmlns:a="http://schemas.openxmlformats.org/drawingml/2006/main">
            <a:off x="5676900" y="3757613"/>
            <a:ext cx="59817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 phải giá từ DB?</a:t>
            </a:r>
          </a:p>
        </p:txBody>
      </p:sp>
      <p:sp>
        <p:nvSpPr>
          <p:cNvPr id="23" name="S13_PARAMS_R1C0">
            <a:extLst xmlns:a="http://schemas.openxmlformats.org/drawingml/2006/main">
              <a:ext uri="{FF2B5EF4-FFF2-40B4-BE49-F238E27FC236}">
                <a16:creationId xmlns:a16="http://schemas.microsoft.com/office/drawing/2014/main" id="{25E0056A-3A04-4186-BB14-0DD2A9287351}"/>
              </a:ext>
            </a:extLst>
          </p:cNvPr>
          <p:cNvSpPr>
            <a:spLocks xmlns:a="http://schemas.openxmlformats.org/drawingml/2006/main" noGrp="1"/>
          </p:cNvSpPr>
          <p:nvPr/>
        </p:nvSpPr>
        <p:spPr>
          <a:xfrm xmlns:a="http://schemas.openxmlformats.org/drawingml/2006/main">
            <a:off x="533400" y="4333875"/>
            <a:ext cx="20955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id=1002</a:t>
            </a:r>
          </a:p>
        </p:txBody>
      </p:sp>
      <p:sp>
        <p:nvSpPr>
          <p:cNvPr id="24" name="S13_PARAMS_R1C1">
            <a:extLst xmlns:a="http://schemas.openxmlformats.org/drawingml/2006/main">
              <a:ext uri="{FF2B5EF4-FFF2-40B4-BE49-F238E27FC236}">
                <a16:creationId xmlns:a16="http://schemas.microsoft.com/office/drawing/2014/main" id="{0095AB92-B1F0-45AA-A23C-53E3B886B45A}"/>
              </a:ext>
            </a:extLst>
          </p:cNvPr>
          <p:cNvSpPr>
            <a:spLocks xmlns:a="http://schemas.openxmlformats.org/drawingml/2006/main" noGrp="1"/>
          </p:cNvSpPr>
          <p:nvPr/>
        </p:nvSpPr>
        <p:spPr>
          <a:xfrm xmlns:a="http://schemas.openxmlformats.org/drawingml/2006/main">
            <a:off x="2628900" y="4333875"/>
            <a:ext cx="30480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integer</a:t>
            </a:r>
          </a:p>
        </p:txBody>
      </p:sp>
      <p:sp>
        <p:nvSpPr>
          <p:cNvPr id="25" name="S13_PARAMS_R1C2">
            <a:extLst xmlns:a="http://schemas.openxmlformats.org/drawingml/2006/main">
              <a:ext uri="{FF2B5EF4-FFF2-40B4-BE49-F238E27FC236}">
                <a16:creationId xmlns:a16="http://schemas.microsoft.com/office/drawing/2014/main" id="{23289190-5D3F-4235-8BB4-FB9FF8D76817}"/>
              </a:ext>
            </a:extLst>
          </p:cNvPr>
          <p:cNvSpPr>
            <a:spLocks xmlns:a="http://schemas.openxmlformats.org/drawingml/2006/main" noGrp="1"/>
          </p:cNvSpPr>
          <p:nvPr/>
        </p:nvSpPr>
        <p:spPr>
          <a:xfrm xmlns:a="http://schemas.openxmlformats.org/drawingml/2006/main">
            <a:off x="5676900" y="4333875"/>
            <a:ext cx="5981700" cy="576263"/>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 có sở hữu invoice?</a:t>
            </a:r>
          </a:p>
        </p:txBody>
      </p:sp>
      <p:sp>
        <p:nvSpPr>
          <p:cNvPr id="26" name="S13_PARAMS_R2C0">
            <a:extLst xmlns:a="http://schemas.openxmlformats.org/drawingml/2006/main">
              <a:ext uri="{FF2B5EF4-FFF2-40B4-BE49-F238E27FC236}">
                <a16:creationId xmlns:a16="http://schemas.microsoft.com/office/drawing/2014/main" id="{7F08A31F-7C86-40B0-8DB9-E9CF555F996B}"/>
              </a:ext>
            </a:extLst>
          </p:cNvPr>
          <p:cNvSpPr>
            <a:spLocks xmlns:a="http://schemas.openxmlformats.org/drawingml/2006/main" noGrp="1"/>
          </p:cNvSpPr>
          <p:nvPr/>
        </p:nvSpPr>
        <p:spPr>
          <a:xfrm xmlns:a="http://schemas.openxmlformats.org/drawingml/2006/main">
            <a:off x="533400" y="4910138"/>
            <a:ext cx="20955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role=admin</a:t>
            </a:r>
          </a:p>
        </p:txBody>
      </p:sp>
      <p:sp>
        <p:nvSpPr>
          <p:cNvPr id="27" name="S13_PARAMS_R2C1">
            <a:extLst xmlns:a="http://schemas.openxmlformats.org/drawingml/2006/main">
              <a:ext uri="{FF2B5EF4-FFF2-40B4-BE49-F238E27FC236}">
                <a16:creationId xmlns:a16="http://schemas.microsoft.com/office/drawing/2014/main" id="{BBF4CB86-AEAD-40B5-A6CA-6D49F6FBB416}"/>
              </a:ext>
            </a:extLst>
          </p:cNvPr>
          <p:cNvSpPr>
            <a:spLocks xmlns:a="http://schemas.openxmlformats.org/drawingml/2006/main" noGrp="1"/>
          </p:cNvSpPr>
          <p:nvPr/>
        </p:nvSpPr>
        <p:spPr>
          <a:xfrm xmlns:a="http://schemas.openxmlformats.org/drawingml/2006/main">
            <a:off x="2628900" y="4910138"/>
            <a:ext cx="30480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enum/string</a:t>
            </a:r>
          </a:p>
        </p:txBody>
      </p:sp>
      <p:sp>
        <p:nvSpPr>
          <p:cNvPr id="28" name="S13_PARAMS_R2C2">
            <a:extLst xmlns:a="http://schemas.openxmlformats.org/drawingml/2006/main">
              <a:ext uri="{FF2B5EF4-FFF2-40B4-BE49-F238E27FC236}">
                <a16:creationId xmlns:a16="http://schemas.microsoft.com/office/drawing/2014/main" id="{60BCBB5B-19AB-40C8-AE1A-877682FDA68E}"/>
              </a:ext>
            </a:extLst>
          </p:cNvPr>
          <p:cNvSpPr>
            <a:spLocks xmlns:a="http://schemas.openxmlformats.org/drawingml/2006/main" noGrp="1"/>
          </p:cNvSpPr>
          <p:nvPr/>
        </p:nvSpPr>
        <p:spPr>
          <a:xfrm xmlns:a="http://schemas.openxmlformats.org/drawingml/2006/main">
            <a:off x="5676900" y="4910138"/>
            <a:ext cx="5981700" cy="576263"/>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có quyền đổi role?</a:t>
            </a:r>
          </a:p>
        </p:txBody>
      </p:sp>
      <p:sp>
        <p:nvSpPr>
          <p:cNvPr id="29" name="S13_KEY_BAR">
            <a:extLst xmlns:a="http://schemas.openxmlformats.org/drawingml/2006/main">
              <a:ext uri="{FF2B5EF4-FFF2-40B4-BE49-F238E27FC236}">
                <a16:creationId xmlns:a16="http://schemas.microsoft.com/office/drawing/2014/main" id="{469A44EF-1DC4-4566-B773-9B35053B3F2C}"/>
              </a:ext>
            </a:extLst>
          </p:cNvPr>
          <p:cNvSpPr>
            <a:spLocks xmlns:a="http://schemas.openxmlformats.org/drawingml/2006/main" noGrp="1"/>
          </p:cNvSpPr>
          <p:nvPr/>
        </p:nvSpPr>
        <p:spPr>
          <a:xfrm xmlns:a="http://schemas.openxmlformats.org/drawingml/2006/main">
            <a:off x="533400" y="5753100"/>
            <a:ext cx="76200" cy="0"/>
          </a:xfrm>
          <a:prstGeom xmlns:a="http://schemas.openxmlformats.org/drawingml/2006/main" prst="rect">
            <a:avLst/>
          </a:prstGeom>
          <a:ln xmlns:a="http://schemas.openxmlformats.org/drawingml/2006/main" w="0">
            <a:noFill/>
            <a:prstDash val="solid"/>
          </a:ln>
        </p:spPr>
      </p:sp>
      <p:sp>
        <p:nvSpPr>
          <p:cNvPr id="30" name="S13_KEY_LABEL">
            <a:extLst xmlns:a="http://schemas.openxmlformats.org/drawingml/2006/main">
              <a:ext uri="{FF2B5EF4-FFF2-40B4-BE49-F238E27FC236}">
                <a16:creationId xmlns:a16="http://schemas.microsoft.com/office/drawing/2014/main" id="{4124250C-D9FF-4EDD-8A79-ECBF92E49984}"/>
              </a:ext>
            </a:extLst>
          </p:cNvPr>
          <p:cNvSpPr>
            <a:spLocks xmlns:a="http://schemas.openxmlformats.org/drawingml/2006/main" noGrp="1"/>
          </p:cNvSpPr>
          <p:nvPr/>
        </p:nvSpPr>
        <p:spPr>
          <a:xfrm xmlns:a="http://schemas.openxmlformats.org/drawingml/2006/main">
            <a:off x="704850" y="5753100"/>
            <a:ext cx="1638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KEY IDEA</a:t>
            </a:r>
          </a:p>
        </p:txBody>
      </p:sp>
      <p:sp>
        <p:nvSpPr>
          <p:cNvPr id="31" name="S13_KEY_BODY">
            <a:extLst xmlns:a="http://schemas.openxmlformats.org/drawingml/2006/main">
              <a:ext uri="{FF2B5EF4-FFF2-40B4-BE49-F238E27FC236}">
                <a16:creationId xmlns:a16="http://schemas.microsoft.com/office/drawing/2014/main" id="{BF7C894A-EB71-4825-AD3E-BA54A16D7167}"/>
              </a:ext>
            </a:extLst>
          </p:cNvPr>
          <p:cNvSpPr>
            <a:spLocks xmlns:a="http://schemas.openxmlformats.org/drawingml/2006/main" noGrp="1"/>
          </p:cNvSpPr>
          <p:nvPr/>
        </p:nvSpPr>
        <p:spPr>
          <a:xfrm xmlns:a="http://schemas.openxmlformats.org/drawingml/2006/main">
            <a:off x="2438400" y="5753100"/>
            <a:ext cx="9201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Hidden field chỉ ẩn khỏi giao diện; nó không trở thành dữ liệu tin cậy.</a:t>
            </a:r>
          </a:p>
        </p:txBody>
      </p:sp>
    </p:spTree>
    <p:extLst>
      <p:ext uri="{BB962C8B-B14F-4D97-AF65-F5344CB8AC3E}">
        <p14:creationId xmlns:p14="http://schemas.microsoft.com/office/powerpoint/2010/main" val="1843157281"/>
      </p:ext>
    </p:extLst>
  </p:cSld>
</p:sld>
</file>

<file path=ppt/slides/slide1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14_EYEBROW">
            <a:extLst xmlns:a="http://schemas.openxmlformats.org/drawingml/2006/main">
              <a:ext uri="{FF2B5EF4-FFF2-40B4-BE49-F238E27FC236}">
                <a16:creationId xmlns:a16="http://schemas.microsoft.com/office/drawing/2014/main" id="{B92141AB-E841-433C-B7D9-B1D9F3BF453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4_TITLE">
            <a:extLst xmlns:a="http://schemas.openxmlformats.org/drawingml/2006/main">
              <a:ext uri="{FF2B5EF4-FFF2-40B4-BE49-F238E27FC236}">
                <a16:creationId xmlns:a16="http://schemas.microsoft.com/office/drawing/2014/main" id="{9BB56EB6-7AFA-4199-A351-CFB42DB2224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Giá phải được quyết định ở server</a:t>
            </a:r>
          </a:p>
        </p:txBody>
      </p:sp>
      <p:sp>
        <p:nvSpPr>
          <p:cNvPr id="3" name="S14_SUBTITLE">
            <a:extLst xmlns:a="http://schemas.openxmlformats.org/drawingml/2006/main">
              <a:ext uri="{FF2B5EF4-FFF2-40B4-BE49-F238E27FC236}">
                <a16:creationId xmlns:a16="http://schemas.microsoft.com/office/drawing/2014/main" id="{94824761-4151-461E-954D-E951459DE5D2}"/>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chỉ gửi product_id và quantity; server đọc price_vnd từ products.</a:t>
            </a:r>
          </a:p>
        </p:txBody>
      </p:sp>
      <p:sp>
        <p:nvSpPr>
          <p:cNvPr id="4" name="S14_TITLE_RULE">
            <a:extLst xmlns:a="http://schemas.openxmlformats.org/drawingml/2006/main">
              <a:ext uri="{FF2B5EF4-FFF2-40B4-BE49-F238E27FC236}">
                <a16:creationId xmlns:a16="http://schemas.microsoft.com/office/drawing/2014/main" id="{91B8A5D6-7199-44AB-A3B3-6B112CD41926}"/>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4_FOOTER_RULE">
            <a:extLst xmlns:a="http://schemas.openxmlformats.org/drawingml/2006/main">
              <a:ext uri="{FF2B5EF4-FFF2-40B4-BE49-F238E27FC236}">
                <a16:creationId xmlns:a16="http://schemas.microsoft.com/office/drawing/2014/main" id="{5CA1FE78-97D3-44A8-B18F-10951F74089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4_SOURCE">
            <a:extLst xmlns:a="http://schemas.openxmlformats.org/drawingml/2006/main">
              <a:ext uri="{FF2B5EF4-FFF2-40B4-BE49-F238E27FC236}">
                <a16:creationId xmlns:a16="http://schemas.microsoft.com/office/drawing/2014/main" id="{CC2E8A8F-8D74-4120-B590-0FB5CFB8494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seed.py product 5</a:t>
            </a:r>
          </a:p>
        </p:txBody>
      </p:sp>
      <p:sp>
        <p:nvSpPr>
          <p:cNvPr id="7" name="S14_NUMBER">
            <a:extLst xmlns:a="http://schemas.openxmlformats.org/drawingml/2006/main">
              <a:ext uri="{FF2B5EF4-FFF2-40B4-BE49-F238E27FC236}">
                <a16:creationId xmlns:a16="http://schemas.microsoft.com/office/drawing/2014/main" id="{E3ED8618-0668-4CFE-ACDC-C230CE826AD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14</a:t>
            </a:r>
          </a:p>
        </p:txBody>
      </p:sp>
      <p:sp>
        <p:nvSpPr>
          <p:cNvPr id="8" name="S14_VULN_ARROW_1">
            <a:extLst xmlns:a="http://schemas.openxmlformats.org/drawingml/2006/main">
              <a:ext uri="{FF2B5EF4-FFF2-40B4-BE49-F238E27FC236}">
                <a16:creationId xmlns:a16="http://schemas.microsoft.com/office/drawing/2014/main" id="{ECB448CD-1150-4044-939F-A1AEFF7B52D1}"/>
              </a:ext>
            </a:extLst>
          </p:cNvPr>
          <p:cNvSpPr>
            <a:spLocks xmlns:a="http://schemas.openxmlformats.org/drawingml/2006/main" noGrp="1"/>
          </p:cNvSpPr>
          <p:nvPr/>
        </p:nvSpPr>
        <p:spPr>
          <a:xfrm xmlns:a="http://schemas.openxmlformats.org/drawingml/2006/main">
            <a:off x="191452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14_VULN_ARROW_2">
            <a:extLst xmlns:a="http://schemas.openxmlformats.org/drawingml/2006/main">
              <a:ext uri="{FF2B5EF4-FFF2-40B4-BE49-F238E27FC236}">
                <a16:creationId xmlns:a16="http://schemas.microsoft.com/office/drawing/2014/main" id="{B7510822-1FA5-4644-81A3-B1B8D630874C}"/>
              </a:ext>
            </a:extLst>
          </p:cNvPr>
          <p:cNvSpPr>
            <a:spLocks xmlns:a="http://schemas.openxmlformats.org/drawingml/2006/main" noGrp="1"/>
          </p:cNvSpPr>
          <p:nvPr/>
        </p:nvSpPr>
        <p:spPr>
          <a:xfrm xmlns:a="http://schemas.openxmlformats.org/drawingml/2006/main">
            <a:off x="3562350"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14_VULN_ARROW_3">
            <a:extLst xmlns:a="http://schemas.openxmlformats.org/drawingml/2006/main">
              <a:ext uri="{FF2B5EF4-FFF2-40B4-BE49-F238E27FC236}">
                <a16:creationId xmlns:a16="http://schemas.microsoft.com/office/drawing/2014/main" id="{F7CAF24A-322F-4A23-B943-BDBD12BEE387}"/>
              </a:ext>
            </a:extLst>
          </p:cNvPr>
          <p:cNvSpPr>
            <a:spLocks xmlns:a="http://schemas.openxmlformats.org/drawingml/2006/main" noGrp="1"/>
          </p:cNvSpPr>
          <p:nvPr/>
        </p:nvSpPr>
        <p:spPr>
          <a:xfrm xmlns:a="http://schemas.openxmlformats.org/drawingml/2006/main">
            <a:off x="521017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4_VULN_NODE_1">
            <a:extLst xmlns:a="http://schemas.openxmlformats.org/drawingml/2006/main">
              <a:ext uri="{FF2B5EF4-FFF2-40B4-BE49-F238E27FC236}">
                <a16:creationId xmlns:a16="http://schemas.microsoft.com/office/drawing/2014/main" id="{952F9CC0-B005-4A09-805B-386130B36BA1}"/>
              </a:ext>
            </a:extLst>
          </p:cNvPr>
          <p:cNvSpPr>
            <a:spLocks xmlns:a="http://schemas.openxmlformats.org/drawingml/2006/main" noGrp="1"/>
          </p:cNvSpPr>
          <p:nvPr/>
        </p:nvSpPr>
        <p:spPr>
          <a:xfrm xmlns:a="http://schemas.openxmlformats.org/drawingml/2006/main">
            <a:off x="53340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a:t>
            </a:r>
          </a:p>
        </p:txBody>
      </p:sp>
      <p:sp>
        <p:nvSpPr>
          <p:cNvPr id="12" name="S14_VULN_NODE_2">
            <a:extLst xmlns:a="http://schemas.openxmlformats.org/drawingml/2006/main">
              <a:ext uri="{FF2B5EF4-FFF2-40B4-BE49-F238E27FC236}">
                <a16:creationId xmlns:a16="http://schemas.microsoft.com/office/drawing/2014/main" id="{4A2ECADF-D714-4950-BC24-E18EE1D6357C}"/>
              </a:ext>
            </a:extLst>
          </p:cNvPr>
          <p:cNvSpPr>
            <a:spLocks xmlns:a="http://schemas.openxmlformats.org/drawingml/2006/main" noGrp="1"/>
          </p:cNvSpPr>
          <p:nvPr/>
        </p:nvSpPr>
        <p:spPr>
          <a:xfrm xmlns:a="http://schemas.openxmlformats.org/drawingml/2006/main">
            <a:off x="218122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request.form</a:t>
            </a:r>
          </a:p>
        </p:txBody>
      </p:sp>
      <p:sp>
        <p:nvSpPr>
          <p:cNvPr id="13" name="S14_VULN_NODE_3">
            <a:extLst xmlns:a="http://schemas.openxmlformats.org/drawingml/2006/main">
              <a:ext uri="{FF2B5EF4-FFF2-40B4-BE49-F238E27FC236}">
                <a16:creationId xmlns:a16="http://schemas.microsoft.com/office/drawing/2014/main" id="{15660902-BA27-4008-9568-CF0FDC6E3DF9}"/>
              </a:ext>
            </a:extLst>
          </p:cNvPr>
          <p:cNvSpPr>
            <a:spLocks xmlns:a="http://schemas.openxmlformats.org/drawingml/2006/main" noGrp="1"/>
          </p:cNvSpPr>
          <p:nvPr/>
        </p:nvSpPr>
        <p:spPr>
          <a:xfrm xmlns:a="http://schemas.openxmlformats.org/drawingml/2006/main">
            <a:off x="382905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total=1×qty</a:t>
            </a:r>
          </a:p>
        </p:txBody>
      </p:sp>
      <p:sp>
        <p:nvSpPr>
          <p:cNvPr id="14" name="S14_VULN_NODE_4">
            <a:extLst xmlns:a="http://schemas.openxmlformats.org/drawingml/2006/main">
              <a:ext uri="{FF2B5EF4-FFF2-40B4-BE49-F238E27FC236}">
                <a16:creationId xmlns:a16="http://schemas.microsoft.com/office/drawing/2014/main" id="{0FB5322A-B036-438F-A6AE-BBA7412B1BC2}"/>
              </a:ext>
            </a:extLst>
          </p:cNvPr>
          <p:cNvSpPr>
            <a:spLocks xmlns:a="http://schemas.openxmlformats.org/drawingml/2006/main" noGrp="1"/>
          </p:cNvSpPr>
          <p:nvPr/>
        </p:nvSpPr>
        <p:spPr>
          <a:xfrm xmlns:a="http://schemas.openxmlformats.org/drawingml/2006/main">
            <a:off x="547687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ORDER SAI</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price=1 được chấp nhận</a:t>
            </a:r>
          </a:p>
        </p:txBody>
      </p:sp>
      <p:sp>
        <p:nvSpPr>
          <p:cNvPr id="15" name="S14_SAFE_ARROW_1">
            <a:extLst xmlns:a="http://schemas.openxmlformats.org/drawingml/2006/main">
              <a:ext uri="{FF2B5EF4-FFF2-40B4-BE49-F238E27FC236}">
                <a16:creationId xmlns:a16="http://schemas.microsoft.com/office/drawing/2014/main" id="{1A52F66D-8C08-48DB-8E86-8EB7506147CA}"/>
              </a:ext>
            </a:extLst>
          </p:cNvPr>
          <p:cNvSpPr>
            <a:spLocks xmlns:a="http://schemas.openxmlformats.org/drawingml/2006/main" noGrp="1"/>
          </p:cNvSpPr>
          <p:nvPr/>
        </p:nvSpPr>
        <p:spPr>
          <a:xfrm xmlns:a="http://schemas.openxmlformats.org/drawingml/2006/main">
            <a:off x="191452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6" name="S14_SAFE_ARROW_2">
            <a:extLst xmlns:a="http://schemas.openxmlformats.org/drawingml/2006/main">
              <a:ext uri="{FF2B5EF4-FFF2-40B4-BE49-F238E27FC236}">
                <a16:creationId xmlns:a16="http://schemas.microsoft.com/office/drawing/2014/main" id="{E05D0D73-2800-4150-AE2D-21BB2C796D39}"/>
              </a:ext>
            </a:extLst>
          </p:cNvPr>
          <p:cNvSpPr>
            <a:spLocks xmlns:a="http://schemas.openxmlformats.org/drawingml/2006/main" noGrp="1"/>
          </p:cNvSpPr>
          <p:nvPr/>
        </p:nvSpPr>
        <p:spPr>
          <a:xfrm xmlns:a="http://schemas.openxmlformats.org/drawingml/2006/main">
            <a:off x="3562350"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7" name="S14_SAFE_ARROW_3">
            <a:extLst xmlns:a="http://schemas.openxmlformats.org/drawingml/2006/main">
              <a:ext uri="{FF2B5EF4-FFF2-40B4-BE49-F238E27FC236}">
                <a16:creationId xmlns:a16="http://schemas.microsoft.com/office/drawing/2014/main" id="{B0E8FEDF-95B0-4A05-931C-169AA77C1A2D}"/>
              </a:ext>
            </a:extLst>
          </p:cNvPr>
          <p:cNvSpPr>
            <a:spLocks xmlns:a="http://schemas.openxmlformats.org/drawingml/2006/main" noGrp="1"/>
          </p:cNvSpPr>
          <p:nvPr/>
        </p:nvSpPr>
        <p:spPr>
          <a:xfrm xmlns:a="http://schemas.openxmlformats.org/drawingml/2006/main">
            <a:off x="521017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4_SAFE_NODE_1">
            <a:extLst xmlns:a="http://schemas.openxmlformats.org/drawingml/2006/main">
              <a:ext uri="{FF2B5EF4-FFF2-40B4-BE49-F238E27FC236}">
                <a16:creationId xmlns:a16="http://schemas.microsoft.com/office/drawing/2014/main" id="{241E5ED9-4F07-4172-8510-B6D26C6E40B6}"/>
              </a:ext>
            </a:extLst>
          </p:cNvPr>
          <p:cNvSpPr>
            <a:spLocks xmlns:a="http://schemas.openxmlformats.org/drawingml/2006/main" noGrp="1"/>
          </p:cNvSpPr>
          <p:nvPr/>
        </p:nvSpPr>
        <p:spPr>
          <a:xfrm xmlns:a="http://schemas.openxmlformats.org/drawingml/2006/main">
            <a:off x="53340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product_id=5</a:t>
            </a:r>
          </a:p>
        </p:txBody>
      </p:sp>
      <p:sp>
        <p:nvSpPr>
          <p:cNvPr id="19" name="S14_SAFE_NODE_2">
            <a:extLst xmlns:a="http://schemas.openxmlformats.org/drawingml/2006/main">
              <a:ext uri="{FF2B5EF4-FFF2-40B4-BE49-F238E27FC236}">
                <a16:creationId xmlns:a16="http://schemas.microsoft.com/office/drawing/2014/main" id="{14F13ABF-487C-4141-A1A2-98886A5A1BCA}"/>
              </a:ext>
            </a:extLst>
          </p:cNvPr>
          <p:cNvSpPr>
            <a:spLocks xmlns:a="http://schemas.openxmlformats.org/drawingml/2006/main" noGrp="1"/>
          </p:cNvSpPr>
          <p:nvPr/>
        </p:nvSpPr>
        <p:spPr>
          <a:xfrm xmlns:a="http://schemas.openxmlformats.org/drawingml/2006/main">
            <a:off x="218122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price=100000</a:t>
            </a:r>
          </a:p>
        </p:txBody>
      </p:sp>
      <p:sp>
        <p:nvSpPr>
          <p:cNvPr id="20" name="S14_SAFE_NODE_3">
            <a:extLst xmlns:a="http://schemas.openxmlformats.org/drawingml/2006/main">
              <a:ext uri="{FF2B5EF4-FFF2-40B4-BE49-F238E27FC236}">
                <a16:creationId xmlns:a16="http://schemas.microsoft.com/office/drawing/2014/main" id="{00E7B57E-5D99-40EA-8B4D-54D6B557E92C}"/>
              </a:ext>
            </a:extLst>
          </p:cNvPr>
          <p:cNvSpPr>
            <a:spLocks xmlns:a="http://schemas.openxmlformats.org/drawingml/2006/main" noGrp="1"/>
          </p:cNvSpPr>
          <p:nvPr/>
        </p:nvSpPr>
        <p:spPr>
          <a:xfrm xmlns:a="http://schemas.openxmlformats.org/drawingml/2006/main">
            <a:off x="382905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total=price×qty</a:t>
            </a:r>
          </a:p>
        </p:txBody>
      </p:sp>
      <p:sp>
        <p:nvSpPr>
          <p:cNvPr id="21" name="S14_SAFE_NODE_4">
            <a:extLst xmlns:a="http://schemas.openxmlformats.org/drawingml/2006/main">
              <a:ext uri="{FF2B5EF4-FFF2-40B4-BE49-F238E27FC236}">
                <a16:creationId xmlns:a16="http://schemas.microsoft.com/office/drawing/2014/main" id="{BE4294C2-ECC4-4835-B715-492E8C411A47}"/>
              </a:ext>
            </a:extLst>
          </p:cNvPr>
          <p:cNvSpPr>
            <a:spLocks xmlns:a="http://schemas.openxmlformats.org/drawingml/2006/main" noGrp="1"/>
          </p:cNvSpPr>
          <p:nvPr/>
        </p:nvSpPr>
        <p:spPr>
          <a:xfrm xmlns:a="http://schemas.openxmlformats.org/drawingml/2006/main">
            <a:off x="547687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order đúng</a:t>
            </a:r>
          </a:p>
        </p:txBody>
      </p:sp>
      <p:sp>
        <p:nvSpPr>
          <p:cNvPr id="22" name="PH_S14_Lab03_45_checkout_tampered_payload_png_FRAME">
            <a:extLst xmlns:a="http://schemas.openxmlformats.org/drawingml/2006/main">
              <a:ext uri="{FF2B5EF4-FFF2-40B4-BE49-F238E27FC236}">
                <a16:creationId xmlns:a16="http://schemas.microsoft.com/office/drawing/2014/main" id="{58A3811C-1E57-43AB-9BDD-8C25916AA3D5}"/>
              </a:ext>
            </a:extLst>
          </p:cNvPr>
          <p:cNvSpPr>
            <a:spLocks xmlns:a="http://schemas.openxmlformats.org/drawingml/2006/main" noGrp="1"/>
          </p:cNvSpPr>
          <p:nvPr/>
        </p:nvSpPr>
        <p:spPr>
          <a:xfrm xmlns:a="http://schemas.openxmlformats.org/drawingml/2006/main">
            <a:off x="7096125" y="1724025"/>
            <a:ext cx="4591050" cy="18288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4_Lab03_45_checkout_tampered_payload_png_IMAGE">
            <a:extLst xmlns:a="http://schemas.openxmlformats.org/drawingml/2006/main">
              <a:ext uri="{FF2B5EF4-FFF2-40B4-BE49-F238E27FC236}">
                <a16:creationId xmlns:a16="http://schemas.microsoft.com/office/drawing/2014/main" id="{8557C7E9-9087-44AE-94C2-5B80318CC907}"/>
              </a:ext>
            </a:extLst>
          </p:cNvPr>
          <p:cNvSpPr>
            <a:spLocks xmlns:a="http://schemas.openxmlformats.org/drawingml/2006/main" noGrp="1"/>
          </p:cNvSpPr>
          <p:nvPr/>
        </p:nvSpPr>
        <p:spPr>
          <a:xfrm xmlns:a="http://schemas.openxmlformats.org/drawingml/2006/main">
            <a:off x="7124700" y="1752600"/>
            <a:ext cx="4533900" cy="17716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4_Lab03_45_checkout_tampered_payload_png_ICON">
            <a:extLst xmlns:a="http://schemas.openxmlformats.org/drawingml/2006/main">
              <a:ext uri="{FF2B5EF4-FFF2-40B4-BE49-F238E27FC236}">
                <a16:creationId xmlns:a16="http://schemas.microsoft.com/office/drawing/2014/main" id="{3C6CFD12-776C-4D86-B2AE-2711C6316707}"/>
              </a:ext>
            </a:extLst>
          </p:cNvPr>
          <p:cNvSpPr>
            <a:spLocks xmlns:a="http://schemas.openxmlformats.org/drawingml/2006/main" noGrp="1"/>
          </p:cNvSpPr>
          <p:nvPr/>
        </p:nvSpPr>
        <p:spPr>
          <a:xfrm xmlns:a="http://schemas.openxmlformats.org/drawingml/2006/main">
            <a:off x="72771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4_Lab03_45_checkout_tampered_payload_png_INSTRUCTION">
            <a:extLst xmlns:a="http://schemas.openxmlformats.org/drawingml/2006/main">
              <a:ext uri="{FF2B5EF4-FFF2-40B4-BE49-F238E27FC236}">
                <a16:creationId xmlns:a16="http://schemas.microsoft.com/office/drawing/2014/main" id="{3E045D2C-0DDA-45EF-895E-6334FD854D79}"/>
              </a:ext>
            </a:extLst>
          </p:cNvPr>
          <p:cNvSpPr>
            <a:spLocks xmlns:a="http://schemas.openxmlformats.org/drawingml/2006/main" noGrp="1"/>
          </p:cNvSpPr>
          <p:nvPr/>
        </p:nvSpPr>
        <p:spPr>
          <a:xfrm xmlns:a="http://schemas.openxmlformats.org/drawingml/2006/main">
            <a:off x="7791450" y="1924050"/>
            <a:ext cx="3695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45_checkout_tampered_payload.png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4_Lab03_45_checkout_tampered_payload_png_CAPTION">
            <a:extLst xmlns:a="http://schemas.openxmlformats.org/drawingml/2006/main">
              <a:ext uri="{FF2B5EF4-FFF2-40B4-BE49-F238E27FC236}">
                <a16:creationId xmlns:a16="http://schemas.microsoft.com/office/drawing/2014/main" id="{7CAC0CDB-3512-4874-BFFD-1A2EE5E2E4E2}"/>
              </a:ext>
            </a:extLst>
          </p:cNvPr>
          <p:cNvSpPr>
            <a:spLocks xmlns:a="http://schemas.openxmlformats.org/drawingml/2006/main" noGrp="1"/>
          </p:cNvSpPr>
          <p:nvPr/>
        </p:nvSpPr>
        <p:spPr>
          <a:xfrm xmlns:a="http://schemas.openxmlformats.org/drawingml/2006/main">
            <a:off x="7124700" y="31146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Payload checkout sau sửa giá</a:t>
            </a:r>
          </a:p>
        </p:txBody>
      </p:sp>
      <p:sp>
        <p:nvSpPr>
          <p:cNvPr id="27" name="PH_S14_Lab03_Lab03_checkout_vulnerable_accepted_png_FRAME">
            <a:extLst xmlns:a="http://schemas.openxmlformats.org/drawingml/2006/main">
              <a:ext uri="{FF2B5EF4-FFF2-40B4-BE49-F238E27FC236}">
                <a16:creationId xmlns:a16="http://schemas.microsoft.com/office/drawing/2014/main" id="{821C12E0-198D-4270-BB48-39C853AEBDB0}"/>
              </a:ext>
            </a:extLst>
          </p:cNvPr>
          <p:cNvSpPr>
            <a:spLocks xmlns:a="http://schemas.openxmlformats.org/drawingml/2006/main" noGrp="1"/>
          </p:cNvSpPr>
          <p:nvPr/>
        </p:nvSpPr>
        <p:spPr>
          <a:xfrm xmlns:a="http://schemas.openxmlformats.org/drawingml/2006/main">
            <a:off x="7096125" y="3857625"/>
            <a:ext cx="4591050" cy="18288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8" name="PH_S14_Lab03_Lab03_checkout_vulnerable_accepted_png_IMAGE">
            <a:extLst xmlns:a="http://schemas.openxmlformats.org/drawingml/2006/main">
              <a:ext uri="{FF2B5EF4-FFF2-40B4-BE49-F238E27FC236}">
                <a16:creationId xmlns:a16="http://schemas.microsoft.com/office/drawing/2014/main" id="{FA06F07B-3084-4362-99FA-51159C0A8CB2}"/>
              </a:ext>
            </a:extLst>
          </p:cNvPr>
          <p:cNvSpPr>
            <a:spLocks xmlns:a="http://schemas.openxmlformats.org/drawingml/2006/main" noGrp="1"/>
          </p:cNvSpPr>
          <p:nvPr/>
        </p:nvSpPr>
        <p:spPr>
          <a:xfrm xmlns:a="http://schemas.openxmlformats.org/drawingml/2006/main">
            <a:off x="7124700" y="3886200"/>
            <a:ext cx="4533900" cy="17716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9" name="PH_S14_Lab03_Lab03_checkout_vulnerable_accepted_png_ICON">
            <a:extLst xmlns:a="http://schemas.openxmlformats.org/drawingml/2006/main">
              <a:ext uri="{FF2B5EF4-FFF2-40B4-BE49-F238E27FC236}">
                <a16:creationId xmlns:a16="http://schemas.microsoft.com/office/drawing/2014/main" id="{DDC0A4EB-4406-4BD2-821D-F08F65E62D25}"/>
              </a:ext>
            </a:extLst>
          </p:cNvPr>
          <p:cNvSpPr>
            <a:spLocks xmlns:a="http://schemas.openxmlformats.org/drawingml/2006/main" noGrp="1"/>
          </p:cNvSpPr>
          <p:nvPr/>
        </p:nvSpPr>
        <p:spPr>
          <a:xfrm xmlns:a="http://schemas.openxmlformats.org/drawingml/2006/main">
            <a:off x="727710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30" name="PH_S14_Lab03_Lab03_checkout_vulnerable_accepted_png_INSTRUCTION">
            <a:extLst xmlns:a="http://schemas.openxmlformats.org/drawingml/2006/main">
              <a:ext uri="{FF2B5EF4-FFF2-40B4-BE49-F238E27FC236}">
                <a16:creationId xmlns:a16="http://schemas.microsoft.com/office/drawing/2014/main" id="{C8583F12-2C01-48B8-85F5-5D1A3449DF1B}"/>
              </a:ext>
            </a:extLst>
          </p:cNvPr>
          <p:cNvSpPr>
            <a:spLocks xmlns:a="http://schemas.openxmlformats.org/drawingml/2006/main" noGrp="1"/>
          </p:cNvSpPr>
          <p:nvPr/>
        </p:nvSpPr>
        <p:spPr>
          <a:xfrm xmlns:a="http://schemas.openxmlformats.org/drawingml/2006/main">
            <a:off x="7791450" y="4057650"/>
            <a:ext cx="3695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Lab03_checkout_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vulnerable_accepted.png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31" name="PH_S14_Lab03_Lab03_checkout_vulnerable_accepted_png_CAPTION">
            <a:extLst xmlns:a="http://schemas.openxmlformats.org/drawingml/2006/main">
              <a:ext uri="{FF2B5EF4-FFF2-40B4-BE49-F238E27FC236}">
                <a16:creationId xmlns:a16="http://schemas.microsoft.com/office/drawing/2014/main" id="{95B736B5-4244-45E7-9964-7A4BF62690C8}"/>
              </a:ext>
            </a:extLst>
          </p:cNvPr>
          <p:cNvSpPr>
            <a:spLocks xmlns:a="http://schemas.openxmlformats.org/drawingml/2006/main" noGrp="1"/>
          </p:cNvSpPr>
          <p:nvPr/>
        </p:nvSpPr>
        <p:spPr>
          <a:xfrm xmlns:a="http://schemas.openxmlformats.org/drawingml/2006/main">
            <a:off x="7124700" y="52482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Vulnerable chấp nhận price=1</a:t>
            </a:r>
          </a:p>
        </p:txBody>
      </p:sp>
      <p:sp>
        <p:nvSpPr>
          <p:cNvPr id="32" name="S14_CODE">
            <a:extLst xmlns:a="http://schemas.openxmlformats.org/drawingml/2006/main">
              <a:ext uri="{FF2B5EF4-FFF2-40B4-BE49-F238E27FC236}">
                <a16:creationId xmlns:a16="http://schemas.microsoft.com/office/drawing/2014/main" id="{4CA32AAA-78DD-4B45-9B85-4E53855EA0E6}"/>
              </a:ext>
            </a:extLst>
          </p:cNvPr>
          <p:cNvSpPr>
            <a:spLocks xmlns:a="http://schemas.openxmlformats.org/drawingml/2006/main" noGrp="1"/>
          </p:cNvSpPr>
          <p:nvPr/>
        </p:nvSpPr>
        <p:spPr>
          <a:xfrm xmlns:a="http://schemas.openxmlformats.org/drawingml/2006/main">
            <a:off x="533400" y="4114800"/>
            <a:ext cx="6191250" cy="1543050"/>
          </a:xfrm>
          <a:prstGeom xmlns:a="http://schemas.openxmlformats.org/drawingml/2006/main" prst="rect">
            <a:avLst/>
          </a:prstGeom>
          <a:solidFill xmlns:a="http://schemas.openxmlformats.org/drawingml/2006/main">
            <a:srgbClr val="0B0B0B"/>
          </a:solidFill>
          <a:ln xmlns:a="http://schemas.openxmlformats.org/drawingml/2006/main" w="9525">
            <a:solidFill>
              <a:srgbClr val="E85D26"/>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VULNERABLE: request.form["price"] → chấp nhận price=1 → tạo order sai.</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SECURE: SELECT price_vnd FROM products WHERE id =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INVARIANT: total = server_price × quantity</a:t>
            </a:r>
          </a:p>
        </p:txBody>
      </p:sp>
    </p:spTree>
    <p:extLst>
      <p:ext uri="{BB962C8B-B14F-4D97-AF65-F5344CB8AC3E}">
        <p14:creationId xmlns:p14="http://schemas.microsoft.com/office/powerpoint/2010/main" val="1770232142"/>
      </p:ext>
    </p:extLst>
  </p:cSld>
</p:sld>
</file>

<file path=ppt/slides/slide1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3" name="S15_EYEBROW">
            <a:extLst xmlns:a="http://schemas.openxmlformats.org/drawingml/2006/main">
              <a:ext uri="{FF2B5EF4-FFF2-40B4-BE49-F238E27FC236}">
                <a16:creationId xmlns:a16="http://schemas.microsoft.com/office/drawing/2014/main" id="{63AF9515-843A-47C2-8E23-49E3EB9C088A}"/>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5_TITLE">
            <a:extLst xmlns:a="http://schemas.openxmlformats.org/drawingml/2006/main">
              <a:ext uri="{FF2B5EF4-FFF2-40B4-BE49-F238E27FC236}">
                <a16:creationId xmlns:a16="http://schemas.microsoft.com/office/drawing/2014/main" id="{F2B9C343-F64C-49E0-9748-E1091E9C5B26}"/>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IDOR là thiếu object-level authorization</a:t>
            </a:r>
          </a:p>
        </p:txBody>
      </p:sp>
      <p:sp>
        <p:nvSpPr>
          <p:cNvPr id="3" name="S15_SUBTITLE">
            <a:extLst xmlns:a="http://schemas.openxmlformats.org/drawingml/2006/main">
              <a:ext uri="{FF2B5EF4-FFF2-40B4-BE49-F238E27FC236}">
                <a16:creationId xmlns:a16="http://schemas.microsoft.com/office/drawing/2014/main" id="{E065309C-F95A-4AB2-9246-F9F143A31541}"/>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IDOR thuộc OWASP Broken Access Control: tìm thấy object không đồng nghĩa được phép đọc.</a:t>
            </a:r>
          </a:p>
        </p:txBody>
      </p:sp>
      <p:sp>
        <p:nvSpPr>
          <p:cNvPr id="4" name="S15_TITLE_RULE">
            <a:extLst xmlns:a="http://schemas.openxmlformats.org/drawingml/2006/main">
              <a:ext uri="{FF2B5EF4-FFF2-40B4-BE49-F238E27FC236}">
                <a16:creationId xmlns:a16="http://schemas.microsoft.com/office/drawing/2014/main" id="{E0CE6861-7958-4CA8-BBF8-E28D22452BDE}"/>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5_FOOTER_RULE">
            <a:extLst xmlns:a="http://schemas.openxmlformats.org/drawingml/2006/main">
              <a:ext uri="{FF2B5EF4-FFF2-40B4-BE49-F238E27FC236}">
                <a16:creationId xmlns:a16="http://schemas.microsoft.com/office/drawing/2014/main" id="{2E738571-00DC-4ABC-9A90-B2F6FD9483C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5_SOURCE">
            <a:extLst xmlns:a="http://schemas.openxmlformats.org/drawingml/2006/main">
              <a:ext uri="{FF2B5EF4-FFF2-40B4-BE49-F238E27FC236}">
                <a16:creationId xmlns:a16="http://schemas.microsoft.com/office/drawing/2014/main" id="{B8D44609-C373-4F67-AA91-F64C64705B11}"/>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authorization.py · seed.py</a:t>
            </a:r>
          </a:p>
        </p:txBody>
      </p:sp>
      <p:sp>
        <p:nvSpPr>
          <p:cNvPr id="7" name="S15_NUMBER">
            <a:extLst xmlns:a="http://schemas.openxmlformats.org/drawingml/2006/main">
              <a:ext uri="{FF2B5EF4-FFF2-40B4-BE49-F238E27FC236}">
                <a16:creationId xmlns:a16="http://schemas.microsoft.com/office/drawing/2014/main" id="{9AB81531-729A-4670-B405-BA735B8C84F7}"/>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15</a:t>
            </a:r>
          </a:p>
        </p:txBody>
      </p:sp>
      <p:sp>
        <p:nvSpPr>
          <p:cNvPr id="8" name="S15_VULN_ARROW_1">
            <a:extLst xmlns:a="http://schemas.openxmlformats.org/drawingml/2006/main">
              <a:ext uri="{FF2B5EF4-FFF2-40B4-BE49-F238E27FC236}">
                <a16:creationId xmlns:a16="http://schemas.microsoft.com/office/drawing/2014/main" id="{E0AC8D17-7D74-4453-AC95-69A2410DF923}"/>
              </a:ext>
            </a:extLst>
          </p:cNvPr>
          <p:cNvSpPr>
            <a:spLocks xmlns:a="http://schemas.openxmlformats.org/drawingml/2006/main" noGrp="1"/>
          </p:cNvSpPr>
          <p:nvPr/>
        </p:nvSpPr>
        <p:spPr>
          <a:xfrm xmlns:a="http://schemas.openxmlformats.org/drawingml/2006/main">
            <a:off x="191452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15_VULN_ARROW_2">
            <a:extLst xmlns:a="http://schemas.openxmlformats.org/drawingml/2006/main">
              <a:ext uri="{FF2B5EF4-FFF2-40B4-BE49-F238E27FC236}">
                <a16:creationId xmlns:a16="http://schemas.microsoft.com/office/drawing/2014/main" id="{A25901D0-36D6-4BCA-8449-6E455DED808E}"/>
              </a:ext>
            </a:extLst>
          </p:cNvPr>
          <p:cNvSpPr>
            <a:spLocks xmlns:a="http://schemas.openxmlformats.org/drawingml/2006/main" noGrp="1"/>
          </p:cNvSpPr>
          <p:nvPr/>
        </p:nvSpPr>
        <p:spPr>
          <a:xfrm xmlns:a="http://schemas.openxmlformats.org/drawingml/2006/main">
            <a:off x="3562350"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15_VULN_ARROW_3">
            <a:extLst xmlns:a="http://schemas.openxmlformats.org/drawingml/2006/main">
              <a:ext uri="{FF2B5EF4-FFF2-40B4-BE49-F238E27FC236}">
                <a16:creationId xmlns:a16="http://schemas.microsoft.com/office/drawing/2014/main" id="{FC2FA796-8190-4A18-A6BA-81C118803721}"/>
              </a:ext>
            </a:extLst>
          </p:cNvPr>
          <p:cNvSpPr>
            <a:spLocks xmlns:a="http://schemas.openxmlformats.org/drawingml/2006/main" noGrp="1"/>
          </p:cNvSpPr>
          <p:nvPr/>
        </p:nvSpPr>
        <p:spPr>
          <a:xfrm xmlns:a="http://schemas.openxmlformats.org/drawingml/2006/main">
            <a:off x="5210175" y="2057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5_VULN_NODE_1">
            <a:extLst xmlns:a="http://schemas.openxmlformats.org/drawingml/2006/main">
              <a:ext uri="{FF2B5EF4-FFF2-40B4-BE49-F238E27FC236}">
                <a16:creationId xmlns:a16="http://schemas.microsoft.com/office/drawing/2014/main" id="{173EBE70-E534-4B85-BAB2-00ADB8CEB17D}"/>
              </a:ext>
            </a:extLst>
          </p:cNvPr>
          <p:cNvSpPr>
            <a:spLocks xmlns:a="http://schemas.openxmlformats.org/drawingml/2006/main" noGrp="1"/>
          </p:cNvSpPr>
          <p:nvPr/>
        </p:nvSpPr>
        <p:spPr>
          <a:xfrm xmlns:a="http://schemas.openxmlformats.org/drawingml/2006/main">
            <a:off x="53340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user_a</a:t>
            </a:r>
          </a:p>
        </p:txBody>
      </p:sp>
      <p:sp>
        <p:nvSpPr>
          <p:cNvPr id="12" name="S15_VULN_NODE_2">
            <a:extLst xmlns:a="http://schemas.openxmlformats.org/drawingml/2006/main">
              <a:ext uri="{FF2B5EF4-FFF2-40B4-BE49-F238E27FC236}">
                <a16:creationId xmlns:a16="http://schemas.microsoft.com/office/drawing/2014/main" id="{36DD5E00-B678-4B6B-92DD-62B860AB1434}"/>
              </a:ext>
            </a:extLst>
          </p:cNvPr>
          <p:cNvSpPr>
            <a:spLocks xmlns:a="http://schemas.openxmlformats.org/drawingml/2006/main" noGrp="1"/>
          </p:cNvSpPr>
          <p:nvPr/>
        </p:nvSpPr>
        <p:spPr>
          <a:xfrm xmlns:a="http://schemas.openxmlformats.org/drawingml/2006/main">
            <a:off x="218122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id=1002</a:t>
            </a:r>
          </a:p>
        </p:txBody>
      </p:sp>
      <p:sp>
        <p:nvSpPr>
          <p:cNvPr id="13" name="S15_VULN_NODE_3">
            <a:extLst xmlns:a="http://schemas.openxmlformats.org/drawingml/2006/main">
              <a:ext uri="{FF2B5EF4-FFF2-40B4-BE49-F238E27FC236}">
                <a16:creationId xmlns:a16="http://schemas.microsoft.com/office/drawing/2014/main" id="{044E968D-8F0D-48ED-AB7C-961893B9A7C9}"/>
              </a:ext>
            </a:extLst>
          </p:cNvPr>
          <p:cNvSpPr>
            <a:spLocks xmlns:a="http://schemas.openxmlformats.org/drawingml/2006/main" noGrp="1"/>
          </p:cNvSpPr>
          <p:nvPr/>
        </p:nvSpPr>
        <p:spPr>
          <a:xfrm xmlns:a="http://schemas.openxmlformats.org/drawingml/2006/main">
            <a:off x="3829050"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SELECT by id</a:t>
            </a:r>
          </a:p>
        </p:txBody>
      </p:sp>
      <p:sp>
        <p:nvSpPr>
          <p:cNvPr id="14" name="S15_VULN_NODE_4">
            <a:extLst xmlns:a="http://schemas.openxmlformats.org/drawingml/2006/main">
              <a:ext uri="{FF2B5EF4-FFF2-40B4-BE49-F238E27FC236}">
                <a16:creationId xmlns:a16="http://schemas.microsoft.com/office/drawing/2014/main" id="{18D046CC-3BA6-46BD-B1B2-5C5D7551BF9C}"/>
              </a:ext>
            </a:extLst>
          </p:cNvPr>
          <p:cNvSpPr>
            <a:spLocks xmlns:a="http://schemas.openxmlformats.org/drawingml/2006/main" noGrp="1"/>
          </p:cNvSpPr>
          <p:nvPr/>
        </p:nvSpPr>
        <p:spPr>
          <a:xfrm xmlns:a="http://schemas.openxmlformats.org/drawingml/2006/main">
            <a:off x="5476875" y="175260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invoice user_b</a:t>
            </a:r>
          </a:p>
        </p:txBody>
      </p:sp>
      <p:sp>
        <p:nvSpPr>
          <p:cNvPr id="15" name="S15_SAFE_ARROW_1">
            <a:extLst xmlns:a="http://schemas.openxmlformats.org/drawingml/2006/main">
              <a:ext uri="{FF2B5EF4-FFF2-40B4-BE49-F238E27FC236}">
                <a16:creationId xmlns:a16="http://schemas.microsoft.com/office/drawing/2014/main" id="{7650243F-BAD5-4A1F-8121-A4D2B2AE0476}"/>
              </a:ext>
            </a:extLst>
          </p:cNvPr>
          <p:cNvSpPr>
            <a:spLocks xmlns:a="http://schemas.openxmlformats.org/drawingml/2006/main" noGrp="1"/>
          </p:cNvSpPr>
          <p:nvPr/>
        </p:nvSpPr>
        <p:spPr>
          <a:xfrm xmlns:a="http://schemas.openxmlformats.org/drawingml/2006/main">
            <a:off x="191452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6" name="S15_SAFE_ARROW_2">
            <a:extLst xmlns:a="http://schemas.openxmlformats.org/drawingml/2006/main">
              <a:ext uri="{FF2B5EF4-FFF2-40B4-BE49-F238E27FC236}">
                <a16:creationId xmlns:a16="http://schemas.microsoft.com/office/drawing/2014/main" id="{207C404E-61E6-4277-90CF-B49AD6E61FA9}"/>
              </a:ext>
            </a:extLst>
          </p:cNvPr>
          <p:cNvSpPr>
            <a:spLocks xmlns:a="http://schemas.openxmlformats.org/drawingml/2006/main" noGrp="1"/>
          </p:cNvSpPr>
          <p:nvPr/>
        </p:nvSpPr>
        <p:spPr>
          <a:xfrm xmlns:a="http://schemas.openxmlformats.org/drawingml/2006/main">
            <a:off x="3562350"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7" name="S15_SAFE_ARROW_3">
            <a:extLst xmlns:a="http://schemas.openxmlformats.org/drawingml/2006/main">
              <a:ext uri="{FF2B5EF4-FFF2-40B4-BE49-F238E27FC236}">
                <a16:creationId xmlns:a16="http://schemas.microsoft.com/office/drawing/2014/main" id="{5EB05754-39BA-444F-A962-38367D68BE26}"/>
              </a:ext>
            </a:extLst>
          </p:cNvPr>
          <p:cNvSpPr>
            <a:spLocks xmlns:a="http://schemas.openxmlformats.org/drawingml/2006/main" noGrp="1"/>
          </p:cNvSpPr>
          <p:nvPr/>
        </p:nvSpPr>
        <p:spPr>
          <a:xfrm xmlns:a="http://schemas.openxmlformats.org/drawingml/2006/main">
            <a:off x="5210175" y="31813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5_SAFE_NODE_1">
            <a:extLst xmlns:a="http://schemas.openxmlformats.org/drawingml/2006/main">
              <a:ext uri="{FF2B5EF4-FFF2-40B4-BE49-F238E27FC236}">
                <a16:creationId xmlns:a16="http://schemas.microsoft.com/office/drawing/2014/main" id="{57F732D4-185F-4D23-B93D-FF792480D96E}"/>
              </a:ext>
            </a:extLst>
          </p:cNvPr>
          <p:cNvSpPr>
            <a:spLocks xmlns:a="http://schemas.openxmlformats.org/drawingml/2006/main" noGrp="1"/>
          </p:cNvSpPr>
          <p:nvPr/>
        </p:nvSpPr>
        <p:spPr>
          <a:xfrm xmlns:a="http://schemas.openxmlformats.org/drawingml/2006/main">
            <a:off x="53340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user_a</a:t>
            </a:r>
          </a:p>
        </p:txBody>
      </p:sp>
      <p:sp>
        <p:nvSpPr>
          <p:cNvPr id="19" name="S15_SAFE_NODE_2">
            <a:extLst xmlns:a="http://schemas.openxmlformats.org/drawingml/2006/main">
              <a:ext uri="{FF2B5EF4-FFF2-40B4-BE49-F238E27FC236}">
                <a16:creationId xmlns:a16="http://schemas.microsoft.com/office/drawing/2014/main" id="{AAD2A66D-A5E6-4908-9A9E-DC8D2947C8A7}"/>
              </a:ext>
            </a:extLst>
          </p:cNvPr>
          <p:cNvSpPr>
            <a:spLocks xmlns:a="http://schemas.openxmlformats.org/drawingml/2006/main" noGrp="1"/>
          </p:cNvSpPr>
          <p:nvPr/>
        </p:nvSpPr>
        <p:spPr>
          <a:xfrm xmlns:a="http://schemas.openxmlformats.org/drawingml/2006/main">
            <a:off x="218122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id=1002</a:t>
            </a:r>
          </a:p>
        </p:txBody>
      </p:sp>
      <p:sp>
        <p:nvSpPr>
          <p:cNvPr id="20" name="S15_SAFE_NODE_3">
            <a:extLst xmlns:a="http://schemas.openxmlformats.org/drawingml/2006/main">
              <a:ext uri="{FF2B5EF4-FFF2-40B4-BE49-F238E27FC236}">
                <a16:creationId xmlns:a16="http://schemas.microsoft.com/office/drawing/2014/main" id="{9A2ECE4B-1864-4645-92A0-2CC298CD3399}"/>
              </a:ext>
            </a:extLst>
          </p:cNvPr>
          <p:cNvSpPr>
            <a:spLocks xmlns:a="http://schemas.openxmlformats.org/drawingml/2006/main" noGrp="1"/>
          </p:cNvSpPr>
          <p:nvPr/>
        </p:nvSpPr>
        <p:spPr>
          <a:xfrm xmlns:a="http://schemas.openxmlformats.org/drawingml/2006/main">
            <a:off x="3829050"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owner/admin?</a:t>
            </a:r>
          </a:p>
        </p:txBody>
      </p:sp>
      <p:sp>
        <p:nvSpPr>
          <p:cNvPr id="21" name="S15_SAFE_NODE_4">
            <a:extLst xmlns:a="http://schemas.openxmlformats.org/drawingml/2006/main">
              <a:ext uri="{FF2B5EF4-FFF2-40B4-BE49-F238E27FC236}">
                <a16:creationId xmlns:a16="http://schemas.microsoft.com/office/drawing/2014/main" id="{A5BDC6FA-1341-4468-BDAA-DF68499AB1D5}"/>
              </a:ext>
            </a:extLst>
          </p:cNvPr>
          <p:cNvSpPr>
            <a:spLocks xmlns:a="http://schemas.openxmlformats.org/drawingml/2006/main" noGrp="1"/>
          </p:cNvSpPr>
          <p:nvPr/>
        </p:nvSpPr>
        <p:spPr>
          <a:xfrm xmlns:a="http://schemas.openxmlformats.org/drawingml/2006/main">
            <a:off x="5476875" y="2876550"/>
            <a:ext cx="1247775" cy="781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403</a:t>
            </a:r>
          </a:p>
        </p:txBody>
      </p:sp>
      <p:sp>
        <p:nvSpPr>
          <p:cNvPr id="22" name="PH_S15_Lab03_51_invoice_secure_403_response_png_FRAME">
            <a:extLst xmlns:a="http://schemas.openxmlformats.org/drawingml/2006/main">
              <a:ext uri="{FF2B5EF4-FFF2-40B4-BE49-F238E27FC236}">
                <a16:creationId xmlns:a16="http://schemas.microsoft.com/office/drawing/2014/main" id="{16D2B82A-D79B-447B-9ED1-C1B5B00FAFF2}"/>
              </a:ext>
            </a:extLst>
          </p:cNvPr>
          <p:cNvSpPr>
            <a:spLocks xmlns:a="http://schemas.openxmlformats.org/drawingml/2006/main" noGrp="1"/>
          </p:cNvSpPr>
          <p:nvPr/>
        </p:nvSpPr>
        <p:spPr>
          <a:xfrm xmlns:a="http://schemas.openxmlformats.org/drawingml/2006/main">
            <a:off x="7096125" y="1724025"/>
            <a:ext cx="4591050" cy="2457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5_Lab03_51_invoice_secure_403_response_png_IMAGE">
            <a:extLst xmlns:a="http://schemas.openxmlformats.org/drawingml/2006/main">
              <a:ext uri="{FF2B5EF4-FFF2-40B4-BE49-F238E27FC236}">
                <a16:creationId xmlns:a16="http://schemas.microsoft.com/office/drawing/2014/main" id="{01118294-C2D2-4951-94F8-A289E49C98C6}"/>
              </a:ext>
            </a:extLst>
          </p:cNvPr>
          <p:cNvSpPr>
            <a:spLocks xmlns:a="http://schemas.openxmlformats.org/drawingml/2006/main" noGrp="1"/>
          </p:cNvSpPr>
          <p:nvPr/>
        </p:nvSpPr>
        <p:spPr>
          <a:xfrm xmlns:a="http://schemas.openxmlformats.org/drawingml/2006/main">
            <a:off x="7124700" y="1752600"/>
            <a:ext cx="4533900" cy="2400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5_Lab03_51_invoice_secure_403_response_png_ICON">
            <a:extLst xmlns:a="http://schemas.openxmlformats.org/drawingml/2006/main">
              <a:ext uri="{FF2B5EF4-FFF2-40B4-BE49-F238E27FC236}">
                <a16:creationId xmlns:a16="http://schemas.microsoft.com/office/drawing/2014/main" id="{2962CB71-7132-4A93-860C-1234B40B14EB}"/>
              </a:ext>
            </a:extLst>
          </p:cNvPr>
          <p:cNvSpPr>
            <a:spLocks xmlns:a="http://schemas.openxmlformats.org/drawingml/2006/main" noGrp="1"/>
          </p:cNvSpPr>
          <p:nvPr/>
        </p:nvSpPr>
        <p:spPr>
          <a:xfrm xmlns:a="http://schemas.openxmlformats.org/drawingml/2006/main">
            <a:off x="72771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5_Lab03_51_invoice_secure_403_response_png_INSTRUCTION">
            <a:extLst xmlns:a="http://schemas.openxmlformats.org/drawingml/2006/main">
              <a:ext uri="{FF2B5EF4-FFF2-40B4-BE49-F238E27FC236}">
                <a16:creationId xmlns:a16="http://schemas.microsoft.com/office/drawing/2014/main" id="{A7588CE4-48CB-405A-BE1F-7A1888B16EE6}"/>
              </a:ext>
            </a:extLst>
          </p:cNvPr>
          <p:cNvSpPr>
            <a:spLocks xmlns:a="http://schemas.openxmlformats.org/drawingml/2006/main" noGrp="1"/>
          </p:cNvSpPr>
          <p:nvPr/>
        </p:nvSpPr>
        <p:spPr>
          <a:xfrm xmlns:a="http://schemas.openxmlformats.org/drawingml/2006/main">
            <a:off x="7791450" y="1924050"/>
            <a:ext cx="36957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51_invoice_secure_403_response.png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5_Lab03_51_invoice_secure_403_response_png_CAPTION">
            <a:extLst xmlns:a="http://schemas.openxmlformats.org/drawingml/2006/main">
              <a:ext uri="{FF2B5EF4-FFF2-40B4-BE49-F238E27FC236}">
                <a16:creationId xmlns:a16="http://schemas.microsoft.com/office/drawing/2014/main" id="{29918910-9765-4B42-8FFE-06E7FD1256C0}"/>
              </a:ext>
            </a:extLst>
          </p:cNvPr>
          <p:cNvSpPr>
            <a:spLocks xmlns:a="http://schemas.openxmlformats.org/drawingml/2006/main" noGrp="1"/>
          </p:cNvSpPr>
          <p:nvPr/>
        </p:nvSpPr>
        <p:spPr>
          <a:xfrm xmlns:a="http://schemas.openxmlformats.org/drawingml/2006/main">
            <a:off x="7124700" y="374332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secure trả 403 cho invoice khác chủ</a:t>
            </a:r>
          </a:p>
        </p:txBody>
      </p:sp>
      <p:sp>
        <p:nvSpPr>
          <p:cNvPr id="27" name="S15_POLICY_H0">
            <a:extLst xmlns:a="http://schemas.openxmlformats.org/drawingml/2006/main">
              <a:ext uri="{FF2B5EF4-FFF2-40B4-BE49-F238E27FC236}">
                <a16:creationId xmlns:a16="http://schemas.microsoft.com/office/drawing/2014/main" id="{F9FA4EF3-6CA1-4BE0-85EE-642A644C0249}"/>
              </a:ext>
            </a:extLst>
          </p:cNvPr>
          <p:cNvSpPr>
            <a:spLocks xmlns:a="http://schemas.openxmlformats.org/drawingml/2006/main" noGrp="1"/>
          </p:cNvSpPr>
          <p:nvPr/>
        </p:nvSpPr>
        <p:spPr>
          <a:xfrm xmlns:a="http://schemas.openxmlformats.org/drawingml/2006/main">
            <a:off x="533400" y="4533900"/>
            <a:ext cx="18097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OBJECT</a:t>
            </a:r>
          </a:p>
        </p:txBody>
      </p:sp>
      <p:sp>
        <p:nvSpPr>
          <p:cNvPr id="28" name="S15_POLICY_H1">
            <a:extLst xmlns:a="http://schemas.openxmlformats.org/drawingml/2006/main">
              <a:ext uri="{FF2B5EF4-FFF2-40B4-BE49-F238E27FC236}">
                <a16:creationId xmlns:a16="http://schemas.microsoft.com/office/drawing/2014/main" id="{4AAF719F-133A-4806-9B6E-0502D6EE8C5D}"/>
              </a:ext>
            </a:extLst>
          </p:cNvPr>
          <p:cNvSpPr>
            <a:spLocks xmlns:a="http://schemas.openxmlformats.org/drawingml/2006/main" noGrp="1"/>
          </p:cNvSpPr>
          <p:nvPr/>
        </p:nvSpPr>
        <p:spPr>
          <a:xfrm xmlns:a="http://schemas.openxmlformats.org/drawingml/2006/main">
            <a:off x="2343150" y="4533900"/>
            <a:ext cx="20002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REQUESTER</a:t>
            </a:r>
          </a:p>
        </p:txBody>
      </p:sp>
      <p:sp>
        <p:nvSpPr>
          <p:cNvPr id="29" name="S15_POLICY_H2">
            <a:extLst xmlns:a="http://schemas.openxmlformats.org/drawingml/2006/main">
              <a:ext uri="{FF2B5EF4-FFF2-40B4-BE49-F238E27FC236}">
                <a16:creationId xmlns:a16="http://schemas.microsoft.com/office/drawing/2014/main" id="{34B938A5-3F73-498B-8022-4DE65B093E69}"/>
              </a:ext>
            </a:extLst>
          </p:cNvPr>
          <p:cNvSpPr>
            <a:spLocks xmlns:a="http://schemas.openxmlformats.org/drawingml/2006/main" noGrp="1"/>
          </p:cNvSpPr>
          <p:nvPr/>
        </p:nvSpPr>
        <p:spPr>
          <a:xfrm xmlns:a="http://schemas.openxmlformats.org/drawingml/2006/main">
            <a:off x="4343400" y="4533900"/>
            <a:ext cx="44767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POLICY</a:t>
            </a:r>
          </a:p>
        </p:txBody>
      </p:sp>
      <p:sp>
        <p:nvSpPr>
          <p:cNvPr id="30" name="S15_POLICY_H3">
            <a:extLst xmlns:a="http://schemas.openxmlformats.org/drawingml/2006/main">
              <a:ext uri="{FF2B5EF4-FFF2-40B4-BE49-F238E27FC236}">
                <a16:creationId xmlns:a16="http://schemas.microsoft.com/office/drawing/2014/main" id="{C2DE2664-FCC7-4830-8785-BC8223021D33}"/>
              </a:ext>
            </a:extLst>
          </p:cNvPr>
          <p:cNvSpPr>
            <a:spLocks xmlns:a="http://schemas.openxmlformats.org/drawingml/2006/main" noGrp="1"/>
          </p:cNvSpPr>
          <p:nvPr/>
        </p:nvSpPr>
        <p:spPr>
          <a:xfrm xmlns:a="http://schemas.openxmlformats.org/drawingml/2006/main">
            <a:off x="8820150" y="4533900"/>
            <a:ext cx="2838450" cy="35718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RESULT</a:t>
            </a:r>
          </a:p>
        </p:txBody>
      </p:sp>
      <p:sp>
        <p:nvSpPr>
          <p:cNvPr id="31" name="S15_POLICY_R0C0">
            <a:extLst xmlns:a="http://schemas.openxmlformats.org/drawingml/2006/main">
              <a:ext uri="{FF2B5EF4-FFF2-40B4-BE49-F238E27FC236}">
                <a16:creationId xmlns:a16="http://schemas.microsoft.com/office/drawing/2014/main" id="{EE9649D7-07CC-4C87-82C1-9E95FD5945E5}"/>
              </a:ext>
            </a:extLst>
          </p:cNvPr>
          <p:cNvSpPr>
            <a:spLocks xmlns:a="http://schemas.openxmlformats.org/drawingml/2006/main" noGrp="1"/>
          </p:cNvSpPr>
          <p:nvPr/>
        </p:nvSpPr>
        <p:spPr>
          <a:xfrm xmlns:a="http://schemas.openxmlformats.org/drawingml/2006/main">
            <a:off x="533400" y="4891088"/>
            <a:ext cx="1809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1001</a:t>
            </a:r>
          </a:p>
        </p:txBody>
      </p:sp>
      <p:sp>
        <p:nvSpPr>
          <p:cNvPr id="32" name="S15_POLICY_R0C1">
            <a:extLst xmlns:a="http://schemas.openxmlformats.org/drawingml/2006/main">
              <a:ext uri="{FF2B5EF4-FFF2-40B4-BE49-F238E27FC236}">
                <a16:creationId xmlns:a16="http://schemas.microsoft.com/office/drawing/2014/main" id="{BBF41E64-E424-47CF-8897-FC3A4D11B6F8}"/>
              </a:ext>
            </a:extLst>
          </p:cNvPr>
          <p:cNvSpPr>
            <a:spLocks xmlns:a="http://schemas.openxmlformats.org/drawingml/2006/main" noGrp="1"/>
          </p:cNvSpPr>
          <p:nvPr/>
        </p:nvSpPr>
        <p:spPr>
          <a:xfrm xmlns:a="http://schemas.openxmlformats.org/drawingml/2006/main">
            <a:off x="2343150" y="4891088"/>
            <a:ext cx="20002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user_a</a:t>
            </a:r>
          </a:p>
        </p:txBody>
      </p:sp>
      <p:sp>
        <p:nvSpPr>
          <p:cNvPr id="33" name="S15_POLICY_R0C2">
            <a:extLst xmlns:a="http://schemas.openxmlformats.org/drawingml/2006/main">
              <a:ext uri="{FF2B5EF4-FFF2-40B4-BE49-F238E27FC236}">
                <a16:creationId xmlns:a16="http://schemas.microsoft.com/office/drawing/2014/main" id="{1EAA72BA-35AE-41D9-B71A-8C3804FF8CAE}"/>
              </a:ext>
            </a:extLst>
          </p:cNvPr>
          <p:cNvSpPr>
            <a:spLocks xmlns:a="http://schemas.openxmlformats.org/drawingml/2006/main" noGrp="1"/>
          </p:cNvSpPr>
          <p:nvPr/>
        </p:nvSpPr>
        <p:spPr>
          <a:xfrm xmlns:a="http://schemas.openxmlformats.org/drawingml/2006/main">
            <a:off x="4343400" y="4891088"/>
            <a:ext cx="4476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owner</a:t>
            </a:r>
          </a:p>
        </p:txBody>
      </p:sp>
      <p:sp>
        <p:nvSpPr>
          <p:cNvPr id="34" name="S15_POLICY_R0C3">
            <a:extLst xmlns:a="http://schemas.openxmlformats.org/drawingml/2006/main">
              <a:ext uri="{FF2B5EF4-FFF2-40B4-BE49-F238E27FC236}">
                <a16:creationId xmlns:a16="http://schemas.microsoft.com/office/drawing/2014/main" id="{E8B35B9F-A473-4B37-87BB-3CD6F1FDE298}"/>
              </a:ext>
            </a:extLst>
          </p:cNvPr>
          <p:cNvSpPr>
            <a:spLocks xmlns:a="http://schemas.openxmlformats.org/drawingml/2006/main" noGrp="1"/>
          </p:cNvSpPr>
          <p:nvPr/>
        </p:nvSpPr>
        <p:spPr>
          <a:xfrm xmlns:a="http://schemas.openxmlformats.org/drawingml/2006/main">
            <a:off x="8820150" y="4891088"/>
            <a:ext cx="28384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a:t>
            </a:r>
          </a:p>
        </p:txBody>
      </p:sp>
      <p:sp>
        <p:nvSpPr>
          <p:cNvPr id="35" name="S15_POLICY_R1C0">
            <a:extLst xmlns:a="http://schemas.openxmlformats.org/drawingml/2006/main">
              <a:ext uri="{FF2B5EF4-FFF2-40B4-BE49-F238E27FC236}">
                <a16:creationId xmlns:a16="http://schemas.microsoft.com/office/drawing/2014/main" id="{26458E56-16CB-44F1-884D-6E4E2A8B4522}"/>
              </a:ext>
            </a:extLst>
          </p:cNvPr>
          <p:cNvSpPr>
            <a:spLocks xmlns:a="http://schemas.openxmlformats.org/drawingml/2006/main" noGrp="1"/>
          </p:cNvSpPr>
          <p:nvPr/>
        </p:nvSpPr>
        <p:spPr>
          <a:xfrm xmlns:a="http://schemas.openxmlformats.org/drawingml/2006/main">
            <a:off x="533400" y="5248275"/>
            <a:ext cx="18097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1002</a:t>
            </a:r>
          </a:p>
        </p:txBody>
      </p:sp>
      <p:sp>
        <p:nvSpPr>
          <p:cNvPr id="36" name="S15_POLICY_R1C1">
            <a:extLst xmlns:a="http://schemas.openxmlformats.org/drawingml/2006/main">
              <a:ext uri="{FF2B5EF4-FFF2-40B4-BE49-F238E27FC236}">
                <a16:creationId xmlns:a16="http://schemas.microsoft.com/office/drawing/2014/main" id="{F5EF6790-E465-4C8D-BA39-6CFD2A705874}"/>
              </a:ext>
            </a:extLst>
          </p:cNvPr>
          <p:cNvSpPr>
            <a:spLocks xmlns:a="http://schemas.openxmlformats.org/drawingml/2006/main" noGrp="1"/>
          </p:cNvSpPr>
          <p:nvPr/>
        </p:nvSpPr>
        <p:spPr>
          <a:xfrm xmlns:a="http://schemas.openxmlformats.org/drawingml/2006/main">
            <a:off x="2343150" y="5248275"/>
            <a:ext cx="20002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user_a</a:t>
            </a:r>
          </a:p>
        </p:txBody>
      </p:sp>
      <p:sp>
        <p:nvSpPr>
          <p:cNvPr id="37" name="S15_POLICY_R1C2">
            <a:extLst xmlns:a="http://schemas.openxmlformats.org/drawingml/2006/main">
              <a:ext uri="{FF2B5EF4-FFF2-40B4-BE49-F238E27FC236}">
                <a16:creationId xmlns:a16="http://schemas.microsoft.com/office/drawing/2014/main" id="{301FCFD6-8E8C-46C3-8B5B-61EA219A7F98}"/>
              </a:ext>
            </a:extLst>
          </p:cNvPr>
          <p:cNvSpPr>
            <a:spLocks xmlns:a="http://schemas.openxmlformats.org/drawingml/2006/main" noGrp="1"/>
          </p:cNvSpPr>
          <p:nvPr/>
        </p:nvSpPr>
        <p:spPr>
          <a:xfrm xmlns:a="http://schemas.openxmlformats.org/drawingml/2006/main">
            <a:off x="4343400" y="5248275"/>
            <a:ext cx="44767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not owner/admin</a:t>
            </a:r>
          </a:p>
        </p:txBody>
      </p:sp>
      <p:sp>
        <p:nvSpPr>
          <p:cNvPr id="38" name="S15_POLICY_R1C3">
            <a:extLst xmlns:a="http://schemas.openxmlformats.org/drawingml/2006/main">
              <a:ext uri="{FF2B5EF4-FFF2-40B4-BE49-F238E27FC236}">
                <a16:creationId xmlns:a16="http://schemas.microsoft.com/office/drawing/2014/main" id="{FE31CA79-3E40-4432-A60A-B9FDE51DB9F8}"/>
              </a:ext>
            </a:extLst>
          </p:cNvPr>
          <p:cNvSpPr>
            <a:spLocks xmlns:a="http://schemas.openxmlformats.org/drawingml/2006/main" noGrp="1"/>
          </p:cNvSpPr>
          <p:nvPr/>
        </p:nvSpPr>
        <p:spPr>
          <a:xfrm xmlns:a="http://schemas.openxmlformats.org/drawingml/2006/main">
            <a:off x="8820150" y="5248275"/>
            <a:ext cx="2838450" cy="35718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39" name="S15_POLICY_R2C0">
            <a:extLst xmlns:a="http://schemas.openxmlformats.org/drawingml/2006/main">
              <a:ext uri="{FF2B5EF4-FFF2-40B4-BE49-F238E27FC236}">
                <a16:creationId xmlns:a16="http://schemas.microsoft.com/office/drawing/2014/main" id="{F4226FEB-4E78-4C3B-B0C4-6FC5189107D8}"/>
              </a:ext>
            </a:extLst>
          </p:cNvPr>
          <p:cNvSpPr>
            <a:spLocks xmlns:a="http://schemas.openxmlformats.org/drawingml/2006/main" noGrp="1"/>
          </p:cNvSpPr>
          <p:nvPr/>
        </p:nvSpPr>
        <p:spPr>
          <a:xfrm xmlns:a="http://schemas.openxmlformats.org/drawingml/2006/main">
            <a:off x="533400" y="5605463"/>
            <a:ext cx="1809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1002</a:t>
            </a:r>
          </a:p>
        </p:txBody>
      </p:sp>
      <p:sp>
        <p:nvSpPr>
          <p:cNvPr id="40" name="S15_POLICY_R2C1">
            <a:extLst xmlns:a="http://schemas.openxmlformats.org/drawingml/2006/main">
              <a:ext uri="{FF2B5EF4-FFF2-40B4-BE49-F238E27FC236}">
                <a16:creationId xmlns:a16="http://schemas.microsoft.com/office/drawing/2014/main" id="{8166D289-DED9-41EE-AAF9-0E77E8A51C7A}"/>
              </a:ext>
            </a:extLst>
          </p:cNvPr>
          <p:cNvSpPr>
            <a:spLocks xmlns:a="http://schemas.openxmlformats.org/drawingml/2006/main" noGrp="1"/>
          </p:cNvSpPr>
          <p:nvPr/>
        </p:nvSpPr>
        <p:spPr>
          <a:xfrm xmlns:a="http://schemas.openxmlformats.org/drawingml/2006/main">
            <a:off x="2343150" y="5605463"/>
            <a:ext cx="20002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admin</a:t>
            </a:r>
          </a:p>
        </p:txBody>
      </p:sp>
      <p:sp>
        <p:nvSpPr>
          <p:cNvPr id="41" name="S15_POLICY_R2C2">
            <a:extLst xmlns:a="http://schemas.openxmlformats.org/drawingml/2006/main">
              <a:ext uri="{FF2B5EF4-FFF2-40B4-BE49-F238E27FC236}">
                <a16:creationId xmlns:a16="http://schemas.microsoft.com/office/drawing/2014/main" id="{A349B7DD-017E-4431-88FC-0369DBC46779}"/>
              </a:ext>
            </a:extLst>
          </p:cNvPr>
          <p:cNvSpPr>
            <a:spLocks xmlns:a="http://schemas.openxmlformats.org/drawingml/2006/main" noGrp="1"/>
          </p:cNvSpPr>
          <p:nvPr/>
        </p:nvSpPr>
        <p:spPr>
          <a:xfrm xmlns:a="http://schemas.openxmlformats.org/drawingml/2006/main">
            <a:off x="4343400" y="5605463"/>
            <a:ext cx="44767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admin</a:t>
            </a:r>
          </a:p>
        </p:txBody>
      </p:sp>
      <p:sp>
        <p:nvSpPr>
          <p:cNvPr id="42" name="S15_POLICY_R2C3">
            <a:extLst xmlns:a="http://schemas.openxmlformats.org/drawingml/2006/main">
              <a:ext uri="{FF2B5EF4-FFF2-40B4-BE49-F238E27FC236}">
                <a16:creationId xmlns:a16="http://schemas.microsoft.com/office/drawing/2014/main" id="{9B53ADE1-30D1-440E-BD80-32D1214F2229}"/>
              </a:ext>
            </a:extLst>
          </p:cNvPr>
          <p:cNvSpPr>
            <a:spLocks xmlns:a="http://schemas.openxmlformats.org/drawingml/2006/main" noGrp="1"/>
          </p:cNvSpPr>
          <p:nvPr/>
        </p:nvSpPr>
        <p:spPr>
          <a:xfrm xmlns:a="http://schemas.openxmlformats.org/drawingml/2006/main">
            <a:off x="8820150" y="5605463"/>
            <a:ext cx="2838450" cy="35718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 + audit</a:t>
            </a:r>
          </a:p>
        </p:txBody>
      </p:sp>
    </p:spTree>
    <p:extLst>
      <p:ext uri="{BB962C8B-B14F-4D97-AF65-F5344CB8AC3E}">
        <p14:creationId xmlns:p14="http://schemas.microsoft.com/office/powerpoint/2010/main" val="1328707478"/>
      </p:ext>
    </p:extLst>
  </p:cSld>
</p:sld>
</file>

<file path=ppt/slides/slide1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7" name="S16_EYEBROW">
            <a:extLst xmlns:a="http://schemas.openxmlformats.org/drawingml/2006/main">
              <a:ext uri="{FF2B5EF4-FFF2-40B4-BE49-F238E27FC236}">
                <a16:creationId xmlns:a16="http://schemas.microsoft.com/office/drawing/2014/main" id="{6A972555-51CD-4FD1-B730-438136867E3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6_TITLE">
            <a:extLst xmlns:a="http://schemas.openxmlformats.org/drawingml/2006/main">
              <a:ext uri="{FF2B5EF4-FFF2-40B4-BE49-F238E27FC236}">
                <a16:creationId xmlns:a16="http://schemas.microsoft.com/office/drawing/2014/main" id="{D2DC79FD-D354-4780-A471-36448E942AB0}"/>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Mass assignment biến profile thành privilege escalation</a:t>
            </a:r>
          </a:p>
        </p:txBody>
      </p:sp>
      <p:sp>
        <p:nvSpPr>
          <p:cNvPr id="3" name="S16_SUBTITLE">
            <a:extLst xmlns:a="http://schemas.openxmlformats.org/drawingml/2006/main">
              <a:ext uri="{FF2B5EF4-FFF2-40B4-BE49-F238E27FC236}">
                <a16:creationId xmlns:a16="http://schemas.microsoft.com/office/drawing/2014/main" id="{84FCBCF6-68E4-4647-909A-65740E67388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Nếu server bind mọi field, role từ form có thể đi thẳng vào database.</a:t>
            </a:r>
          </a:p>
        </p:txBody>
      </p:sp>
      <p:sp>
        <p:nvSpPr>
          <p:cNvPr id="4" name="S16_TITLE_RULE">
            <a:extLst xmlns:a="http://schemas.openxmlformats.org/drawingml/2006/main">
              <a:ext uri="{FF2B5EF4-FFF2-40B4-BE49-F238E27FC236}">
                <a16:creationId xmlns:a16="http://schemas.microsoft.com/office/drawing/2014/main" id="{583BF673-BB55-4DD4-B794-5611F84E6B1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6_FOOTER_RULE">
            <a:extLst xmlns:a="http://schemas.openxmlformats.org/drawingml/2006/main">
              <a:ext uri="{FF2B5EF4-FFF2-40B4-BE49-F238E27FC236}">
                <a16:creationId xmlns:a16="http://schemas.microsoft.com/office/drawing/2014/main" id="{3CE9F091-E1AF-4434-8B6C-A9F86FAF8F26}"/>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6_SOURCE">
            <a:extLst xmlns:a="http://schemas.openxmlformats.org/drawingml/2006/main">
              <a:ext uri="{FF2B5EF4-FFF2-40B4-BE49-F238E27FC236}">
                <a16:creationId xmlns:a16="http://schemas.microsoft.com/office/drawing/2014/main" id="{127FA3A0-E3DD-48C8-8086-D7CEA777059B}"/>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Lab03/services.py · authorization.py</a:t>
            </a:r>
          </a:p>
        </p:txBody>
      </p:sp>
      <p:sp>
        <p:nvSpPr>
          <p:cNvPr id="7" name="S16_NUMBER">
            <a:extLst xmlns:a="http://schemas.openxmlformats.org/drawingml/2006/main">
              <a:ext uri="{FF2B5EF4-FFF2-40B4-BE49-F238E27FC236}">
                <a16:creationId xmlns:a16="http://schemas.microsoft.com/office/drawing/2014/main" id="{E33F7A99-1417-4F99-92B0-7E7599D9F73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16</a:t>
            </a:r>
          </a:p>
        </p:txBody>
      </p:sp>
      <p:sp>
        <p:nvSpPr>
          <p:cNvPr id="8" name="S16_VULN">
            <a:extLst xmlns:a="http://schemas.openxmlformats.org/drawingml/2006/main">
              <a:ext uri="{FF2B5EF4-FFF2-40B4-BE49-F238E27FC236}">
                <a16:creationId xmlns:a16="http://schemas.microsoft.com/office/drawing/2014/main" id="{9FD921FC-FA39-4E4D-8219-D7E6B919911E}"/>
              </a:ext>
            </a:extLst>
          </p:cNvPr>
          <p:cNvSpPr>
            <a:spLocks xmlns:a="http://schemas.openxmlformats.org/drawingml/2006/main" noGrp="1"/>
          </p:cNvSpPr>
          <p:nvPr/>
        </p:nvSpPr>
        <p:spPr>
          <a:xfrm xmlns:a="http://schemas.openxmlformats.org/drawingml/2006/main">
            <a:off x="533400" y="1752600"/>
            <a:ext cx="5238750" cy="18097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email = form["email"]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role  = form["role"]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UPDATE users SET email=?, role=?</a:t>
            </a:r>
          </a:p>
        </p:txBody>
      </p:sp>
      <p:sp>
        <p:nvSpPr>
          <p:cNvPr id="9" name="S16_SAFE">
            <a:extLst xmlns:a="http://schemas.openxmlformats.org/drawingml/2006/main">
              <a:ext uri="{FF2B5EF4-FFF2-40B4-BE49-F238E27FC236}">
                <a16:creationId xmlns:a16="http://schemas.microsoft.com/office/drawing/2014/main" id="{5C294FB2-C112-4A23-A195-A183E01EA2FA}"/>
              </a:ext>
            </a:extLst>
          </p:cNvPr>
          <p:cNvSpPr>
            <a:spLocks xmlns:a="http://schemas.openxmlformats.org/drawingml/2006/main" noGrp="1"/>
          </p:cNvSpPr>
          <p:nvPr/>
        </p:nvSpPr>
        <p:spPr>
          <a:xfrm xmlns:a="http://schemas.openxmlformats.org/drawingml/2006/main">
            <a:off x="6000750" y="1752600"/>
            <a:ext cx="5657850" cy="18097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secure allowlist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allowed = {"email"}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reject role, is_admin, balance, user_id</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UPDATE users SET email=? WHERE id=session.user_id</a:t>
            </a:r>
          </a:p>
        </p:txBody>
      </p:sp>
      <p:sp>
        <p:nvSpPr>
          <p:cNvPr id="10" name="S16_FLOW_ARROW_1">
            <a:extLst xmlns:a="http://schemas.openxmlformats.org/drawingml/2006/main">
              <a:ext uri="{FF2B5EF4-FFF2-40B4-BE49-F238E27FC236}">
                <a16:creationId xmlns:a16="http://schemas.microsoft.com/office/drawing/2014/main" id="{FC148B51-4B69-406B-84AA-AA9502879A3F}"/>
              </a:ext>
            </a:extLst>
          </p:cNvPr>
          <p:cNvSpPr>
            <a:spLocks xmlns:a="http://schemas.openxmlformats.org/drawingml/2006/main" noGrp="1"/>
          </p:cNvSpPr>
          <p:nvPr/>
        </p:nvSpPr>
        <p:spPr>
          <a:xfrm xmlns:a="http://schemas.openxmlformats.org/drawingml/2006/main">
            <a:off x="1700213"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16_FLOW_ARROW_2">
            <a:extLst xmlns:a="http://schemas.openxmlformats.org/drawingml/2006/main">
              <a:ext uri="{FF2B5EF4-FFF2-40B4-BE49-F238E27FC236}">
                <a16:creationId xmlns:a16="http://schemas.microsoft.com/office/drawing/2014/main" id="{1EBC7200-26F5-4461-BB60-ADF94B9BB081}"/>
              </a:ext>
            </a:extLst>
          </p:cNvPr>
          <p:cNvSpPr>
            <a:spLocks xmlns:a="http://schemas.openxmlformats.org/drawingml/2006/main" noGrp="1"/>
          </p:cNvSpPr>
          <p:nvPr/>
        </p:nvSpPr>
        <p:spPr>
          <a:xfrm xmlns:a="http://schemas.openxmlformats.org/drawingml/2006/main">
            <a:off x="3133725"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16_FLOW_ARROW_3">
            <a:extLst xmlns:a="http://schemas.openxmlformats.org/drawingml/2006/main">
              <a:ext uri="{FF2B5EF4-FFF2-40B4-BE49-F238E27FC236}">
                <a16:creationId xmlns:a16="http://schemas.microsoft.com/office/drawing/2014/main" id="{22851811-0A9D-4A2F-98DA-C35481B4189B}"/>
              </a:ext>
            </a:extLst>
          </p:cNvPr>
          <p:cNvSpPr>
            <a:spLocks xmlns:a="http://schemas.openxmlformats.org/drawingml/2006/main" noGrp="1"/>
          </p:cNvSpPr>
          <p:nvPr/>
        </p:nvSpPr>
        <p:spPr>
          <a:xfrm xmlns:a="http://schemas.openxmlformats.org/drawingml/2006/main">
            <a:off x="4567238" y="434340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3" name="S16_FLOW_NODE_1">
            <a:extLst xmlns:a="http://schemas.openxmlformats.org/drawingml/2006/main">
              <a:ext uri="{FF2B5EF4-FFF2-40B4-BE49-F238E27FC236}">
                <a16:creationId xmlns:a16="http://schemas.microsoft.com/office/drawing/2014/main" id="{84B8E8BC-3921-409F-8EAA-C5EF0096321A}"/>
              </a:ext>
            </a:extLst>
          </p:cNvPr>
          <p:cNvSpPr>
            <a:spLocks xmlns:a="http://schemas.openxmlformats.org/drawingml/2006/main" noGrp="1"/>
          </p:cNvSpPr>
          <p:nvPr/>
        </p:nvSpPr>
        <p:spPr>
          <a:xfrm xmlns:a="http://schemas.openxmlformats.org/drawingml/2006/main">
            <a:off x="533400"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admin</a:t>
            </a:r>
          </a:p>
        </p:txBody>
      </p:sp>
      <p:sp>
        <p:nvSpPr>
          <p:cNvPr id="14" name="S16_FLOW_NODE_2">
            <a:extLst xmlns:a="http://schemas.openxmlformats.org/drawingml/2006/main">
              <a:ext uri="{FF2B5EF4-FFF2-40B4-BE49-F238E27FC236}">
                <a16:creationId xmlns:a16="http://schemas.microsoft.com/office/drawing/2014/main" id="{5F1FAAA0-27FF-4B02-859C-77424E730DCB}"/>
              </a:ext>
            </a:extLst>
          </p:cNvPr>
          <p:cNvSpPr>
            <a:spLocks xmlns:a="http://schemas.openxmlformats.org/drawingml/2006/main" noGrp="1"/>
          </p:cNvSpPr>
          <p:nvPr/>
        </p:nvSpPr>
        <p:spPr>
          <a:xfrm xmlns:a="http://schemas.openxmlformats.org/drawingml/2006/main">
            <a:off x="1966913"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 binder</a:t>
            </a:r>
          </a:p>
        </p:txBody>
      </p:sp>
      <p:sp>
        <p:nvSpPr>
          <p:cNvPr id="15" name="S16_FLOW_NODE_3">
            <a:extLst xmlns:a="http://schemas.openxmlformats.org/drawingml/2006/main">
              <a:ext uri="{FF2B5EF4-FFF2-40B4-BE49-F238E27FC236}">
                <a16:creationId xmlns:a16="http://schemas.microsoft.com/office/drawing/2014/main" id="{081C783D-55DB-4E38-9AD7-4F14001212E4}"/>
              </a:ext>
            </a:extLst>
          </p:cNvPr>
          <p:cNvSpPr>
            <a:spLocks xmlns:a="http://schemas.openxmlformats.org/drawingml/2006/main" noGrp="1"/>
          </p:cNvSpPr>
          <p:nvPr/>
        </p:nvSpPr>
        <p:spPr>
          <a:xfrm xmlns:a="http://schemas.openxmlformats.org/drawingml/2006/main">
            <a:off x="3400425"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users.role</a:t>
            </a:r>
          </a:p>
        </p:txBody>
      </p:sp>
      <p:sp>
        <p:nvSpPr>
          <p:cNvPr id="16" name="S16_FLOW_NODE_4">
            <a:extLst xmlns:a="http://schemas.openxmlformats.org/drawingml/2006/main">
              <a:ext uri="{FF2B5EF4-FFF2-40B4-BE49-F238E27FC236}">
                <a16:creationId xmlns:a16="http://schemas.microsoft.com/office/drawing/2014/main" id="{5794CECD-3EA0-4CF6-821C-7F9C02D8B6B3}"/>
              </a:ext>
            </a:extLst>
          </p:cNvPr>
          <p:cNvSpPr>
            <a:spLocks xmlns:a="http://schemas.openxmlformats.org/drawingml/2006/main" noGrp="1"/>
          </p:cNvSpPr>
          <p:nvPr/>
        </p:nvSpPr>
        <p:spPr>
          <a:xfrm xmlns:a="http://schemas.openxmlformats.org/drawingml/2006/main">
            <a:off x="4833938" y="4000500"/>
            <a:ext cx="1033463"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privilege ↑</a:t>
            </a:r>
          </a:p>
        </p:txBody>
      </p:sp>
      <p:sp>
        <p:nvSpPr>
          <p:cNvPr id="17" name="S16_FLOW2_ARROW_1">
            <a:extLst xmlns:a="http://schemas.openxmlformats.org/drawingml/2006/main">
              <a:ext uri="{FF2B5EF4-FFF2-40B4-BE49-F238E27FC236}">
                <a16:creationId xmlns:a16="http://schemas.microsoft.com/office/drawing/2014/main" id="{58B066DD-A81E-42BB-8609-CE3F2C9C7281}"/>
              </a:ext>
            </a:extLst>
          </p:cNvPr>
          <p:cNvSpPr>
            <a:spLocks xmlns:a="http://schemas.openxmlformats.org/drawingml/2006/main" noGrp="1"/>
          </p:cNvSpPr>
          <p:nvPr/>
        </p:nvSpPr>
        <p:spPr>
          <a:xfrm xmlns:a="http://schemas.openxmlformats.org/drawingml/2006/main">
            <a:off x="7462838"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8" name="S16_FLOW2_ARROW_2">
            <a:extLst xmlns:a="http://schemas.openxmlformats.org/drawingml/2006/main">
              <a:ext uri="{FF2B5EF4-FFF2-40B4-BE49-F238E27FC236}">
                <a16:creationId xmlns:a16="http://schemas.microsoft.com/office/drawing/2014/main" id="{005D518A-B887-4788-82A3-7ACE3A6DD8BA}"/>
              </a:ext>
            </a:extLst>
          </p:cNvPr>
          <p:cNvSpPr>
            <a:spLocks xmlns:a="http://schemas.openxmlformats.org/drawingml/2006/main" noGrp="1"/>
          </p:cNvSpPr>
          <p:nvPr/>
        </p:nvSpPr>
        <p:spPr>
          <a:xfrm xmlns:a="http://schemas.openxmlformats.org/drawingml/2006/main">
            <a:off x="8905875"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9" name="S16_FLOW2_ARROW_3">
            <a:extLst xmlns:a="http://schemas.openxmlformats.org/drawingml/2006/main">
              <a:ext uri="{FF2B5EF4-FFF2-40B4-BE49-F238E27FC236}">
                <a16:creationId xmlns:a16="http://schemas.microsoft.com/office/drawing/2014/main" id="{DB166F5F-B781-422A-B912-A64A671DC386}"/>
              </a:ext>
            </a:extLst>
          </p:cNvPr>
          <p:cNvSpPr>
            <a:spLocks xmlns:a="http://schemas.openxmlformats.org/drawingml/2006/main" noGrp="1"/>
          </p:cNvSpPr>
          <p:nvPr/>
        </p:nvSpPr>
        <p:spPr>
          <a:xfrm xmlns:a="http://schemas.openxmlformats.org/drawingml/2006/main">
            <a:off x="10348913" y="434340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20" name="S16_FLOW2_NODE_1">
            <a:extLst xmlns:a="http://schemas.openxmlformats.org/drawingml/2006/main">
              <a:ext uri="{FF2B5EF4-FFF2-40B4-BE49-F238E27FC236}">
                <a16:creationId xmlns:a16="http://schemas.microsoft.com/office/drawing/2014/main" id="{175710A5-D906-4A8B-8296-2283F78B98A8}"/>
              </a:ext>
            </a:extLst>
          </p:cNvPr>
          <p:cNvSpPr>
            <a:spLocks xmlns:a="http://schemas.openxmlformats.org/drawingml/2006/main" noGrp="1"/>
          </p:cNvSpPr>
          <p:nvPr/>
        </p:nvSpPr>
        <p:spPr>
          <a:xfrm xmlns:a="http://schemas.openxmlformats.org/drawingml/2006/main">
            <a:off x="6286500"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email only</a:t>
            </a:r>
          </a:p>
        </p:txBody>
      </p:sp>
      <p:sp>
        <p:nvSpPr>
          <p:cNvPr id="21" name="S16_FLOW2_NODE_2">
            <a:extLst xmlns:a="http://schemas.openxmlformats.org/drawingml/2006/main">
              <a:ext uri="{FF2B5EF4-FFF2-40B4-BE49-F238E27FC236}">
                <a16:creationId xmlns:a16="http://schemas.microsoft.com/office/drawing/2014/main" id="{2FEB6516-D1E9-42FA-94E5-6017FF4CD321}"/>
              </a:ext>
            </a:extLst>
          </p:cNvPr>
          <p:cNvSpPr>
            <a:spLocks xmlns:a="http://schemas.openxmlformats.org/drawingml/2006/main" noGrp="1"/>
          </p:cNvSpPr>
          <p:nvPr/>
        </p:nvSpPr>
        <p:spPr>
          <a:xfrm xmlns:a="http://schemas.openxmlformats.org/drawingml/2006/main">
            <a:off x="7729538"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allowlist</a:t>
            </a:r>
          </a:p>
        </p:txBody>
      </p:sp>
      <p:sp>
        <p:nvSpPr>
          <p:cNvPr id="22" name="S16_FLOW2_NODE_3">
            <a:extLst xmlns:a="http://schemas.openxmlformats.org/drawingml/2006/main">
              <a:ext uri="{FF2B5EF4-FFF2-40B4-BE49-F238E27FC236}">
                <a16:creationId xmlns:a16="http://schemas.microsoft.com/office/drawing/2014/main" id="{DFE0CE5A-5E53-40AB-A4FD-01CE8BEC07DE}"/>
              </a:ext>
            </a:extLst>
          </p:cNvPr>
          <p:cNvSpPr>
            <a:spLocks xmlns:a="http://schemas.openxmlformats.org/drawingml/2006/main" noGrp="1"/>
          </p:cNvSpPr>
          <p:nvPr/>
        </p:nvSpPr>
        <p:spPr>
          <a:xfrm xmlns:a="http://schemas.openxmlformats.org/drawingml/2006/main">
            <a:off x="9172575"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id</a:t>
            </a:r>
          </a:p>
        </p:txBody>
      </p:sp>
      <p:sp>
        <p:nvSpPr>
          <p:cNvPr id="23" name="S16_FLOW2_NODE_4">
            <a:extLst xmlns:a="http://schemas.openxmlformats.org/drawingml/2006/main">
              <a:ext uri="{FF2B5EF4-FFF2-40B4-BE49-F238E27FC236}">
                <a16:creationId xmlns:a16="http://schemas.microsoft.com/office/drawing/2014/main" id="{F4D50850-3259-40B8-B203-6EC395E9113C}"/>
              </a:ext>
            </a:extLst>
          </p:cNvPr>
          <p:cNvSpPr>
            <a:spLocks xmlns:a="http://schemas.openxmlformats.org/drawingml/2006/main" noGrp="1"/>
          </p:cNvSpPr>
          <p:nvPr/>
        </p:nvSpPr>
        <p:spPr>
          <a:xfrm xmlns:a="http://schemas.openxmlformats.org/drawingml/2006/main">
            <a:off x="10615613" y="4000500"/>
            <a:ext cx="1042988" cy="8572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audit</a:t>
            </a:r>
          </a:p>
        </p:txBody>
      </p:sp>
      <p:sp>
        <p:nvSpPr>
          <p:cNvPr id="24" name="S16_AUTH_BAR">
            <a:extLst xmlns:a="http://schemas.openxmlformats.org/drawingml/2006/main">
              <a:ext uri="{FF2B5EF4-FFF2-40B4-BE49-F238E27FC236}">
                <a16:creationId xmlns:a16="http://schemas.microsoft.com/office/drawing/2014/main" id="{F8630E8A-5B97-42BE-9724-A879C2DC7614}"/>
              </a:ext>
            </a:extLst>
          </p:cNvPr>
          <p:cNvSpPr>
            <a:spLocks xmlns:a="http://schemas.openxmlformats.org/drawingml/2006/main" noGrp="1"/>
          </p:cNvSpPr>
          <p:nvPr/>
        </p:nvSpPr>
        <p:spPr>
          <a:xfrm xmlns:a="http://schemas.openxmlformats.org/drawingml/2006/main">
            <a:off x="533400" y="5276850"/>
            <a:ext cx="76200" cy="0"/>
          </a:xfrm>
          <a:prstGeom xmlns:a="http://schemas.openxmlformats.org/drawingml/2006/main" prst="rect">
            <a:avLst/>
          </a:prstGeom>
          <a:ln xmlns:a="http://schemas.openxmlformats.org/drawingml/2006/main" w="0">
            <a:noFill/>
            <a:prstDash val="solid"/>
          </a:ln>
        </p:spPr>
      </p:sp>
      <p:sp>
        <p:nvSpPr>
          <p:cNvPr id="25" name="S16_AUTH_LABEL">
            <a:extLst xmlns:a="http://schemas.openxmlformats.org/drawingml/2006/main">
              <a:ext uri="{FF2B5EF4-FFF2-40B4-BE49-F238E27FC236}">
                <a16:creationId xmlns:a16="http://schemas.microsoft.com/office/drawing/2014/main" id="{FC9BC822-8DF3-452F-8841-F88B2C90324D}"/>
              </a:ext>
            </a:extLst>
          </p:cNvPr>
          <p:cNvSpPr>
            <a:spLocks xmlns:a="http://schemas.openxmlformats.org/drawingml/2006/main" noGrp="1"/>
          </p:cNvSpPr>
          <p:nvPr/>
        </p:nvSpPr>
        <p:spPr>
          <a:xfrm xmlns:a="http://schemas.openxmlformats.org/drawingml/2006/main">
            <a:off x="704850" y="5276850"/>
            <a:ext cx="1638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AUTHN ≠ AUTHZ</a:t>
            </a:r>
          </a:p>
        </p:txBody>
      </p:sp>
      <p:sp>
        <p:nvSpPr>
          <p:cNvPr id="26" name="S16_AUTH_BODY">
            <a:extLst xmlns:a="http://schemas.openxmlformats.org/drawingml/2006/main">
              <a:ext uri="{FF2B5EF4-FFF2-40B4-BE49-F238E27FC236}">
                <a16:creationId xmlns:a16="http://schemas.microsoft.com/office/drawing/2014/main" id="{87A4A7C5-C5CF-4E64-B89F-C753DD5E87FB}"/>
              </a:ext>
            </a:extLst>
          </p:cNvPr>
          <p:cNvSpPr>
            <a:spLocks xmlns:a="http://schemas.openxmlformats.org/drawingml/2006/main" noGrp="1"/>
          </p:cNvSpPr>
          <p:nvPr/>
        </p:nvSpPr>
        <p:spPr>
          <a:xfrm xmlns:a="http://schemas.openxmlformats.org/drawingml/2006/main">
            <a:off x="2438400" y="5276850"/>
            <a:ext cx="9201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Đăng nhập xác định bạn là ai; authorization quyết định bạn được đổi field nào trên object nào.</a:t>
            </a:r>
          </a:p>
        </p:txBody>
      </p:sp>
    </p:spTree>
    <p:extLst>
      <p:ext uri="{BB962C8B-B14F-4D97-AF65-F5344CB8AC3E}">
        <p14:creationId xmlns:p14="http://schemas.microsoft.com/office/powerpoint/2010/main" val="1154324037"/>
      </p:ext>
    </p:extLst>
  </p:cSld>
</p:sld>
</file>

<file path=ppt/slides/slide1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3" name="S17_EYEBROW">
            <a:extLst xmlns:a="http://schemas.openxmlformats.org/drawingml/2006/main">
              <a:ext uri="{FF2B5EF4-FFF2-40B4-BE49-F238E27FC236}">
                <a16:creationId xmlns:a16="http://schemas.microsoft.com/office/drawing/2014/main" id="{B96CEA32-635F-44B7-ACFB-42C3D0E5E45C}"/>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LAB03 / PARAMETER TAMPERING</a:t>
            </a:r>
          </a:p>
        </p:txBody>
      </p:sp>
      <p:sp>
        <p:nvSpPr>
          <p:cNvPr id="2" name="S17_TITLE">
            <a:extLst xmlns:a="http://schemas.openxmlformats.org/drawingml/2006/main">
              <a:ext uri="{FF2B5EF4-FFF2-40B4-BE49-F238E27FC236}">
                <a16:creationId xmlns:a16="http://schemas.microsoft.com/office/drawing/2014/main" id="{EE38876B-2C35-4D99-9D63-062D2A2ABEC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Ba tampering — ba kiểm tra authoritative</a:t>
            </a:r>
          </a:p>
        </p:txBody>
      </p:sp>
      <p:sp>
        <p:nvSpPr>
          <p:cNvPr id="3" name="S17_SUBTITLE">
            <a:extLst xmlns:a="http://schemas.openxmlformats.org/drawingml/2006/main">
              <a:ext uri="{FF2B5EF4-FFF2-40B4-BE49-F238E27FC236}">
                <a16:creationId xmlns:a16="http://schemas.microsoft.com/office/drawing/2014/main" id="{3A14FBFD-7BE7-49B9-A6D6-D732A4C7C4B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Kiểu/range là cần thiết; policy và ownership mới quyết định an toàn.</a:t>
            </a:r>
          </a:p>
        </p:txBody>
      </p:sp>
      <p:sp>
        <p:nvSpPr>
          <p:cNvPr id="4" name="S17_TITLE_RULE">
            <a:extLst xmlns:a="http://schemas.openxmlformats.org/drawingml/2006/main">
              <a:ext uri="{FF2B5EF4-FFF2-40B4-BE49-F238E27FC236}">
                <a16:creationId xmlns:a16="http://schemas.microsoft.com/office/drawing/2014/main" id="{7D3E1E8B-A064-4439-BAC9-77DF61CC4591}"/>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7_FOOTER_RULE">
            <a:extLst xmlns:a="http://schemas.openxmlformats.org/drawingml/2006/main">
              <a:ext uri="{FF2B5EF4-FFF2-40B4-BE49-F238E27FC236}">
                <a16:creationId xmlns:a16="http://schemas.microsoft.com/office/drawing/2014/main" id="{18E8F6B4-CF02-4250-9EE5-96A8AECC1C5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7_SOURCE">
            <a:extLst xmlns:a="http://schemas.openxmlformats.org/drawingml/2006/main">
              <a:ext uri="{FF2B5EF4-FFF2-40B4-BE49-F238E27FC236}">
                <a16:creationId xmlns:a16="http://schemas.microsoft.com/office/drawing/2014/main" id="{A8A84323-2F4F-4643-9450-06E932C24A1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Lab03 · report Lab03</a:t>
            </a:r>
          </a:p>
        </p:txBody>
      </p:sp>
      <p:sp>
        <p:nvSpPr>
          <p:cNvPr id="7" name="S17_NUMBER">
            <a:extLst xmlns:a="http://schemas.openxmlformats.org/drawingml/2006/main">
              <a:ext uri="{FF2B5EF4-FFF2-40B4-BE49-F238E27FC236}">
                <a16:creationId xmlns:a16="http://schemas.microsoft.com/office/drawing/2014/main" id="{3A278F5F-F126-4DEA-91A8-A7217208E3CE}"/>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17</a:t>
            </a:r>
          </a:p>
        </p:txBody>
      </p:sp>
      <p:sp>
        <p:nvSpPr>
          <p:cNvPr id="8" name="S17_MATRIX_H0">
            <a:extLst xmlns:a="http://schemas.openxmlformats.org/drawingml/2006/main">
              <a:ext uri="{FF2B5EF4-FFF2-40B4-BE49-F238E27FC236}">
                <a16:creationId xmlns:a16="http://schemas.microsoft.com/office/drawing/2014/main" id="{5856905B-C4D2-4A3B-9FF2-35DDDD20FA44}"/>
              </a:ext>
            </a:extLst>
          </p:cNvPr>
          <p:cNvSpPr>
            <a:spLocks xmlns:a="http://schemas.openxmlformats.org/drawingml/2006/main" noGrp="1"/>
          </p:cNvSpPr>
          <p:nvPr/>
        </p:nvSpPr>
        <p:spPr>
          <a:xfrm xmlns:a="http://schemas.openxmlformats.org/drawingml/2006/main">
            <a:off x="53340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SCENARIO</a:t>
            </a:r>
          </a:p>
        </p:txBody>
      </p:sp>
      <p:sp>
        <p:nvSpPr>
          <p:cNvPr id="9" name="S17_MATRIX_H1">
            <a:extLst xmlns:a="http://schemas.openxmlformats.org/drawingml/2006/main">
              <a:ext uri="{FF2B5EF4-FFF2-40B4-BE49-F238E27FC236}">
                <a16:creationId xmlns:a16="http://schemas.microsoft.com/office/drawing/2014/main" id="{9FD1E381-AD68-4BAE-9938-8AC888BD2FAD}"/>
              </a:ext>
            </a:extLst>
          </p:cNvPr>
          <p:cNvSpPr>
            <a:spLocks xmlns:a="http://schemas.openxmlformats.org/drawingml/2006/main" noGrp="1"/>
          </p:cNvSpPr>
          <p:nvPr/>
        </p:nvSpPr>
        <p:spPr>
          <a:xfrm xmlns:a="http://schemas.openxmlformats.org/drawingml/2006/main">
            <a:off x="186690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CLIENT SỬA</a:t>
            </a:r>
          </a:p>
        </p:txBody>
      </p:sp>
      <p:sp>
        <p:nvSpPr>
          <p:cNvPr id="10" name="S17_MATRIX_H2">
            <a:extLst xmlns:a="http://schemas.openxmlformats.org/drawingml/2006/main">
              <a:ext uri="{FF2B5EF4-FFF2-40B4-BE49-F238E27FC236}">
                <a16:creationId xmlns:a16="http://schemas.microsoft.com/office/drawing/2014/main" id="{FA748F8C-5598-4778-B7C9-C1D640675595}"/>
              </a:ext>
            </a:extLst>
          </p:cNvPr>
          <p:cNvSpPr>
            <a:spLocks xmlns:a="http://schemas.openxmlformats.org/drawingml/2006/main" noGrp="1"/>
          </p:cNvSpPr>
          <p:nvPr/>
        </p:nvSpPr>
        <p:spPr>
          <a:xfrm xmlns:a="http://schemas.openxmlformats.org/drawingml/2006/main">
            <a:off x="3200400" y="1695450"/>
            <a:ext cx="2857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 PHẢI LÀM</a:t>
            </a:r>
          </a:p>
        </p:txBody>
      </p:sp>
      <p:sp>
        <p:nvSpPr>
          <p:cNvPr id="11" name="S17_MATRIX_H3">
            <a:extLst xmlns:a="http://schemas.openxmlformats.org/drawingml/2006/main">
              <a:ext uri="{FF2B5EF4-FFF2-40B4-BE49-F238E27FC236}">
                <a16:creationId xmlns:a16="http://schemas.microsoft.com/office/drawing/2014/main" id="{CF0D38E9-E37F-4B3F-8C2B-E888E8138594}"/>
              </a:ext>
            </a:extLst>
          </p:cNvPr>
          <p:cNvSpPr>
            <a:spLocks xmlns:a="http://schemas.openxmlformats.org/drawingml/2006/main" noGrp="1"/>
          </p:cNvSpPr>
          <p:nvPr/>
        </p:nvSpPr>
        <p:spPr>
          <a:xfrm xmlns:a="http://schemas.openxmlformats.org/drawingml/2006/main">
            <a:off x="6057900" y="1695450"/>
            <a:ext cx="11430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SECURE</a:t>
            </a:r>
          </a:p>
        </p:txBody>
      </p:sp>
      <p:sp>
        <p:nvSpPr>
          <p:cNvPr id="12" name="S17_MATRIX_R0C0">
            <a:extLst xmlns:a="http://schemas.openxmlformats.org/drawingml/2006/main">
              <a:ext uri="{FF2B5EF4-FFF2-40B4-BE49-F238E27FC236}">
                <a16:creationId xmlns:a16="http://schemas.microsoft.com/office/drawing/2014/main" id="{679655E1-2A07-43C4-BF05-60C89A69A5F8}"/>
              </a:ext>
            </a:extLst>
          </p:cNvPr>
          <p:cNvSpPr>
            <a:spLocks xmlns:a="http://schemas.openxmlformats.org/drawingml/2006/main" noGrp="1"/>
          </p:cNvSpPr>
          <p:nvPr/>
        </p:nvSpPr>
        <p:spPr>
          <a:xfrm xmlns:a="http://schemas.openxmlformats.org/drawingml/2006/main">
            <a:off x="53340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Price</a:t>
            </a:r>
          </a:p>
        </p:txBody>
      </p:sp>
      <p:sp>
        <p:nvSpPr>
          <p:cNvPr id="13" name="S17_MATRIX_R0C1">
            <a:extLst xmlns:a="http://schemas.openxmlformats.org/drawingml/2006/main">
              <a:ext uri="{FF2B5EF4-FFF2-40B4-BE49-F238E27FC236}">
                <a16:creationId xmlns:a16="http://schemas.microsoft.com/office/drawing/2014/main" id="{3E1DA2DD-5009-4D83-917E-8742E83D9B33}"/>
              </a:ext>
            </a:extLst>
          </p:cNvPr>
          <p:cNvSpPr>
            <a:spLocks xmlns:a="http://schemas.openxmlformats.org/drawingml/2006/main" noGrp="1"/>
          </p:cNvSpPr>
          <p:nvPr/>
        </p:nvSpPr>
        <p:spPr>
          <a:xfrm xmlns:a="http://schemas.openxmlformats.org/drawingml/2006/main">
            <a:off x="186690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price=1</a:t>
            </a:r>
          </a:p>
        </p:txBody>
      </p:sp>
      <p:sp>
        <p:nvSpPr>
          <p:cNvPr id="14" name="S17_MATRIX_R0C2">
            <a:extLst xmlns:a="http://schemas.openxmlformats.org/drawingml/2006/main">
              <a:ext uri="{FF2B5EF4-FFF2-40B4-BE49-F238E27FC236}">
                <a16:creationId xmlns:a16="http://schemas.microsoft.com/office/drawing/2014/main" id="{2BD42F73-C9D4-42EF-A06F-CAA6CF616FC9}"/>
              </a:ext>
            </a:extLst>
          </p:cNvPr>
          <p:cNvSpPr>
            <a:spLocks xmlns:a="http://schemas.openxmlformats.org/drawingml/2006/main" noGrp="1"/>
          </p:cNvSpPr>
          <p:nvPr/>
        </p:nvSpPr>
        <p:spPr>
          <a:xfrm xmlns:a="http://schemas.openxmlformats.org/drawingml/2006/main">
            <a:off x="3200400" y="2262188"/>
            <a:ext cx="2857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đọc giá từ DB</a:t>
            </a:r>
          </a:p>
        </p:txBody>
      </p:sp>
      <p:sp>
        <p:nvSpPr>
          <p:cNvPr id="15" name="S17_MATRIX_R0C3">
            <a:extLst xmlns:a="http://schemas.openxmlformats.org/drawingml/2006/main">
              <a:ext uri="{FF2B5EF4-FFF2-40B4-BE49-F238E27FC236}">
                <a16:creationId xmlns:a16="http://schemas.microsoft.com/office/drawing/2014/main" id="{02533818-F4E7-4C4E-9E3D-AD864746D741}"/>
              </a:ext>
            </a:extLst>
          </p:cNvPr>
          <p:cNvSpPr>
            <a:spLocks xmlns:a="http://schemas.openxmlformats.org/drawingml/2006/main" noGrp="1"/>
          </p:cNvSpPr>
          <p:nvPr/>
        </p:nvSpPr>
        <p:spPr>
          <a:xfrm xmlns:a="http://schemas.openxmlformats.org/drawingml/2006/main">
            <a:off x="6057900" y="2262188"/>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total</a:t>
            </a:r>
          </a:p>
        </p:txBody>
      </p:sp>
      <p:sp>
        <p:nvSpPr>
          <p:cNvPr id="16" name="S17_MATRIX_R1C0">
            <a:extLst xmlns:a="http://schemas.openxmlformats.org/drawingml/2006/main">
              <a:ext uri="{FF2B5EF4-FFF2-40B4-BE49-F238E27FC236}">
                <a16:creationId xmlns:a16="http://schemas.microsoft.com/office/drawing/2014/main" id="{B89E28C0-B42D-4EA9-899E-488DD6AAC68E}"/>
              </a:ext>
            </a:extLst>
          </p:cNvPr>
          <p:cNvSpPr>
            <a:spLocks xmlns:a="http://schemas.openxmlformats.org/drawingml/2006/main" noGrp="1"/>
          </p:cNvSpPr>
          <p:nvPr/>
        </p:nvSpPr>
        <p:spPr>
          <a:xfrm xmlns:a="http://schemas.openxmlformats.org/drawingml/2006/main">
            <a:off x="53340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IDOR</a:t>
            </a:r>
          </a:p>
        </p:txBody>
      </p:sp>
      <p:sp>
        <p:nvSpPr>
          <p:cNvPr id="17" name="S17_MATRIX_R1C1">
            <a:extLst xmlns:a="http://schemas.openxmlformats.org/drawingml/2006/main">
              <a:ext uri="{FF2B5EF4-FFF2-40B4-BE49-F238E27FC236}">
                <a16:creationId xmlns:a16="http://schemas.microsoft.com/office/drawing/2014/main" id="{BFEEDF4B-02A0-4C87-A1E1-75BFD15EA4E0}"/>
              </a:ext>
            </a:extLst>
          </p:cNvPr>
          <p:cNvSpPr>
            <a:spLocks xmlns:a="http://schemas.openxmlformats.org/drawingml/2006/main" noGrp="1"/>
          </p:cNvSpPr>
          <p:nvPr/>
        </p:nvSpPr>
        <p:spPr>
          <a:xfrm xmlns:a="http://schemas.openxmlformats.org/drawingml/2006/main">
            <a:off x="186690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id=1002</a:t>
            </a:r>
          </a:p>
        </p:txBody>
      </p:sp>
      <p:sp>
        <p:nvSpPr>
          <p:cNvPr id="18" name="S17_MATRIX_R1C2">
            <a:extLst xmlns:a="http://schemas.openxmlformats.org/drawingml/2006/main">
              <a:ext uri="{FF2B5EF4-FFF2-40B4-BE49-F238E27FC236}">
                <a16:creationId xmlns:a16="http://schemas.microsoft.com/office/drawing/2014/main" id="{4A0D66DB-16AF-4581-A935-B32B75481BEB}"/>
              </a:ext>
            </a:extLst>
          </p:cNvPr>
          <p:cNvSpPr>
            <a:spLocks xmlns:a="http://schemas.openxmlformats.org/drawingml/2006/main" noGrp="1"/>
          </p:cNvSpPr>
          <p:nvPr/>
        </p:nvSpPr>
        <p:spPr>
          <a:xfrm xmlns:a="http://schemas.openxmlformats.org/drawingml/2006/main">
            <a:off x="3200400" y="2828925"/>
            <a:ext cx="2857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owner/admin · OWASP Broken Access Control</a:t>
            </a:r>
          </a:p>
        </p:txBody>
      </p:sp>
      <p:sp>
        <p:nvSpPr>
          <p:cNvPr id="19" name="S17_MATRIX_R1C3">
            <a:extLst xmlns:a="http://schemas.openxmlformats.org/drawingml/2006/main">
              <a:ext uri="{FF2B5EF4-FFF2-40B4-BE49-F238E27FC236}">
                <a16:creationId xmlns:a16="http://schemas.microsoft.com/office/drawing/2014/main" id="{DF2F18DC-2626-4106-B11C-492713E48492}"/>
              </a:ext>
            </a:extLst>
          </p:cNvPr>
          <p:cNvSpPr>
            <a:spLocks xmlns:a="http://schemas.openxmlformats.org/drawingml/2006/main" noGrp="1"/>
          </p:cNvSpPr>
          <p:nvPr/>
        </p:nvSpPr>
        <p:spPr>
          <a:xfrm xmlns:a="http://schemas.openxmlformats.org/drawingml/2006/main">
            <a:off x="6057900" y="2828925"/>
            <a:ext cx="11430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20" name="S17_MATRIX_R2C0">
            <a:extLst xmlns:a="http://schemas.openxmlformats.org/drawingml/2006/main">
              <a:ext uri="{FF2B5EF4-FFF2-40B4-BE49-F238E27FC236}">
                <a16:creationId xmlns:a16="http://schemas.microsoft.com/office/drawing/2014/main" id="{32E7DE5B-3C13-4A12-AC36-36776526067D}"/>
              </a:ext>
            </a:extLst>
          </p:cNvPr>
          <p:cNvSpPr>
            <a:spLocks xmlns:a="http://schemas.openxmlformats.org/drawingml/2006/main" noGrp="1"/>
          </p:cNvSpPr>
          <p:nvPr/>
        </p:nvSpPr>
        <p:spPr>
          <a:xfrm xmlns:a="http://schemas.openxmlformats.org/drawingml/2006/main">
            <a:off x="53340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Profile</a:t>
            </a:r>
          </a:p>
        </p:txBody>
      </p:sp>
      <p:sp>
        <p:nvSpPr>
          <p:cNvPr id="21" name="S17_MATRIX_R2C1">
            <a:extLst xmlns:a="http://schemas.openxmlformats.org/drawingml/2006/main">
              <a:ext uri="{FF2B5EF4-FFF2-40B4-BE49-F238E27FC236}">
                <a16:creationId xmlns:a16="http://schemas.microsoft.com/office/drawing/2014/main" id="{1944E619-15D3-479E-8293-B7E7D97681FD}"/>
              </a:ext>
            </a:extLst>
          </p:cNvPr>
          <p:cNvSpPr>
            <a:spLocks xmlns:a="http://schemas.openxmlformats.org/drawingml/2006/main" noGrp="1"/>
          </p:cNvSpPr>
          <p:nvPr/>
        </p:nvSpPr>
        <p:spPr>
          <a:xfrm xmlns:a="http://schemas.openxmlformats.org/drawingml/2006/main">
            <a:off x="186690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role=admin</a:t>
            </a:r>
          </a:p>
        </p:txBody>
      </p:sp>
      <p:sp>
        <p:nvSpPr>
          <p:cNvPr id="22" name="S17_MATRIX_R2C2">
            <a:extLst xmlns:a="http://schemas.openxmlformats.org/drawingml/2006/main">
              <a:ext uri="{FF2B5EF4-FFF2-40B4-BE49-F238E27FC236}">
                <a16:creationId xmlns:a16="http://schemas.microsoft.com/office/drawing/2014/main" id="{CA60F898-ABFE-41E8-93FF-21731447BF5C}"/>
              </a:ext>
            </a:extLst>
          </p:cNvPr>
          <p:cNvSpPr>
            <a:spLocks xmlns:a="http://schemas.openxmlformats.org/drawingml/2006/main" noGrp="1"/>
          </p:cNvSpPr>
          <p:nvPr/>
        </p:nvSpPr>
        <p:spPr>
          <a:xfrm xmlns:a="http://schemas.openxmlformats.org/drawingml/2006/main">
            <a:off x="3200400" y="3395663"/>
            <a:ext cx="2857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field allowlist</a:t>
            </a:r>
          </a:p>
        </p:txBody>
      </p:sp>
      <p:sp>
        <p:nvSpPr>
          <p:cNvPr id="23" name="S17_MATRIX_R2C3">
            <a:extLst xmlns:a="http://schemas.openxmlformats.org/drawingml/2006/main">
              <a:ext uri="{FF2B5EF4-FFF2-40B4-BE49-F238E27FC236}">
                <a16:creationId xmlns:a16="http://schemas.microsoft.com/office/drawing/2014/main" id="{83220C63-70E1-4A09-A617-30A2629A8AD0}"/>
              </a:ext>
            </a:extLst>
          </p:cNvPr>
          <p:cNvSpPr>
            <a:spLocks xmlns:a="http://schemas.openxmlformats.org/drawingml/2006/main" noGrp="1"/>
          </p:cNvSpPr>
          <p:nvPr/>
        </p:nvSpPr>
        <p:spPr>
          <a:xfrm xmlns:a="http://schemas.openxmlformats.org/drawingml/2006/main">
            <a:off x="6057900" y="3395663"/>
            <a:ext cx="11430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email only</a:t>
            </a:r>
          </a:p>
        </p:txBody>
      </p:sp>
      <p:sp>
        <p:nvSpPr>
          <p:cNvPr id="24" name="S17_QA_1">
            <a:extLst xmlns:a="http://schemas.openxmlformats.org/drawingml/2006/main">
              <a:ext uri="{FF2B5EF4-FFF2-40B4-BE49-F238E27FC236}">
                <a16:creationId xmlns:a16="http://schemas.microsoft.com/office/drawing/2014/main" id="{A5F609CF-927C-4CC0-A033-83D3976B45E7}"/>
              </a:ext>
            </a:extLst>
          </p:cNvPr>
          <p:cNvSpPr>
            <a:spLocks xmlns:a="http://schemas.openxmlformats.org/drawingml/2006/main" noGrp="1"/>
          </p:cNvSpPr>
          <p:nvPr/>
        </p:nvSpPr>
        <p:spPr>
          <a:xfrm xmlns:a="http://schemas.openxmlformats.org/drawingml/2006/main">
            <a:off x="7467600" y="16954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Không tin giá client vì người dùng kiểm soát request.</a:t>
            </a:r>
          </a:p>
        </p:txBody>
      </p:sp>
      <p:sp>
        <p:nvSpPr>
          <p:cNvPr id="25" name="S17_QA_2">
            <a:extLst xmlns:a="http://schemas.openxmlformats.org/drawingml/2006/main">
              <a:ext uri="{FF2B5EF4-FFF2-40B4-BE49-F238E27FC236}">
                <a16:creationId xmlns:a16="http://schemas.microsoft.com/office/drawing/2014/main" id="{704429B7-0526-4E8B-975D-78327507BDC8}"/>
              </a:ext>
            </a:extLst>
          </p:cNvPr>
          <p:cNvSpPr>
            <a:spLocks xmlns:a="http://schemas.openxmlformats.org/drawingml/2006/main" noGrp="1"/>
          </p:cNvSpPr>
          <p:nvPr/>
        </p:nvSpPr>
        <p:spPr>
          <a:xfrm xmlns:a="http://schemas.openxmlformats.org/drawingml/2006/main">
            <a:off x="9639300" y="16954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IDOR thiếu authorization theo object.</a:t>
            </a:r>
          </a:p>
        </p:txBody>
      </p:sp>
      <p:sp>
        <p:nvSpPr>
          <p:cNvPr id="26" name="S17_QA_3">
            <a:extLst xmlns:a="http://schemas.openxmlformats.org/drawingml/2006/main">
              <a:ext uri="{FF2B5EF4-FFF2-40B4-BE49-F238E27FC236}">
                <a16:creationId xmlns:a16="http://schemas.microsoft.com/office/drawing/2014/main" id="{6B0E5E63-0BA5-4470-9CE8-70583006411A}"/>
              </a:ext>
            </a:extLst>
          </p:cNvPr>
          <p:cNvSpPr>
            <a:spLocks xmlns:a="http://schemas.openxmlformats.org/drawingml/2006/main" noGrp="1"/>
          </p:cNvSpPr>
          <p:nvPr/>
        </p:nvSpPr>
        <p:spPr>
          <a:xfrm xmlns:a="http://schemas.openxmlformats.org/drawingml/2006/main">
            <a:off x="7467600" y="313690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Role tampering là privilege escalation.</a:t>
            </a:r>
          </a:p>
        </p:txBody>
      </p:sp>
      <p:sp>
        <p:nvSpPr>
          <p:cNvPr id="27" name="S17_QA_4">
            <a:extLst xmlns:a="http://schemas.openxmlformats.org/drawingml/2006/main">
              <a:ext uri="{FF2B5EF4-FFF2-40B4-BE49-F238E27FC236}">
                <a16:creationId xmlns:a16="http://schemas.microsoft.com/office/drawing/2014/main" id="{93E91F98-8494-4BDD-BA0F-1FD91CA192B6}"/>
              </a:ext>
            </a:extLst>
          </p:cNvPr>
          <p:cNvSpPr>
            <a:spLocks xmlns:a="http://schemas.openxmlformats.org/drawingml/2006/main" noGrp="1"/>
          </p:cNvSpPr>
          <p:nvPr/>
        </p:nvSpPr>
        <p:spPr>
          <a:xfrm xmlns:a="http://schemas.openxmlformats.org/drawingml/2006/main">
            <a:off x="9639300" y="313690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Tampering khác SQLi: policy vs query syntax.</a:t>
            </a:r>
          </a:p>
        </p:txBody>
      </p:sp>
      <p:sp>
        <p:nvSpPr>
          <p:cNvPr id="28" name="S17_QA_5">
            <a:extLst xmlns:a="http://schemas.openxmlformats.org/drawingml/2006/main">
              <a:ext uri="{FF2B5EF4-FFF2-40B4-BE49-F238E27FC236}">
                <a16:creationId xmlns:a16="http://schemas.microsoft.com/office/drawing/2014/main" id="{A276B0CE-A30A-45D4-B166-1E88A135E460}"/>
              </a:ext>
            </a:extLst>
          </p:cNvPr>
          <p:cNvSpPr>
            <a:spLocks xmlns:a="http://schemas.openxmlformats.org/drawingml/2006/main" noGrp="1"/>
          </p:cNvSpPr>
          <p:nvPr/>
        </p:nvSpPr>
        <p:spPr>
          <a:xfrm xmlns:a="http://schemas.openxmlformats.org/drawingml/2006/main">
            <a:off x="7467600" y="45783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Hidden field không phải security control.</a:t>
            </a:r>
          </a:p>
        </p:txBody>
      </p:sp>
      <p:sp>
        <p:nvSpPr>
          <p:cNvPr id="29" name="S17_QA_6">
            <a:extLst xmlns:a="http://schemas.openxmlformats.org/drawingml/2006/main">
              <a:ext uri="{FF2B5EF4-FFF2-40B4-BE49-F238E27FC236}">
                <a16:creationId xmlns:a16="http://schemas.microsoft.com/office/drawing/2014/main" id="{53EF4ABE-5DC5-4B81-9459-BCF7D09658BB}"/>
              </a:ext>
            </a:extLst>
          </p:cNvPr>
          <p:cNvSpPr>
            <a:spLocks xmlns:a="http://schemas.openxmlformats.org/drawingml/2006/main" noGrp="1"/>
          </p:cNvSpPr>
          <p:nvPr/>
        </p:nvSpPr>
        <p:spPr>
          <a:xfrm xmlns:a="http://schemas.openxmlformats.org/drawingml/2006/main">
            <a:off x="9639300" y="4578350"/>
            <a:ext cx="201930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Audit: ai · object · field · before/after · result.</a:t>
            </a:r>
          </a:p>
        </p:txBody>
      </p:sp>
      <p:sp>
        <p:nvSpPr>
          <p:cNvPr id="30" name="S17_CONTROLS_BAR">
            <a:extLst xmlns:a="http://schemas.openxmlformats.org/drawingml/2006/main">
              <a:ext uri="{FF2B5EF4-FFF2-40B4-BE49-F238E27FC236}">
                <a16:creationId xmlns:a16="http://schemas.microsoft.com/office/drawing/2014/main" id="{454D37D2-765A-4F2C-AF85-25AE13741BE5}"/>
              </a:ext>
            </a:extLst>
          </p:cNvPr>
          <p:cNvSpPr>
            <a:spLocks xmlns:a="http://schemas.openxmlformats.org/drawingml/2006/main" noGrp="1"/>
          </p:cNvSpPr>
          <p:nvPr/>
        </p:nvSpPr>
        <p:spPr>
          <a:xfrm xmlns:a="http://schemas.openxmlformats.org/drawingml/2006/main">
            <a:off x="533400" y="4324350"/>
            <a:ext cx="76200" cy="0"/>
          </a:xfrm>
          <a:prstGeom xmlns:a="http://schemas.openxmlformats.org/drawingml/2006/main" prst="rect">
            <a:avLst/>
          </a:prstGeom>
          <a:ln xmlns:a="http://schemas.openxmlformats.org/drawingml/2006/main" w="0">
            <a:noFill/>
            <a:prstDash val="solid"/>
          </a:ln>
        </p:spPr>
      </p:sp>
      <p:sp>
        <p:nvSpPr>
          <p:cNvPr id="31" name="S17_CONTROLS_LABEL">
            <a:extLst xmlns:a="http://schemas.openxmlformats.org/drawingml/2006/main">
              <a:ext uri="{FF2B5EF4-FFF2-40B4-BE49-F238E27FC236}">
                <a16:creationId xmlns:a16="http://schemas.microsoft.com/office/drawing/2014/main" id="{95AB1C32-A184-4182-BF7B-7EE49A269D1D}"/>
              </a:ext>
            </a:extLst>
          </p:cNvPr>
          <p:cNvSpPr>
            <a:spLocks xmlns:a="http://schemas.openxmlformats.org/drawingml/2006/main" noGrp="1"/>
          </p:cNvSpPr>
          <p:nvPr/>
        </p:nvSpPr>
        <p:spPr>
          <a:xfrm xmlns:a="http://schemas.openxmlformats.org/drawingml/2006/main">
            <a:off x="704850" y="43434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CHUỖI THỰC HÀNH</a:t>
            </a:r>
          </a:p>
        </p:txBody>
      </p:sp>
      <p:sp>
        <p:nvSpPr>
          <p:cNvPr id="32" name="S17_CONTROLS_BODY">
            <a:extLst xmlns:a="http://schemas.openxmlformats.org/drawingml/2006/main">
              <a:ext uri="{FF2B5EF4-FFF2-40B4-BE49-F238E27FC236}">
                <a16:creationId xmlns:a16="http://schemas.microsoft.com/office/drawing/2014/main" id="{917DD1CD-3DAD-408D-899D-7EFFD06ECFCD}"/>
              </a:ext>
            </a:extLst>
          </p:cNvPr>
          <p:cNvSpPr>
            <a:spLocks xmlns:a="http://schemas.openxmlformats.org/drawingml/2006/main" noGrp="1"/>
          </p:cNvSpPr>
          <p:nvPr/>
        </p:nvSpPr>
        <p:spPr>
          <a:xfrm xmlns:a="http://schemas.openxmlformats.org/drawingml/2006/main">
            <a:off x="704850" y="4648200"/>
            <a:ext cx="6477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Login user A → xem invoice 1001 → đổi id=1002 → vulnerable lộ dữ liệu → secure 403.</a:t>
            </a:r>
          </a:p>
        </p:txBody>
      </p:sp>
    </p:spTree>
    <p:extLst>
      <p:ext uri="{BB962C8B-B14F-4D97-AF65-F5344CB8AC3E}">
        <p14:creationId xmlns:p14="http://schemas.microsoft.com/office/powerpoint/2010/main" val="2053515136"/>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S18_EYEBROW">
            <a:extLst xmlns:a="http://schemas.openxmlformats.org/drawingml/2006/main">
              <a:ext uri="{FF2B5EF4-FFF2-40B4-BE49-F238E27FC236}">
                <a16:creationId xmlns:a16="http://schemas.microsoft.com/office/drawing/2014/main" id="{4D3165B0-E686-4F6E-9DB4-4EC58BDCA77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18_TITLE">
            <a:extLst xmlns:a="http://schemas.openxmlformats.org/drawingml/2006/main">
              <a:ext uri="{FF2B5EF4-FFF2-40B4-BE49-F238E27FC236}">
                <a16:creationId xmlns:a16="http://schemas.microsoft.com/office/drawing/2014/main" id="{B8CC8648-140C-49E6-B933-0708D7EBB15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CSRF lợi dụng credential browser tự gửi</a:t>
            </a:r>
          </a:p>
        </p:txBody>
      </p:sp>
      <p:sp>
        <p:nvSpPr>
          <p:cNvPr id="3" name="S18_SUBTITLE">
            <a:extLst xmlns:a="http://schemas.openxmlformats.org/drawingml/2006/main">
              <a:ext uri="{FF2B5EF4-FFF2-40B4-BE49-F238E27FC236}">
                <a16:creationId xmlns:a16="http://schemas.microsoft.com/office/drawing/2014/main" id="{6096BE53-7887-485A-B09C-B8BDEBDBD983}"/>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 không cần biết mật khẩu; chỉ cần khiến victim phát sinh state-changing request.</a:t>
            </a:r>
          </a:p>
        </p:txBody>
      </p:sp>
      <p:sp>
        <p:nvSpPr>
          <p:cNvPr id="4" name="S18_TITLE_RULE">
            <a:extLst xmlns:a="http://schemas.openxmlformats.org/drawingml/2006/main">
              <a:ext uri="{FF2B5EF4-FFF2-40B4-BE49-F238E27FC236}">
                <a16:creationId xmlns:a16="http://schemas.microsoft.com/office/drawing/2014/main" id="{4D220856-FA92-40AA-8993-5EE6FF366E4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8_FOOTER_RULE">
            <a:extLst xmlns:a="http://schemas.openxmlformats.org/drawingml/2006/main">
              <a:ext uri="{FF2B5EF4-FFF2-40B4-BE49-F238E27FC236}">
                <a16:creationId xmlns:a16="http://schemas.microsoft.com/office/drawing/2014/main" id="{6F116F10-A083-454E-B04F-C79F0CAFDC2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8_SOURCE">
            <a:extLst xmlns:a="http://schemas.openxmlformats.org/drawingml/2006/main">
              <a:ext uri="{FF2B5EF4-FFF2-40B4-BE49-F238E27FC236}">
                <a16:creationId xmlns:a16="http://schemas.microsoft.com/office/drawing/2014/main" id="{D73A5CA5-F912-4466-9960-2AE47569FF42}"/>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Lab04/victim_app.py · attacker_app.py</a:t>
            </a:r>
          </a:p>
        </p:txBody>
      </p:sp>
      <p:sp>
        <p:nvSpPr>
          <p:cNvPr id="7" name="S18_NUMBER">
            <a:extLst xmlns:a="http://schemas.openxmlformats.org/drawingml/2006/main">
              <a:ext uri="{FF2B5EF4-FFF2-40B4-BE49-F238E27FC236}">
                <a16:creationId xmlns:a16="http://schemas.microsoft.com/office/drawing/2014/main" id="{06AA2F24-EE14-455D-9F09-753B79FEEFA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18</a:t>
            </a:r>
          </a:p>
        </p:txBody>
      </p:sp>
      <p:sp>
        <p:nvSpPr>
          <p:cNvPr id="8" name="S18_TRIANGLE_ARROW_1">
            <a:extLst xmlns:a="http://schemas.openxmlformats.org/drawingml/2006/main">
              <a:ext uri="{FF2B5EF4-FFF2-40B4-BE49-F238E27FC236}">
                <a16:creationId xmlns:a16="http://schemas.microsoft.com/office/drawing/2014/main" id="{934D6207-E7B7-412C-9E30-D5A04CCE0178}"/>
              </a:ext>
            </a:extLst>
          </p:cNvPr>
          <p:cNvSpPr>
            <a:spLocks xmlns:a="http://schemas.openxmlformats.org/drawingml/2006/main" noGrp="1"/>
          </p:cNvSpPr>
          <p:nvPr/>
        </p:nvSpPr>
        <p:spPr>
          <a:xfrm xmlns:a="http://schemas.openxmlformats.org/drawingml/2006/main">
            <a:off x="4470400" y="22574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8_TRIANGLE_ARROW_2">
            <a:extLst xmlns:a="http://schemas.openxmlformats.org/drawingml/2006/main">
              <a:ext uri="{FF2B5EF4-FFF2-40B4-BE49-F238E27FC236}">
                <a16:creationId xmlns:a16="http://schemas.microsoft.com/office/drawing/2014/main" id="{6E7F8AE9-BF35-4541-9686-65A3AF66775E}"/>
              </a:ext>
            </a:extLst>
          </p:cNvPr>
          <p:cNvSpPr>
            <a:spLocks xmlns:a="http://schemas.openxmlformats.org/drawingml/2006/main" noGrp="1"/>
          </p:cNvSpPr>
          <p:nvPr/>
        </p:nvSpPr>
        <p:spPr>
          <a:xfrm xmlns:a="http://schemas.openxmlformats.org/drawingml/2006/main">
            <a:off x="7588250" y="2257425"/>
            <a:ext cx="26670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8_TRIANGLE_NODE_1">
            <a:extLst xmlns:a="http://schemas.openxmlformats.org/drawingml/2006/main">
              <a:ext uri="{FF2B5EF4-FFF2-40B4-BE49-F238E27FC236}">
                <a16:creationId xmlns:a16="http://schemas.microsoft.com/office/drawing/2014/main" id="{5564947C-95F5-42EF-866E-0A0CFEABD56E}"/>
              </a:ext>
            </a:extLst>
          </p:cNvPr>
          <p:cNvSpPr>
            <a:spLocks xmlns:a="http://schemas.openxmlformats.org/drawingml/2006/main" noGrp="1"/>
          </p:cNvSpPr>
          <p:nvPr/>
        </p:nvSpPr>
        <p:spPr>
          <a:xfrm xmlns:a="http://schemas.openxmlformats.org/drawingml/2006/main">
            <a:off x="161925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ATTACKER</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:9004</a:t>
            </a:r>
          </a:p>
        </p:txBody>
      </p:sp>
      <p:sp>
        <p:nvSpPr>
          <p:cNvPr id="11" name="S18_TRIANGLE_NODE_2">
            <a:extLst xmlns:a="http://schemas.openxmlformats.org/drawingml/2006/main">
              <a:ext uri="{FF2B5EF4-FFF2-40B4-BE49-F238E27FC236}">
                <a16:creationId xmlns:a16="http://schemas.microsoft.com/office/drawing/2014/main" id="{306F6BBA-EDB6-427C-84F6-EAD29D0EC916}"/>
              </a:ext>
            </a:extLst>
          </p:cNvPr>
          <p:cNvSpPr>
            <a:spLocks xmlns:a="http://schemas.openxmlformats.org/drawingml/2006/main" noGrp="1"/>
          </p:cNvSpPr>
          <p:nvPr/>
        </p:nvSpPr>
        <p:spPr>
          <a:xfrm xmlns:a="http://schemas.openxmlformats.org/drawingml/2006/main">
            <a:off x="473710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VICTIM</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BROWSER</a:t>
            </a:r>
          </a:p>
        </p:txBody>
      </p:sp>
      <p:sp>
        <p:nvSpPr>
          <p:cNvPr id="12" name="S18_TRIANGLE_NODE_3">
            <a:extLst xmlns:a="http://schemas.openxmlformats.org/drawingml/2006/main">
              <a:ext uri="{FF2B5EF4-FFF2-40B4-BE49-F238E27FC236}">
                <a16:creationId xmlns:a16="http://schemas.microsoft.com/office/drawing/2014/main" id="{4D9C73CB-6CCD-46CB-A52F-D71B271F0A4F}"/>
              </a:ext>
            </a:extLst>
          </p:cNvPr>
          <p:cNvSpPr>
            <a:spLocks xmlns:a="http://schemas.openxmlformats.org/drawingml/2006/main" noGrp="1"/>
          </p:cNvSpPr>
          <p:nvPr/>
        </p:nvSpPr>
        <p:spPr>
          <a:xfrm xmlns:a="http://schemas.openxmlformats.org/drawingml/2006/main">
            <a:off x="7854950" y="1809750"/>
            <a:ext cx="2717800" cy="1066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TARGET</a:t>
            </a:r>
          </a:p>
          <a:p xmlns:a="http://schemas.openxmlformats.org/drawingml/2006/main">
            <a:pPr algn="ctr">
              <a:lnSpc>
                <a:spcPct val="100000"/>
              </a:lnSpc>
              <a:buNone/>
              <a:defRPr sz="1650" b="1">
                <a:solidFill>
                  <a:srgbClr val="F0ECE5"/>
                </a:solidFill>
                <a:latin typeface="Bahnschrift"/>
                <a:ea typeface="Bahnschrift"/>
                <a:cs typeface="Bahnschrift"/>
              </a:defRPr>
            </a:pPr>
            <a:r>
              <a:rPr sz="1650" b="1">
                <a:solidFill>
                  <a:srgbClr val="F0ECE5"/>
                </a:solidFill>
                <a:latin typeface="Bahnschrift"/>
                <a:ea typeface="Bahnschrift"/>
                <a:cs typeface="Bahnschrift"/>
              </a:rPr>
              <a:t>:5004</a:t>
            </a:r>
          </a:p>
        </p:txBody>
      </p:sp>
      <p:sp>
        <p:nvSpPr>
          <p:cNvPr id="13" name="S18_COND_H0">
            <a:extLst xmlns:a="http://schemas.openxmlformats.org/drawingml/2006/main">
              <a:ext uri="{FF2B5EF4-FFF2-40B4-BE49-F238E27FC236}">
                <a16:creationId xmlns:a16="http://schemas.microsoft.com/office/drawing/2014/main" id="{D27400A2-777A-46CA-BF84-6D4B43681E4C}"/>
              </a:ext>
            </a:extLst>
          </p:cNvPr>
          <p:cNvSpPr>
            <a:spLocks xmlns:a="http://schemas.openxmlformats.org/drawingml/2006/main" noGrp="1"/>
          </p:cNvSpPr>
          <p:nvPr/>
        </p:nvSpPr>
        <p:spPr>
          <a:xfrm xmlns:a="http://schemas.openxmlformats.org/drawingml/2006/main">
            <a:off x="533400" y="3390900"/>
            <a:ext cx="24765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ĐIỀU KIỆN</a:t>
            </a:r>
          </a:p>
        </p:txBody>
      </p:sp>
      <p:sp>
        <p:nvSpPr>
          <p:cNvPr id="14" name="S18_COND_H1">
            <a:extLst xmlns:a="http://schemas.openxmlformats.org/drawingml/2006/main">
              <a:ext uri="{FF2B5EF4-FFF2-40B4-BE49-F238E27FC236}">
                <a16:creationId xmlns:a16="http://schemas.microsoft.com/office/drawing/2014/main" id="{B581FBAF-7054-46EE-837C-109AF2C10F43}"/>
              </a:ext>
            </a:extLst>
          </p:cNvPr>
          <p:cNvSpPr>
            <a:spLocks xmlns:a="http://schemas.openxmlformats.org/drawingml/2006/main" noGrp="1"/>
          </p:cNvSpPr>
          <p:nvPr/>
        </p:nvSpPr>
        <p:spPr>
          <a:xfrm xmlns:a="http://schemas.openxmlformats.org/drawingml/2006/main">
            <a:off x="3009900" y="3390900"/>
            <a:ext cx="28575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CÓ TRONG LAB</a:t>
            </a:r>
          </a:p>
        </p:txBody>
      </p:sp>
      <p:sp>
        <p:nvSpPr>
          <p:cNvPr id="15" name="S18_COND_H2">
            <a:extLst xmlns:a="http://schemas.openxmlformats.org/drawingml/2006/main">
              <a:ext uri="{FF2B5EF4-FFF2-40B4-BE49-F238E27FC236}">
                <a16:creationId xmlns:a16="http://schemas.microsoft.com/office/drawing/2014/main" id="{BD7152A4-0B89-413E-BE11-B69B9FDFFA78}"/>
              </a:ext>
            </a:extLst>
          </p:cNvPr>
          <p:cNvSpPr>
            <a:spLocks xmlns:a="http://schemas.openxmlformats.org/drawingml/2006/main" noGrp="1"/>
          </p:cNvSpPr>
          <p:nvPr/>
        </p:nvSpPr>
        <p:spPr>
          <a:xfrm xmlns:a="http://schemas.openxmlformats.org/drawingml/2006/main">
            <a:off x="5867400" y="3390900"/>
            <a:ext cx="5791200" cy="4953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Ý NGHĨA</a:t>
            </a:r>
          </a:p>
        </p:txBody>
      </p:sp>
      <p:sp>
        <p:nvSpPr>
          <p:cNvPr id="16" name="S18_COND_R0C0">
            <a:extLst xmlns:a="http://schemas.openxmlformats.org/drawingml/2006/main">
              <a:ext uri="{FF2B5EF4-FFF2-40B4-BE49-F238E27FC236}">
                <a16:creationId xmlns:a16="http://schemas.microsoft.com/office/drawing/2014/main" id="{766FD5E3-9575-47B2-9EC1-79D1ECC95EDD}"/>
              </a:ext>
            </a:extLst>
          </p:cNvPr>
          <p:cNvSpPr>
            <a:spLocks xmlns:a="http://schemas.openxmlformats.org/drawingml/2006/main" noGrp="1"/>
          </p:cNvSpPr>
          <p:nvPr/>
        </p:nvSpPr>
        <p:spPr>
          <a:xfrm xmlns:a="http://schemas.openxmlformats.org/drawingml/2006/main">
            <a:off x="533400" y="3886200"/>
            <a:ext cx="2476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sống</a:t>
            </a:r>
          </a:p>
        </p:txBody>
      </p:sp>
      <p:sp>
        <p:nvSpPr>
          <p:cNvPr id="17" name="S18_COND_R0C1">
            <a:extLst xmlns:a="http://schemas.openxmlformats.org/drawingml/2006/main">
              <a:ext uri="{FF2B5EF4-FFF2-40B4-BE49-F238E27FC236}">
                <a16:creationId xmlns:a16="http://schemas.microsoft.com/office/drawing/2014/main" id="{8E4C9DF9-D197-4DB5-9CF3-EB7E93304570}"/>
              </a:ext>
            </a:extLst>
          </p:cNvPr>
          <p:cNvSpPr>
            <a:spLocks xmlns:a="http://schemas.openxmlformats.org/drawingml/2006/main" noGrp="1"/>
          </p:cNvSpPr>
          <p:nvPr/>
        </p:nvSpPr>
        <p:spPr>
          <a:xfrm xmlns:a="http://schemas.openxmlformats.org/drawingml/2006/main">
            <a:off x="3009900" y="3886200"/>
            <a:ext cx="2857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cookie victim</a:t>
            </a:r>
          </a:p>
        </p:txBody>
      </p:sp>
      <p:sp>
        <p:nvSpPr>
          <p:cNvPr id="18" name="S18_COND_R0C2">
            <a:extLst xmlns:a="http://schemas.openxmlformats.org/drawingml/2006/main">
              <a:ext uri="{FF2B5EF4-FFF2-40B4-BE49-F238E27FC236}">
                <a16:creationId xmlns:a16="http://schemas.microsoft.com/office/drawing/2014/main" id="{275AE9D6-44EC-41B7-8083-C97BDBFB2342}"/>
              </a:ext>
            </a:extLst>
          </p:cNvPr>
          <p:cNvSpPr>
            <a:spLocks xmlns:a="http://schemas.openxmlformats.org/drawingml/2006/main" noGrp="1"/>
          </p:cNvSpPr>
          <p:nvPr/>
        </p:nvSpPr>
        <p:spPr>
          <a:xfrm xmlns:a="http://schemas.openxmlformats.org/drawingml/2006/main">
            <a:off x="5867400" y="3886200"/>
            <a:ext cx="57912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có credential</a:t>
            </a:r>
          </a:p>
        </p:txBody>
      </p:sp>
      <p:sp>
        <p:nvSpPr>
          <p:cNvPr id="19" name="S18_COND_R1C0">
            <a:extLst xmlns:a="http://schemas.openxmlformats.org/drawingml/2006/main">
              <a:ext uri="{FF2B5EF4-FFF2-40B4-BE49-F238E27FC236}">
                <a16:creationId xmlns:a16="http://schemas.microsoft.com/office/drawing/2014/main" id="{8D8C44CC-A3E7-4CF7-97B3-BDA09194CBE8}"/>
              </a:ext>
            </a:extLst>
          </p:cNvPr>
          <p:cNvSpPr>
            <a:spLocks xmlns:a="http://schemas.openxmlformats.org/drawingml/2006/main" noGrp="1"/>
          </p:cNvSpPr>
          <p:nvPr/>
        </p:nvSpPr>
        <p:spPr>
          <a:xfrm xmlns:a="http://schemas.openxmlformats.org/drawingml/2006/main">
            <a:off x="533400" y="4381500"/>
            <a:ext cx="2476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State change</a:t>
            </a:r>
          </a:p>
        </p:txBody>
      </p:sp>
      <p:sp>
        <p:nvSpPr>
          <p:cNvPr id="20" name="S18_COND_R1C1">
            <a:extLst xmlns:a="http://schemas.openxmlformats.org/drawingml/2006/main">
              <a:ext uri="{FF2B5EF4-FFF2-40B4-BE49-F238E27FC236}">
                <a16:creationId xmlns:a16="http://schemas.microsoft.com/office/drawing/2014/main" id="{F36B8BC0-95C5-4763-B3FD-5A4C461D9C49}"/>
              </a:ext>
            </a:extLst>
          </p:cNvPr>
          <p:cNvSpPr>
            <a:spLocks xmlns:a="http://schemas.openxmlformats.org/drawingml/2006/main" noGrp="1"/>
          </p:cNvSpPr>
          <p:nvPr/>
        </p:nvSpPr>
        <p:spPr>
          <a:xfrm xmlns:a="http://schemas.openxmlformats.org/drawingml/2006/main">
            <a:off x="3009900" y="4381500"/>
            <a:ext cx="2857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đổi email</a:t>
            </a:r>
          </a:p>
        </p:txBody>
      </p:sp>
      <p:sp>
        <p:nvSpPr>
          <p:cNvPr id="21" name="S18_COND_R1C2">
            <a:extLst xmlns:a="http://schemas.openxmlformats.org/drawingml/2006/main">
              <a:ext uri="{FF2B5EF4-FFF2-40B4-BE49-F238E27FC236}">
                <a16:creationId xmlns:a16="http://schemas.microsoft.com/office/drawing/2014/main" id="{844B1054-3778-4D21-B7F5-CB75D4C50950}"/>
              </a:ext>
            </a:extLst>
          </p:cNvPr>
          <p:cNvSpPr>
            <a:spLocks xmlns:a="http://schemas.openxmlformats.org/drawingml/2006/main" noGrp="1"/>
          </p:cNvSpPr>
          <p:nvPr/>
        </p:nvSpPr>
        <p:spPr>
          <a:xfrm xmlns:a="http://schemas.openxmlformats.org/drawingml/2006/main">
            <a:off x="5867400" y="4381500"/>
            <a:ext cx="57912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tác động tài khoản</a:t>
            </a:r>
          </a:p>
        </p:txBody>
      </p:sp>
      <p:sp>
        <p:nvSpPr>
          <p:cNvPr id="22" name="S18_COND_R2C0">
            <a:extLst xmlns:a="http://schemas.openxmlformats.org/drawingml/2006/main">
              <a:ext uri="{FF2B5EF4-FFF2-40B4-BE49-F238E27FC236}">
                <a16:creationId xmlns:a16="http://schemas.microsoft.com/office/drawing/2014/main" id="{B070840F-BB1B-48CD-B841-8B50F26D6214}"/>
              </a:ext>
            </a:extLst>
          </p:cNvPr>
          <p:cNvSpPr>
            <a:spLocks xmlns:a="http://schemas.openxmlformats.org/drawingml/2006/main" noGrp="1"/>
          </p:cNvSpPr>
          <p:nvPr/>
        </p:nvSpPr>
        <p:spPr>
          <a:xfrm xmlns:a="http://schemas.openxmlformats.org/drawingml/2006/main">
            <a:off x="533400" y="4876800"/>
            <a:ext cx="2476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Thiếu token</a:t>
            </a:r>
          </a:p>
        </p:txBody>
      </p:sp>
      <p:sp>
        <p:nvSpPr>
          <p:cNvPr id="23" name="S18_COND_R2C1">
            <a:extLst xmlns:a="http://schemas.openxmlformats.org/drawingml/2006/main">
              <a:ext uri="{FF2B5EF4-FFF2-40B4-BE49-F238E27FC236}">
                <a16:creationId xmlns:a16="http://schemas.microsoft.com/office/drawing/2014/main" id="{08DF6835-32BA-478A-AE84-43CEB2DA7D08}"/>
              </a:ext>
            </a:extLst>
          </p:cNvPr>
          <p:cNvSpPr>
            <a:spLocks xmlns:a="http://schemas.openxmlformats.org/drawingml/2006/main" noGrp="1"/>
          </p:cNvSpPr>
          <p:nvPr/>
        </p:nvSpPr>
        <p:spPr>
          <a:xfrm xmlns:a="http://schemas.openxmlformats.org/drawingml/2006/main">
            <a:off x="3009900" y="4876800"/>
            <a:ext cx="28575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vulnerable route</a:t>
            </a:r>
          </a:p>
        </p:txBody>
      </p:sp>
      <p:sp>
        <p:nvSpPr>
          <p:cNvPr id="24" name="S18_COND_R2C2">
            <a:extLst xmlns:a="http://schemas.openxmlformats.org/drawingml/2006/main">
              <a:ext uri="{FF2B5EF4-FFF2-40B4-BE49-F238E27FC236}">
                <a16:creationId xmlns:a16="http://schemas.microsoft.com/office/drawing/2014/main" id="{92C12E96-C80E-4FC2-94D4-444B050BE05F}"/>
              </a:ext>
            </a:extLst>
          </p:cNvPr>
          <p:cNvSpPr>
            <a:spLocks xmlns:a="http://schemas.openxmlformats.org/drawingml/2006/main" noGrp="1"/>
          </p:cNvSpPr>
          <p:nvPr/>
        </p:nvSpPr>
        <p:spPr>
          <a:xfrm xmlns:a="http://schemas.openxmlformats.org/drawingml/2006/main">
            <a:off x="5867400" y="4876800"/>
            <a:ext cx="5791200" cy="4953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ràng buộc intent</a:t>
            </a:r>
          </a:p>
        </p:txBody>
      </p:sp>
      <p:sp>
        <p:nvSpPr>
          <p:cNvPr id="25" name="S18_COND_R3C0">
            <a:extLst xmlns:a="http://schemas.openxmlformats.org/drawingml/2006/main">
              <a:ext uri="{FF2B5EF4-FFF2-40B4-BE49-F238E27FC236}">
                <a16:creationId xmlns:a16="http://schemas.microsoft.com/office/drawing/2014/main" id="{98BD1B72-FEA9-4478-9E86-67526ECE822E}"/>
              </a:ext>
            </a:extLst>
          </p:cNvPr>
          <p:cNvSpPr>
            <a:spLocks xmlns:a="http://schemas.openxmlformats.org/drawingml/2006/main" noGrp="1"/>
          </p:cNvSpPr>
          <p:nvPr/>
        </p:nvSpPr>
        <p:spPr>
          <a:xfrm xmlns:a="http://schemas.openxmlformats.org/drawingml/2006/main">
            <a:off x="533400" y="5372100"/>
            <a:ext cx="2476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Cookie tự gửi</a:t>
            </a:r>
          </a:p>
        </p:txBody>
      </p:sp>
      <p:sp>
        <p:nvSpPr>
          <p:cNvPr id="26" name="S18_COND_R3C1">
            <a:extLst xmlns:a="http://schemas.openxmlformats.org/drawingml/2006/main">
              <a:ext uri="{FF2B5EF4-FFF2-40B4-BE49-F238E27FC236}">
                <a16:creationId xmlns:a16="http://schemas.microsoft.com/office/drawing/2014/main" id="{098F638F-004C-415E-BDCB-F935EB02A38C}"/>
              </a:ext>
            </a:extLst>
          </p:cNvPr>
          <p:cNvSpPr>
            <a:spLocks xmlns:a="http://schemas.openxmlformats.org/drawingml/2006/main" noGrp="1"/>
          </p:cNvSpPr>
          <p:nvPr/>
        </p:nvSpPr>
        <p:spPr>
          <a:xfrm xmlns:a="http://schemas.openxmlformats.org/drawingml/2006/main">
            <a:off x="3009900" y="5372100"/>
            <a:ext cx="28575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same target origin</a:t>
            </a:r>
          </a:p>
        </p:txBody>
      </p:sp>
      <p:sp>
        <p:nvSpPr>
          <p:cNvPr id="27" name="S18_COND_R3C2">
            <a:extLst xmlns:a="http://schemas.openxmlformats.org/drawingml/2006/main">
              <a:ext uri="{FF2B5EF4-FFF2-40B4-BE49-F238E27FC236}">
                <a16:creationId xmlns:a16="http://schemas.microsoft.com/office/drawing/2014/main" id="{47B059A6-C0E9-4AFA-8EF5-0C85AB70A7CF}"/>
              </a:ext>
            </a:extLst>
          </p:cNvPr>
          <p:cNvSpPr>
            <a:spLocks xmlns:a="http://schemas.openxmlformats.org/drawingml/2006/main" noGrp="1"/>
          </p:cNvSpPr>
          <p:nvPr/>
        </p:nvSpPr>
        <p:spPr>
          <a:xfrm xmlns:a="http://schemas.openxmlformats.org/drawingml/2006/main">
            <a:off x="5867400" y="5372100"/>
            <a:ext cx="5791200" cy="495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 không cần mật khẩu</a:t>
            </a:r>
          </a:p>
        </p:txBody>
      </p:sp>
    </p:spTree>
    <p:extLst>
      <p:ext uri="{BB962C8B-B14F-4D97-AF65-F5344CB8AC3E}">
        <p14:creationId xmlns:p14="http://schemas.microsoft.com/office/powerpoint/2010/main" val="1376995032"/>
      </p:ext>
    </p:extLst>
  </p:cSld>
</p:sld>
</file>

<file path=ppt/slides/slide1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1" name="S19_EYEBROW">
            <a:extLst xmlns:a="http://schemas.openxmlformats.org/drawingml/2006/main">
              <a:ext uri="{FF2B5EF4-FFF2-40B4-BE49-F238E27FC236}">
                <a16:creationId xmlns:a16="http://schemas.microsoft.com/office/drawing/2014/main" id="{0C827773-E972-4B3B-97D2-7F981B4F3A71}"/>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19_TITLE">
            <a:extLst xmlns:a="http://schemas.openxmlformats.org/drawingml/2006/main">
              <a:ext uri="{FF2B5EF4-FFF2-40B4-BE49-F238E27FC236}">
                <a16:creationId xmlns:a16="http://schemas.microsoft.com/office/drawing/2014/main" id="{D2BBB00D-E028-4944-B6BB-28030124A713}"/>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SOP không ngăn request được gửi</a:t>
            </a:r>
          </a:p>
        </p:txBody>
      </p:sp>
      <p:sp>
        <p:nvSpPr>
          <p:cNvPr id="3" name="S19_SUBTITLE">
            <a:extLst xmlns:a="http://schemas.openxmlformats.org/drawingml/2006/main">
              <a:ext uri="{FF2B5EF4-FFF2-40B4-BE49-F238E27FC236}">
                <a16:creationId xmlns:a16="http://schemas.microsoft.com/office/drawing/2014/main" id="{43DE96D1-6518-4C19-80D4-E8646BF48DD2}"/>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Browser có thể chặn attacker đọc response nhưng vẫn gửi form cùng cookie target.</a:t>
            </a:r>
          </a:p>
        </p:txBody>
      </p:sp>
      <p:sp>
        <p:nvSpPr>
          <p:cNvPr id="4" name="S19_TITLE_RULE">
            <a:extLst xmlns:a="http://schemas.openxmlformats.org/drawingml/2006/main">
              <a:ext uri="{FF2B5EF4-FFF2-40B4-BE49-F238E27FC236}">
                <a16:creationId xmlns:a16="http://schemas.microsoft.com/office/drawing/2014/main" id="{631A6ABB-A08B-4AB4-9CBC-97B50BA430A7}"/>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19_FOOTER_RULE">
            <a:extLst xmlns:a="http://schemas.openxmlformats.org/drawingml/2006/main">
              <a:ext uri="{FF2B5EF4-FFF2-40B4-BE49-F238E27FC236}">
                <a16:creationId xmlns:a16="http://schemas.microsoft.com/office/drawing/2014/main" id="{8B41F2D5-6CCE-4297-B3FD-8E8FC206F6E5}"/>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19_SOURCE">
            <a:extLst xmlns:a="http://schemas.openxmlformats.org/drawingml/2006/main">
              <a:ext uri="{FF2B5EF4-FFF2-40B4-BE49-F238E27FC236}">
                <a16:creationId xmlns:a16="http://schemas.microsoft.com/office/drawing/2014/main" id="{AA4F9815-A788-4003-8CAC-D5EE561E5BE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Lab04/attacker_templates · victim_app.py</a:t>
            </a:r>
          </a:p>
        </p:txBody>
      </p:sp>
      <p:sp>
        <p:nvSpPr>
          <p:cNvPr id="7" name="S19_NUMBER">
            <a:extLst xmlns:a="http://schemas.openxmlformats.org/drawingml/2006/main">
              <a:ext uri="{FF2B5EF4-FFF2-40B4-BE49-F238E27FC236}">
                <a16:creationId xmlns:a16="http://schemas.microsoft.com/office/drawing/2014/main" id="{20C8E916-FD29-40CD-AAE1-B6E774ACC40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19</a:t>
            </a:r>
          </a:p>
        </p:txBody>
      </p:sp>
      <p:sp>
        <p:nvSpPr>
          <p:cNvPr id="8" name="S19_FLOW_ARROW_1">
            <a:extLst xmlns:a="http://schemas.openxmlformats.org/drawingml/2006/main">
              <a:ext uri="{FF2B5EF4-FFF2-40B4-BE49-F238E27FC236}">
                <a16:creationId xmlns:a16="http://schemas.microsoft.com/office/drawing/2014/main" id="{22AD6DD6-ABC3-4F6B-B791-B93465CBA109}"/>
              </a:ext>
            </a:extLst>
          </p:cNvPr>
          <p:cNvSpPr>
            <a:spLocks xmlns:a="http://schemas.openxmlformats.org/drawingml/2006/main" noGrp="1"/>
          </p:cNvSpPr>
          <p:nvPr/>
        </p:nvSpPr>
        <p:spPr>
          <a:xfrm xmlns:a="http://schemas.openxmlformats.org/drawingml/2006/main">
            <a:off x="1777365"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19_FLOW_ARROW_2">
            <a:extLst xmlns:a="http://schemas.openxmlformats.org/drawingml/2006/main">
              <a:ext uri="{FF2B5EF4-FFF2-40B4-BE49-F238E27FC236}">
                <a16:creationId xmlns:a16="http://schemas.microsoft.com/office/drawing/2014/main" id="{B62DF566-E9A2-4F46-8618-94065E143414}"/>
              </a:ext>
            </a:extLst>
          </p:cNvPr>
          <p:cNvSpPr>
            <a:spLocks xmlns:a="http://schemas.openxmlformats.org/drawingml/2006/main" noGrp="1"/>
          </p:cNvSpPr>
          <p:nvPr/>
        </p:nvSpPr>
        <p:spPr>
          <a:xfrm xmlns:a="http://schemas.openxmlformats.org/drawingml/2006/main">
            <a:off x="3192780"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19_FLOW_ARROW_3">
            <a:extLst xmlns:a="http://schemas.openxmlformats.org/drawingml/2006/main">
              <a:ext uri="{FF2B5EF4-FFF2-40B4-BE49-F238E27FC236}">
                <a16:creationId xmlns:a16="http://schemas.microsoft.com/office/drawing/2014/main" id="{3487CF6E-C40B-4858-8A21-4401B81862AD}"/>
              </a:ext>
            </a:extLst>
          </p:cNvPr>
          <p:cNvSpPr>
            <a:spLocks xmlns:a="http://schemas.openxmlformats.org/drawingml/2006/main" noGrp="1"/>
          </p:cNvSpPr>
          <p:nvPr/>
        </p:nvSpPr>
        <p:spPr>
          <a:xfrm xmlns:a="http://schemas.openxmlformats.org/drawingml/2006/main">
            <a:off x="4608195"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19_FLOW_ARROW_4">
            <a:extLst xmlns:a="http://schemas.openxmlformats.org/drawingml/2006/main">
              <a:ext uri="{FF2B5EF4-FFF2-40B4-BE49-F238E27FC236}">
                <a16:creationId xmlns:a16="http://schemas.microsoft.com/office/drawing/2014/main" id="{3A661303-2D14-444C-B328-0EDD4CFAFD49}"/>
              </a:ext>
            </a:extLst>
          </p:cNvPr>
          <p:cNvSpPr>
            <a:spLocks xmlns:a="http://schemas.openxmlformats.org/drawingml/2006/main" noGrp="1"/>
          </p:cNvSpPr>
          <p:nvPr/>
        </p:nvSpPr>
        <p:spPr>
          <a:xfrm xmlns:a="http://schemas.openxmlformats.org/drawingml/2006/main">
            <a:off x="6023610" y="2133600"/>
            <a:ext cx="171450"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19_FLOW_NODE_1">
            <a:extLst xmlns:a="http://schemas.openxmlformats.org/drawingml/2006/main">
              <a:ext uri="{FF2B5EF4-FFF2-40B4-BE49-F238E27FC236}">
                <a16:creationId xmlns:a16="http://schemas.microsoft.com/office/drawing/2014/main" id="{BDA75A99-1EEC-40EF-91E1-50023EA8F09C}"/>
              </a:ext>
            </a:extLst>
          </p:cNvPr>
          <p:cNvSpPr>
            <a:spLocks xmlns:a="http://schemas.openxmlformats.org/drawingml/2006/main" noGrp="1"/>
          </p:cNvSpPr>
          <p:nvPr/>
        </p:nvSpPr>
        <p:spPr>
          <a:xfrm xmlns:a="http://schemas.openxmlformats.org/drawingml/2006/main">
            <a:off x="53340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Victim login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:5004</a:t>
            </a:r>
          </a:p>
        </p:txBody>
      </p:sp>
      <p:sp>
        <p:nvSpPr>
          <p:cNvPr id="13" name="S19_FLOW_NODE_2">
            <a:extLst xmlns:a="http://schemas.openxmlformats.org/drawingml/2006/main">
              <a:ext uri="{FF2B5EF4-FFF2-40B4-BE49-F238E27FC236}">
                <a16:creationId xmlns:a16="http://schemas.microsoft.com/office/drawing/2014/main" id="{00C82DC3-9E8A-4646-A0C4-DE526F82CC0C}"/>
              </a:ext>
            </a:extLst>
          </p:cNvPr>
          <p:cNvSpPr>
            <a:spLocks xmlns:a="http://schemas.openxmlformats.org/drawingml/2006/main" noGrp="1"/>
          </p:cNvSpPr>
          <p:nvPr/>
        </p:nvSpPr>
        <p:spPr>
          <a:xfrm xmlns:a="http://schemas.openxmlformats.org/drawingml/2006/main">
            <a:off x="1948815"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Open attacker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:9004</a:t>
            </a:r>
          </a:p>
        </p:txBody>
      </p:sp>
      <p:sp>
        <p:nvSpPr>
          <p:cNvPr id="14" name="S19_FLOW_NODE_3">
            <a:extLst xmlns:a="http://schemas.openxmlformats.org/drawingml/2006/main">
              <a:ext uri="{FF2B5EF4-FFF2-40B4-BE49-F238E27FC236}">
                <a16:creationId xmlns:a16="http://schemas.microsoft.com/office/drawing/2014/main" id="{4032D3D7-9D49-469C-B178-ECDFA4C9B8E9}"/>
              </a:ext>
            </a:extLst>
          </p:cNvPr>
          <p:cNvSpPr>
            <a:spLocks xmlns:a="http://schemas.openxmlformats.org/drawingml/2006/main" noGrp="1"/>
          </p:cNvSpPr>
          <p:nvPr/>
        </p:nvSpPr>
        <p:spPr>
          <a:xfrm xmlns:a="http://schemas.openxmlformats.org/drawingml/2006/main">
            <a:off x="336423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AUTO</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SUBMIT</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a:t>
            </a:r>
          </a:p>
        </p:txBody>
      </p:sp>
      <p:sp>
        <p:nvSpPr>
          <p:cNvPr id="15" name="S19_FLOW_NODE_4">
            <a:extLst xmlns:a="http://schemas.openxmlformats.org/drawingml/2006/main">
              <a:ext uri="{FF2B5EF4-FFF2-40B4-BE49-F238E27FC236}">
                <a16:creationId xmlns:a16="http://schemas.microsoft.com/office/drawing/2014/main" id="{52805595-9E70-42AC-8E4B-86DDD7CD2426}"/>
              </a:ext>
            </a:extLst>
          </p:cNvPr>
          <p:cNvSpPr>
            <a:spLocks xmlns:a="http://schemas.openxmlformats.org/drawingml/2006/main" noGrp="1"/>
          </p:cNvSpPr>
          <p:nvPr/>
        </p:nvSpPr>
        <p:spPr>
          <a:xfrm xmlns:a="http://schemas.openxmlformats.org/drawingml/2006/main">
            <a:off x="4779645"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COOKIE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TỰ GỬI</a:t>
            </a:r>
          </a:p>
        </p:txBody>
      </p:sp>
      <p:sp>
        <p:nvSpPr>
          <p:cNvPr id="16" name="S19_FLOW_NODE_5">
            <a:extLst xmlns:a="http://schemas.openxmlformats.org/drawingml/2006/main">
              <a:ext uri="{FF2B5EF4-FFF2-40B4-BE49-F238E27FC236}">
                <a16:creationId xmlns:a16="http://schemas.microsoft.com/office/drawing/2014/main" id="{31D37D44-BFC2-4A71-B7D5-2A744190EA6A}"/>
              </a:ext>
            </a:extLst>
          </p:cNvPr>
          <p:cNvSpPr>
            <a:spLocks xmlns:a="http://schemas.openxmlformats.org/drawingml/2006/main" noGrp="1"/>
          </p:cNvSpPr>
          <p:nvPr/>
        </p:nvSpPr>
        <p:spPr>
          <a:xfrm xmlns:a="http://schemas.openxmlformats.org/drawingml/2006/main">
            <a:off x="6195060" y="1752600"/>
            <a:ext cx="1196340" cy="9334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Email đổi</a:t>
            </a:r>
          </a:p>
        </p:txBody>
      </p:sp>
      <p:sp>
        <p:nvSpPr>
          <p:cNvPr id="17" name="PH_S19_Lab04_Lab04_email_before_csrf_png_FRAME">
            <a:extLst xmlns:a="http://schemas.openxmlformats.org/drawingml/2006/main">
              <a:ext uri="{FF2B5EF4-FFF2-40B4-BE49-F238E27FC236}">
                <a16:creationId xmlns:a16="http://schemas.microsoft.com/office/drawing/2014/main" id="{228FA5EE-44AD-4686-8CB4-B65CA79967F3}"/>
              </a:ext>
            </a:extLst>
          </p:cNvPr>
          <p:cNvSpPr>
            <a:spLocks xmlns:a="http://schemas.openxmlformats.org/drawingml/2006/main" noGrp="1"/>
          </p:cNvSpPr>
          <p:nvPr/>
        </p:nvSpPr>
        <p:spPr>
          <a:xfrm xmlns:a="http://schemas.openxmlformats.org/drawingml/2006/main">
            <a:off x="7724775" y="1724025"/>
            <a:ext cx="39624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8" name="PH_S19_Lab04_Lab04_email_before_csrf_png_IMAGE">
            <a:extLst xmlns:a="http://schemas.openxmlformats.org/drawingml/2006/main">
              <a:ext uri="{FF2B5EF4-FFF2-40B4-BE49-F238E27FC236}">
                <a16:creationId xmlns:a16="http://schemas.microsoft.com/office/drawing/2014/main" id="{3C6EE3B3-95E8-42AD-8670-C5FF431BAE30}"/>
              </a:ext>
            </a:extLst>
          </p:cNvPr>
          <p:cNvSpPr>
            <a:spLocks xmlns:a="http://schemas.openxmlformats.org/drawingml/2006/main" noGrp="1"/>
          </p:cNvSpPr>
          <p:nvPr/>
        </p:nvSpPr>
        <p:spPr>
          <a:xfrm xmlns:a="http://schemas.openxmlformats.org/drawingml/2006/main">
            <a:off x="7753350" y="1752600"/>
            <a:ext cx="39052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9" name="PH_S19_Lab04_Lab04_email_before_csrf_png_ICON">
            <a:extLst xmlns:a="http://schemas.openxmlformats.org/drawingml/2006/main">
              <a:ext uri="{FF2B5EF4-FFF2-40B4-BE49-F238E27FC236}">
                <a16:creationId xmlns:a16="http://schemas.microsoft.com/office/drawing/2014/main" id="{097A9C17-0FF6-4325-9B1A-54B620E28D11}"/>
              </a:ext>
            </a:extLst>
          </p:cNvPr>
          <p:cNvSpPr>
            <a:spLocks xmlns:a="http://schemas.openxmlformats.org/drawingml/2006/main" noGrp="1"/>
          </p:cNvSpPr>
          <p:nvPr/>
        </p:nvSpPr>
        <p:spPr>
          <a:xfrm xmlns:a="http://schemas.openxmlformats.org/drawingml/2006/main">
            <a:off x="79057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0" name="PH_S19_Lab04_Lab04_email_before_csrf_png_INSTRUCTION">
            <a:extLst xmlns:a="http://schemas.openxmlformats.org/drawingml/2006/main">
              <a:ext uri="{FF2B5EF4-FFF2-40B4-BE49-F238E27FC236}">
                <a16:creationId xmlns:a16="http://schemas.microsoft.com/office/drawing/2014/main" id="{BC852E77-0067-4EE2-82FB-C3CE81CBB839}"/>
              </a:ext>
            </a:extLst>
          </p:cNvPr>
          <p:cNvSpPr>
            <a:spLocks xmlns:a="http://schemas.openxmlformats.org/drawingml/2006/main" noGrp="1"/>
          </p:cNvSpPr>
          <p:nvPr/>
        </p:nvSpPr>
        <p:spPr>
          <a:xfrm xmlns:a="http://schemas.openxmlformats.org/drawingml/2006/main">
            <a:off x="8420100" y="1924050"/>
            <a:ext cx="3067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Lab04_email_before_csrf.png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1" name="PH_S19_Lab04_Lab04_email_before_csrf_png_CAPTION">
            <a:extLst xmlns:a="http://schemas.openxmlformats.org/drawingml/2006/main">
              <a:ext uri="{FF2B5EF4-FFF2-40B4-BE49-F238E27FC236}">
                <a16:creationId xmlns:a16="http://schemas.microsoft.com/office/drawing/2014/main" id="{C7976A36-6D7C-49CD-88E3-968534E676B2}"/>
              </a:ext>
            </a:extLst>
          </p:cNvPr>
          <p:cNvSpPr>
            <a:spLocks xmlns:a="http://schemas.openxmlformats.org/drawingml/2006/main" noGrp="1"/>
          </p:cNvSpPr>
          <p:nvPr/>
        </p:nvSpPr>
        <p:spPr>
          <a:xfrm xmlns:a="http://schemas.openxmlformats.org/drawingml/2006/main">
            <a:off x="7753350" y="31337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Email victim trước CSRF</a:t>
            </a:r>
          </a:p>
        </p:txBody>
      </p:sp>
      <p:sp>
        <p:nvSpPr>
          <p:cNvPr id="22" name="PH_S19_Lab04_08_email_after_csrf_png_FRAME">
            <a:extLst xmlns:a="http://schemas.openxmlformats.org/drawingml/2006/main">
              <a:ext uri="{FF2B5EF4-FFF2-40B4-BE49-F238E27FC236}">
                <a16:creationId xmlns:a16="http://schemas.microsoft.com/office/drawing/2014/main" id="{26B1A746-C7F0-4643-863A-5379ECB69DD8}"/>
              </a:ext>
            </a:extLst>
          </p:cNvPr>
          <p:cNvSpPr>
            <a:spLocks xmlns:a="http://schemas.openxmlformats.org/drawingml/2006/main" noGrp="1"/>
          </p:cNvSpPr>
          <p:nvPr/>
        </p:nvSpPr>
        <p:spPr>
          <a:xfrm xmlns:a="http://schemas.openxmlformats.org/drawingml/2006/main">
            <a:off x="7724775" y="3857625"/>
            <a:ext cx="39624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3" name="PH_S19_Lab04_08_email_after_csrf_png_IMAGE">
            <a:extLst xmlns:a="http://schemas.openxmlformats.org/drawingml/2006/main">
              <a:ext uri="{FF2B5EF4-FFF2-40B4-BE49-F238E27FC236}">
                <a16:creationId xmlns:a16="http://schemas.microsoft.com/office/drawing/2014/main" id="{7D8AD09E-668D-482E-903C-5FE98CB2A1FF}"/>
              </a:ext>
            </a:extLst>
          </p:cNvPr>
          <p:cNvSpPr>
            <a:spLocks xmlns:a="http://schemas.openxmlformats.org/drawingml/2006/main" noGrp="1"/>
          </p:cNvSpPr>
          <p:nvPr/>
        </p:nvSpPr>
        <p:spPr>
          <a:xfrm xmlns:a="http://schemas.openxmlformats.org/drawingml/2006/main">
            <a:off x="7753350" y="3886200"/>
            <a:ext cx="39052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4" name="PH_S19_Lab04_08_email_after_csrf_png_ICON">
            <a:extLst xmlns:a="http://schemas.openxmlformats.org/drawingml/2006/main">
              <a:ext uri="{FF2B5EF4-FFF2-40B4-BE49-F238E27FC236}">
                <a16:creationId xmlns:a16="http://schemas.microsoft.com/office/drawing/2014/main" id="{29ACE0FA-F8D4-4864-8F1D-2CDF00DBB816}"/>
              </a:ext>
            </a:extLst>
          </p:cNvPr>
          <p:cNvSpPr>
            <a:spLocks xmlns:a="http://schemas.openxmlformats.org/drawingml/2006/main" noGrp="1"/>
          </p:cNvSpPr>
          <p:nvPr/>
        </p:nvSpPr>
        <p:spPr>
          <a:xfrm xmlns:a="http://schemas.openxmlformats.org/drawingml/2006/main">
            <a:off x="790575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5" name="PH_S19_Lab04_08_email_after_csrf_png_INSTRUCTION">
            <a:extLst xmlns:a="http://schemas.openxmlformats.org/drawingml/2006/main">
              <a:ext uri="{FF2B5EF4-FFF2-40B4-BE49-F238E27FC236}">
                <a16:creationId xmlns:a16="http://schemas.microsoft.com/office/drawing/2014/main" id="{BB4B09B4-B92B-425C-9D7A-114FA8B7D3AE}"/>
              </a:ext>
            </a:extLst>
          </p:cNvPr>
          <p:cNvSpPr>
            <a:spLocks xmlns:a="http://schemas.openxmlformats.org/drawingml/2006/main" noGrp="1"/>
          </p:cNvSpPr>
          <p:nvPr/>
        </p:nvSpPr>
        <p:spPr>
          <a:xfrm xmlns:a="http://schemas.openxmlformats.org/drawingml/2006/main">
            <a:off x="8420100" y="4057650"/>
            <a:ext cx="3067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08_email_after_csrf.png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6" name="PH_S19_Lab04_08_email_after_csrf_png_CAPTION">
            <a:extLst xmlns:a="http://schemas.openxmlformats.org/drawingml/2006/main">
              <a:ext uri="{FF2B5EF4-FFF2-40B4-BE49-F238E27FC236}">
                <a16:creationId xmlns:a16="http://schemas.microsoft.com/office/drawing/2014/main" id="{E17E8025-B7A8-4294-8690-F26EE10B93D6}"/>
              </a:ext>
            </a:extLst>
          </p:cNvPr>
          <p:cNvSpPr>
            <a:spLocks xmlns:a="http://schemas.openxmlformats.org/drawingml/2006/main" noGrp="1"/>
          </p:cNvSpPr>
          <p:nvPr/>
        </p:nvSpPr>
        <p:spPr>
          <a:xfrm xmlns:a="http://schemas.openxmlformats.org/drawingml/2006/main">
            <a:off x="7753350" y="5267325"/>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Email victim sau request CSRF</a:t>
            </a:r>
          </a:p>
        </p:txBody>
      </p:sp>
      <p:sp>
        <p:nvSpPr>
          <p:cNvPr id="27" name="S19_FORM">
            <a:extLst xmlns:a="http://schemas.openxmlformats.org/drawingml/2006/main">
              <a:ext uri="{FF2B5EF4-FFF2-40B4-BE49-F238E27FC236}">
                <a16:creationId xmlns:a16="http://schemas.microsoft.com/office/drawing/2014/main" id="{58E7B8C0-1648-4021-A557-C726F4FBB747}"/>
              </a:ext>
            </a:extLst>
          </p:cNvPr>
          <p:cNvSpPr>
            <a:spLocks xmlns:a="http://schemas.openxmlformats.org/drawingml/2006/main" noGrp="1"/>
          </p:cNvSpPr>
          <p:nvPr/>
        </p:nvSpPr>
        <p:spPr>
          <a:xfrm xmlns:a="http://schemas.openxmlformats.org/drawingml/2006/main">
            <a:off x="533400" y="3105150"/>
            <a:ext cx="6858000" cy="21336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&lt;form id="csrf" method="POST"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action="http://127.0.0.1:5004/vulnerable/change-email"&gt;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&lt;input name="email" value="demo_changed@lab.local"&gt;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&lt;/form&gt;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&lt;script&gt;document.getElementById("csrf").submit()&lt;/script&gt;</a:t>
            </a:r>
          </a:p>
        </p:txBody>
      </p:sp>
      <p:sp>
        <p:nvSpPr>
          <p:cNvPr id="28" name="S19_SOP_BAR">
            <a:extLst xmlns:a="http://schemas.openxmlformats.org/drawingml/2006/main">
              <a:ext uri="{FF2B5EF4-FFF2-40B4-BE49-F238E27FC236}">
                <a16:creationId xmlns:a16="http://schemas.microsoft.com/office/drawing/2014/main" id="{6A9944A7-B737-4B50-9F89-AA77E53198BF}"/>
              </a:ext>
            </a:extLst>
          </p:cNvPr>
          <p:cNvSpPr>
            <a:spLocks xmlns:a="http://schemas.openxmlformats.org/drawingml/2006/main" noGrp="1"/>
          </p:cNvSpPr>
          <p:nvPr/>
        </p:nvSpPr>
        <p:spPr>
          <a:xfrm xmlns:a="http://schemas.openxmlformats.org/drawingml/2006/main">
            <a:off x="533400" y="5467350"/>
            <a:ext cx="76200" cy="0"/>
          </a:xfrm>
          <a:prstGeom xmlns:a="http://schemas.openxmlformats.org/drawingml/2006/main" prst="rect">
            <a:avLst/>
          </a:prstGeom>
          <a:ln xmlns:a="http://schemas.openxmlformats.org/drawingml/2006/main" w="0">
            <a:noFill/>
            <a:prstDash val="solid"/>
          </a:ln>
        </p:spPr>
      </p:sp>
      <p:sp>
        <p:nvSpPr>
          <p:cNvPr id="29" name="S19_SOP_LABEL">
            <a:extLst xmlns:a="http://schemas.openxmlformats.org/drawingml/2006/main">
              <a:ext uri="{FF2B5EF4-FFF2-40B4-BE49-F238E27FC236}">
                <a16:creationId xmlns:a16="http://schemas.microsoft.com/office/drawing/2014/main" id="{A12A8829-11AF-4405-BA55-12F989D44B7D}"/>
              </a:ext>
            </a:extLst>
          </p:cNvPr>
          <p:cNvSpPr>
            <a:spLocks xmlns:a="http://schemas.openxmlformats.org/drawingml/2006/main" noGrp="1"/>
          </p:cNvSpPr>
          <p:nvPr/>
        </p:nvSpPr>
        <p:spPr>
          <a:xfrm xmlns:a="http://schemas.openxmlformats.org/drawingml/2006/main">
            <a:off x="704850" y="5467350"/>
            <a:ext cx="163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SOP</a:t>
            </a:r>
          </a:p>
        </p:txBody>
      </p:sp>
      <p:sp>
        <p:nvSpPr>
          <p:cNvPr id="30" name="S19_SOP_BODY">
            <a:extLst xmlns:a="http://schemas.openxmlformats.org/drawingml/2006/main">
              <a:ext uri="{FF2B5EF4-FFF2-40B4-BE49-F238E27FC236}">
                <a16:creationId xmlns:a16="http://schemas.microsoft.com/office/drawing/2014/main" id="{2AD5DC5E-C01A-4CFE-ACB4-9A7449E8A894}"/>
              </a:ext>
            </a:extLst>
          </p:cNvPr>
          <p:cNvSpPr>
            <a:spLocks xmlns:a="http://schemas.openxmlformats.org/drawingml/2006/main" noGrp="1"/>
          </p:cNvSpPr>
          <p:nvPr/>
        </p:nvSpPr>
        <p:spPr>
          <a:xfrm xmlns:a="http://schemas.openxmlformats.org/drawingml/2006/main">
            <a:off x="2438400" y="5467350"/>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Không đọc được response ≠ không gửi được request; target phải xác minh intent.</a:t>
            </a:r>
          </a:p>
        </p:txBody>
      </p:sp>
    </p:spTree>
    <p:extLst>
      <p:ext uri="{BB962C8B-B14F-4D97-AF65-F5344CB8AC3E}">
        <p14:creationId xmlns:p14="http://schemas.microsoft.com/office/powerpoint/2010/main" val="19351634"/>
      </p:ext>
    </p:extLst>
  </p:cSld>
</p:sld>
</file>

<file path=ppt/slides/slide2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7" name="S20_EYEBROW">
            <a:extLst xmlns:a="http://schemas.openxmlformats.org/drawingml/2006/main">
              <a:ext uri="{FF2B5EF4-FFF2-40B4-BE49-F238E27FC236}">
                <a16:creationId xmlns:a16="http://schemas.microsoft.com/office/drawing/2014/main" id="{633BBFE5-FCE0-4D83-ACF4-BEC23750BD94}"/>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0_TITLE">
            <a:extLst xmlns:a="http://schemas.openxmlformats.org/drawingml/2006/main">
              <a:ext uri="{FF2B5EF4-FFF2-40B4-BE49-F238E27FC236}">
                <a16:creationId xmlns:a16="http://schemas.microsoft.com/office/drawing/2014/main" id="{7B10C0E2-109B-4479-AC72-91E7DDB140A2}"/>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Request hợp lệ về HTTP nhưng thiếu bằng chứng intent</a:t>
            </a:r>
          </a:p>
        </p:txBody>
      </p:sp>
      <p:sp>
        <p:nvSpPr>
          <p:cNvPr id="3" name="S20_SUBTITLE">
            <a:extLst xmlns:a="http://schemas.openxmlformats.org/drawingml/2006/main">
              <a:ext uri="{FF2B5EF4-FFF2-40B4-BE49-F238E27FC236}">
                <a16:creationId xmlns:a16="http://schemas.microsoft.com/office/drawing/2014/main" id="{F621E64A-7465-485C-A32E-015D9A77FA5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Cookie có mặt; token thiếu; Origin/Referer không thuộc allowlist — vulnerable route vẫn chấp nhận.</a:t>
            </a:r>
          </a:p>
        </p:txBody>
      </p:sp>
      <p:sp>
        <p:nvSpPr>
          <p:cNvPr id="4" name="S20_TITLE_RULE">
            <a:extLst xmlns:a="http://schemas.openxmlformats.org/drawingml/2006/main">
              <a:ext uri="{FF2B5EF4-FFF2-40B4-BE49-F238E27FC236}">
                <a16:creationId xmlns:a16="http://schemas.microsoft.com/office/drawing/2014/main" id="{161F48E8-9822-4C2B-9E89-EF447BE7FAB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0_FOOTER_RULE">
            <a:extLst xmlns:a="http://schemas.openxmlformats.org/drawingml/2006/main">
              <a:ext uri="{FF2B5EF4-FFF2-40B4-BE49-F238E27FC236}">
                <a16:creationId xmlns:a16="http://schemas.microsoft.com/office/drawing/2014/main" id="{A62BA2F1-2308-4758-9B04-77F0B9951C8D}"/>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0_SOURCE">
            <a:extLst xmlns:a="http://schemas.openxmlformats.org/drawingml/2006/main">
              <a:ext uri="{FF2B5EF4-FFF2-40B4-BE49-F238E27FC236}">
                <a16:creationId xmlns:a16="http://schemas.microsoft.com/office/drawing/2014/main" id="{D567BF30-E8DF-4639-B8CE-6F6E85F8E6A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Lab04/victim_app.py · csrf_service.py · origin_service.py</a:t>
            </a:r>
          </a:p>
        </p:txBody>
      </p:sp>
      <p:sp>
        <p:nvSpPr>
          <p:cNvPr id="7" name="S20_NUMBER">
            <a:extLst xmlns:a="http://schemas.openxmlformats.org/drawingml/2006/main">
              <a:ext uri="{FF2B5EF4-FFF2-40B4-BE49-F238E27FC236}">
                <a16:creationId xmlns:a16="http://schemas.microsoft.com/office/drawing/2014/main" id="{90E019EC-0303-4DDE-BBE4-69B716B77F0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20</a:t>
            </a:r>
          </a:p>
        </p:txBody>
      </p:sp>
      <p:sp>
        <p:nvSpPr>
          <p:cNvPr id="8" name="S20_REQUEST">
            <a:extLst xmlns:a="http://schemas.openxmlformats.org/drawingml/2006/main">
              <a:ext uri="{FF2B5EF4-FFF2-40B4-BE49-F238E27FC236}">
                <a16:creationId xmlns:a16="http://schemas.microsoft.com/office/drawing/2014/main" id="{4BFC2E41-C144-4BB0-B490-023A5BCFCFF0}"/>
              </a:ext>
            </a:extLst>
          </p:cNvPr>
          <p:cNvSpPr>
            <a:spLocks xmlns:a="http://schemas.openxmlformats.org/drawingml/2006/main" noGrp="1"/>
          </p:cNvSpPr>
          <p:nvPr/>
        </p:nvSpPr>
        <p:spPr>
          <a:xfrm xmlns:a="http://schemas.openxmlformats.org/drawingml/2006/main">
            <a:off x="533400" y="1752600"/>
            <a:ext cx="6191250" cy="29337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VALID REQUEST BAN ĐẦU</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Victim POST hợp lệ → có cookie → từ target origin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đổi email thành công.</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ATTACK REQUEST</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POST /vulnerable/change-email HTTP/1.1</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Cookie: victim_session=...</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Origin: http://127.0.0.1:9004</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email=demo_changed%40lab.local</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csrf_token: MISSING</a:t>
            </a:r>
          </a:p>
        </p:txBody>
      </p:sp>
      <p:sp>
        <p:nvSpPr>
          <p:cNvPr id="9" name="S20_CHECKS_H0">
            <a:extLst xmlns:a="http://schemas.openxmlformats.org/drawingml/2006/main">
              <a:ext uri="{FF2B5EF4-FFF2-40B4-BE49-F238E27FC236}">
                <a16:creationId xmlns:a16="http://schemas.microsoft.com/office/drawing/2014/main" id="{CD3633F3-EA9D-4C7E-8BC2-3356E2A0CCB2}"/>
              </a:ext>
            </a:extLst>
          </p:cNvPr>
          <p:cNvSpPr>
            <a:spLocks xmlns:a="http://schemas.openxmlformats.org/drawingml/2006/main" noGrp="1"/>
          </p:cNvSpPr>
          <p:nvPr/>
        </p:nvSpPr>
        <p:spPr>
          <a:xfrm xmlns:a="http://schemas.openxmlformats.org/drawingml/2006/main">
            <a:off x="7029450" y="1752600"/>
            <a:ext cx="16192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TÍN HIỆU</a:t>
            </a:r>
          </a:p>
        </p:txBody>
      </p:sp>
      <p:sp>
        <p:nvSpPr>
          <p:cNvPr id="10" name="S20_CHECKS_H1">
            <a:extLst xmlns:a="http://schemas.openxmlformats.org/drawingml/2006/main">
              <a:ext uri="{FF2B5EF4-FFF2-40B4-BE49-F238E27FC236}">
                <a16:creationId xmlns:a16="http://schemas.microsoft.com/office/drawing/2014/main" id="{768084E1-AAB0-4AF2-96E8-AAB2AE2AF792}"/>
              </a:ext>
            </a:extLst>
          </p:cNvPr>
          <p:cNvSpPr>
            <a:spLocks xmlns:a="http://schemas.openxmlformats.org/drawingml/2006/main" noGrp="1"/>
          </p:cNvSpPr>
          <p:nvPr/>
        </p:nvSpPr>
        <p:spPr>
          <a:xfrm xmlns:a="http://schemas.openxmlformats.org/drawingml/2006/main">
            <a:off x="8648700" y="1752600"/>
            <a:ext cx="14287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VULNERABLE</a:t>
            </a:r>
          </a:p>
        </p:txBody>
      </p:sp>
      <p:sp>
        <p:nvSpPr>
          <p:cNvPr id="11" name="S20_CHECKS_H2">
            <a:extLst xmlns:a="http://schemas.openxmlformats.org/drawingml/2006/main">
              <a:ext uri="{FF2B5EF4-FFF2-40B4-BE49-F238E27FC236}">
                <a16:creationId xmlns:a16="http://schemas.microsoft.com/office/drawing/2014/main" id="{11FC9778-5C57-4B3B-B192-962BA62349F2}"/>
              </a:ext>
            </a:extLst>
          </p:cNvPr>
          <p:cNvSpPr>
            <a:spLocks xmlns:a="http://schemas.openxmlformats.org/drawingml/2006/main" noGrp="1"/>
          </p:cNvSpPr>
          <p:nvPr/>
        </p:nvSpPr>
        <p:spPr>
          <a:xfrm xmlns:a="http://schemas.openxmlformats.org/drawingml/2006/main">
            <a:off x="10077450" y="1752600"/>
            <a:ext cx="1581150" cy="58674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SECURE</a:t>
            </a:r>
          </a:p>
        </p:txBody>
      </p:sp>
      <p:sp>
        <p:nvSpPr>
          <p:cNvPr id="12" name="S20_CHECKS_R0C0">
            <a:extLst xmlns:a="http://schemas.openxmlformats.org/drawingml/2006/main">
              <a:ext uri="{FF2B5EF4-FFF2-40B4-BE49-F238E27FC236}">
                <a16:creationId xmlns:a16="http://schemas.microsoft.com/office/drawing/2014/main" id="{0361700E-3C3A-470E-9A0C-07B77A18951A}"/>
              </a:ext>
            </a:extLst>
          </p:cNvPr>
          <p:cNvSpPr>
            <a:spLocks xmlns:a="http://schemas.openxmlformats.org/drawingml/2006/main" noGrp="1"/>
          </p:cNvSpPr>
          <p:nvPr/>
        </p:nvSpPr>
        <p:spPr>
          <a:xfrm xmlns:a="http://schemas.openxmlformats.org/drawingml/2006/main">
            <a:off x="7029450" y="2339340"/>
            <a:ext cx="16192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Session cookie</a:t>
            </a:r>
          </a:p>
        </p:txBody>
      </p:sp>
      <p:sp>
        <p:nvSpPr>
          <p:cNvPr id="13" name="S20_CHECKS_R0C1">
            <a:extLst xmlns:a="http://schemas.openxmlformats.org/drawingml/2006/main">
              <a:ext uri="{FF2B5EF4-FFF2-40B4-BE49-F238E27FC236}">
                <a16:creationId xmlns:a16="http://schemas.microsoft.com/office/drawing/2014/main" id="{B207C198-38D8-4E8D-B34D-A6981A1B8AA3}"/>
              </a:ext>
            </a:extLst>
          </p:cNvPr>
          <p:cNvSpPr>
            <a:spLocks xmlns:a="http://schemas.openxmlformats.org/drawingml/2006/main" noGrp="1"/>
          </p:cNvSpPr>
          <p:nvPr/>
        </p:nvSpPr>
        <p:spPr>
          <a:xfrm xmlns:a="http://schemas.openxmlformats.org/drawingml/2006/main">
            <a:off x="8648700" y="2339340"/>
            <a:ext cx="14287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tin là đủ</a:t>
            </a:r>
          </a:p>
        </p:txBody>
      </p:sp>
      <p:sp>
        <p:nvSpPr>
          <p:cNvPr id="14" name="S20_CHECKS_R0C2">
            <a:extLst xmlns:a="http://schemas.openxmlformats.org/drawingml/2006/main">
              <a:ext uri="{FF2B5EF4-FFF2-40B4-BE49-F238E27FC236}">
                <a16:creationId xmlns:a16="http://schemas.microsoft.com/office/drawing/2014/main" id="{A3250301-DE26-4A0A-A459-09FEC9BB3731}"/>
              </a:ext>
            </a:extLst>
          </p:cNvPr>
          <p:cNvSpPr>
            <a:spLocks xmlns:a="http://schemas.openxmlformats.org/drawingml/2006/main" noGrp="1"/>
          </p:cNvSpPr>
          <p:nvPr/>
        </p:nvSpPr>
        <p:spPr>
          <a:xfrm xmlns:a="http://schemas.openxmlformats.org/drawingml/2006/main">
            <a:off x="10077450" y="2339340"/>
            <a:ext cx="15811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xác thực user</a:t>
            </a:r>
          </a:p>
        </p:txBody>
      </p:sp>
      <p:sp>
        <p:nvSpPr>
          <p:cNvPr id="15" name="S20_CHECKS_R1C0">
            <a:extLst xmlns:a="http://schemas.openxmlformats.org/drawingml/2006/main">
              <a:ext uri="{FF2B5EF4-FFF2-40B4-BE49-F238E27FC236}">
                <a16:creationId xmlns:a16="http://schemas.microsoft.com/office/drawing/2014/main" id="{4851AB14-D0F8-424F-9D3B-94AAFA744F30}"/>
              </a:ext>
            </a:extLst>
          </p:cNvPr>
          <p:cNvSpPr>
            <a:spLocks xmlns:a="http://schemas.openxmlformats.org/drawingml/2006/main" noGrp="1"/>
          </p:cNvSpPr>
          <p:nvPr/>
        </p:nvSpPr>
        <p:spPr>
          <a:xfrm xmlns:a="http://schemas.openxmlformats.org/drawingml/2006/main">
            <a:off x="7029450" y="2926080"/>
            <a:ext cx="16192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CSRF token</a:t>
            </a:r>
          </a:p>
        </p:txBody>
      </p:sp>
      <p:sp>
        <p:nvSpPr>
          <p:cNvPr id="16" name="S20_CHECKS_R1C1">
            <a:extLst xmlns:a="http://schemas.openxmlformats.org/drawingml/2006/main">
              <a:ext uri="{FF2B5EF4-FFF2-40B4-BE49-F238E27FC236}">
                <a16:creationId xmlns:a16="http://schemas.microsoft.com/office/drawing/2014/main" id="{70694565-C32C-403A-AE8B-A84D7169096F}"/>
              </a:ext>
            </a:extLst>
          </p:cNvPr>
          <p:cNvSpPr>
            <a:spLocks xmlns:a="http://schemas.openxmlformats.org/drawingml/2006/main" noGrp="1"/>
          </p:cNvSpPr>
          <p:nvPr/>
        </p:nvSpPr>
        <p:spPr>
          <a:xfrm xmlns:a="http://schemas.openxmlformats.org/drawingml/2006/main">
            <a:off x="8648700" y="2926080"/>
            <a:ext cx="14287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kiểm</a:t>
            </a:r>
          </a:p>
        </p:txBody>
      </p:sp>
      <p:sp>
        <p:nvSpPr>
          <p:cNvPr id="17" name="S20_CHECKS_R1C2">
            <a:extLst xmlns:a="http://schemas.openxmlformats.org/drawingml/2006/main">
              <a:ext uri="{FF2B5EF4-FFF2-40B4-BE49-F238E27FC236}">
                <a16:creationId xmlns:a16="http://schemas.microsoft.com/office/drawing/2014/main" id="{79A937C9-83E1-4B79-860B-D3B05504AB14}"/>
              </a:ext>
            </a:extLst>
          </p:cNvPr>
          <p:cNvSpPr>
            <a:spLocks xmlns:a="http://schemas.openxmlformats.org/drawingml/2006/main" noGrp="1"/>
          </p:cNvSpPr>
          <p:nvPr/>
        </p:nvSpPr>
        <p:spPr>
          <a:xfrm xmlns:a="http://schemas.openxmlformats.org/drawingml/2006/main">
            <a:off x="10077450" y="2926080"/>
            <a:ext cx="15811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session-bound + compare</a:t>
            </a:r>
          </a:p>
        </p:txBody>
      </p:sp>
      <p:sp>
        <p:nvSpPr>
          <p:cNvPr id="18" name="S20_CHECKS_R2C0">
            <a:extLst xmlns:a="http://schemas.openxmlformats.org/drawingml/2006/main">
              <a:ext uri="{FF2B5EF4-FFF2-40B4-BE49-F238E27FC236}">
                <a16:creationId xmlns:a16="http://schemas.microsoft.com/office/drawing/2014/main" id="{54AAD876-DF43-42DB-BEC0-CA9EB23E208A}"/>
              </a:ext>
            </a:extLst>
          </p:cNvPr>
          <p:cNvSpPr>
            <a:spLocks xmlns:a="http://schemas.openxmlformats.org/drawingml/2006/main" noGrp="1"/>
          </p:cNvSpPr>
          <p:nvPr/>
        </p:nvSpPr>
        <p:spPr>
          <a:xfrm xmlns:a="http://schemas.openxmlformats.org/drawingml/2006/main">
            <a:off x="7029450" y="3512820"/>
            <a:ext cx="16192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Origin/Referer</a:t>
            </a:r>
          </a:p>
        </p:txBody>
      </p:sp>
      <p:sp>
        <p:nvSpPr>
          <p:cNvPr id="19" name="S20_CHECKS_R2C1">
            <a:extLst xmlns:a="http://schemas.openxmlformats.org/drawingml/2006/main">
              <a:ext uri="{FF2B5EF4-FFF2-40B4-BE49-F238E27FC236}">
                <a16:creationId xmlns:a16="http://schemas.microsoft.com/office/drawing/2014/main" id="{A735E4C6-15EE-42B8-9AA9-823FD7C9ADC3}"/>
              </a:ext>
            </a:extLst>
          </p:cNvPr>
          <p:cNvSpPr>
            <a:spLocks xmlns:a="http://schemas.openxmlformats.org/drawingml/2006/main" noGrp="1"/>
          </p:cNvSpPr>
          <p:nvPr/>
        </p:nvSpPr>
        <p:spPr>
          <a:xfrm xmlns:a="http://schemas.openxmlformats.org/drawingml/2006/main">
            <a:off x="8648700" y="3512820"/>
            <a:ext cx="14287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bỏ qua</a:t>
            </a:r>
          </a:p>
        </p:txBody>
      </p:sp>
      <p:sp>
        <p:nvSpPr>
          <p:cNvPr id="20" name="S20_CHECKS_R2C2">
            <a:extLst xmlns:a="http://schemas.openxmlformats.org/drawingml/2006/main">
              <a:ext uri="{FF2B5EF4-FFF2-40B4-BE49-F238E27FC236}">
                <a16:creationId xmlns:a16="http://schemas.microsoft.com/office/drawing/2014/main" id="{F15BA5D2-7703-4955-8012-05C810BB8742}"/>
              </a:ext>
            </a:extLst>
          </p:cNvPr>
          <p:cNvSpPr>
            <a:spLocks xmlns:a="http://schemas.openxmlformats.org/drawingml/2006/main" noGrp="1"/>
          </p:cNvSpPr>
          <p:nvPr/>
        </p:nvSpPr>
        <p:spPr>
          <a:xfrm xmlns:a="http://schemas.openxmlformats.org/drawingml/2006/main">
            <a:off x="10077450" y="3512820"/>
            <a:ext cx="1581150" cy="58674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exact allowlist</a:t>
            </a:r>
          </a:p>
        </p:txBody>
      </p:sp>
      <p:sp>
        <p:nvSpPr>
          <p:cNvPr id="21" name="S20_CHECKS_R3C0">
            <a:extLst xmlns:a="http://schemas.openxmlformats.org/drawingml/2006/main">
              <a:ext uri="{FF2B5EF4-FFF2-40B4-BE49-F238E27FC236}">
                <a16:creationId xmlns:a16="http://schemas.microsoft.com/office/drawing/2014/main" id="{DC7511EC-9B60-4B83-8236-2D1666057907}"/>
              </a:ext>
            </a:extLst>
          </p:cNvPr>
          <p:cNvSpPr>
            <a:spLocks xmlns:a="http://schemas.openxmlformats.org/drawingml/2006/main" noGrp="1"/>
          </p:cNvSpPr>
          <p:nvPr/>
        </p:nvSpPr>
        <p:spPr>
          <a:xfrm xmlns:a="http://schemas.openxmlformats.org/drawingml/2006/main">
            <a:off x="7029450" y="4099560"/>
            <a:ext cx="16192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Method</a:t>
            </a:r>
          </a:p>
        </p:txBody>
      </p:sp>
      <p:sp>
        <p:nvSpPr>
          <p:cNvPr id="22" name="S20_CHECKS_R3C1">
            <a:extLst xmlns:a="http://schemas.openxmlformats.org/drawingml/2006/main">
              <a:ext uri="{FF2B5EF4-FFF2-40B4-BE49-F238E27FC236}">
                <a16:creationId xmlns:a16="http://schemas.microsoft.com/office/drawing/2014/main" id="{2C8A3631-5733-4D92-B94C-79776C77E025}"/>
              </a:ext>
            </a:extLst>
          </p:cNvPr>
          <p:cNvSpPr>
            <a:spLocks xmlns:a="http://schemas.openxmlformats.org/drawingml/2006/main" noGrp="1"/>
          </p:cNvSpPr>
          <p:nvPr/>
        </p:nvSpPr>
        <p:spPr>
          <a:xfrm xmlns:a="http://schemas.openxmlformats.org/drawingml/2006/main">
            <a:off x="8648700" y="4099560"/>
            <a:ext cx="14287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POST</a:t>
            </a:r>
          </a:p>
        </p:txBody>
      </p:sp>
      <p:sp>
        <p:nvSpPr>
          <p:cNvPr id="23" name="S20_CHECKS_R3C2">
            <a:extLst xmlns:a="http://schemas.openxmlformats.org/drawingml/2006/main">
              <a:ext uri="{FF2B5EF4-FFF2-40B4-BE49-F238E27FC236}">
                <a16:creationId xmlns:a16="http://schemas.microsoft.com/office/drawing/2014/main" id="{54CAE5FA-3073-41B9-817A-3D6326EEEEAA}"/>
              </a:ext>
            </a:extLst>
          </p:cNvPr>
          <p:cNvSpPr>
            <a:spLocks xmlns:a="http://schemas.openxmlformats.org/drawingml/2006/main" noGrp="1"/>
          </p:cNvSpPr>
          <p:nvPr/>
        </p:nvSpPr>
        <p:spPr>
          <a:xfrm xmlns:a="http://schemas.openxmlformats.org/drawingml/2006/main">
            <a:off x="10077450" y="4099560"/>
            <a:ext cx="1581150" cy="58674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POST + policy</a:t>
            </a:r>
          </a:p>
        </p:txBody>
      </p:sp>
      <p:sp>
        <p:nvSpPr>
          <p:cNvPr id="24" name="S20_DECISION_BAR">
            <a:extLst xmlns:a="http://schemas.openxmlformats.org/drawingml/2006/main">
              <a:ext uri="{FF2B5EF4-FFF2-40B4-BE49-F238E27FC236}">
                <a16:creationId xmlns:a16="http://schemas.microsoft.com/office/drawing/2014/main" id="{1D5639FE-05F1-4071-9396-12B2F9745773}"/>
              </a:ext>
            </a:extLst>
          </p:cNvPr>
          <p:cNvSpPr>
            <a:spLocks xmlns:a="http://schemas.openxmlformats.org/drawingml/2006/main" noGrp="1"/>
          </p:cNvSpPr>
          <p:nvPr/>
        </p:nvSpPr>
        <p:spPr>
          <a:xfrm xmlns:a="http://schemas.openxmlformats.org/drawingml/2006/main">
            <a:off x="533400" y="5105400"/>
            <a:ext cx="76200" cy="0"/>
          </a:xfrm>
          <a:prstGeom xmlns:a="http://schemas.openxmlformats.org/drawingml/2006/main" prst="rect">
            <a:avLst/>
          </a:prstGeom>
          <a:ln xmlns:a="http://schemas.openxmlformats.org/drawingml/2006/main" w="0">
            <a:noFill/>
            <a:prstDash val="solid"/>
          </a:ln>
        </p:spPr>
      </p:sp>
      <p:sp>
        <p:nvSpPr>
          <p:cNvPr id="25" name="S20_DECISION_LABEL">
            <a:extLst xmlns:a="http://schemas.openxmlformats.org/drawingml/2006/main">
              <a:ext uri="{FF2B5EF4-FFF2-40B4-BE49-F238E27FC236}">
                <a16:creationId xmlns:a16="http://schemas.microsoft.com/office/drawing/2014/main" id="{C31075C5-3FB3-4A0A-9477-1413847BE673}"/>
              </a:ext>
            </a:extLst>
          </p:cNvPr>
          <p:cNvSpPr>
            <a:spLocks xmlns:a="http://schemas.openxmlformats.org/drawingml/2006/main" noGrp="1"/>
          </p:cNvSpPr>
          <p:nvPr/>
        </p:nvSpPr>
        <p:spPr>
          <a:xfrm xmlns:a="http://schemas.openxmlformats.org/drawingml/2006/main">
            <a:off x="704850" y="5105400"/>
            <a:ext cx="1638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DECISION</a:t>
            </a:r>
          </a:p>
        </p:txBody>
      </p:sp>
      <p:sp>
        <p:nvSpPr>
          <p:cNvPr id="26" name="S20_DECISION_BODY">
            <a:extLst xmlns:a="http://schemas.openxmlformats.org/drawingml/2006/main">
              <a:ext uri="{FF2B5EF4-FFF2-40B4-BE49-F238E27FC236}">
                <a16:creationId xmlns:a16="http://schemas.microsoft.com/office/drawing/2014/main" id="{1CFD9FB1-FD79-46AE-B14B-9618BEE72E9D}"/>
              </a:ext>
            </a:extLst>
          </p:cNvPr>
          <p:cNvSpPr>
            <a:spLocks xmlns:a="http://schemas.openxmlformats.org/drawingml/2006/main" noGrp="1"/>
          </p:cNvSpPr>
          <p:nvPr/>
        </p:nvSpPr>
        <p:spPr>
          <a:xfrm xmlns:a="http://schemas.openxmlformats.org/drawingml/2006/main">
            <a:off x="2438400" y="5105400"/>
            <a:ext cx="9201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Credential trả lời “ai”; CSRF defense trả lời “request này có phản ánh ý định của chính user hay không?”.</a:t>
            </a:r>
          </a:p>
        </p:txBody>
      </p:sp>
    </p:spTree>
    <p:extLst>
      <p:ext uri="{BB962C8B-B14F-4D97-AF65-F5344CB8AC3E}">
        <p14:creationId xmlns:p14="http://schemas.microsoft.com/office/powerpoint/2010/main" val="1445019401"/>
      </p:ext>
    </p:extLst>
  </p:cSld>
</p:sld>
</file>

<file path=ppt/slides/slide2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2" name="S21_EYEBROW">
            <a:extLst xmlns:a="http://schemas.openxmlformats.org/drawingml/2006/main">
              <a:ext uri="{FF2B5EF4-FFF2-40B4-BE49-F238E27FC236}">
                <a16:creationId xmlns:a16="http://schemas.microsoft.com/office/drawing/2014/main" id="{A58B79DF-C8A1-4DF1-8B39-330B091DA43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1_TITLE">
            <a:extLst xmlns:a="http://schemas.openxmlformats.org/drawingml/2006/main">
              <a:ext uri="{FF2B5EF4-FFF2-40B4-BE49-F238E27FC236}">
                <a16:creationId xmlns:a16="http://schemas.microsoft.com/office/drawing/2014/main" id="{4CEEA2D3-DAC6-4BCC-9D37-AD590F8D5B78}"/>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Secure route buộc request gắn với session và origin</a:t>
            </a:r>
          </a:p>
        </p:txBody>
      </p:sp>
      <p:sp>
        <p:nvSpPr>
          <p:cNvPr id="3" name="S21_SUBTITLE">
            <a:extLst xmlns:a="http://schemas.openxmlformats.org/drawingml/2006/main">
              <a:ext uri="{FF2B5EF4-FFF2-40B4-BE49-F238E27FC236}">
                <a16:creationId xmlns:a16="http://schemas.microsoft.com/office/drawing/2014/main" id="{1AB9CA36-A790-41F9-BC47-F0BE218A506B}"/>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 mạnh theo session + Origin/Referer exact + SameSite + re-auth cho hành động nhạy cảm.</a:t>
            </a:r>
          </a:p>
        </p:txBody>
      </p:sp>
      <p:sp>
        <p:nvSpPr>
          <p:cNvPr id="4" name="S21_TITLE_RULE">
            <a:extLst xmlns:a="http://schemas.openxmlformats.org/drawingml/2006/main">
              <a:ext uri="{FF2B5EF4-FFF2-40B4-BE49-F238E27FC236}">
                <a16:creationId xmlns:a16="http://schemas.microsoft.com/office/drawing/2014/main" id="{C9EF3E08-08EB-4009-AFDA-723230060BFC}"/>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1_FOOTER_RULE">
            <a:extLst xmlns:a="http://schemas.openxmlformats.org/drawingml/2006/main">
              <a:ext uri="{FF2B5EF4-FFF2-40B4-BE49-F238E27FC236}">
                <a16:creationId xmlns:a16="http://schemas.microsoft.com/office/drawing/2014/main" id="{33E37F42-02C8-4F1D-8E43-21747578A8E5}"/>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1_SOURCE">
            <a:extLst xmlns:a="http://schemas.openxmlformats.org/drawingml/2006/main">
              <a:ext uri="{FF2B5EF4-FFF2-40B4-BE49-F238E27FC236}">
                <a16:creationId xmlns:a16="http://schemas.microsoft.com/office/drawing/2014/main" id="{00640C73-3E19-4F14-8272-E163AC902577}"/>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Lab04/csrf_service.py · origin_service.py · config.py</a:t>
            </a:r>
          </a:p>
        </p:txBody>
      </p:sp>
      <p:sp>
        <p:nvSpPr>
          <p:cNvPr id="7" name="S21_NUMBER">
            <a:extLst xmlns:a="http://schemas.openxmlformats.org/drawingml/2006/main">
              <a:ext uri="{FF2B5EF4-FFF2-40B4-BE49-F238E27FC236}">
                <a16:creationId xmlns:a16="http://schemas.microsoft.com/office/drawing/2014/main" id="{C36960CE-0531-4BFB-97D4-CD34E28BBDF9}"/>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21</a:t>
            </a:r>
          </a:p>
        </p:txBody>
      </p:sp>
      <p:sp>
        <p:nvSpPr>
          <p:cNvPr id="8" name="S21_SECURE_ARROW_1">
            <a:extLst xmlns:a="http://schemas.openxmlformats.org/drawingml/2006/main">
              <a:ext uri="{FF2B5EF4-FFF2-40B4-BE49-F238E27FC236}">
                <a16:creationId xmlns:a16="http://schemas.microsoft.com/office/drawing/2014/main" id="{968E8102-9F08-433D-B125-DBC455E8B86A}"/>
              </a:ext>
            </a:extLst>
          </p:cNvPr>
          <p:cNvSpPr>
            <a:spLocks xmlns:a="http://schemas.openxmlformats.org/drawingml/2006/main" noGrp="1"/>
          </p:cNvSpPr>
          <p:nvPr/>
        </p:nvSpPr>
        <p:spPr>
          <a:xfrm xmlns:a="http://schemas.openxmlformats.org/drawingml/2006/main">
            <a:off x="1579562"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21_SECURE_ARROW_2">
            <a:extLst xmlns:a="http://schemas.openxmlformats.org/drawingml/2006/main">
              <a:ext uri="{FF2B5EF4-FFF2-40B4-BE49-F238E27FC236}">
                <a16:creationId xmlns:a16="http://schemas.microsoft.com/office/drawing/2014/main" id="{F112A62F-E440-4675-8692-81079472EDA8}"/>
              </a:ext>
            </a:extLst>
          </p:cNvPr>
          <p:cNvSpPr>
            <a:spLocks xmlns:a="http://schemas.openxmlformats.org/drawingml/2006/main" noGrp="1"/>
          </p:cNvSpPr>
          <p:nvPr/>
        </p:nvSpPr>
        <p:spPr>
          <a:xfrm xmlns:a="http://schemas.openxmlformats.org/drawingml/2006/main">
            <a:off x="2768600"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21_SECURE_ARROW_3">
            <a:extLst xmlns:a="http://schemas.openxmlformats.org/drawingml/2006/main">
              <a:ext uri="{FF2B5EF4-FFF2-40B4-BE49-F238E27FC236}">
                <a16:creationId xmlns:a16="http://schemas.microsoft.com/office/drawing/2014/main" id="{6320C3AF-578B-49D3-A14B-70307C706692}"/>
              </a:ext>
            </a:extLst>
          </p:cNvPr>
          <p:cNvSpPr>
            <a:spLocks xmlns:a="http://schemas.openxmlformats.org/drawingml/2006/main" noGrp="1"/>
          </p:cNvSpPr>
          <p:nvPr/>
        </p:nvSpPr>
        <p:spPr>
          <a:xfrm xmlns:a="http://schemas.openxmlformats.org/drawingml/2006/main">
            <a:off x="3957638"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1" name="S21_SECURE_ARROW_4">
            <a:extLst xmlns:a="http://schemas.openxmlformats.org/drawingml/2006/main">
              <a:ext uri="{FF2B5EF4-FFF2-40B4-BE49-F238E27FC236}">
                <a16:creationId xmlns:a16="http://schemas.microsoft.com/office/drawing/2014/main" id="{31CE6267-3816-4595-9B84-A7AE23BE264B}"/>
              </a:ext>
            </a:extLst>
          </p:cNvPr>
          <p:cNvSpPr>
            <a:spLocks xmlns:a="http://schemas.openxmlformats.org/drawingml/2006/main" noGrp="1"/>
          </p:cNvSpPr>
          <p:nvPr/>
        </p:nvSpPr>
        <p:spPr>
          <a:xfrm xmlns:a="http://schemas.openxmlformats.org/drawingml/2006/main">
            <a:off x="5146675"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2" name="S21_SECURE_ARROW_5">
            <a:extLst xmlns:a="http://schemas.openxmlformats.org/drawingml/2006/main">
              <a:ext uri="{FF2B5EF4-FFF2-40B4-BE49-F238E27FC236}">
                <a16:creationId xmlns:a16="http://schemas.microsoft.com/office/drawing/2014/main" id="{58E3F1D6-B395-4106-8F93-3AA64DD716D1}"/>
              </a:ext>
            </a:extLst>
          </p:cNvPr>
          <p:cNvSpPr>
            <a:spLocks xmlns:a="http://schemas.openxmlformats.org/drawingml/2006/main" noGrp="1"/>
          </p:cNvSpPr>
          <p:nvPr/>
        </p:nvSpPr>
        <p:spPr>
          <a:xfrm xmlns:a="http://schemas.openxmlformats.org/drawingml/2006/main">
            <a:off x="6335713"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3" name="S21_SECURE_NODE_1">
            <a:extLst xmlns:a="http://schemas.openxmlformats.org/drawingml/2006/main">
              <a:ext uri="{FF2B5EF4-FFF2-40B4-BE49-F238E27FC236}">
                <a16:creationId xmlns:a16="http://schemas.microsoft.com/office/drawing/2014/main" id="{C8D2A5D2-2A37-44C7-9017-685F13B739D5}"/>
              </a:ext>
            </a:extLst>
          </p:cNvPr>
          <p:cNvSpPr>
            <a:spLocks xmlns:a="http://schemas.openxmlformats.org/drawingml/2006/main" noGrp="1"/>
          </p:cNvSpPr>
          <p:nvPr/>
        </p:nvSpPr>
        <p:spPr>
          <a:xfrm xmlns:a="http://schemas.openxmlformats.org/drawingml/2006/main">
            <a:off x="53340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GET form</a:t>
            </a:r>
          </a:p>
        </p:txBody>
      </p:sp>
      <p:sp>
        <p:nvSpPr>
          <p:cNvPr id="14" name="S21_SECURE_NODE_2">
            <a:extLst xmlns:a="http://schemas.openxmlformats.org/drawingml/2006/main">
              <a:ext uri="{FF2B5EF4-FFF2-40B4-BE49-F238E27FC236}">
                <a16:creationId xmlns:a16="http://schemas.microsoft.com/office/drawing/2014/main" id="{89F5838E-C131-44A4-AA1E-FFF8903460F5}"/>
              </a:ext>
            </a:extLst>
          </p:cNvPr>
          <p:cNvSpPr>
            <a:spLocks xmlns:a="http://schemas.openxmlformats.org/drawingml/2006/main" noGrp="1"/>
          </p:cNvSpPr>
          <p:nvPr/>
        </p:nvSpPr>
        <p:spPr>
          <a:xfrm xmlns:a="http://schemas.openxmlformats.org/drawingml/2006/main">
            <a:off x="1722437"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token_urlsafe(32)</a:t>
            </a:r>
          </a:p>
        </p:txBody>
      </p:sp>
      <p:sp>
        <p:nvSpPr>
          <p:cNvPr id="15" name="S21_SECURE_NODE_3">
            <a:extLst xmlns:a="http://schemas.openxmlformats.org/drawingml/2006/main">
              <a:ext uri="{FF2B5EF4-FFF2-40B4-BE49-F238E27FC236}">
                <a16:creationId xmlns:a16="http://schemas.microsoft.com/office/drawing/2014/main" id="{C181378F-DE7C-4D74-900A-F609382D71CC}"/>
              </a:ext>
            </a:extLst>
          </p:cNvPr>
          <p:cNvSpPr>
            <a:spLocks xmlns:a="http://schemas.openxmlformats.org/drawingml/2006/main" noGrp="1"/>
          </p:cNvSpPr>
          <p:nvPr/>
        </p:nvSpPr>
        <p:spPr>
          <a:xfrm xmlns:a="http://schemas.openxmlformats.org/drawingml/2006/main">
            <a:off x="2911475"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POST + token</a:t>
            </a:r>
          </a:p>
        </p:txBody>
      </p:sp>
      <p:sp>
        <p:nvSpPr>
          <p:cNvPr id="16" name="S21_SECURE_NODE_4">
            <a:extLst xmlns:a="http://schemas.openxmlformats.org/drawingml/2006/main">
              <a:ext uri="{FF2B5EF4-FFF2-40B4-BE49-F238E27FC236}">
                <a16:creationId xmlns:a16="http://schemas.microsoft.com/office/drawing/2014/main" id="{27FC172D-C3C6-44C7-ACC5-BCB478B4346D}"/>
              </a:ext>
            </a:extLst>
          </p:cNvPr>
          <p:cNvSpPr>
            <a:spLocks xmlns:a="http://schemas.openxmlformats.org/drawingml/2006/main" noGrp="1"/>
          </p:cNvSpPr>
          <p:nvPr/>
        </p:nvSpPr>
        <p:spPr>
          <a:xfrm xmlns:a="http://schemas.openxmlformats.org/drawingml/2006/main">
            <a:off x="4100513"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 exact</a:t>
            </a:r>
          </a:p>
        </p:txBody>
      </p:sp>
      <p:sp>
        <p:nvSpPr>
          <p:cNvPr id="17" name="S21_SECURE_NODE_5">
            <a:extLst xmlns:a="http://schemas.openxmlformats.org/drawingml/2006/main">
              <a:ext uri="{FF2B5EF4-FFF2-40B4-BE49-F238E27FC236}">
                <a16:creationId xmlns:a16="http://schemas.microsoft.com/office/drawing/2014/main" id="{FD3D620A-14D2-4138-BD07-33378E643AC4}"/>
              </a:ext>
            </a:extLst>
          </p:cNvPr>
          <p:cNvSpPr>
            <a:spLocks xmlns:a="http://schemas.openxmlformats.org/drawingml/2006/main" noGrp="1"/>
          </p:cNvSpPr>
          <p:nvPr/>
        </p:nvSpPr>
        <p:spPr>
          <a:xfrm xmlns:a="http://schemas.openxmlformats.org/drawingml/2006/main">
            <a:off x="528955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compare_digest</a:t>
            </a:r>
          </a:p>
        </p:txBody>
      </p:sp>
      <p:sp>
        <p:nvSpPr>
          <p:cNvPr id="18" name="S21_SECURE_NODE_6">
            <a:extLst xmlns:a="http://schemas.openxmlformats.org/drawingml/2006/main">
              <a:ext uri="{FF2B5EF4-FFF2-40B4-BE49-F238E27FC236}">
                <a16:creationId xmlns:a16="http://schemas.microsoft.com/office/drawing/2014/main" id="{22ED927E-81A5-4AE5-8510-348AD50A7FF4}"/>
              </a:ext>
            </a:extLst>
          </p:cNvPr>
          <p:cNvSpPr>
            <a:spLocks xmlns:a="http://schemas.openxmlformats.org/drawingml/2006/main" noGrp="1"/>
          </p:cNvSpPr>
          <p:nvPr/>
        </p:nvSpPr>
        <p:spPr>
          <a:xfrm xmlns:a="http://schemas.openxmlformats.org/drawingml/2006/main">
            <a:off x="6478588"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 / 403</a:t>
            </a:r>
          </a:p>
        </p:txBody>
      </p:sp>
      <p:sp>
        <p:nvSpPr>
          <p:cNvPr id="19" name="PH_S21_Lab04_13_secure_missing_token_403_png_FRAME">
            <a:extLst xmlns:a="http://schemas.openxmlformats.org/drawingml/2006/main">
              <a:ext uri="{FF2B5EF4-FFF2-40B4-BE49-F238E27FC236}">
                <a16:creationId xmlns:a16="http://schemas.microsoft.com/office/drawing/2014/main" id="{6CAA8CEC-28DA-4716-8285-27FCDEEFCB58}"/>
              </a:ext>
            </a:extLst>
          </p:cNvPr>
          <p:cNvSpPr>
            <a:spLocks xmlns:a="http://schemas.openxmlformats.org/drawingml/2006/main" noGrp="1"/>
          </p:cNvSpPr>
          <p:nvPr/>
        </p:nvSpPr>
        <p:spPr>
          <a:xfrm xmlns:a="http://schemas.openxmlformats.org/drawingml/2006/main">
            <a:off x="7800975" y="1724025"/>
            <a:ext cx="3886200" cy="23812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21_Lab04_13_secure_missing_token_403_png_IMAGE">
            <a:extLst xmlns:a="http://schemas.openxmlformats.org/drawingml/2006/main">
              <a:ext uri="{FF2B5EF4-FFF2-40B4-BE49-F238E27FC236}">
                <a16:creationId xmlns:a16="http://schemas.microsoft.com/office/drawing/2014/main" id="{57D01A53-39A6-4587-9A06-9F87604DBB21}"/>
              </a:ext>
            </a:extLst>
          </p:cNvPr>
          <p:cNvSpPr>
            <a:spLocks xmlns:a="http://schemas.openxmlformats.org/drawingml/2006/main" noGrp="1"/>
          </p:cNvSpPr>
          <p:nvPr/>
        </p:nvSpPr>
        <p:spPr>
          <a:xfrm xmlns:a="http://schemas.openxmlformats.org/drawingml/2006/main">
            <a:off x="7829550" y="1752600"/>
            <a:ext cx="3829050" cy="23241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21_Lab04_13_secure_missing_token_403_png_ICON">
            <a:extLst xmlns:a="http://schemas.openxmlformats.org/drawingml/2006/main">
              <a:ext uri="{FF2B5EF4-FFF2-40B4-BE49-F238E27FC236}">
                <a16:creationId xmlns:a16="http://schemas.microsoft.com/office/drawing/2014/main" id="{60B63D18-8D93-45C1-A8BF-9610E89EF215}"/>
              </a:ext>
            </a:extLst>
          </p:cNvPr>
          <p:cNvSpPr>
            <a:spLocks xmlns:a="http://schemas.openxmlformats.org/drawingml/2006/main" noGrp="1"/>
          </p:cNvSpPr>
          <p:nvPr/>
        </p:nvSpPr>
        <p:spPr>
          <a:xfrm xmlns:a="http://schemas.openxmlformats.org/drawingml/2006/main">
            <a:off x="79819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21_Lab04_13_secure_missing_token_403_png_INSTRUCTION">
            <a:extLst xmlns:a="http://schemas.openxmlformats.org/drawingml/2006/main">
              <a:ext uri="{FF2B5EF4-FFF2-40B4-BE49-F238E27FC236}">
                <a16:creationId xmlns:a16="http://schemas.microsoft.com/office/drawing/2014/main" id="{0275D8D6-E385-4D69-BDBE-7A412800DAB1}"/>
              </a:ext>
            </a:extLst>
          </p:cNvPr>
          <p:cNvSpPr>
            <a:spLocks xmlns:a="http://schemas.openxmlformats.org/drawingml/2006/main" noGrp="1"/>
          </p:cNvSpPr>
          <p:nvPr/>
        </p:nvSpPr>
        <p:spPr>
          <a:xfrm xmlns:a="http://schemas.openxmlformats.org/drawingml/2006/main">
            <a:off x="8496300" y="1924050"/>
            <a:ext cx="29908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13_secure_missing_token_403.png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21_Lab04_13_secure_missing_token_403_png_CAPTION">
            <a:extLst xmlns:a="http://schemas.openxmlformats.org/drawingml/2006/main">
              <a:ext uri="{FF2B5EF4-FFF2-40B4-BE49-F238E27FC236}">
                <a16:creationId xmlns:a16="http://schemas.microsoft.com/office/drawing/2014/main" id="{0118D80C-8D77-4AE2-81AE-05D96309EFFF}"/>
              </a:ext>
            </a:extLst>
          </p:cNvPr>
          <p:cNvSpPr>
            <a:spLocks xmlns:a="http://schemas.openxmlformats.org/drawingml/2006/main" noGrp="1"/>
          </p:cNvSpPr>
          <p:nvPr/>
        </p:nvSpPr>
        <p:spPr>
          <a:xfrm xmlns:a="http://schemas.openxmlformats.org/drawingml/2006/main">
            <a:off x="7829550" y="3667125"/>
            <a:ext cx="3829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403 khi thiếu CSRF token</a:t>
            </a:r>
          </a:p>
        </p:txBody>
      </p:sp>
      <p:sp>
        <p:nvSpPr>
          <p:cNvPr id="24" name="S21_LAYERS_H0">
            <a:extLst xmlns:a="http://schemas.openxmlformats.org/drawingml/2006/main">
              <a:ext uri="{FF2B5EF4-FFF2-40B4-BE49-F238E27FC236}">
                <a16:creationId xmlns:a16="http://schemas.microsoft.com/office/drawing/2014/main" id="{EF4D6159-93E8-4E96-B758-364837B2B0B9}"/>
              </a:ext>
            </a:extLst>
          </p:cNvPr>
          <p:cNvSpPr>
            <a:spLocks xmlns:a="http://schemas.openxmlformats.org/drawingml/2006/main" noGrp="1"/>
          </p:cNvSpPr>
          <p:nvPr/>
        </p:nvSpPr>
        <p:spPr>
          <a:xfrm xmlns:a="http://schemas.openxmlformats.org/drawingml/2006/main">
            <a:off x="533400" y="3105150"/>
            <a:ext cx="1524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25" name="S21_LAYERS_H1">
            <a:extLst xmlns:a="http://schemas.openxmlformats.org/drawingml/2006/main">
              <a:ext uri="{FF2B5EF4-FFF2-40B4-BE49-F238E27FC236}">
                <a16:creationId xmlns:a16="http://schemas.microsoft.com/office/drawing/2014/main" id="{A21660B4-D937-43A9-8D97-55823F9A5C6F}"/>
              </a:ext>
            </a:extLst>
          </p:cNvPr>
          <p:cNvSpPr>
            <a:spLocks xmlns:a="http://schemas.openxmlformats.org/drawingml/2006/main" noGrp="1"/>
          </p:cNvSpPr>
          <p:nvPr/>
        </p:nvSpPr>
        <p:spPr>
          <a:xfrm xmlns:a="http://schemas.openxmlformats.org/drawingml/2006/main">
            <a:off x="2057400" y="3105150"/>
            <a:ext cx="28575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VAI TRÒ</a:t>
            </a:r>
          </a:p>
        </p:txBody>
      </p:sp>
      <p:sp>
        <p:nvSpPr>
          <p:cNvPr id="26" name="S21_LAYERS_H2">
            <a:extLst xmlns:a="http://schemas.openxmlformats.org/drawingml/2006/main">
              <a:ext uri="{FF2B5EF4-FFF2-40B4-BE49-F238E27FC236}">
                <a16:creationId xmlns:a16="http://schemas.microsoft.com/office/drawing/2014/main" id="{1C42B96A-4C36-4218-AC18-AE1B6F9B3877}"/>
              </a:ext>
            </a:extLst>
          </p:cNvPr>
          <p:cNvSpPr>
            <a:spLocks xmlns:a="http://schemas.openxmlformats.org/drawingml/2006/main" noGrp="1"/>
          </p:cNvSpPr>
          <p:nvPr/>
        </p:nvSpPr>
        <p:spPr>
          <a:xfrm xmlns:a="http://schemas.openxmlformats.org/drawingml/2006/main">
            <a:off x="4914900" y="3105150"/>
            <a:ext cx="2571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KHÔNG THAY THẾ</a:t>
            </a:r>
          </a:p>
        </p:txBody>
      </p:sp>
      <p:sp>
        <p:nvSpPr>
          <p:cNvPr id="27" name="S21_LAYERS_R0C0">
            <a:extLst xmlns:a="http://schemas.openxmlformats.org/drawingml/2006/main">
              <a:ext uri="{FF2B5EF4-FFF2-40B4-BE49-F238E27FC236}">
                <a16:creationId xmlns:a16="http://schemas.microsoft.com/office/drawing/2014/main" id="{0AD5C6EE-A0F2-42D7-B84A-FFE37E6CA309}"/>
              </a:ext>
            </a:extLst>
          </p:cNvPr>
          <p:cNvSpPr>
            <a:spLocks xmlns:a="http://schemas.openxmlformats.org/drawingml/2006/main" noGrp="1"/>
          </p:cNvSpPr>
          <p:nvPr/>
        </p:nvSpPr>
        <p:spPr>
          <a:xfrm xmlns:a="http://schemas.openxmlformats.org/drawingml/2006/main">
            <a:off x="533400" y="364998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Token</a:t>
            </a:r>
          </a:p>
        </p:txBody>
      </p:sp>
      <p:sp>
        <p:nvSpPr>
          <p:cNvPr id="28" name="S21_LAYERS_R0C1">
            <a:extLst xmlns:a="http://schemas.openxmlformats.org/drawingml/2006/main">
              <a:ext uri="{FF2B5EF4-FFF2-40B4-BE49-F238E27FC236}">
                <a16:creationId xmlns:a16="http://schemas.microsoft.com/office/drawing/2014/main" id="{6BDE36F1-F8FF-4959-AB77-15E0CC754333}"/>
              </a:ext>
            </a:extLst>
          </p:cNvPr>
          <p:cNvSpPr>
            <a:spLocks xmlns:a="http://schemas.openxmlformats.org/drawingml/2006/main" noGrp="1"/>
          </p:cNvSpPr>
          <p:nvPr/>
        </p:nvSpPr>
        <p:spPr>
          <a:xfrm xmlns:a="http://schemas.openxmlformats.org/drawingml/2006/main">
            <a:off x="2057400" y="3649980"/>
            <a:ext cx="2857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ràng buộc intent/session</a:t>
            </a:r>
          </a:p>
        </p:txBody>
      </p:sp>
      <p:sp>
        <p:nvSpPr>
          <p:cNvPr id="29" name="S21_LAYERS_R0C2">
            <a:extLst xmlns:a="http://schemas.openxmlformats.org/drawingml/2006/main">
              <a:ext uri="{FF2B5EF4-FFF2-40B4-BE49-F238E27FC236}">
                <a16:creationId xmlns:a16="http://schemas.microsoft.com/office/drawing/2014/main" id="{898CDB68-687E-45CD-8E86-4C1B7755534D}"/>
              </a:ext>
            </a:extLst>
          </p:cNvPr>
          <p:cNvSpPr>
            <a:spLocks xmlns:a="http://schemas.openxmlformats.org/drawingml/2006/main" noGrp="1"/>
          </p:cNvSpPr>
          <p:nvPr/>
        </p:nvSpPr>
        <p:spPr>
          <a:xfrm xmlns:a="http://schemas.openxmlformats.org/drawingml/2006/main">
            <a:off x="4914900" y="3649980"/>
            <a:ext cx="2571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authn</a:t>
            </a:r>
          </a:p>
        </p:txBody>
      </p:sp>
      <p:sp>
        <p:nvSpPr>
          <p:cNvPr id="30" name="S21_LAYERS_R1C0">
            <a:extLst xmlns:a="http://schemas.openxmlformats.org/drawingml/2006/main">
              <a:ext uri="{FF2B5EF4-FFF2-40B4-BE49-F238E27FC236}">
                <a16:creationId xmlns:a16="http://schemas.microsoft.com/office/drawing/2014/main" id="{79299767-1A7E-41CF-81BF-999840C6B2DE}"/>
              </a:ext>
            </a:extLst>
          </p:cNvPr>
          <p:cNvSpPr>
            <a:spLocks xmlns:a="http://schemas.openxmlformats.org/drawingml/2006/main" noGrp="1"/>
          </p:cNvSpPr>
          <p:nvPr/>
        </p:nvSpPr>
        <p:spPr>
          <a:xfrm xmlns:a="http://schemas.openxmlformats.org/drawingml/2006/main">
            <a:off x="533400" y="419481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Origin/Referer</a:t>
            </a:r>
          </a:p>
        </p:txBody>
      </p:sp>
      <p:sp>
        <p:nvSpPr>
          <p:cNvPr id="31" name="S21_LAYERS_R1C1">
            <a:extLst xmlns:a="http://schemas.openxmlformats.org/drawingml/2006/main">
              <a:ext uri="{FF2B5EF4-FFF2-40B4-BE49-F238E27FC236}">
                <a16:creationId xmlns:a16="http://schemas.microsoft.com/office/drawing/2014/main" id="{9FFF9417-F0AF-4496-A345-9D6FCEBDE2E6}"/>
              </a:ext>
            </a:extLst>
          </p:cNvPr>
          <p:cNvSpPr>
            <a:spLocks xmlns:a="http://schemas.openxmlformats.org/drawingml/2006/main" noGrp="1"/>
          </p:cNvSpPr>
          <p:nvPr/>
        </p:nvSpPr>
        <p:spPr>
          <a:xfrm xmlns:a="http://schemas.openxmlformats.org/drawingml/2006/main">
            <a:off x="2057400" y="4194810"/>
            <a:ext cx="2857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xác minh nguồn</a:t>
            </a:r>
          </a:p>
        </p:txBody>
      </p:sp>
      <p:sp>
        <p:nvSpPr>
          <p:cNvPr id="32" name="S21_LAYERS_R1C2">
            <a:extLst xmlns:a="http://schemas.openxmlformats.org/drawingml/2006/main">
              <a:ext uri="{FF2B5EF4-FFF2-40B4-BE49-F238E27FC236}">
                <a16:creationId xmlns:a16="http://schemas.microsoft.com/office/drawing/2014/main" id="{0D1E5B52-07D1-4D86-994E-0D6A27AA15DE}"/>
              </a:ext>
            </a:extLst>
          </p:cNvPr>
          <p:cNvSpPr>
            <a:spLocks xmlns:a="http://schemas.openxmlformats.org/drawingml/2006/main" noGrp="1"/>
          </p:cNvSpPr>
          <p:nvPr/>
        </p:nvSpPr>
        <p:spPr>
          <a:xfrm xmlns:a="http://schemas.openxmlformats.org/drawingml/2006/main">
            <a:off x="4914900" y="4194810"/>
            <a:ext cx="2571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a:t>
            </a:r>
          </a:p>
        </p:txBody>
      </p:sp>
      <p:sp>
        <p:nvSpPr>
          <p:cNvPr id="33" name="S21_LAYERS_R2C0">
            <a:extLst xmlns:a="http://schemas.openxmlformats.org/drawingml/2006/main">
              <a:ext uri="{FF2B5EF4-FFF2-40B4-BE49-F238E27FC236}">
                <a16:creationId xmlns:a16="http://schemas.microsoft.com/office/drawing/2014/main" id="{E27E67A8-44BA-4F0E-8760-4B25DF55768E}"/>
              </a:ext>
            </a:extLst>
          </p:cNvPr>
          <p:cNvSpPr>
            <a:spLocks xmlns:a="http://schemas.openxmlformats.org/drawingml/2006/main" noGrp="1"/>
          </p:cNvSpPr>
          <p:nvPr/>
        </p:nvSpPr>
        <p:spPr>
          <a:xfrm xmlns:a="http://schemas.openxmlformats.org/drawingml/2006/main">
            <a:off x="533400" y="473964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SameSite</a:t>
            </a:r>
          </a:p>
        </p:txBody>
      </p:sp>
      <p:sp>
        <p:nvSpPr>
          <p:cNvPr id="34" name="S21_LAYERS_R2C1">
            <a:extLst xmlns:a="http://schemas.openxmlformats.org/drawingml/2006/main">
              <a:ext uri="{FF2B5EF4-FFF2-40B4-BE49-F238E27FC236}">
                <a16:creationId xmlns:a16="http://schemas.microsoft.com/office/drawing/2014/main" id="{7A977227-37C1-49B6-A6C9-4C1EA9DDE587}"/>
              </a:ext>
            </a:extLst>
          </p:cNvPr>
          <p:cNvSpPr>
            <a:spLocks xmlns:a="http://schemas.openxmlformats.org/drawingml/2006/main" noGrp="1"/>
          </p:cNvSpPr>
          <p:nvPr/>
        </p:nvSpPr>
        <p:spPr>
          <a:xfrm xmlns:a="http://schemas.openxmlformats.org/drawingml/2006/main">
            <a:off x="2057400" y="4739640"/>
            <a:ext cx="2857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giảm cookie cross-site</a:t>
            </a:r>
          </a:p>
        </p:txBody>
      </p:sp>
      <p:sp>
        <p:nvSpPr>
          <p:cNvPr id="35" name="S21_LAYERS_R2C2">
            <a:extLst xmlns:a="http://schemas.openxmlformats.org/drawingml/2006/main">
              <a:ext uri="{FF2B5EF4-FFF2-40B4-BE49-F238E27FC236}">
                <a16:creationId xmlns:a16="http://schemas.microsoft.com/office/drawing/2014/main" id="{FBF88D8F-A9D1-42DA-888F-3E09EB98CCB2}"/>
              </a:ext>
            </a:extLst>
          </p:cNvPr>
          <p:cNvSpPr>
            <a:spLocks xmlns:a="http://schemas.openxmlformats.org/drawingml/2006/main" noGrp="1"/>
          </p:cNvSpPr>
          <p:nvPr/>
        </p:nvSpPr>
        <p:spPr>
          <a:xfrm xmlns:a="http://schemas.openxmlformats.org/drawingml/2006/main">
            <a:off x="4914900" y="4739640"/>
            <a:ext cx="2571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check</a:t>
            </a:r>
          </a:p>
        </p:txBody>
      </p:sp>
      <p:sp>
        <p:nvSpPr>
          <p:cNvPr id="36" name="S21_LAYERS_R3C0">
            <a:extLst xmlns:a="http://schemas.openxmlformats.org/drawingml/2006/main">
              <a:ext uri="{FF2B5EF4-FFF2-40B4-BE49-F238E27FC236}">
                <a16:creationId xmlns:a16="http://schemas.microsoft.com/office/drawing/2014/main" id="{3ADDDF24-14A2-4074-8EED-63A5036E417A}"/>
              </a:ext>
            </a:extLst>
          </p:cNvPr>
          <p:cNvSpPr>
            <a:spLocks xmlns:a="http://schemas.openxmlformats.org/drawingml/2006/main" noGrp="1"/>
          </p:cNvSpPr>
          <p:nvPr/>
        </p:nvSpPr>
        <p:spPr>
          <a:xfrm xmlns:a="http://schemas.openxmlformats.org/drawingml/2006/main">
            <a:off x="533400" y="528447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Re-auth</a:t>
            </a:r>
          </a:p>
        </p:txBody>
      </p:sp>
      <p:sp>
        <p:nvSpPr>
          <p:cNvPr id="37" name="S21_LAYERS_R3C1">
            <a:extLst xmlns:a="http://schemas.openxmlformats.org/drawingml/2006/main">
              <a:ext uri="{FF2B5EF4-FFF2-40B4-BE49-F238E27FC236}">
                <a16:creationId xmlns:a16="http://schemas.microsoft.com/office/drawing/2014/main" id="{EEEA47E9-B0F9-4F0C-82C4-FB9777B6FD78}"/>
              </a:ext>
            </a:extLst>
          </p:cNvPr>
          <p:cNvSpPr>
            <a:spLocks xmlns:a="http://schemas.openxmlformats.org/drawingml/2006/main" noGrp="1"/>
          </p:cNvSpPr>
          <p:nvPr/>
        </p:nvSpPr>
        <p:spPr>
          <a:xfrm xmlns:a="http://schemas.openxmlformats.org/drawingml/2006/main">
            <a:off x="2057400" y="5284470"/>
            <a:ext cx="2857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step-up hành động nhạy cảm</a:t>
            </a:r>
          </a:p>
        </p:txBody>
      </p:sp>
      <p:sp>
        <p:nvSpPr>
          <p:cNvPr id="38" name="S21_LAYERS_R3C2">
            <a:extLst xmlns:a="http://schemas.openxmlformats.org/drawingml/2006/main">
              <a:ext uri="{FF2B5EF4-FFF2-40B4-BE49-F238E27FC236}">
                <a16:creationId xmlns:a16="http://schemas.microsoft.com/office/drawing/2014/main" id="{726E5D22-587C-496F-9DE4-C1467DD0F7FC}"/>
              </a:ext>
            </a:extLst>
          </p:cNvPr>
          <p:cNvSpPr>
            <a:spLocks xmlns:a="http://schemas.openxmlformats.org/drawingml/2006/main" noGrp="1"/>
          </p:cNvSpPr>
          <p:nvPr/>
        </p:nvSpPr>
        <p:spPr>
          <a:xfrm xmlns:a="http://schemas.openxmlformats.org/drawingml/2006/main">
            <a:off x="4914900" y="5284470"/>
            <a:ext cx="2571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mọi request</a:t>
            </a:r>
          </a:p>
        </p:txBody>
      </p:sp>
      <p:sp>
        <p:nvSpPr>
          <p:cNvPr id="39" name="S21_NOTE_BAR">
            <a:extLst xmlns:a="http://schemas.openxmlformats.org/drawingml/2006/main">
              <a:ext uri="{FF2B5EF4-FFF2-40B4-BE49-F238E27FC236}">
                <a16:creationId xmlns:a16="http://schemas.microsoft.com/office/drawing/2014/main" id="{69E66339-A8E9-455C-912C-95D23AB6658A}"/>
              </a:ext>
            </a:extLst>
          </p:cNvPr>
          <p:cNvSpPr>
            <a:spLocks xmlns:a="http://schemas.openxmlformats.org/drawingml/2006/main" noGrp="1"/>
          </p:cNvSpPr>
          <p:nvPr/>
        </p:nvSpPr>
        <p:spPr>
          <a:xfrm xmlns:a="http://schemas.openxmlformats.org/drawingml/2006/main">
            <a:off x="7829550" y="4476750"/>
            <a:ext cx="76200" cy="0"/>
          </a:xfrm>
          <a:prstGeom xmlns:a="http://schemas.openxmlformats.org/drawingml/2006/main" prst="rect">
            <a:avLst/>
          </a:prstGeom>
          <a:ln xmlns:a="http://schemas.openxmlformats.org/drawingml/2006/main" w="0">
            <a:noFill/>
            <a:prstDash val="solid"/>
          </a:ln>
        </p:spPr>
      </p:sp>
      <p:sp>
        <p:nvSpPr>
          <p:cNvPr id="40" name="S21_NOTE_LABEL">
            <a:extLst xmlns:a="http://schemas.openxmlformats.org/drawingml/2006/main">
              <a:ext uri="{FF2B5EF4-FFF2-40B4-BE49-F238E27FC236}">
                <a16:creationId xmlns:a16="http://schemas.microsoft.com/office/drawing/2014/main" id="{1FA2102A-414F-4A1F-9AE0-DE8A148F1A1C}"/>
              </a:ext>
            </a:extLst>
          </p:cNvPr>
          <p:cNvSpPr>
            <a:spLocks xmlns:a="http://schemas.openxmlformats.org/drawingml/2006/main" noGrp="1"/>
          </p:cNvSpPr>
          <p:nvPr/>
        </p:nvSpPr>
        <p:spPr>
          <a:xfrm xmlns:a="http://schemas.openxmlformats.org/drawingml/2006/main">
            <a:off x="8001000" y="44958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ROTATE + DENY</a:t>
            </a:r>
          </a:p>
        </p:txBody>
      </p:sp>
      <p:sp>
        <p:nvSpPr>
          <p:cNvPr id="41" name="S21_NOTE_BODY">
            <a:extLst xmlns:a="http://schemas.openxmlformats.org/drawingml/2006/main">
              <a:ext uri="{FF2B5EF4-FFF2-40B4-BE49-F238E27FC236}">
                <a16:creationId xmlns:a16="http://schemas.microsoft.com/office/drawing/2014/main" id="{2A45F661-63B0-44B9-8536-A528B930A34D}"/>
              </a:ext>
            </a:extLst>
          </p:cNvPr>
          <p:cNvSpPr>
            <a:spLocks xmlns:a="http://schemas.openxmlformats.org/drawingml/2006/main" noGrp="1"/>
          </p:cNvSpPr>
          <p:nvPr/>
        </p:nvSpPr>
        <p:spPr>
          <a:xfrm xmlns:a="http://schemas.openxmlformats.org/drawingml/2006/main">
            <a:off x="8001000" y="4800600"/>
            <a:ext cx="3638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Token sai/thiếu hoặc origin không hợp lệ → 403; không cập nhật email.</a:t>
            </a:r>
          </a:p>
        </p:txBody>
      </p:sp>
    </p:spTree>
    <p:extLst>
      <p:ext uri="{BB962C8B-B14F-4D97-AF65-F5344CB8AC3E}">
        <p14:creationId xmlns:p14="http://schemas.microsoft.com/office/powerpoint/2010/main" val="437620121"/>
      </p:ext>
    </p:extLst>
  </p:cSld>
</p:sld>
</file>

<file path=ppt/slides/slide2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7" name="S22_EYEBROW">
            <a:extLst xmlns:a="http://schemas.openxmlformats.org/drawingml/2006/main">
              <a:ext uri="{FF2B5EF4-FFF2-40B4-BE49-F238E27FC236}">
                <a16:creationId xmlns:a16="http://schemas.microsoft.com/office/drawing/2014/main" id="{8907B8E8-D473-4809-B302-DA717237B4E5}"/>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LAB04 / CSRF</a:t>
            </a:r>
          </a:p>
        </p:txBody>
      </p:sp>
      <p:sp>
        <p:nvSpPr>
          <p:cNvPr id="2" name="S22_TITLE">
            <a:extLst xmlns:a="http://schemas.openxmlformats.org/drawingml/2006/main">
              <a:ext uri="{FF2B5EF4-FFF2-40B4-BE49-F238E27FC236}">
                <a16:creationId xmlns:a16="http://schemas.microsoft.com/office/drawing/2014/main" id="{AB6183D3-D415-4D29-A78C-941137CA628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So sánh request và trả lời báo cáo</a:t>
            </a:r>
          </a:p>
        </p:txBody>
      </p:sp>
      <p:sp>
        <p:nvSpPr>
          <p:cNvPr id="3" name="S22_SUBTITLE">
            <a:extLst xmlns:a="http://schemas.openxmlformats.org/drawingml/2006/main">
              <a:ext uri="{FF2B5EF4-FFF2-40B4-BE49-F238E27FC236}">
                <a16:creationId xmlns:a16="http://schemas.microsoft.com/office/drawing/2014/main" id="{173516FB-DA8A-4E90-8A76-97C233A4202D}"/>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secure request có đồng thời session, token đúng và origin hợp lệ.</a:t>
            </a:r>
          </a:p>
        </p:txBody>
      </p:sp>
      <p:sp>
        <p:nvSpPr>
          <p:cNvPr id="4" name="S22_TITLE_RULE">
            <a:extLst xmlns:a="http://schemas.openxmlformats.org/drawingml/2006/main">
              <a:ext uri="{FF2B5EF4-FFF2-40B4-BE49-F238E27FC236}">
                <a16:creationId xmlns:a16="http://schemas.microsoft.com/office/drawing/2014/main" id="{D6F4C321-D774-434B-9893-F8C0802684C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2_FOOTER_RULE">
            <a:extLst xmlns:a="http://schemas.openxmlformats.org/drawingml/2006/main">
              <a:ext uri="{FF2B5EF4-FFF2-40B4-BE49-F238E27FC236}">
                <a16:creationId xmlns:a16="http://schemas.microsoft.com/office/drawing/2014/main" id="{9E9CDDC3-6166-4973-AEFE-FB2D33CCD62A}"/>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2_SOURCE">
            <a:extLst xmlns:a="http://schemas.openxmlformats.org/drawingml/2006/main">
              <a:ext uri="{FF2B5EF4-FFF2-40B4-BE49-F238E27FC236}">
                <a16:creationId xmlns:a16="http://schemas.microsoft.com/office/drawing/2014/main" id="{E48FD116-3C69-4342-8F3B-2E897DFA0825}"/>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Lab04 · report Lab04</a:t>
            </a:r>
          </a:p>
        </p:txBody>
      </p:sp>
      <p:sp>
        <p:nvSpPr>
          <p:cNvPr id="7" name="S22_NUMBER">
            <a:extLst xmlns:a="http://schemas.openxmlformats.org/drawingml/2006/main">
              <a:ext uri="{FF2B5EF4-FFF2-40B4-BE49-F238E27FC236}">
                <a16:creationId xmlns:a16="http://schemas.microsoft.com/office/drawing/2014/main" id="{48606BAF-2E94-4D34-B833-49C90A9E0CA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22</a:t>
            </a:r>
          </a:p>
        </p:txBody>
      </p:sp>
      <p:sp>
        <p:nvSpPr>
          <p:cNvPr id="8" name="S22_MATRIX_H0">
            <a:extLst xmlns:a="http://schemas.openxmlformats.org/drawingml/2006/main">
              <a:ext uri="{FF2B5EF4-FFF2-40B4-BE49-F238E27FC236}">
                <a16:creationId xmlns:a16="http://schemas.microsoft.com/office/drawing/2014/main" id="{8AAA7761-9DF8-4CBF-A1FF-5EB4D125A796}"/>
              </a:ext>
            </a:extLst>
          </p:cNvPr>
          <p:cNvSpPr>
            <a:spLocks xmlns:a="http://schemas.openxmlformats.org/drawingml/2006/main" noGrp="1"/>
          </p:cNvSpPr>
          <p:nvPr/>
        </p:nvSpPr>
        <p:spPr>
          <a:xfrm xmlns:a="http://schemas.openxmlformats.org/drawingml/2006/main">
            <a:off x="533400" y="1695450"/>
            <a:ext cx="1809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REQUEST</a:t>
            </a:r>
          </a:p>
        </p:txBody>
      </p:sp>
      <p:sp>
        <p:nvSpPr>
          <p:cNvPr id="9" name="S22_MATRIX_H1">
            <a:extLst xmlns:a="http://schemas.openxmlformats.org/drawingml/2006/main">
              <a:ext uri="{FF2B5EF4-FFF2-40B4-BE49-F238E27FC236}">
                <a16:creationId xmlns:a16="http://schemas.microsoft.com/office/drawing/2014/main" id="{80069D96-C856-4FAA-B06A-918D6496FF42}"/>
              </a:ext>
            </a:extLst>
          </p:cNvPr>
          <p:cNvSpPr>
            <a:spLocks xmlns:a="http://schemas.openxmlformats.org/drawingml/2006/main" noGrp="1"/>
          </p:cNvSpPr>
          <p:nvPr/>
        </p:nvSpPr>
        <p:spPr>
          <a:xfrm xmlns:a="http://schemas.openxmlformats.org/drawingml/2006/main">
            <a:off x="2343150" y="1695450"/>
            <a:ext cx="952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COOKIE</a:t>
            </a:r>
          </a:p>
        </p:txBody>
      </p:sp>
      <p:sp>
        <p:nvSpPr>
          <p:cNvPr id="10" name="S22_MATRIX_H2">
            <a:extLst xmlns:a="http://schemas.openxmlformats.org/drawingml/2006/main">
              <a:ext uri="{FF2B5EF4-FFF2-40B4-BE49-F238E27FC236}">
                <a16:creationId xmlns:a16="http://schemas.microsoft.com/office/drawing/2014/main" id="{731C0A4A-96B9-4F8D-81DB-ED7C9A3165FD}"/>
              </a:ext>
            </a:extLst>
          </p:cNvPr>
          <p:cNvSpPr>
            <a:spLocks xmlns:a="http://schemas.openxmlformats.org/drawingml/2006/main" noGrp="1"/>
          </p:cNvSpPr>
          <p:nvPr/>
        </p:nvSpPr>
        <p:spPr>
          <a:xfrm xmlns:a="http://schemas.openxmlformats.org/drawingml/2006/main">
            <a:off x="3295650" y="1695450"/>
            <a:ext cx="952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TOKEN</a:t>
            </a:r>
          </a:p>
        </p:txBody>
      </p:sp>
      <p:sp>
        <p:nvSpPr>
          <p:cNvPr id="11" name="S22_MATRIX_H3">
            <a:extLst xmlns:a="http://schemas.openxmlformats.org/drawingml/2006/main">
              <a:ext uri="{FF2B5EF4-FFF2-40B4-BE49-F238E27FC236}">
                <a16:creationId xmlns:a16="http://schemas.microsoft.com/office/drawing/2014/main" id="{A60AECCE-6FD9-49AA-A014-63F170B91602}"/>
              </a:ext>
            </a:extLst>
          </p:cNvPr>
          <p:cNvSpPr>
            <a:spLocks xmlns:a="http://schemas.openxmlformats.org/drawingml/2006/main" noGrp="1"/>
          </p:cNvSpPr>
          <p:nvPr/>
        </p:nvSpPr>
        <p:spPr>
          <a:xfrm xmlns:a="http://schemas.openxmlformats.org/drawingml/2006/main">
            <a:off x="4248150" y="1695450"/>
            <a:ext cx="133350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ORIGIN</a:t>
            </a:r>
          </a:p>
        </p:txBody>
      </p:sp>
      <p:sp>
        <p:nvSpPr>
          <p:cNvPr id="12" name="S22_MATRIX_H4">
            <a:extLst xmlns:a="http://schemas.openxmlformats.org/drawingml/2006/main">
              <a:ext uri="{FF2B5EF4-FFF2-40B4-BE49-F238E27FC236}">
                <a16:creationId xmlns:a16="http://schemas.microsoft.com/office/drawing/2014/main" id="{E35F8797-6AFF-4F93-8712-9EAFDC3DC162}"/>
              </a:ext>
            </a:extLst>
          </p:cNvPr>
          <p:cNvSpPr>
            <a:spLocks xmlns:a="http://schemas.openxmlformats.org/drawingml/2006/main" noGrp="1"/>
          </p:cNvSpPr>
          <p:nvPr/>
        </p:nvSpPr>
        <p:spPr>
          <a:xfrm xmlns:a="http://schemas.openxmlformats.org/drawingml/2006/main">
            <a:off x="5581650" y="1695450"/>
            <a:ext cx="1428750" cy="5667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RESULT</a:t>
            </a:r>
          </a:p>
        </p:txBody>
      </p:sp>
      <p:sp>
        <p:nvSpPr>
          <p:cNvPr id="13" name="S22_MATRIX_R0C0">
            <a:extLst xmlns:a="http://schemas.openxmlformats.org/drawingml/2006/main">
              <a:ext uri="{FF2B5EF4-FFF2-40B4-BE49-F238E27FC236}">
                <a16:creationId xmlns:a16="http://schemas.microsoft.com/office/drawing/2014/main" id="{32F15A61-B5B8-4235-B466-5F865389AD76}"/>
              </a:ext>
            </a:extLst>
          </p:cNvPr>
          <p:cNvSpPr>
            <a:spLocks xmlns:a="http://schemas.openxmlformats.org/drawingml/2006/main" noGrp="1"/>
          </p:cNvSpPr>
          <p:nvPr/>
        </p:nvSpPr>
        <p:spPr>
          <a:xfrm xmlns:a="http://schemas.openxmlformats.org/drawingml/2006/main">
            <a:off x="533400" y="2262188"/>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Victim form</a:t>
            </a:r>
          </a:p>
        </p:txBody>
      </p:sp>
      <p:sp>
        <p:nvSpPr>
          <p:cNvPr id="14" name="S22_MATRIX_R0C1">
            <a:extLst xmlns:a="http://schemas.openxmlformats.org/drawingml/2006/main">
              <a:ext uri="{FF2B5EF4-FFF2-40B4-BE49-F238E27FC236}">
                <a16:creationId xmlns:a16="http://schemas.microsoft.com/office/drawing/2014/main" id="{EA10265D-A1AB-4617-B0F3-1E55E491C015}"/>
              </a:ext>
            </a:extLst>
          </p:cNvPr>
          <p:cNvSpPr>
            <a:spLocks xmlns:a="http://schemas.openxmlformats.org/drawingml/2006/main" noGrp="1"/>
          </p:cNvSpPr>
          <p:nvPr/>
        </p:nvSpPr>
        <p:spPr>
          <a:xfrm xmlns:a="http://schemas.openxmlformats.org/drawingml/2006/main">
            <a:off x="2343150" y="2262188"/>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15" name="S22_MATRIX_R0C2">
            <a:extLst xmlns:a="http://schemas.openxmlformats.org/drawingml/2006/main">
              <a:ext uri="{FF2B5EF4-FFF2-40B4-BE49-F238E27FC236}">
                <a16:creationId xmlns:a16="http://schemas.microsoft.com/office/drawing/2014/main" id="{F23482DC-40CB-4797-A3DE-7F230A7CADD5}"/>
              </a:ext>
            </a:extLst>
          </p:cNvPr>
          <p:cNvSpPr>
            <a:spLocks xmlns:a="http://schemas.openxmlformats.org/drawingml/2006/main" noGrp="1"/>
          </p:cNvSpPr>
          <p:nvPr/>
        </p:nvSpPr>
        <p:spPr>
          <a:xfrm xmlns:a="http://schemas.openxmlformats.org/drawingml/2006/main">
            <a:off x="3295650" y="2262188"/>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đúng</a:t>
            </a:r>
          </a:p>
        </p:txBody>
      </p:sp>
      <p:sp>
        <p:nvSpPr>
          <p:cNvPr id="16" name="S22_MATRIX_R0C3">
            <a:extLst xmlns:a="http://schemas.openxmlformats.org/drawingml/2006/main">
              <a:ext uri="{FF2B5EF4-FFF2-40B4-BE49-F238E27FC236}">
                <a16:creationId xmlns:a16="http://schemas.microsoft.com/office/drawing/2014/main" id="{5F3759B2-81E1-4488-82BF-7C72EBB4F9D0}"/>
              </a:ext>
            </a:extLst>
          </p:cNvPr>
          <p:cNvSpPr>
            <a:spLocks xmlns:a="http://schemas.openxmlformats.org/drawingml/2006/main" noGrp="1"/>
          </p:cNvSpPr>
          <p:nvPr/>
        </p:nvSpPr>
        <p:spPr>
          <a:xfrm xmlns:a="http://schemas.openxmlformats.org/drawingml/2006/main">
            <a:off x="4248150" y="2262188"/>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allowed</a:t>
            </a:r>
          </a:p>
        </p:txBody>
      </p:sp>
      <p:sp>
        <p:nvSpPr>
          <p:cNvPr id="17" name="S22_MATRIX_R0C4">
            <a:extLst xmlns:a="http://schemas.openxmlformats.org/drawingml/2006/main">
              <a:ext uri="{FF2B5EF4-FFF2-40B4-BE49-F238E27FC236}">
                <a16:creationId xmlns:a16="http://schemas.microsoft.com/office/drawing/2014/main" id="{909C8043-FDCB-4E30-81DD-29DE19985C16}"/>
              </a:ext>
            </a:extLst>
          </p:cNvPr>
          <p:cNvSpPr>
            <a:spLocks xmlns:a="http://schemas.openxmlformats.org/drawingml/2006/main" noGrp="1"/>
          </p:cNvSpPr>
          <p:nvPr/>
        </p:nvSpPr>
        <p:spPr>
          <a:xfrm xmlns:a="http://schemas.openxmlformats.org/drawingml/2006/main">
            <a:off x="5581650" y="2262188"/>
            <a:ext cx="1428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200</a:t>
            </a:r>
          </a:p>
        </p:txBody>
      </p:sp>
      <p:sp>
        <p:nvSpPr>
          <p:cNvPr id="18" name="S22_MATRIX_R1C0">
            <a:extLst xmlns:a="http://schemas.openxmlformats.org/drawingml/2006/main">
              <a:ext uri="{FF2B5EF4-FFF2-40B4-BE49-F238E27FC236}">
                <a16:creationId xmlns:a16="http://schemas.microsoft.com/office/drawing/2014/main" id="{DB0F7BBC-351F-41AB-90E3-057DD3D050E1}"/>
              </a:ext>
            </a:extLst>
          </p:cNvPr>
          <p:cNvSpPr>
            <a:spLocks xmlns:a="http://schemas.openxmlformats.org/drawingml/2006/main" noGrp="1"/>
          </p:cNvSpPr>
          <p:nvPr/>
        </p:nvSpPr>
        <p:spPr>
          <a:xfrm xmlns:a="http://schemas.openxmlformats.org/drawingml/2006/main">
            <a:off x="533400" y="2828925"/>
            <a:ext cx="1809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Attacker → vulnerable</a:t>
            </a:r>
          </a:p>
        </p:txBody>
      </p:sp>
      <p:sp>
        <p:nvSpPr>
          <p:cNvPr id="19" name="S22_MATRIX_R1C1">
            <a:extLst xmlns:a="http://schemas.openxmlformats.org/drawingml/2006/main">
              <a:ext uri="{FF2B5EF4-FFF2-40B4-BE49-F238E27FC236}">
                <a16:creationId xmlns:a16="http://schemas.microsoft.com/office/drawing/2014/main" id="{5D0867DF-8F47-4E15-B54E-CE5D4431FFC9}"/>
              </a:ext>
            </a:extLst>
          </p:cNvPr>
          <p:cNvSpPr>
            <a:spLocks xmlns:a="http://schemas.openxmlformats.org/drawingml/2006/main" noGrp="1"/>
          </p:cNvSpPr>
          <p:nvPr/>
        </p:nvSpPr>
        <p:spPr>
          <a:xfrm xmlns:a="http://schemas.openxmlformats.org/drawingml/2006/main">
            <a:off x="2343150" y="2828925"/>
            <a:ext cx="952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20" name="S22_MATRIX_R1C2">
            <a:extLst xmlns:a="http://schemas.openxmlformats.org/drawingml/2006/main">
              <a:ext uri="{FF2B5EF4-FFF2-40B4-BE49-F238E27FC236}">
                <a16:creationId xmlns:a16="http://schemas.microsoft.com/office/drawing/2014/main" id="{36E5F9C9-40C2-424A-832A-85A461B8DC59}"/>
              </a:ext>
            </a:extLst>
          </p:cNvPr>
          <p:cNvSpPr>
            <a:spLocks xmlns:a="http://schemas.openxmlformats.org/drawingml/2006/main" noGrp="1"/>
          </p:cNvSpPr>
          <p:nvPr/>
        </p:nvSpPr>
        <p:spPr>
          <a:xfrm xmlns:a="http://schemas.openxmlformats.org/drawingml/2006/main">
            <a:off x="3295650" y="2828925"/>
            <a:ext cx="952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thiếu</a:t>
            </a:r>
          </a:p>
        </p:txBody>
      </p:sp>
      <p:sp>
        <p:nvSpPr>
          <p:cNvPr id="21" name="S22_MATRIX_R1C3">
            <a:extLst xmlns:a="http://schemas.openxmlformats.org/drawingml/2006/main">
              <a:ext uri="{FF2B5EF4-FFF2-40B4-BE49-F238E27FC236}">
                <a16:creationId xmlns:a16="http://schemas.microsoft.com/office/drawing/2014/main" id="{6B229100-FE2A-4909-805A-9F95CDC1633F}"/>
              </a:ext>
            </a:extLst>
          </p:cNvPr>
          <p:cNvSpPr>
            <a:spLocks xmlns:a="http://schemas.openxmlformats.org/drawingml/2006/main" noGrp="1"/>
          </p:cNvSpPr>
          <p:nvPr/>
        </p:nvSpPr>
        <p:spPr>
          <a:xfrm xmlns:a="http://schemas.openxmlformats.org/drawingml/2006/main">
            <a:off x="4248150" y="2828925"/>
            <a:ext cx="133350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a:t>
            </a:r>
          </a:p>
        </p:txBody>
      </p:sp>
      <p:sp>
        <p:nvSpPr>
          <p:cNvPr id="22" name="S22_MATRIX_R1C4">
            <a:extLst xmlns:a="http://schemas.openxmlformats.org/drawingml/2006/main">
              <a:ext uri="{FF2B5EF4-FFF2-40B4-BE49-F238E27FC236}">
                <a16:creationId xmlns:a16="http://schemas.microsoft.com/office/drawing/2014/main" id="{C90D9CCC-1956-45F3-B8CF-DC7FDAC1553C}"/>
              </a:ext>
            </a:extLst>
          </p:cNvPr>
          <p:cNvSpPr>
            <a:spLocks xmlns:a="http://schemas.openxmlformats.org/drawingml/2006/main" noGrp="1"/>
          </p:cNvSpPr>
          <p:nvPr/>
        </p:nvSpPr>
        <p:spPr>
          <a:xfrm xmlns:a="http://schemas.openxmlformats.org/drawingml/2006/main">
            <a:off x="5581650" y="2828925"/>
            <a:ext cx="1428750" cy="5667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email đổi</a:t>
            </a:r>
          </a:p>
        </p:txBody>
      </p:sp>
      <p:sp>
        <p:nvSpPr>
          <p:cNvPr id="23" name="S22_MATRIX_R2C0">
            <a:extLst xmlns:a="http://schemas.openxmlformats.org/drawingml/2006/main">
              <a:ext uri="{FF2B5EF4-FFF2-40B4-BE49-F238E27FC236}">
                <a16:creationId xmlns:a16="http://schemas.microsoft.com/office/drawing/2014/main" id="{53E2FDBF-77F9-476F-A64C-7A3B3425792F}"/>
              </a:ext>
            </a:extLst>
          </p:cNvPr>
          <p:cNvSpPr>
            <a:spLocks xmlns:a="http://schemas.openxmlformats.org/drawingml/2006/main" noGrp="1"/>
          </p:cNvSpPr>
          <p:nvPr/>
        </p:nvSpPr>
        <p:spPr>
          <a:xfrm xmlns:a="http://schemas.openxmlformats.org/drawingml/2006/main">
            <a:off x="533400" y="3395663"/>
            <a:ext cx="1809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Attacker → secure</a:t>
            </a:r>
          </a:p>
        </p:txBody>
      </p:sp>
      <p:sp>
        <p:nvSpPr>
          <p:cNvPr id="24" name="S22_MATRIX_R2C1">
            <a:extLst xmlns:a="http://schemas.openxmlformats.org/drawingml/2006/main">
              <a:ext uri="{FF2B5EF4-FFF2-40B4-BE49-F238E27FC236}">
                <a16:creationId xmlns:a16="http://schemas.microsoft.com/office/drawing/2014/main" id="{E502BDB5-FD8F-4B81-AA2C-C7D1BB72610B}"/>
              </a:ext>
            </a:extLst>
          </p:cNvPr>
          <p:cNvSpPr>
            <a:spLocks xmlns:a="http://schemas.openxmlformats.org/drawingml/2006/main" noGrp="1"/>
          </p:cNvSpPr>
          <p:nvPr/>
        </p:nvSpPr>
        <p:spPr>
          <a:xfrm xmlns:a="http://schemas.openxmlformats.org/drawingml/2006/main">
            <a:off x="2343150" y="3395663"/>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25" name="S22_MATRIX_R2C2">
            <a:extLst xmlns:a="http://schemas.openxmlformats.org/drawingml/2006/main">
              <a:ext uri="{FF2B5EF4-FFF2-40B4-BE49-F238E27FC236}">
                <a16:creationId xmlns:a16="http://schemas.microsoft.com/office/drawing/2014/main" id="{D250F435-9C0D-4CA6-8608-0E25C88B7781}"/>
              </a:ext>
            </a:extLst>
          </p:cNvPr>
          <p:cNvSpPr>
            <a:spLocks xmlns:a="http://schemas.openxmlformats.org/drawingml/2006/main" noGrp="1"/>
          </p:cNvSpPr>
          <p:nvPr/>
        </p:nvSpPr>
        <p:spPr>
          <a:xfrm xmlns:a="http://schemas.openxmlformats.org/drawingml/2006/main">
            <a:off x="3295650" y="3395663"/>
            <a:ext cx="952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thiếu</a:t>
            </a:r>
          </a:p>
        </p:txBody>
      </p:sp>
      <p:sp>
        <p:nvSpPr>
          <p:cNvPr id="26" name="S22_MATRIX_R2C3">
            <a:extLst xmlns:a="http://schemas.openxmlformats.org/drawingml/2006/main">
              <a:ext uri="{FF2B5EF4-FFF2-40B4-BE49-F238E27FC236}">
                <a16:creationId xmlns:a16="http://schemas.microsoft.com/office/drawing/2014/main" id="{E6359E54-C76B-4F63-ADD7-9086C69176D9}"/>
              </a:ext>
            </a:extLst>
          </p:cNvPr>
          <p:cNvSpPr>
            <a:spLocks xmlns:a="http://schemas.openxmlformats.org/drawingml/2006/main" noGrp="1"/>
          </p:cNvSpPr>
          <p:nvPr/>
        </p:nvSpPr>
        <p:spPr>
          <a:xfrm xmlns:a="http://schemas.openxmlformats.org/drawingml/2006/main">
            <a:off x="4248150" y="3395663"/>
            <a:ext cx="133350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attacker</a:t>
            </a:r>
          </a:p>
        </p:txBody>
      </p:sp>
      <p:sp>
        <p:nvSpPr>
          <p:cNvPr id="27" name="S22_MATRIX_R2C4">
            <a:extLst xmlns:a="http://schemas.openxmlformats.org/drawingml/2006/main">
              <a:ext uri="{FF2B5EF4-FFF2-40B4-BE49-F238E27FC236}">
                <a16:creationId xmlns:a16="http://schemas.microsoft.com/office/drawing/2014/main" id="{3FA99C47-BD7B-43D6-A0C7-F6DDDFD04D62}"/>
              </a:ext>
            </a:extLst>
          </p:cNvPr>
          <p:cNvSpPr>
            <a:spLocks xmlns:a="http://schemas.openxmlformats.org/drawingml/2006/main" noGrp="1"/>
          </p:cNvSpPr>
          <p:nvPr/>
        </p:nvSpPr>
        <p:spPr>
          <a:xfrm xmlns:a="http://schemas.openxmlformats.org/drawingml/2006/main">
            <a:off x="5581650" y="3395663"/>
            <a:ext cx="1428750" cy="5667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403</a:t>
            </a:r>
          </a:p>
        </p:txBody>
      </p:sp>
      <p:sp>
        <p:nvSpPr>
          <p:cNvPr id="28" name="S22_QA_1">
            <a:extLst xmlns:a="http://schemas.openxmlformats.org/drawingml/2006/main">
              <a:ext uri="{FF2B5EF4-FFF2-40B4-BE49-F238E27FC236}">
                <a16:creationId xmlns:a16="http://schemas.microsoft.com/office/drawing/2014/main" id="{ED0B91DF-6484-4BEF-B3F8-B737B3DB385A}"/>
              </a:ext>
            </a:extLst>
          </p:cNvPr>
          <p:cNvSpPr>
            <a:spLocks xmlns:a="http://schemas.openxmlformats.org/drawingml/2006/main" noGrp="1"/>
          </p:cNvSpPr>
          <p:nvPr/>
        </p:nvSpPr>
        <p:spPr>
          <a:xfrm xmlns:a="http://schemas.openxmlformats.org/drawingml/2006/main">
            <a:off x="7277100" y="16954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Browser tự gửi cookie theo target origin.</a:t>
            </a:r>
          </a:p>
        </p:txBody>
      </p:sp>
      <p:sp>
        <p:nvSpPr>
          <p:cNvPr id="29" name="S22_QA_2">
            <a:extLst xmlns:a="http://schemas.openxmlformats.org/drawingml/2006/main">
              <a:ext uri="{FF2B5EF4-FFF2-40B4-BE49-F238E27FC236}">
                <a16:creationId xmlns:a16="http://schemas.microsoft.com/office/drawing/2014/main" id="{030660CC-7414-4F70-B854-43C114CAA835}"/>
              </a:ext>
            </a:extLst>
          </p:cNvPr>
          <p:cNvSpPr>
            <a:spLocks xmlns:a="http://schemas.openxmlformats.org/drawingml/2006/main" noGrp="1"/>
          </p:cNvSpPr>
          <p:nvPr/>
        </p:nvSpPr>
        <p:spPr>
          <a:xfrm xmlns:a="http://schemas.openxmlformats.org/drawingml/2006/main">
            <a:off x="9544050" y="16954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Attacker không cần biết mật khẩu.</a:t>
            </a:r>
          </a:p>
        </p:txBody>
      </p:sp>
      <p:sp>
        <p:nvSpPr>
          <p:cNvPr id="30" name="S22_QA_3">
            <a:extLst xmlns:a="http://schemas.openxmlformats.org/drawingml/2006/main">
              <a:ext uri="{FF2B5EF4-FFF2-40B4-BE49-F238E27FC236}">
                <a16:creationId xmlns:a16="http://schemas.microsoft.com/office/drawing/2014/main" id="{2B10A284-A219-4862-BB42-6541A21209F0}"/>
              </a:ext>
            </a:extLst>
          </p:cNvPr>
          <p:cNvSpPr>
            <a:spLocks xmlns:a="http://schemas.openxmlformats.org/drawingml/2006/main" noGrp="1"/>
          </p:cNvSpPr>
          <p:nvPr/>
        </p:nvSpPr>
        <p:spPr>
          <a:xfrm xmlns:a="http://schemas.openxmlformats.org/drawingml/2006/main">
            <a:off x="7277100" y="313690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CSRF thường không cần đọc response.</a:t>
            </a:r>
          </a:p>
        </p:txBody>
      </p:sp>
      <p:sp>
        <p:nvSpPr>
          <p:cNvPr id="31" name="S22_QA_4">
            <a:extLst xmlns:a="http://schemas.openxmlformats.org/drawingml/2006/main">
              <a:ext uri="{FF2B5EF4-FFF2-40B4-BE49-F238E27FC236}">
                <a16:creationId xmlns:a16="http://schemas.microsoft.com/office/drawing/2014/main" id="{8D8A1525-7DEA-43DE-90CE-89E3C828C0A9}"/>
              </a:ext>
            </a:extLst>
          </p:cNvPr>
          <p:cNvSpPr>
            <a:spLocks xmlns:a="http://schemas.openxmlformats.org/drawingml/2006/main" noGrp="1"/>
          </p:cNvSpPr>
          <p:nvPr/>
        </p:nvSpPr>
        <p:spPr>
          <a:xfrm xmlns:a="http://schemas.openxmlformats.org/drawingml/2006/main">
            <a:off x="9544050" y="313690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CSRF gửi request; XSS chạy script trong origin.</a:t>
            </a:r>
          </a:p>
        </p:txBody>
      </p:sp>
      <p:sp>
        <p:nvSpPr>
          <p:cNvPr id="32" name="S22_QA_5">
            <a:extLst xmlns:a="http://schemas.openxmlformats.org/drawingml/2006/main">
              <a:ext uri="{FF2B5EF4-FFF2-40B4-BE49-F238E27FC236}">
                <a16:creationId xmlns:a16="http://schemas.microsoft.com/office/drawing/2014/main" id="{FB8F94FE-89DA-41C7-8CAB-B2532FAFBB94}"/>
              </a:ext>
            </a:extLst>
          </p:cNvPr>
          <p:cNvSpPr>
            <a:spLocks xmlns:a="http://schemas.openxmlformats.org/drawingml/2006/main" noGrp="1"/>
          </p:cNvSpPr>
          <p:nvPr/>
        </p:nvSpPr>
        <p:spPr>
          <a:xfrm xmlns:a="http://schemas.openxmlformats.org/drawingml/2006/main">
            <a:off x="7277100" y="45783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GET không được làm state change.</a:t>
            </a:r>
          </a:p>
        </p:txBody>
      </p:sp>
      <p:sp>
        <p:nvSpPr>
          <p:cNvPr id="33" name="S22_QA_6">
            <a:extLst xmlns:a="http://schemas.openxmlformats.org/drawingml/2006/main">
              <a:ext uri="{FF2B5EF4-FFF2-40B4-BE49-F238E27FC236}">
                <a16:creationId xmlns:a16="http://schemas.microsoft.com/office/drawing/2014/main" id="{2B05CEDA-7B96-4220-B957-AF9833D7D2A3}"/>
              </a:ext>
            </a:extLst>
          </p:cNvPr>
          <p:cNvSpPr>
            <a:spLocks xmlns:a="http://schemas.openxmlformats.org/drawingml/2006/main" noGrp="1"/>
          </p:cNvSpPr>
          <p:nvPr/>
        </p:nvSpPr>
        <p:spPr>
          <a:xfrm xmlns:a="http://schemas.openxmlformats.org/drawingml/2006/main">
            <a:off x="9544050" y="4578350"/>
            <a:ext cx="2114550"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Evidence: before email · valid request · attacker auto-submit HTML · after email · secure 403 · unchanged email.</a:t>
            </a:r>
          </a:p>
        </p:txBody>
      </p:sp>
      <p:sp>
        <p:nvSpPr>
          <p:cNvPr id="34" name="S22_PATCH_BAR">
            <a:extLst xmlns:a="http://schemas.openxmlformats.org/drawingml/2006/main">
              <a:ext uri="{FF2B5EF4-FFF2-40B4-BE49-F238E27FC236}">
                <a16:creationId xmlns:a16="http://schemas.microsoft.com/office/drawing/2014/main" id="{CDA28E1E-B836-447D-9278-E1F5C9EA563F}"/>
              </a:ext>
            </a:extLst>
          </p:cNvPr>
          <p:cNvSpPr>
            <a:spLocks xmlns:a="http://schemas.openxmlformats.org/drawingml/2006/main" noGrp="1"/>
          </p:cNvSpPr>
          <p:nvPr/>
        </p:nvSpPr>
        <p:spPr>
          <a:xfrm xmlns:a="http://schemas.openxmlformats.org/drawingml/2006/main">
            <a:off x="533400" y="4343400"/>
            <a:ext cx="76200" cy="0"/>
          </a:xfrm>
          <a:prstGeom xmlns:a="http://schemas.openxmlformats.org/drawingml/2006/main" prst="rect">
            <a:avLst/>
          </a:prstGeom>
          <a:ln xmlns:a="http://schemas.openxmlformats.org/drawingml/2006/main" w="0">
            <a:noFill/>
            <a:prstDash val="solid"/>
          </a:ln>
        </p:spPr>
      </p:sp>
      <p:sp>
        <p:nvSpPr>
          <p:cNvPr id="35" name="S22_PATCH_LABEL">
            <a:extLst xmlns:a="http://schemas.openxmlformats.org/drawingml/2006/main">
              <a:ext uri="{FF2B5EF4-FFF2-40B4-BE49-F238E27FC236}">
                <a16:creationId xmlns:a16="http://schemas.microsoft.com/office/drawing/2014/main" id="{C65025F4-74CE-4870-9F8E-0E2517D33B75}"/>
              </a:ext>
            </a:extLst>
          </p:cNvPr>
          <p:cNvSpPr>
            <a:spLocks xmlns:a="http://schemas.openxmlformats.org/drawingml/2006/main" noGrp="1"/>
          </p:cNvSpPr>
          <p:nvPr/>
        </p:nvSpPr>
        <p:spPr>
          <a:xfrm xmlns:a="http://schemas.openxmlformats.org/drawingml/2006/main">
            <a:off x="704850" y="43624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PATCH</a:t>
            </a:r>
          </a:p>
        </p:txBody>
      </p:sp>
      <p:sp>
        <p:nvSpPr>
          <p:cNvPr id="36" name="S22_PATCH_BODY">
            <a:extLst xmlns:a="http://schemas.openxmlformats.org/drawingml/2006/main">
              <a:ext uri="{FF2B5EF4-FFF2-40B4-BE49-F238E27FC236}">
                <a16:creationId xmlns:a16="http://schemas.microsoft.com/office/drawing/2014/main" id="{45AABF8F-D8BE-43D4-A322-8A6BC9DA2038}"/>
              </a:ext>
            </a:extLst>
          </p:cNvPr>
          <p:cNvSpPr>
            <a:spLocks xmlns:a="http://schemas.openxmlformats.org/drawingml/2006/main" noGrp="1"/>
          </p:cNvSpPr>
          <p:nvPr/>
        </p:nvSpPr>
        <p:spPr>
          <a:xfrm xmlns:a="http://schemas.openxmlformats.org/drawingml/2006/main">
            <a:off x="704850" y="4667250"/>
            <a:ext cx="6286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POST-only · session token · exact Origin/Referer · SameSite · re-auth · audit.</a:t>
            </a:r>
          </a:p>
        </p:txBody>
      </p:sp>
    </p:spTree>
    <p:extLst>
      <p:ext uri="{BB962C8B-B14F-4D97-AF65-F5344CB8AC3E}">
        <p14:creationId xmlns:p14="http://schemas.microsoft.com/office/powerpoint/2010/main" val="1819561791"/>
      </p:ext>
    </p:extLst>
  </p:cSld>
</p:sld>
</file>

<file path=ppt/slides/slide2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S23_EYEBROW">
            <a:extLst xmlns:a="http://schemas.openxmlformats.org/drawingml/2006/main">
              <a:ext uri="{FF2B5EF4-FFF2-40B4-BE49-F238E27FC236}">
                <a16:creationId xmlns:a16="http://schemas.microsoft.com/office/drawing/2014/main" id="{FC9466B6-4253-4248-BDB5-27F7D2249CA8}"/>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3_TITLE">
            <a:extLst xmlns:a="http://schemas.openxmlformats.org/drawingml/2006/main">
              <a:ext uri="{FF2B5EF4-FFF2-40B4-BE49-F238E27FC236}">
                <a16:creationId xmlns:a16="http://schemas.microsoft.com/office/drawing/2014/main" id="{9144089F-FC0B-47A2-BCED-B6BAE7EC8FCE}"/>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Lỗi xuất hiện trước SQL parser</a:t>
            </a:r>
          </a:p>
        </p:txBody>
      </p:sp>
      <p:sp>
        <p:nvSpPr>
          <p:cNvPr id="3" name="S23_SUBTITLE">
            <a:extLst xmlns:a="http://schemas.openxmlformats.org/drawingml/2006/main">
              <a:ext uri="{FF2B5EF4-FFF2-40B4-BE49-F238E27FC236}">
                <a16:creationId xmlns:a16="http://schemas.microsoft.com/office/drawing/2014/main" id="{BE86262D-71D4-4F19-B548-CB460830AEEB}"/>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Nối chuỗi trộn code và data; parser nhận một câu lệnh có logic khác với ý định ban đầu.</a:t>
            </a:r>
          </a:p>
        </p:txBody>
      </p:sp>
      <p:sp>
        <p:nvSpPr>
          <p:cNvPr id="4" name="S23_TITLE_RULE">
            <a:extLst xmlns:a="http://schemas.openxmlformats.org/drawingml/2006/main">
              <a:ext uri="{FF2B5EF4-FFF2-40B4-BE49-F238E27FC236}">
                <a16:creationId xmlns:a16="http://schemas.microsoft.com/office/drawing/2014/main" id="{B489F657-A145-4D3B-BEB0-6449CF9F02C4}"/>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3_FOOTER_RULE">
            <a:extLst xmlns:a="http://schemas.openxmlformats.org/drawingml/2006/main">
              <a:ext uri="{FF2B5EF4-FFF2-40B4-BE49-F238E27FC236}">
                <a16:creationId xmlns:a16="http://schemas.microsoft.com/office/drawing/2014/main" id="{F317FC08-017D-47CF-B346-4DFF8A7FE3B8}"/>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3_SOURCE">
            <a:extLst xmlns:a="http://schemas.openxmlformats.org/drawingml/2006/main">
              <a:ext uri="{FF2B5EF4-FFF2-40B4-BE49-F238E27FC236}">
                <a16:creationId xmlns:a16="http://schemas.microsoft.com/office/drawing/2014/main" id="{FFD5A8A9-CF16-41BA-B373-E93665166E7B}"/>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Lab05/vulnerable_queries.py · secure_queries.py</a:t>
            </a:r>
          </a:p>
        </p:txBody>
      </p:sp>
      <p:sp>
        <p:nvSpPr>
          <p:cNvPr id="7" name="S23_NUMBER">
            <a:extLst xmlns:a="http://schemas.openxmlformats.org/drawingml/2006/main">
              <a:ext uri="{FF2B5EF4-FFF2-40B4-BE49-F238E27FC236}">
                <a16:creationId xmlns:a16="http://schemas.microsoft.com/office/drawing/2014/main" id="{09A87B02-57E2-4AC4-A79A-5FDF45542DB4}"/>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23</a:t>
            </a:r>
          </a:p>
        </p:txBody>
      </p:sp>
      <p:sp>
        <p:nvSpPr>
          <p:cNvPr id="8" name="S23_FLOW_ARROW_1">
            <a:extLst xmlns:a="http://schemas.openxmlformats.org/drawingml/2006/main">
              <a:ext uri="{FF2B5EF4-FFF2-40B4-BE49-F238E27FC236}">
                <a16:creationId xmlns:a16="http://schemas.microsoft.com/office/drawing/2014/main" id="{FC1AB9F8-A96A-4382-A92F-35AABC8AD1D7}"/>
              </a:ext>
            </a:extLst>
          </p:cNvPr>
          <p:cNvSpPr>
            <a:spLocks xmlns:a="http://schemas.openxmlformats.org/drawingml/2006/main" noGrp="1"/>
          </p:cNvSpPr>
          <p:nvPr/>
        </p:nvSpPr>
        <p:spPr>
          <a:xfrm xmlns:a="http://schemas.openxmlformats.org/drawingml/2006/main">
            <a:off x="257175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23_FLOW_ARROW_2">
            <a:extLst xmlns:a="http://schemas.openxmlformats.org/drawingml/2006/main">
              <a:ext uri="{FF2B5EF4-FFF2-40B4-BE49-F238E27FC236}">
                <a16:creationId xmlns:a16="http://schemas.microsoft.com/office/drawing/2014/main" id="{D51D17F3-1FD0-46CB-B46C-11B8DC2EE863}"/>
              </a:ext>
            </a:extLst>
          </p:cNvPr>
          <p:cNvSpPr>
            <a:spLocks xmlns:a="http://schemas.openxmlformats.org/drawingml/2006/main" noGrp="1"/>
          </p:cNvSpPr>
          <p:nvPr/>
        </p:nvSpPr>
        <p:spPr>
          <a:xfrm xmlns:a="http://schemas.openxmlformats.org/drawingml/2006/main">
            <a:off x="487680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23_FLOW_ARROW_3">
            <a:extLst xmlns:a="http://schemas.openxmlformats.org/drawingml/2006/main">
              <a:ext uri="{FF2B5EF4-FFF2-40B4-BE49-F238E27FC236}">
                <a16:creationId xmlns:a16="http://schemas.microsoft.com/office/drawing/2014/main" id="{8CF698A6-E987-4CEB-92A0-4A7C4C96D307}"/>
              </a:ext>
            </a:extLst>
          </p:cNvPr>
          <p:cNvSpPr>
            <a:spLocks xmlns:a="http://schemas.openxmlformats.org/drawingml/2006/main" noGrp="1"/>
          </p:cNvSpPr>
          <p:nvPr/>
        </p:nvSpPr>
        <p:spPr>
          <a:xfrm xmlns:a="http://schemas.openxmlformats.org/drawingml/2006/main">
            <a:off x="718185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23_FLOW_ARROW_4">
            <a:extLst xmlns:a="http://schemas.openxmlformats.org/drawingml/2006/main">
              <a:ext uri="{FF2B5EF4-FFF2-40B4-BE49-F238E27FC236}">
                <a16:creationId xmlns:a16="http://schemas.microsoft.com/office/drawing/2014/main" id="{3883E120-879D-4152-AB46-38BDD16A5C75}"/>
              </a:ext>
            </a:extLst>
          </p:cNvPr>
          <p:cNvSpPr>
            <a:spLocks xmlns:a="http://schemas.openxmlformats.org/drawingml/2006/main" noGrp="1"/>
          </p:cNvSpPr>
          <p:nvPr/>
        </p:nvSpPr>
        <p:spPr>
          <a:xfrm xmlns:a="http://schemas.openxmlformats.org/drawingml/2006/main">
            <a:off x="9486900" y="2200275"/>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23_FLOW_NODE_1">
            <a:extLst xmlns:a="http://schemas.openxmlformats.org/drawingml/2006/main">
              <a:ext uri="{FF2B5EF4-FFF2-40B4-BE49-F238E27FC236}">
                <a16:creationId xmlns:a16="http://schemas.microsoft.com/office/drawing/2014/main" id="{036252E5-BCFE-41E4-88E8-2817F7DFF80B}"/>
              </a:ext>
            </a:extLst>
          </p:cNvPr>
          <p:cNvSpPr>
            <a:spLocks xmlns:a="http://schemas.openxmlformats.org/drawingml/2006/main" noGrp="1"/>
          </p:cNvSpPr>
          <p:nvPr/>
        </p:nvSpPr>
        <p:spPr>
          <a:xfrm xmlns:a="http://schemas.openxmlformats.org/drawingml/2006/main">
            <a:off x="5334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INPUT</a:t>
            </a:r>
          </a:p>
        </p:txBody>
      </p:sp>
      <p:sp>
        <p:nvSpPr>
          <p:cNvPr id="13" name="S23_FLOW_NODE_2">
            <a:extLst xmlns:a="http://schemas.openxmlformats.org/drawingml/2006/main">
              <a:ext uri="{FF2B5EF4-FFF2-40B4-BE49-F238E27FC236}">
                <a16:creationId xmlns:a16="http://schemas.microsoft.com/office/drawing/2014/main" id="{4A1248A3-6909-480A-A78F-1B48CFEA2BD7}"/>
              </a:ext>
            </a:extLst>
          </p:cNvPr>
          <p:cNvSpPr>
            <a:spLocks xmlns:a="http://schemas.openxmlformats.org/drawingml/2006/main" noGrp="1"/>
          </p:cNvSpPr>
          <p:nvPr/>
        </p:nvSpPr>
        <p:spPr>
          <a:xfrm xmlns:a="http://schemas.openxmlformats.org/drawingml/2006/main">
            <a:off x="283845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STRING</a:t>
            </a:r>
          </a:p>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CONCAT</a:t>
            </a:r>
          </a:p>
        </p:txBody>
      </p:sp>
      <p:sp>
        <p:nvSpPr>
          <p:cNvPr id="14" name="S23_FLOW_NODE_3">
            <a:extLst xmlns:a="http://schemas.openxmlformats.org/drawingml/2006/main">
              <a:ext uri="{FF2B5EF4-FFF2-40B4-BE49-F238E27FC236}">
                <a16:creationId xmlns:a16="http://schemas.microsoft.com/office/drawing/2014/main" id="{B9EE9487-AE30-4B65-AC7C-7AAF6F0838C2}"/>
              </a:ext>
            </a:extLst>
          </p:cNvPr>
          <p:cNvSpPr>
            <a:spLocks xmlns:a="http://schemas.openxmlformats.org/drawingml/2006/main" noGrp="1"/>
          </p:cNvSpPr>
          <p:nvPr/>
        </p:nvSpPr>
        <p:spPr>
          <a:xfrm xmlns:a="http://schemas.openxmlformats.org/drawingml/2006/main">
            <a:off x="51435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SQL TEXT</a:t>
            </a:r>
          </a:p>
        </p:txBody>
      </p:sp>
      <p:sp>
        <p:nvSpPr>
          <p:cNvPr id="15" name="S23_FLOW_NODE_4">
            <a:extLst xmlns:a="http://schemas.openxmlformats.org/drawingml/2006/main">
              <a:ext uri="{FF2B5EF4-FFF2-40B4-BE49-F238E27FC236}">
                <a16:creationId xmlns:a16="http://schemas.microsoft.com/office/drawing/2014/main" id="{450CAA55-29A4-42C3-AF80-F437BC750148}"/>
              </a:ext>
            </a:extLst>
          </p:cNvPr>
          <p:cNvSpPr>
            <a:spLocks xmlns:a="http://schemas.openxmlformats.org/drawingml/2006/main" noGrp="1"/>
          </p:cNvSpPr>
          <p:nvPr/>
        </p:nvSpPr>
        <p:spPr>
          <a:xfrm xmlns:a="http://schemas.openxmlformats.org/drawingml/2006/main">
            <a:off x="744855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PARSER</a:t>
            </a:r>
          </a:p>
        </p:txBody>
      </p:sp>
      <p:sp>
        <p:nvSpPr>
          <p:cNvPr id="16" name="S23_FLOW_NODE_5">
            <a:extLst xmlns:a="http://schemas.openxmlformats.org/drawingml/2006/main">
              <a:ext uri="{FF2B5EF4-FFF2-40B4-BE49-F238E27FC236}">
                <a16:creationId xmlns:a16="http://schemas.microsoft.com/office/drawing/2014/main" id="{72575B1E-9ABB-4694-813C-9CB6FF299306}"/>
              </a:ext>
            </a:extLst>
          </p:cNvPr>
          <p:cNvSpPr>
            <a:spLocks xmlns:a="http://schemas.openxmlformats.org/drawingml/2006/main" noGrp="1"/>
          </p:cNvSpPr>
          <p:nvPr/>
        </p:nvSpPr>
        <p:spPr>
          <a:xfrm xmlns:a="http://schemas.openxmlformats.org/drawingml/2006/main">
            <a:off x="9753600" y="1790700"/>
            <a:ext cx="1905000" cy="9906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CHANGED</a:t>
            </a:r>
          </a:p>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RESULT</a:t>
            </a:r>
          </a:p>
        </p:txBody>
      </p:sp>
      <p:sp>
        <p:nvSpPr>
          <p:cNvPr id="17" name="S23_SPLIT_LEFT">
            <a:extLst xmlns:a="http://schemas.openxmlformats.org/drawingml/2006/main">
              <a:ext uri="{FF2B5EF4-FFF2-40B4-BE49-F238E27FC236}">
                <a16:creationId xmlns:a16="http://schemas.microsoft.com/office/drawing/2014/main" id="{18B19985-2756-44BF-AF96-D102515223E2}"/>
              </a:ext>
            </a:extLst>
          </p:cNvPr>
          <p:cNvSpPr>
            <a:spLocks xmlns:a="http://schemas.openxmlformats.org/drawingml/2006/main" noGrp="1"/>
          </p:cNvSpPr>
          <p:nvPr/>
        </p:nvSpPr>
        <p:spPr>
          <a:xfrm xmlns:a="http://schemas.openxmlformats.org/drawingml/2006/main">
            <a:off x="533400" y="32385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PHẦN A: PHÁT HIỆN LỖI</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Nhập dữ liệu bình thường vào login/search.</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Thử dấu nháy đơn.</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Quan sát SQL error hoặc hành vi bất thường.</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 Xác định input bị ảnh hưởng.</a:t>
            </a:r>
          </a:p>
        </p:txBody>
      </p:sp>
      <p:sp>
        <p:nvSpPr>
          <p:cNvPr id="18" name="S23_SPLIT_RIGHT">
            <a:extLst xmlns:a="http://schemas.openxmlformats.org/drawingml/2006/main">
              <a:ext uri="{FF2B5EF4-FFF2-40B4-BE49-F238E27FC236}">
                <a16:creationId xmlns:a16="http://schemas.microsoft.com/office/drawing/2014/main" id="{0E308E14-4204-4575-83FD-6B2A45A2D952}"/>
              </a:ext>
            </a:extLst>
          </p:cNvPr>
          <p:cNvSpPr>
            <a:spLocks xmlns:a="http://schemas.openxmlformats.org/drawingml/2006/main" noGrp="1"/>
          </p:cNvSpPr>
          <p:nvPr/>
        </p:nvSpPr>
        <p:spPr>
          <a:xfrm xmlns:a="http://schemas.openxmlformats.org/drawingml/2006/main">
            <a:off x="6210300" y="3238500"/>
            <a:ext cx="5448300" cy="238125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ERROR-BASED DETECTION</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Dấu nháy đơn làm query lỗi hoặc response bất thường.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Không hiển thị lỗi SQL chi tiết cho user; ghi log an toàn phía server.</a:t>
            </a:r>
          </a:p>
        </p:txBody>
      </p:sp>
    </p:spTree>
    <p:extLst>
      <p:ext uri="{BB962C8B-B14F-4D97-AF65-F5344CB8AC3E}">
        <p14:creationId xmlns:p14="http://schemas.microsoft.com/office/powerpoint/2010/main" val="504604368"/>
      </p:ext>
    </p:extLst>
  </p:cSld>
</p:sld>
</file>

<file path=ppt/slides/slide2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0" name="S24_EYEBROW">
            <a:extLst xmlns:a="http://schemas.openxmlformats.org/drawingml/2006/main">
              <a:ext uri="{FF2B5EF4-FFF2-40B4-BE49-F238E27FC236}">
                <a16:creationId xmlns:a16="http://schemas.microsoft.com/office/drawing/2014/main" id="{4E4D3447-949D-49B2-9C56-1F71CB8F3E6F}"/>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4_TITLE">
            <a:extLst xmlns:a="http://schemas.openxmlformats.org/drawingml/2006/main">
              <a:ext uri="{FF2B5EF4-FFF2-40B4-BE49-F238E27FC236}">
                <a16:creationId xmlns:a16="http://schemas.microsoft.com/office/drawing/2014/main" id="{CDAB466A-62DB-4737-AE91-0FC39599B161}"/>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Một comment thay đổi logic xác thực</a:t>
            </a:r>
          </a:p>
        </p:txBody>
      </p:sp>
      <p:sp>
        <p:nvSpPr>
          <p:cNvPr id="3" name="S24_SUBTITLE">
            <a:extLst xmlns:a="http://schemas.openxmlformats.org/drawingml/2006/main">
              <a:ext uri="{FF2B5EF4-FFF2-40B4-BE49-F238E27FC236}">
                <a16:creationId xmlns:a16="http://schemas.microsoft.com/office/drawing/2014/main" id="{434F8BBB-2914-4B27-B3B8-1E9BABD61835}"/>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Payload local cố định chỉ dùng để chứng minh authentication bypass trong database demo.</a:t>
            </a:r>
          </a:p>
        </p:txBody>
      </p:sp>
      <p:sp>
        <p:nvSpPr>
          <p:cNvPr id="4" name="S24_TITLE_RULE">
            <a:extLst xmlns:a="http://schemas.openxmlformats.org/drawingml/2006/main">
              <a:ext uri="{FF2B5EF4-FFF2-40B4-BE49-F238E27FC236}">
                <a16:creationId xmlns:a16="http://schemas.microsoft.com/office/drawing/2014/main" id="{A0A98A88-C0F2-4706-9ACD-1DEE73E36E79}"/>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4_FOOTER_RULE">
            <a:extLst xmlns:a="http://schemas.openxmlformats.org/drawingml/2006/main">
              <a:ext uri="{FF2B5EF4-FFF2-40B4-BE49-F238E27FC236}">
                <a16:creationId xmlns:a16="http://schemas.microsoft.com/office/drawing/2014/main" id="{0B14B548-4109-4047-860C-C07C02F6666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4_SOURCE">
            <a:extLst xmlns:a="http://schemas.openxmlformats.org/drawingml/2006/main">
              <a:ext uri="{FF2B5EF4-FFF2-40B4-BE49-F238E27FC236}">
                <a16:creationId xmlns:a16="http://schemas.microsoft.com/office/drawing/2014/main" id="{6431FE11-2F0A-4386-9B3A-BA1DC2DC2F59}"/>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Lab05/config.py · auth_service.py · vulnerable_queries.py</a:t>
            </a:r>
          </a:p>
        </p:txBody>
      </p:sp>
      <p:sp>
        <p:nvSpPr>
          <p:cNvPr id="7" name="S24_NUMBER">
            <a:extLst xmlns:a="http://schemas.openxmlformats.org/drawingml/2006/main">
              <a:ext uri="{FF2B5EF4-FFF2-40B4-BE49-F238E27FC236}">
                <a16:creationId xmlns:a16="http://schemas.microsoft.com/office/drawing/2014/main" id="{0827022E-A27D-4F54-AD2C-815729A997B2}"/>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24</a:t>
            </a:r>
          </a:p>
        </p:txBody>
      </p:sp>
      <p:sp>
        <p:nvSpPr>
          <p:cNvPr id="8" name="S24_QUERY">
            <a:extLst xmlns:a="http://schemas.openxmlformats.org/drawingml/2006/main">
              <a:ext uri="{FF2B5EF4-FFF2-40B4-BE49-F238E27FC236}">
                <a16:creationId xmlns:a16="http://schemas.microsoft.com/office/drawing/2014/main" id="{A80ACA0C-1CC5-430A-94E8-ACA18F139486}"/>
              </a:ext>
            </a:extLst>
          </p:cNvPr>
          <p:cNvSpPr>
            <a:spLocks xmlns:a="http://schemas.openxmlformats.org/drawingml/2006/main" noGrp="1"/>
          </p:cNvSpPr>
          <p:nvPr/>
        </p:nvSpPr>
        <p:spPr>
          <a:xfrm xmlns:a="http://schemas.openxmlformats.org/drawingml/2006/main">
            <a:off x="533400" y="1752600"/>
            <a:ext cx="6381750" cy="300990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INPUT: admin_lab'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BEFORE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WHERE username = '&lt;input&gt;' AND password = '&lt;hash&gt;'</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AFTER CONCATENATION</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WHERE username = 'admin_lab' -- ' AND password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Phần kiểm tra password trở thành comment.</a:t>
            </a:r>
          </a:p>
        </p:txBody>
      </p:sp>
      <p:sp>
        <p:nvSpPr>
          <p:cNvPr id="9" name="PH_S24_Lab05_42_login_bypass_response_png_FRAME">
            <a:extLst xmlns:a="http://schemas.openxmlformats.org/drawingml/2006/main">
              <a:ext uri="{FF2B5EF4-FFF2-40B4-BE49-F238E27FC236}">
                <a16:creationId xmlns:a16="http://schemas.microsoft.com/office/drawing/2014/main" id="{28D60ADC-7114-4BB3-A157-D9165B04F291}"/>
              </a:ext>
            </a:extLst>
          </p:cNvPr>
          <p:cNvSpPr>
            <a:spLocks xmlns:a="http://schemas.openxmlformats.org/drawingml/2006/main" noGrp="1"/>
          </p:cNvSpPr>
          <p:nvPr/>
        </p:nvSpPr>
        <p:spPr>
          <a:xfrm xmlns:a="http://schemas.openxmlformats.org/drawingml/2006/main">
            <a:off x="7191375" y="1724025"/>
            <a:ext cx="4495800" cy="2457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0" name="PH_S24_Lab05_42_login_bypass_response_png_IMAGE">
            <a:extLst xmlns:a="http://schemas.openxmlformats.org/drawingml/2006/main">
              <a:ext uri="{FF2B5EF4-FFF2-40B4-BE49-F238E27FC236}">
                <a16:creationId xmlns:a16="http://schemas.microsoft.com/office/drawing/2014/main" id="{971746DA-D7C0-435F-82E6-DA88084174E0}"/>
              </a:ext>
            </a:extLst>
          </p:cNvPr>
          <p:cNvSpPr>
            <a:spLocks xmlns:a="http://schemas.openxmlformats.org/drawingml/2006/main" noGrp="1"/>
          </p:cNvSpPr>
          <p:nvPr/>
        </p:nvSpPr>
        <p:spPr>
          <a:xfrm xmlns:a="http://schemas.openxmlformats.org/drawingml/2006/main">
            <a:off x="7219950" y="1752600"/>
            <a:ext cx="4438650" cy="2400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1" name="PH_S24_Lab05_42_login_bypass_response_png_ICON">
            <a:extLst xmlns:a="http://schemas.openxmlformats.org/drawingml/2006/main">
              <a:ext uri="{FF2B5EF4-FFF2-40B4-BE49-F238E27FC236}">
                <a16:creationId xmlns:a16="http://schemas.microsoft.com/office/drawing/2014/main" id="{4D21C53A-0C7B-4CC5-89D5-1A72D117E535}"/>
              </a:ext>
            </a:extLst>
          </p:cNvPr>
          <p:cNvSpPr>
            <a:spLocks xmlns:a="http://schemas.openxmlformats.org/drawingml/2006/main" noGrp="1"/>
          </p:cNvSpPr>
          <p:nvPr/>
        </p:nvSpPr>
        <p:spPr>
          <a:xfrm xmlns:a="http://schemas.openxmlformats.org/drawingml/2006/main">
            <a:off x="73723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2" name="PH_S24_Lab05_42_login_bypass_response_png_INSTRUCTION">
            <a:extLst xmlns:a="http://schemas.openxmlformats.org/drawingml/2006/main">
              <a:ext uri="{FF2B5EF4-FFF2-40B4-BE49-F238E27FC236}">
                <a16:creationId xmlns:a16="http://schemas.microsoft.com/office/drawing/2014/main" id="{063AFF3D-EDA1-44B5-ABB5-C4C752B1984F}"/>
              </a:ext>
            </a:extLst>
          </p:cNvPr>
          <p:cNvSpPr>
            <a:spLocks xmlns:a="http://schemas.openxmlformats.org/drawingml/2006/main" noGrp="1"/>
          </p:cNvSpPr>
          <p:nvPr/>
        </p:nvSpPr>
        <p:spPr>
          <a:xfrm xmlns:a="http://schemas.openxmlformats.org/drawingml/2006/main">
            <a:off x="7886700" y="1924050"/>
            <a:ext cx="36004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42_login_bypass_response.png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3" name="PH_S24_Lab05_42_login_bypass_response_png_CAPTION">
            <a:extLst xmlns:a="http://schemas.openxmlformats.org/drawingml/2006/main">
              <a:ext uri="{FF2B5EF4-FFF2-40B4-BE49-F238E27FC236}">
                <a16:creationId xmlns:a16="http://schemas.microsoft.com/office/drawing/2014/main" id="{81130288-68B0-4CBC-B78E-3E17938B4BAB}"/>
              </a:ext>
            </a:extLst>
          </p:cNvPr>
          <p:cNvSpPr>
            <a:spLocks xmlns:a="http://schemas.openxmlformats.org/drawingml/2006/main" noGrp="1"/>
          </p:cNvSpPr>
          <p:nvPr/>
        </p:nvSpPr>
        <p:spPr>
          <a:xfrm xmlns:a="http://schemas.openxmlformats.org/drawingml/2006/main">
            <a:off x="7219950" y="3743325"/>
            <a:ext cx="443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vulnerable authentication bypass</a:t>
            </a:r>
          </a:p>
        </p:txBody>
      </p:sp>
      <p:sp>
        <p:nvSpPr>
          <p:cNvPr id="14" name="S24_SCOPE_BAR">
            <a:extLst xmlns:a="http://schemas.openxmlformats.org/drawingml/2006/main">
              <a:ext uri="{FF2B5EF4-FFF2-40B4-BE49-F238E27FC236}">
                <a16:creationId xmlns:a16="http://schemas.microsoft.com/office/drawing/2014/main" id="{E20B78DD-30A5-4ED3-B8AA-FB1234701FFE}"/>
              </a:ext>
            </a:extLst>
          </p:cNvPr>
          <p:cNvSpPr>
            <a:spLocks xmlns:a="http://schemas.openxmlformats.org/drawingml/2006/main" noGrp="1"/>
          </p:cNvSpPr>
          <p:nvPr/>
        </p:nvSpPr>
        <p:spPr>
          <a:xfrm xmlns:a="http://schemas.openxmlformats.org/drawingml/2006/main">
            <a:off x="533400" y="5143500"/>
            <a:ext cx="76200" cy="0"/>
          </a:xfrm>
          <a:prstGeom xmlns:a="http://schemas.openxmlformats.org/drawingml/2006/main" prst="rect">
            <a:avLst/>
          </a:prstGeom>
          <a:ln xmlns:a="http://schemas.openxmlformats.org/drawingml/2006/main" w="0">
            <a:noFill/>
            <a:prstDash val="solid"/>
          </a:ln>
        </p:spPr>
      </p:sp>
      <p:sp>
        <p:nvSpPr>
          <p:cNvPr id="15" name="S24_SCOPE_LABEL">
            <a:extLst xmlns:a="http://schemas.openxmlformats.org/drawingml/2006/main">
              <a:ext uri="{FF2B5EF4-FFF2-40B4-BE49-F238E27FC236}">
                <a16:creationId xmlns:a16="http://schemas.microsoft.com/office/drawing/2014/main" id="{5AB0762F-6120-474B-B6ED-436024F29BFD}"/>
              </a:ext>
            </a:extLst>
          </p:cNvPr>
          <p:cNvSpPr>
            <a:spLocks xmlns:a="http://schemas.openxmlformats.org/drawingml/2006/main" noGrp="1"/>
          </p:cNvSpPr>
          <p:nvPr/>
        </p:nvSpPr>
        <p:spPr>
          <a:xfrm xmlns:a="http://schemas.openxmlformats.org/drawingml/2006/main">
            <a:off x="704850" y="5143500"/>
            <a:ext cx="1638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SAFE LAB SCOPE</a:t>
            </a:r>
          </a:p>
        </p:txBody>
      </p:sp>
      <p:sp>
        <p:nvSpPr>
          <p:cNvPr id="16" name="S24_SCOPE_BODY">
            <a:extLst xmlns:a="http://schemas.openxmlformats.org/drawingml/2006/main">
              <a:ext uri="{FF2B5EF4-FFF2-40B4-BE49-F238E27FC236}">
                <a16:creationId xmlns:a16="http://schemas.microsoft.com/office/drawing/2014/main" id="{EE355AA6-1894-4D93-BBD4-D5057CEAFB9A}"/>
              </a:ext>
            </a:extLst>
          </p:cNvPr>
          <p:cNvSpPr>
            <a:spLocks xmlns:a="http://schemas.openxmlformats.org/drawingml/2006/main" noGrp="1"/>
          </p:cNvSpPr>
          <p:nvPr/>
        </p:nvSpPr>
        <p:spPr>
          <a:xfrm xmlns:a="http://schemas.openxmlformats.org/drawingml/2006/main">
            <a:off x="2438400" y="5143500"/>
            <a:ext cx="4457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Chỉ SELECT/auth bypass trên SQLite local. Không DROP, DELETE, phá dữ liệu, trích xuất ngoài dataset lab hoặc thử website thật.</a:t>
            </a:r>
          </a:p>
        </p:txBody>
      </p:sp>
      <p:sp>
        <p:nvSpPr>
          <p:cNvPr id="17" name="S24_CAUSE_BAR">
            <a:extLst xmlns:a="http://schemas.openxmlformats.org/drawingml/2006/main">
              <a:ext uri="{FF2B5EF4-FFF2-40B4-BE49-F238E27FC236}">
                <a16:creationId xmlns:a16="http://schemas.microsoft.com/office/drawing/2014/main" id="{D6D3309B-556A-42F7-AF69-27F061BDFAF0}"/>
              </a:ext>
            </a:extLst>
          </p:cNvPr>
          <p:cNvSpPr>
            <a:spLocks xmlns:a="http://schemas.openxmlformats.org/drawingml/2006/main" noGrp="1"/>
          </p:cNvSpPr>
          <p:nvPr/>
        </p:nvSpPr>
        <p:spPr>
          <a:xfrm xmlns:a="http://schemas.openxmlformats.org/drawingml/2006/main">
            <a:off x="7219950" y="4552950"/>
            <a:ext cx="76200" cy="0"/>
          </a:xfrm>
          <a:prstGeom xmlns:a="http://schemas.openxmlformats.org/drawingml/2006/main" prst="rect">
            <a:avLst/>
          </a:prstGeom>
          <a:ln xmlns:a="http://schemas.openxmlformats.org/drawingml/2006/main" w="0">
            <a:noFill/>
            <a:prstDash val="solid"/>
          </a:ln>
        </p:spPr>
      </p:sp>
      <p:sp>
        <p:nvSpPr>
          <p:cNvPr id="18" name="S24_CAUSE_LABEL">
            <a:extLst xmlns:a="http://schemas.openxmlformats.org/drawingml/2006/main">
              <a:ext uri="{FF2B5EF4-FFF2-40B4-BE49-F238E27FC236}">
                <a16:creationId xmlns:a16="http://schemas.microsoft.com/office/drawing/2014/main" id="{52CAB392-D59B-45F6-88C2-E50846B7F3EA}"/>
              </a:ext>
            </a:extLst>
          </p:cNvPr>
          <p:cNvSpPr>
            <a:spLocks xmlns:a="http://schemas.openxmlformats.org/drawingml/2006/main" noGrp="1"/>
          </p:cNvSpPr>
          <p:nvPr/>
        </p:nvSpPr>
        <p:spPr>
          <a:xfrm xmlns:a="http://schemas.openxmlformats.org/drawingml/2006/main">
            <a:off x="7391400" y="457200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D96C5F"/>
                </a:solidFill>
                <a:latin typeface="Consolas"/>
                <a:ea typeface="Consolas"/>
                <a:cs typeface="Consolas"/>
              </a:defRPr>
            </a:pPr>
            <a:r>
              <a:rPr sz="1425" b="1">
                <a:solidFill>
                  <a:srgbClr val="D96C5F"/>
                </a:solidFill>
                <a:latin typeface="Consolas"/>
                <a:ea typeface="Consolas"/>
                <a:cs typeface="Consolas"/>
              </a:rPr>
              <a:t>AUTHENTICATION BYPASS</a:t>
            </a:r>
          </a:p>
        </p:txBody>
      </p:sp>
      <p:sp>
        <p:nvSpPr>
          <p:cNvPr id="19" name="S24_CAUSE_BODY">
            <a:extLst xmlns:a="http://schemas.openxmlformats.org/drawingml/2006/main">
              <a:ext uri="{FF2B5EF4-FFF2-40B4-BE49-F238E27FC236}">
                <a16:creationId xmlns:a16="http://schemas.microsoft.com/office/drawing/2014/main" id="{37CAB46D-8341-4CDE-80E5-3C2089CCD97B}"/>
              </a:ext>
            </a:extLst>
          </p:cNvPr>
          <p:cNvSpPr>
            <a:spLocks xmlns:a="http://schemas.openxmlformats.org/drawingml/2006/main" noGrp="1"/>
          </p:cNvSpPr>
          <p:nvPr/>
        </p:nvSpPr>
        <p:spPr>
          <a:xfrm xmlns:a="http://schemas.openxmlformats.org/drawingml/2006/main">
            <a:off x="7391400" y="4876800"/>
            <a:ext cx="4248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Mật khẩu hash không cứu được query đã bị đổi logic trước khi so sánh credential.</a:t>
            </a:r>
          </a:p>
        </p:txBody>
      </p:sp>
    </p:spTree>
    <p:extLst>
      <p:ext uri="{BB962C8B-B14F-4D97-AF65-F5344CB8AC3E}">
        <p14:creationId xmlns:p14="http://schemas.microsoft.com/office/powerpoint/2010/main" val="984295825"/>
      </p:ext>
    </p:extLst>
  </p:cSld>
</p:sld>
</file>

<file path=ppt/slides/slide2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0" name="S25_EYEBROW">
            <a:extLst xmlns:a="http://schemas.openxmlformats.org/drawingml/2006/main">
              <a:ext uri="{FF2B5EF4-FFF2-40B4-BE49-F238E27FC236}">
                <a16:creationId xmlns:a16="http://schemas.microsoft.com/office/drawing/2014/main" id="{185FB490-55A6-499B-B9C9-411CA0E9C420}"/>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5_TITLE">
            <a:extLst xmlns:a="http://schemas.openxmlformats.org/drawingml/2006/main">
              <a:ext uri="{FF2B5EF4-FFF2-40B4-BE49-F238E27FC236}">
                <a16:creationId xmlns:a16="http://schemas.microsoft.com/office/drawing/2014/main" id="{18F5EFE8-A7C8-4BE4-BDCA-D9091973E72B}"/>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Search injection mở rộng result set</a:t>
            </a:r>
          </a:p>
        </p:txBody>
      </p:sp>
      <p:sp>
        <p:nvSpPr>
          <p:cNvPr id="3" name="S25_SUBTITLE">
            <a:extLst xmlns:a="http://schemas.openxmlformats.org/drawingml/2006/main">
              <a:ext uri="{FF2B5EF4-FFF2-40B4-BE49-F238E27FC236}">
                <a16:creationId xmlns:a16="http://schemas.microsoft.com/office/drawing/2014/main" id="{695034BE-1F55-4A55-AE54-9B9A038D7C07}"/>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DATA EXTRACTION CƠ BẢN: expanded result set làm lộ nhiều hàng hơn dự kiến.</a:t>
            </a:r>
          </a:p>
        </p:txBody>
      </p:sp>
      <p:sp>
        <p:nvSpPr>
          <p:cNvPr id="4" name="S25_TITLE_RULE">
            <a:extLst xmlns:a="http://schemas.openxmlformats.org/drawingml/2006/main">
              <a:ext uri="{FF2B5EF4-FFF2-40B4-BE49-F238E27FC236}">
                <a16:creationId xmlns:a16="http://schemas.microsoft.com/office/drawing/2014/main" id="{4C685C78-C29F-4BC4-AC4A-287C4C4CAE52}"/>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5_FOOTER_RULE">
            <a:extLst xmlns:a="http://schemas.openxmlformats.org/drawingml/2006/main">
              <a:ext uri="{FF2B5EF4-FFF2-40B4-BE49-F238E27FC236}">
                <a16:creationId xmlns:a16="http://schemas.microsoft.com/office/drawing/2014/main" id="{8E086768-B7FD-41D7-B1D3-0CD9EA01E6AF}"/>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5_SOURCE">
            <a:extLst xmlns:a="http://schemas.openxmlformats.org/drawingml/2006/main">
              <a:ext uri="{FF2B5EF4-FFF2-40B4-BE49-F238E27FC236}">
                <a16:creationId xmlns:a16="http://schemas.microsoft.com/office/drawing/2014/main" id="{FFEC59E6-98CB-4724-915E-4A0DA46D9E5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Lab05/config.py · vulnerable_queries.vulnerable_search</a:t>
            </a:r>
          </a:p>
        </p:txBody>
      </p:sp>
      <p:sp>
        <p:nvSpPr>
          <p:cNvPr id="7" name="S25_NUMBER">
            <a:extLst xmlns:a="http://schemas.openxmlformats.org/drawingml/2006/main">
              <a:ext uri="{FF2B5EF4-FFF2-40B4-BE49-F238E27FC236}">
                <a16:creationId xmlns:a16="http://schemas.microsoft.com/office/drawing/2014/main" id="{5F5C4DFA-8B4B-4D14-A6D8-E287976F117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25</a:t>
            </a:r>
          </a:p>
        </p:txBody>
      </p:sp>
      <p:sp>
        <p:nvSpPr>
          <p:cNvPr id="8" name="S25_NORMAL_ARROW_1">
            <a:extLst xmlns:a="http://schemas.openxmlformats.org/drawingml/2006/main">
              <a:ext uri="{FF2B5EF4-FFF2-40B4-BE49-F238E27FC236}">
                <a16:creationId xmlns:a16="http://schemas.microsoft.com/office/drawing/2014/main" id="{E02828D6-63F2-43DC-9C59-F20C6C705B39}"/>
              </a:ext>
            </a:extLst>
          </p:cNvPr>
          <p:cNvSpPr>
            <a:spLocks xmlns:a="http://schemas.openxmlformats.org/drawingml/2006/main" noGrp="1"/>
          </p:cNvSpPr>
          <p:nvPr/>
        </p:nvSpPr>
        <p:spPr>
          <a:xfrm xmlns:a="http://schemas.openxmlformats.org/drawingml/2006/main">
            <a:off x="2051050" y="20764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25_NORMAL_ARROW_2">
            <a:extLst xmlns:a="http://schemas.openxmlformats.org/drawingml/2006/main">
              <a:ext uri="{FF2B5EF4-FFF2-40B4-BE49-F238E27FC236}">
                <a16:creationId xmlns:a16="http://schemas.microsoft.com/office/drawing/2014/main" id="{CFFF280A-5C29-4155-A9B8-0A34A06E8003}"/>
              </a:ext>
            </a:extLst>
          </p:cNvPr>
          <p:cNvSpPr>
            <a:spLocks xmlns:a="http://schemas.openxmlformats.org/drawingml/2006/main" noGrp="1"/>
          </p:cNvSpPr>
          <p:nvPr/>
        </p:nvSpPr>
        <p:spPr>
          <a:xfrm xmlns:a="http://schemas.openxmlformats.org/drawingml/2006/main">
            <a:off x="3835400" y="2076450"/>
            <a:ext cx="266700"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25_NORMAL_NODE_1">
            <a:extLst xmlns:a="http://schemas.openxmlformats.org/drawingml/2006/main">
              <a:ext uri="{FF2B5EF4-FFF2-40B4-BE49-F238E27FC236}">
                <a16:creationId xmlns:a16="http://schemas.microsoft.com/office/drawing/2014/main" id="{69DC1873-1FC3-4A07-8776-4AD09B3ABD71}"/>
              </a:ext>
            </a:extLst>
          </p:cNvPr>
          <p:cNvSpPr>
            <a:spLocks xmlns:a="http://schemas.openxmlformats.org/drawingml/2006/main" noGrp="1"/>
          </p:cNvSpPr>
          <p:nvPr/>
        </p:nvSpPr>
        <p:spPr>
          <a:xfrm xmlns:a="http://schemas.openxmlformats.org/drawingml/2006/main">
            <a:off x="5334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USB</a:t>
            </a:r>
          </a:p>
        </p:txBody>
      </p:sp>
      <p:sp>
        <p:nvSpPr>
          <p:cNvPr id="11" name="S25_NORMAL_NODE_2">
            <a:extLst xmlns:a="http://schemas.openxmlformats.org/drawingml/2006/main">
              <a:ext uri="{FF2B5EF4-FFF2-40B4-BE49-F238E27FC236}">
                <a16:creationId xmlns:a16="http://schemas.microsoft.com/office/drawing/2014/main" id="{678584B0-4753-4B53-A8FA-38AE9D92BB69}"/>
              </a:ext>
            </a:extLst>
          </p:cNvPr>
          <p:cNvSpPr>
            <a:spLocks xmlns:a="http://schemas.openxmlformats.org/drawingml/2006/main" noGrp="1"/>
          </p:cNvSpPr>
          <p:nvPr/>
        </p:nvSpPr>
        <p:spPr>
          <a:xfrm xmlns:a="http://schemas.openxmlformats.org/drawingml/2006/main">
            <a:off x="231775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LIKE '%USB%'</a:t>
            </a:r>
          </a:p>
        </p:txBody>
      </p:sp>
      <p:sp>
        <p:nvSpPr>
          <p:cNvPr id="12" name="S25_NORMAL_NODE_3">
            <a:extLst xmlns:a="http://schemas.openxmlformats.org/drawingml/2006/main">
              <a:ext uri="{FF2B5EF4-FFF2-40B4-BE49-F238E27FC236}">
                <a16:creationId xmlns:a16="http://schemas.microsoft.com/office/drawing/2014/main" id="{F884164F-CEA6-4946-8B3B-333551AA01F4}"/>
              </a:ext>
            </a:extLst>
          </p:cNvPr>
          <p:cNvSpPr>
            <a:spLocks xmlns:a="http://schemas.openxmlformats.org/drawingml/2006/main" noGrp="1"/>
          </p:cNvSpPr>
          <p:nvPr/>
        </p:nvSpPr>
        <p:spPr>
          <a:xfrm xmlns:a="http://schemas.openxmlformats.org/drawingml/2006/main">
            <a:off x="41021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500" b="1">
                <a:solidFill>
                  <a:srgbClr val="F0ECE5"/>
                </a:solidFill>
                <a:latin typeface="Bahnschrift"/>
                <a:ea typeface="Bahnschrift"/>
                <a:cs typeface="Bahnschrift"/>
              </a:defRPr>
            </a:pPr>
            <a:r>
              <a:rPr sz="1500" b="1">
                <a:solidFill>
                  <a:srgbClr val="F0ECE5"/>
                </a:solidFill>
                <a:latin typeface="Bahnschrift"/>
                <a:ea typeface="Bahnschrift"/>
                <a:cs typeface="Bahnschrift"/>
              </a:rPr>
              <a:t>matching rows</a:t>
            </a:r>
          </a:p>
        </p:txBody>
      </p:sp>
      <p:sp>
        <p:nvSpPr>
          <p:cNvPr id="13" name="S25_ATTACK_ARROW_1">
            <a:extLst xmlns:a="http://schemas.openxmlformats.org/drawingml/2006/main">
              <a:ext uri="{FF2B5EF4-FFF2-40B4-BE49-F238E27FC236}">
                <a16:creationId xmlns:a16="http://schemas.microsoft.com/office/drawing/2014/main" id="{6BD82CD6-3662-4854-9000-3A7FB84CDF90}"/>
              </a:ext>
            </a:extLst>
          </p:cNvPr>
          <p:cNvSpPr>
            <a:spLocks xmlns:a="http://schemas.openxmlformats.org/drawingml/2006/main" noGrp="1"/>
          </p:cNvSpPr>
          <p:nvPr/>
        </p:nvSpPr>
        <p:spPr>
          <a:xfrm xmlns:a="http://schemas.openxmlformats.org/drawingml/2006/main">
            <a:off x="8223250" y="20764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4" name="S25_ATTACK_ARROW_2">
            <a:extLst xmlns:a="http://schemas.openxmlformats.org/drawingml/2006/main">
              <a:ext uri="{FF2B5EF4-FFF2-40B4-BE49-F238E27FC236}">
                <a16:creationId xmlns:a16="http://schemas.microsoft.com/office/drawing/2014/main" id="{71AE4D59-590A-406B-B806-9F4654A8348A}"/>
              </a:ext>
            </a:extLst>
          </p:cNvPr>
          <p:cNvSpPr>
            <a:spLocks xmlns:a="http://schemas.openxmlformats.org/drawingml/2006/main" noGrp="1"/>
          </p:cNvSpPr>
          <p:nvPr/>
        </p:nvSpPr>
        <p:spPr>
          <a:xfrm xmlns:a="http://schemas.openxmlformats.org/drawingml/2006/main">
            <a:off x="10007600" y="20764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5" name="S25_ATTACK_NODE_1">
            <a:extLst xmlns:a="http://schemas.openxmlformats.org/drawingml/2006/main">
              <a:ext uri="{FF2B5EF4-FFF2-40B4-BE49-F238E27FC236}">
                <a16:creationId xmlns:a16="http://schemas.microsoft.com/office/drawing/2014/main" id="{62CC0DF9-98E3-4636-A39A-3ECF7847925D}"/>
              </a:ext>
            </a:extLst>
          </p:cNvPr>
          <p:cNvSpPr>
            <a:spLocks xmlns:a="http://schemas.openxmlformats.org/drawingml/2006/main" noGrp="1"/>
          </p:cNvSpPr>
          <p:nvPr/>
        </p:nvSpPr>
        <p:spPr>
          <a:xfrm xmlns:a="http://schemas.openxmlformats.org/drawingml/2006/main">
            <a:off x="67056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 OR 1=1 -- </a:t>
            </a:r>
          </a:p>
        </p:txBody>
      </p:sp>
      <p:sp>
        <p:nvSpPr>
          <p:cNvPr id="16" name="S25_ATTACK_NODE_2">
            <a:extLst xmlns:a="http://schemas.openxmlformats.org/drawingml/2006/main">
              <a:ext uri="{FF2B5EF4-FFF2-40B4-BE49-F238E27FC236}">
                <a16:creationId xmlns:a16="http://schemas.microsoft.com/office/drawing/2014/main" id="{D0EF0C71-6616-4FB8-AFFC-9ABFEEAD9428}"/>
              </a:ext>
            </a:extLst>
          </p:cNvPr>
          <p:cNvSpPr>
            <a:spLocks xmlns:a="http://schemas.openxmlformats.org/drawingml/2006/main" noGrp="1"/>
          </p:cNvSpPr>
          <p:nvPr/>
        </p:nvSpPr>
        <p:spPr>
          <a:xfrm xmlns:a="http://schemas.openxmlformats.org/drawingml/2006/main">
            <a:off x="848995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concatenated SQL</a:t>
            </a:r>
          </a:p>
        </p:txBody>
      </p:sp>
      <p:sp>
        <p:nvSpPr>
          <p:cNvPr id="17" name="S25_ATTACK_NODE_3">
            <a:extLst xmlns:a="http://schemas.openxmlformats.org/drawingml/2006/main">
              <a:ext uri="{FF2B5EF4-FFF2-40B4-BE49-F238E27FC236}">
                <a16:creationId xmlns:a16="http://schemas.microsoft.com/office/drawing/2014/main" id="{C5A791A8-43C4-484B-A05A-B8B5284651BA}"/>
              </a:ext>
            </a:extLst>
          </p:cNvPr>
          <p:cNvSpPr>
            <a:spLocks xmlns:a="http://schemas.openxmlformats.org/drawingml/2006/main" noGrp="1"/>
          </p:cNvSpPr>
          <p:nvPr/>
        </p:nvSpPr>
        <p:spPr>
          <a:xfrm xmlns:a="http://schemas.openxmlformats.org/drawingml/2006/main">
            <a:off x="10274300" y="1752600"/>
            <a:ext cx="1384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 rows</a:t>
            </a:r>
          </a:p>
        </p:txBody>
      </p:sp>
      <p:sp>
        <p:nvSpPr>
          <p:cNvPr id="18" name="S25_SQL">
            <a:extLst xmlns:a="http://schemas.openxmlformats.org/drawingml/2006/main">
              <a:ext uri="{FF2B5EF4-FFF2-40B4-BE49-F238E27FC236}">
                <a16:creationId xmlns:a16="http://schemas.microsoft.com/office/drawing/2014/main" id="{6A168AD6-F1A1-4076-A034-43D4C609B8F5}"/>
              </a:ext>
            </a:extLst>
          </p:cNvPr>
          <p:cNvSpPr>
            <a:spLocks xmlns:a="http://schemas.openxmlformats.org/drawingml/2006/main" noGrp="1"/>
          </p:cNvSpPr>
          <p:nvPr/>
        </p:nvSpPr>
        <p:spPr>
          <a:xfrm xmlns:a="http://schemas.openxmlformats.org/drawingml/2006/main">
            <a:off x="533400" y="3028950"/>
            <a:ext cx="6191250" cy="2381250"/>
          </a:xfrm>
          <a:prstGeom xmlns:a="http://schemas.openxmlformats.org/drawingml/2006/main" prst="rect">
            <a:avLst/>
          </a:prstGeom>
          <a:solidFill xmlns:a="http://schemas.openxmlformats.org/drawingml/2006/main">
            <a:srgbClr val="0B0B0B"/>
          </a:solidFill>
          <a:ln xmlns:a="http://schemas.openxmlformats.org/drawingml/2006/main" w="9525">
            <a:solidFill>
              <a:srgbClr val="D96C5F"/>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vulnerable_search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query = "SELECT ... WHERE name LIKE '%" + term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payload local cố định</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OR 1=1 -- </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expanded result set: data extraction cơ bản</a:t>
            </a:r>
          </a:p>
        </p:txBody>
      </p:sp>
      <p:sp>
        <p:nvSpPr>
          <p:cNvPr id="19" name="PH_S25_Lab05_Lab05_search_vulnerable_expanded_results_png_FRAME">
            <a:extLst xmlns:a="http://schemas.openxmlformats.org/drawingml/2006/main">
              <a:ext uri="{FF2B5EF4-FFF2-40B4-BE49-F238E27FC236}">
                <a16:creationId xmlns:a16="http://schemas.microsoft.com/office/drawing/2014/main" id="{28220D81-B779-4D21-9D8D-09C9905568C8}"/>
              </a:ext>
            </a:extLst>
          </p:cNvPr>
          <p:cNvSpPr>
            <a:spLocks xmlns:a="http://schemas.openxmlformats.org/drawingml/2006/main" noGrp="1"/>
          </p:cNvSpPr>
          <p:nvPr/>
        </p:nvSpPr>
        <p:spPr>
          <a:xfrm xmlns:a="http://schemas.openxmlformats.org/drawingml/2006/main">
            <a:off x="7058025" y="3000375"/>
            <a:ext cx="4629150" cy="24384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25_Lab05_Lab05_search_vulnerable_expanded_results_png_IMAGE">
            <a:extLst xmlns:a="http://schemas.openxmlformats.org/drawingml/2006/main">
              <a:ext uri="{FF2B5EF4-FFF2-40B4-BE49-F238E27FC236}">
                <a16:creationId xmlns:a16="http://schemas.microsoft.com/office/drawing/2014/main" id="{F758B134-1B51-4BED-A16E-A9A034B957F2}"/>
              </a:ext>
            </a:extLst>
          </p:cNvPr>
          <p:cNvSpPr>
            <a:spLocks xmlns:a="http://schemas.openxmlformats.org/drawingml/2006/main" noGrp="1"/>
          </p:cNvSpPr>
          <p:nvPr/>
        </p:nvSpPr>
        <p:spPr>
          <a:xfrm xmlns:a="http://schemas.openxmlformats.org/drawingml/2006/main">
            <a:off x="7086600" y="3028950"/>
            <a:ext cx="4572000" cy="23812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25_Lab05_Lab05_search_vulnerable_expanded_results_png_ICON">
            <a:extLst xmlns:a="http://schemas.openxmlformats.org/drawingml/2006/main">
              <a:ext uri="{FF2B5EF4-FFF2-40B4-BE49-F238E27FC236}">
                <a16:creationId xmlns:a16="http://schemas.microsoft.com/office/drawing/2014/main" id="{0B17F537-AFCF-4FB9-9BAD-94FACC7A48DC}"/>
              </a:ext>
            </a:extLst>
          </p:cNvPr>
          <p:cNvSpPr>
            <a:spLocks xmlns:a="http://schemas.openxmlformats.org/drawingml/2006/main" noGrp="1"/>
          </p:cNvSpPr>
          <p:nvPr/>
        </p:nvSpPr>
        <p:spPr>
          <a:xfrm xmlns:a="http://schemas.openxmlformats.org/drawingml/2006/main">
            <a:off x="7239000" y="31718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25_Lab05_Lab05_search_vulnerable_expanded_results_png_INSTRUCTION">
            <a:extLst xmlns:a="http://schemas.openxmlformats.org/drawingml/2006/main">
              <a:ext uri="{FF2B5EF4-FFF2-40B4-BE49-F238E27FC236}">
                <a16:creationId xmlns:a16="http://schemas.microsoft.com/office/drawing/2014/main" id="{6A4F7203-27FF-4533-9423-E778E11BD36E}"/>
              </a:ext>
            </a:extLst>
          </p:cNvPr>
          <p:cNvSpPr>
            <a:spLocks xmlns:a="http://schemas.openxmlformats.org/drawingml/2006/main" noGrp="1"/>
          </p:cNvSpPr>
          <p:nvPr/>
        </p:nvSpPr>
        <p:spPr>
          <a:xfrm xmlns:a="http://schemas.openxmlformats.org/drawingml/2006/main">
            <a:off x="7753350" y="3200400"/>
            <a:ext cx="37338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Lab05_search_vulnerable_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expanded_results.png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25_Lab05_Lab05_search_vulnerable_expanded_results_png_CAPTION">
            <a:extLst xmlns:a="http://schemas.openxmlformats.org/drawingml/2006/main">
              <a:ext uri="{FF2B5EF4-FFF2-40B4-BE49-F238E27FC236}">
                <a16:creationId xmlns:a16="http://schemas.microsoft.com/office/drawing/2014/main" id="{84E60216-4BAD-482E-A7CB-46BFB4F60431}"/>
              </a:ext>
            </a:extLst>
          </p:cNvPr>
          <p:cNvSpPr>
            <a:spLocks xmlns:a="http://schemas.openxmlformats.org/drawingml/2006/main" noGrp="1"/>
          </p:cNvSpPr>
          <p:nvPr/>
        </p:nvSpPr>
        <p:spPr>
          <a:xfrm xmlns:a="http://schemas.openxmlformats.org/drawingml/2006/main">
            <a:off x="7086600" y="5000625"/>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Vulnerable search trả result set mở rộng</a:t>
            </a:r>
          </a:p>
        </p:txBody>
      </p:sp>
      <p:sp>
        <p:nvSpPr>
          <p:cNvPr id="24" name="S25_EVIDENCE_H0">
            <a:extLst xmlns:a="http://schemas.openxmlformats.org/drawingml/2006/main">
              <a:ext uri="{FF2B5EF4-FFF2-40B4-BE49-F238E27FC236}">
                <a16:creationId xmlns:a16="http://schemas.microsoft.com/office/drawing/2014/main" id="{0471C81E-3115-4CB1-B08B-F70622D553B7}"/>
              </a:ext>
            </a:extLst>
          </p:cNvPr>
          <p:cNvSpPr>
            <a:spLocks xmlns:a="http://schemas.openxmlformats.org/drawingml/2006/main" noGrp="1"/>
          </p:cNvSpPr>
          <p:nvPr/>
        </p:nvSpPr>
        <p:spPr>
          <a:xfrm xmlns:a="http://schemas.openxmlformats.org/drawingml/2006/main">
            <a:off x="533400" y="5657850"/>
            <a:ext cx="285750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BASELINE</a:t>
            </a:r>
          </a:p>
        </p:txBody>
      </p:sp>
      <p:sp>
        <p:nvSpPr>
          <p:cNvPr id="25" name="S25_EVIDENCE_H1">
            <a:extLst xmlns:a="http://schemas.openxmlformats.org/drawingml/2006/main">
              <a:ext uri="{FF2B5EF4-FFF2-40B4-BE49-F238E27FC236}">
                <a16:creationId xmlns:a16="http://schemas.microsoft.com/office/drawing/2014/main" id="{8C6942FC-7BF2-4A6C-9774-2D72DD101A34}"/>
              </a:ext>
            </a:extLst>
          </p:cNvPr>
          <p:cNvSpPr>
            <a:spLocks xmlns:a="http://schemas.openxmlformats.org/drawingml/2006/main" noGrp="1"/>
          </p:cNvSpPr>
          <p:nvPr/>
        </p:nvSpPr>
        <p:spPr>
          <a:xfrm xmlns:a="http://schemas.openxmlformats.org/drawingml/2006/main">
            <a:off x="3390900" y="5657850"/>
            <a:ext cx="409575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INJECTION</a:t>
            </a:r>
          </a:p>
        </p:txBody>
      </p:sp>
      <p:sp>
        <p:nvSpPr>
          <p:cNvPr id="26" name="S25_EVIDENCE_H2">
            <a:extLst xmlns:a="http://schemas.openxmlformats.org/drawingml/2006/main">
              <a:ext uri="{FF2B5EF4-FFF2-40B4-BE49-F238E27FC236}">
                <a16:creationId xmlns:a16="http://schemas.microsoft.com/office/drawing/2014/main" id="{EA31FC70-1631-4107-A4AD-4917646AB793}"/>
              </a:ext>
            </a:extLst>
          </p:cNvPr>
          <p:cNvSpPr>
            <a:spLocks xmlns:a="http://schemas.openxmlformats.org/drawingml/2006/main" noGrp="1"/>
          </p:cNvSpPr>
          <p:nvPr/>
        </p:nvSpPr>
        <p:spPr>
          <a:xfrm xmlns:a="http://schemas.openxmlformats.org/drawingml/2006/main">
            <a:off x="7486650" y="5657850"/>
            <a:ext cx="4171950" cy="2667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ĐƯỢC PHÉP</a:t>
            </a:r>
          </a:p>
        </p:txBody>
      </p:sp>
      <p:sp>
        <p:nvSpPr>
          <p:cNvPr id="27" name="S25_EVIDENCE_R0C0">
            <a:extLst xmlns:a="http://schemas.openxmlformats.org/drawingml/2006/main">
              <a:ext uri="{FF2B5EF4-FFF2-40B4-BE49-F238E27FC236}">
                <a16:creationId xmlns:a16="http://schemas.microsoft.com/office/drawing/2014/main" id="{AB9A95BC-ECD2-4F53-8923-98AE5D573372}"/>
              </a:ext>
            </a:extLst>
          </p:cNvPr>
          <p:cNvSpPr>
            <a:spLocks xmlns:a="http://schemas.openxmlformats.org/drawingml/2006/main" noGrp="1"/>
          </p:cNvSpPr>
          <p:nvPr/>
        </p:nvSpPr>
        <p:spPr>
          <a:xfrm xmlns:a="http://schemas.openxmlformats.org/drawingml/2006/main">
            <a:off x="533400" y="5924550"/>
            <a:ext cx="285750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USB</a:t>
            </a:r>
          </a:p>
        </p:txBody>
      </p:sp>
      <p:sp>
        <p:nvSpPr>
          <p:cNvPr id="28" name="S25_EVIDENCE_R0C1">
            <a:extLst xmlns:a="http://schemas.openxmlformats.org/drawingml/2006/main">
              <a:ext uri="{FF2B5EF4-FFF2-40B4-BE49-F238E27FC236}">
                <a16:creationId xmlns:a16="http://schemas.microsoft.com/office/drawing/2014/main" id="{E3B47FF1-36AF-49B7-88E0-E449B236552A}"/>
              </a:ext>
            </a:extLst>
          </p:cNvPr>
          <p:cNvSpPr>
            <a:spLocks xmlns:a="http://schemas.openxmlformats.org/drawingml/2006/main" noGrp="1"/>
          </p:cNvSpPr>
          <p:nvPr/>
        </p:nvSpPr>
        <p:spPr>
          <a:xfrm xmlns:a="http://schemas.openxmlformats.org/drawingml/2006/main">
            <a:off x="3390900" y="5924550"/>
            <a:ext cx="409575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expanded result set</a:t>
            </a:r>
          </a:p>
        </p:txBody>
      </p:sp>
      <p:sp>
        <p:nvSpPr>
          <p:cNvPr id="29" name="S25_EVIDENCE_R0C2">
            <a:extLst xmlns:a="http://schemas.openxmlformats.org/drawingml/2006/main">
              <a:ext uri="{FF2B5EF4-FFF2-40B4-BE49-F238E27FC236}">
                <a16:creationId xmlns:a16="http://schemas.microsoft.com/office/drawing/2014/main" id="{B17F391E-7759-4E37-A152-3922E9D7AD6B}"/>
              </a:ext>
            </a:extLst>
          </p:cNvPr>
          <p:cNvSpPr>
            <a:spLocks xmlns:a="http://schemas.openxmlformats.org/drawingml/2006/main" noGrp="1"/>
          </p:cNvSpPr>
          <p:nvPr/>
        </p:nvSpPr>
        <p:spPr>
          <a:xfrm xmlns:a="http://schemas.openxmlformats.org/drawingml/2006/main">
            <a:off x="7486650" y="5924550"/>
            <a:ext cx="4171950" cy="2667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SELECT-only local</a:t>
            </a:r>
          </a:p>
        </p:txBody>
      </p:sp>
    </p:spTree>
    <p:extLst>
      <p:ext uri="{BB962C8B-B14F-4D97-AF65-F5344CB8AC3E}">
        <p14:creationId xmlns:p14="http://schemas.microsoft.com/office/powerpoint/2010/main" val="1297480403"/>
      </p:ext>
    </p:extLst>
  </p:cSld>
</p:sld>
</file>

<file path=ppt/slides/slide2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9" name="S26_EYEBROW">
            <a:extLst xmlns:a="http://schemas.openxmlformats.org/drawingml/2006/main">
              <a:ext uri="{FF2B5EF4-FFF2-40B4-BE49-F238E27FC236}">
                <a16:creationId xmlns:a16="http://schemas.microsoft.com/office/drawing/2014/main" id="{8292B6DE-3CBE-47CC-AFA2-0201A70CCE91}"/>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6_TITLE">
            <a:extLst xmlns:a="http://schemas.openxmlformats.org/drawingml/2006/main">
              <a:ext uri="{FF2B5EF4-FFF2-40B4-BE49-F238E27FC236}">
                <a16:creationId xmlns:a16="http://schemas.microsoft.com/office/drawing/2014/main" id="{722139F2-C836-4866-88F9-C20BC318C207}"/>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Prepared statement giữ code và data tách rời</a:t>
            </a:r>
          </a:p>
        </p:txBody>
      </p:sp>
      <p:sp>
        <p:nvSpPr>
          <p:cNvPr id="3" name="S26_SUBTITLE">
            <a:extLst xmlns:a="http://schemas.openxmlformats.org/drawingml/2006/main">
              <a:ext uri="{FF2B5EF4-FFF2-40B4-BE49-F238E27FC236}">
                <a16:creationId xmlns:a16="http://schemas.microsoft.com/office/drawing/2014/main" id="{E233E17C-A5EB-4AE2-845F-0FC6B2C95085}"/>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Cùng payload được bind như username literal và bị từ chối.</a:t>
            </a:r>
          </a:p>
        </p:txBody>
      </p:sp>
      <p:sp>
        <p:nvSpPr>
          <p:cNvPr id="4" name="S26_TITLE_RULE">
            <a:extLst xmlns:a="http://schemas.openxmlformats.org/drawingml/2006/main">
              <a:ext uri="{FF2B5EF4-FFF2-40B4-BE49-F238E27FC236}">
                <a16:creationId xmlns:a16="http://schemas.microsoft.com/office/drawing/2014/main" id="{4955DEC1-CA04-43FA-B504-30E61778E82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6_FOOTER_RULE">
            <a:extLst xmlns:a="http://schemas.openxmlformats.org/drawingml/2006/main">
              <a:ext uri="{FF2B5EF4-FFF2-40B4-BE49-F238E27FC236}">
                <a16:creationId xmlns:a16="http://schemas.microsoft.com/office/drawing/2014/main" id="{C2A452EE-8AC3-4E11-81CA-157DF136F821}"/>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6_SOURCE">
            <a:extLst xmlns:a="http://schemas.openxmlformats.org/drawingml/2006/main">
              <a:ext uri="{FF2B5EF4-FFF2-40B4-BE49-F238E27FC236}">
                <a16:creationId xmlns:a16="http://schemas.microsoft.com/office/drawing/2014/main" id="{A9758B23-9053-4657-B462-D8B6192B7F36}"/>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Lab05/secure_queries.py · auth_service.py · seed.py</a:t>
            </a:r>
          </a:p>
        </p:txBody>
      </p:sp>
      <p:sp>
        <p:nvSpPr>
          <p:cNvPr id="7" name="S26_NUMBER">
            <a:extLst xmlns:a="http://schemas.openxmlformats.org/drawingml/2006/main">
              <a:ext uri="{FF2B5EF4-FFF2-40B4-BE49-F238E27FC236}">
                <a16:creationId xmlns:a16="http://schemas.microsoft.com/office/drawing/2014/main" id="{A7914A13-B67B-46B7-B8ED-177C160BF0B5}"/>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26</a:t>
            </a:r>
          </a:p>
        </p:txBody>
      </p:sp>
      <p:sp>
        <p:nvSpPr>
          <p:cNvPr id="8" name="S26_CODE">
            <a:extLst xmlns:a="http://schemas.openxmlformats.org/drawingml/2006/main">
              <a:ext uri="{FF2B5EF4-FFF2-40B4-BE49-F238E27FC236}">
                <a16:creationId xmlns:a16="http://schemas.microsoft.com/office/drawing/2014/main" id="{467A2D20-5149-4191-881E-2ED4CD4B0014}"/>
              </a:ext>
            </a:extLst>
          </p:cNvPr>
          <p:cNvSpPr>
            <a:spLocks xmlns:a="http://schemas.openxmlformats.org/drawingml/2006/main" noGrp="1"/>
          </p:cNvSpPr>
          <p:nvPr/>
        </p:nvSpPr>
        <p:spPr>
          <a:xfrm xmlns:a="http://schemas.openxmlformats.org/drawingml/2006/main">
            <a:off x="533400" y="1752600"/>
            <a:ext cx="6286500" cy="2381250"/>
          </a:xfrm>
          <a:prstGeom xmlns:a="http://schemas.openxmlformats.org/drawingml/2006/main" prst="rect">
            <a:avLst/>
          </a:prstGeom>
          <a:solidFill xmlns:a="http://schemas.openxmlformats.org/drawingml/2006/main">
            <a:srgbClr val="0B0B0B"/>
          </a:solidFill>
          <a:ln xmlns:a="http://schemas.openxmlformats.org/drawingml/2006/main" w="9525">
            <a:solidFill>
              <a:srgbClr val="71B48D"/>
            </a:solidFill>
            <a:prstDash val="solid"/>
          </a:ln>
        </p:spPr>
        <p:txBody>
          <a:bodyPr xmlns:a="http://schemas.openxmlformats.org/drawingml/2006/main" wrap="square" lIns="133350" tIns="123825" rIns="133350" bIns="114300" anchor="t">
            <a:noAutofit/>
          </a:bodyPr>
          <a:lstStyle xmlns:a="http://schemas.openxmlformats.org/drawingml/2006/main"/>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sql = "SELECT id, username, password_hash, role</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FROM users WHERE username =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row = conn.execute(sql, (username,)).fetchone()</a:t>
            </a:r>
          </a:p>
          <a:p xmlns:a="http://schemas.openxmlformats.org/drawingml/2006/main">
            <a:r>
              <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password: pbkdf2:sha256:600000</a:t>
            </a:r>
          </a:p>
          <a:p xmlns:a="http://schemas.openxmlformats.org/drawingml/2006/main">
            <a:pPr algn="l">
              <a:lnSpc>
                <a:spcPct val="100000"/>
              </a:lnSpc>
              <a:buNone/>
              <a:defRPr sz="1425" b="0">
                <a:solidFill>
                  <a:srgbClr val="F0ECE5"/>
                </a:solidFill>
                <a:latin typeface="Consolas"/>
                <a:ea typeface="Consolas"/>
                <a:cs typeface="Consolas"/>
              </a:defRPr>
            </a:pPr>
            <a:r>
              <a:rPr sz="1425" b="0">
                <a:solidFill>
                  <a:srgbClr val="F0ECE5"/>
                </a:solidFill>
                <a:latin typeface="Consolas"/>
                <a:ea typeface="Consolas"/>
                <a:cs typeface="Consolas"/>
              </a:rPr>
              <a:t># cùng payload vẫn chỉ là data</a:t>
            </a:r>
          </a:p>
        </p:txBody>
      </p:sp>
      <p:sp>
        <p:nvSpPr>
          <p:cNvPr id="9" name="PH_S26_Lab05_43_secure_login_same_payload_png_FRAME">
            <a:extLst xmlns:a="http://schemas.openxmlformats.org/drawingml/2006/main">
              <a:ext uri="{FF2B5EF4-FFF2-40B4-BE49-F238E27FC236}">
                <a16:creationId xmlns:a16="http://schemas.microsoft.com/office/drawing/2014/main" id="{E9263C8C-CC44-443C-BFF0-0CCCF7065FBC}"/>
              </a:ext>
            </a:extLst>
          </p:cNvPr>
          <p:cNvSpPr>
            <a:spLocks xmlns:a="http://schemas.openxmlformats.org/drawingml/2006/main" noGrp="1"/>
          </p:cNvSpPr>
          <p:nvPr/>
        </p:nvSpPr>
        <p:spPr>
          <a:xfrm xmlns:a="http://schemas.openxmlformats.org/drawingml/2006/main">
            <a:off x="7153275" y="1724025"/>
            <a:ext cx="45339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0" name="PH_S26_Lab05_43_secure_login_same_payload_png_IMAGE">
            <a:extLst xmlns:a="http://schemas.openxmlformats.org/drawingml/2006/main">
              <a:ext uri="{FF2B5EF4-FFF2-40B4-BE49-F238E27FC236}">
                <a16:creationId xmlns:a16="http://schemas.microsoft.com/office/drawing/2014/main" id="{D42C55B0-4BD7-40CA-B76C-92E1D6104EEA}"/>
              </a:ext>
            </a:extLst>
          </p:cNvPr>
          <p:cNvSpPr>
            <a:spLocks xmlns:a="http://schemas.openxmlformats.org/drawingml/2006/main" noGrp="1"/>
          </p:cNvSpPr>
          <p:nvPr/>
        </p:nvSpPr>
        <p:spPr>
          <a:xfrm xmlns:a="http://schemas.openxmlformats.org/drawingml/2006/main">
            <a:off x="7181850" y="1752600"/>
            <a:ext cx="44767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1" name="PH_S26_Lab05_43_secure_login_same_payload_png_ICON">
            <a:extLst xmlns:a="http://schemas.openxmlformats.org/drawingml/2006/main">
              <a:ext uri="{FF2B5EF4-FFF2-40B4-BE49-F238E27FC236}">
                <a16:creationId xmlns:a16="http://schemas.microsoft.com/office/drawing/2014/main" id="{046C027A-3901-4007-B4D8-ADD4B620D909}"/>
              </a:ext>
            </a:extLst>
          </p:cNvPr>
          <p:cNvSpPr>
            <a:spLocks xmlns:a="http://schemas.openxmlformats.org/drawingml/2006/main" noGrp="1"/>
          </p:cNvSpPr>
          <p:nvPr/>
        </p:nvSpPr>
        <p:spPr>
          <a:xfrm xmlns:a="http://schemas.openxmlformats.org/drawingml/2006/main">
            <a:off x="73342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2" name="PH_S26_Lab05_43_secure_login_same_payload_png_INSTRUCTION">
            <a:extLst xmlns:a="http://schemas.openxmlformats.org/drawingml/2006/main">
              <a:ext uri="{FF2B5EF4-FFF2-40B4-BE49-F238E27FC236}">
                <a16:creationId xmlns:a16="http://schemas.microsoft.com/office/drawing/2014/main" id="{4EE84ED1-5EF1-48E2-AA16-0FD1B041CAED}"/>
              </a:ext>
            </a:extLst>
          </p:cNvPr>
          <p:cNvSpPr>
            <a:spLocks xmlns:a="http://schemas.openxmlformats.org/drawingml/2006/main" noGrp="1"/>
          </p:cNvSpPr>
          <p:nvPr/>
        </p:nvSpPr>
        <p:spPr>
          <a:xfrm xmlns:a="http://schemas.openxmlformats.org/drawingml/2006/main">
            <a:off x="7848600" y="1924050"/>
            <a:ext cx="3638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43_secure_login_same_payload.png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3" name="PH_S26_Lab05_43_secure_login_same_payload_png_CAPTION">
            <a:extLst xmlns:a="http://schemas.openxmlformats.org/drawingml/2006/main">
              <a:ext uri="{FF2B5EF4-FFF2-40B4-BE49-F238E27FC236}">
                <a16:creationId xmlns:a16="http://schemas.microsoft.com/office/drawing/2014/main" id="{E4A13411-3CF2-4224-8E3F-EBB4131ABE23}"/>
              </a:ext>
            </a:extLst>
          </p:cNvPr>
          <p:cNvSpPr>
            <a:spLocks xmlns:a="http://schemas.openxmlformats.org/drawingml/2006/main" noGrp="1"/>
          </p:cNvSpPr>
          <p:nvPr/>
        </p:nvSpPr>
        <p:spPr>
          <a:xfrm xmlns:a="http://schemas.openxmlformats.org/drawingml/2006/main">
            <a:off x="7181850" y="31337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 login từ chối cùng payload</a:t>
            </a:r>
          </a:p>
        </p:txBody>
      </p:sp>
      <p:sp>
        <p:nvSpPr>
          <p:cNvPr id="14" name="PH_S26_Lab05_Lab05_search_secure_same_payload_png_FRAME">
            <a:extLst xmlns:a="http://schemas.openxmlformats.org/drawingml/2006/main">
              <a:ext uri="{FF2B5EF4-FFF2-40B4-BE49-F238E27FC236}">
                <a16:creationId xmlns:a16="http://schemas.microsoft.com/office/drawing/2014/main" id="{1E3DEED1-4CF3-4462-A1EA-D52FE195F520}"/>
              </a:ext>
            </a:extLst>
          </p:cNvPr>
          <p:cNvSpPr>
            <a:spLocks xmlns:a="http://schemas.openxmlformats.org/drawingml/2006/main" noGrp="1"/>
          </p:cNvSpPr>
          <p:nvPr/>
        </p:nvSpPr>
        <p:spPr>
          <a:xfrm xmlns:a="http://schemas.openxmlformats.org/drawingml/2006/main">
            <a:off x="7153275" y="3857625"/>
            <a:ext cx="4533900" cy="18478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15" name="PH_S26_Lab05_Lab05_search_secure_same_payload_png_IMAGE">
            <a:extLst xmlns:a="http://schemas.openxmlformats.org/drawingml/2006/main">
              <a:ext uri="{FF2B5EF4-FFF2-40B4-BE49-F238E27FC236}">
                <a16:creationId xmlns:a16="http://schemas.microsoft.com/office/drawing/2014/main" id="{D62AFAB6-4F95-4CA3-96D7-7AA25E45BD13}"/>
              </a:ext>
            </a:extLst>
          </p:cNvPr>
          <p:cNvSpPr>
            <a:spLocks xmlns:a="http://schemas.openxmlformats.org/drawingml/2006/main" noGrp="1"/>
          </p:cNvSpPr>
          <p:nvPr/>
        </p:nvSpPr>
        <p:spPr>
          <a:xfrm xmlns:a="http://schemas.openxmlformats.org/drawingml/2006/main">
            <a:off x="7181850" y="3886200"/>
            <a:ext cx="4476750" cy="17907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6" name="PH_S26_Lab05_Lab05_search_secure_same_payload_png_ICON">
            <a:extLst xmlns:a="http://schemas.openxmlformats.org/drawingml/2006/main">
              <a:ext uri="{FF2B5EF4-FFF2-40B4-BE49-F238E27FC236}">
                <a16:creationId xmlns:a16="http://schemas.microsoft.com/office/drawing/2014/main" id="{275BB453-6958-4883-A2D6-42D81EF8CA60}"/>
              </a:ext>
            </a:extLst>
          </p:cNvPr>
          <p:cNvSpPr>
            <a:spLocks xmlns:a="http://schemas.openxmlformats.org/drawingml/2006/main" noGrp="1"/>
          </p:cNvSpPr>
          <p:nvPr/>
        </p:nvSpPr>
        <p:spPr>
          <a:xfrm xmlns:a="http://schemas.openxmlformats.org/drawingml/2006/main">
            <a:off x="7334250" y="40290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7" name="PH_S26_Lab05_Lab05_search_secure_same_payload_png_INSTRUCTION">
            <a:extLst xmlns:a="http://schemas.openxmlformats.org/drawingml/2006/main">
              <a:ext uri="{FF2B5EF4-FFF2-40B4-BE49-F238E27FC236}">
                <a16:creationId xmlns:a16="http://schemas.microsoft.com/office/drawing/2014/main" id="{C7B15674-CC15-4264-ABB7-20F88C6178BB}"/>
              </a:ext>
            </a:extLst>
          </p:cNvPr>
          <p:cNvSpPr>
            <a:spLocks xmlns:a="http://schemas.openxmlformats.org/drawingml/2006/main" noGrp="1"/>
          </p:cNvSpPr>
          <p:nvPr/>
        </p:nvSpPr>
        <p:spPr>
          <a:xfrm xmlns:a="http://schemas.openxmlformats.org/drawingml/2006/main">
            <a:off x="7848600" y="4057650"/>
            <a:ext cx="3638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Lab05_search_secure_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same_payload.png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8" name="PH_S26_Lab05_Lab05_search_secure_same_payload_png_CAPTION">
            <a:extLst xmlns:a="http://schemas.openxmlformats.org/drawingml/2006/main">
              <a:ext uri="{FF2B5EF4-FFF2-40B4-BE49-F238E27FC236}">
                <a16:creationId xmlns:a16="http://schemas.microsoft.com/office/drawing/2014/main" id="{2397DA1A-8E9A-40F8-9E86-F5C69EB44390}"/>
              </a:ext>
            </a:extLst>
          </p:cNvPr>
          <p:cNvSpPr>
            <a:spLocks xmlns:a="http://schemas.openxmlformats.org/drawingml/2006/main" noGrp="1"/>
          </p:cNvSpPr>
          <p:nvPr/>
        </p:nvSpPr>
        <p:spPr>
          <a:xfrm xmlns:a="http://schemas.openxmlformats.org/drawingml/2006/main">
            <a:off x="7181850" y="52673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Secure search với cùng payload</a:t>
            </a:r>
          </a:p>
        </p:txBody>
      </p:sp>
      <p:sp>
        <p:nvSpPr>
          <p:cNvPr id="19" name="S26_LAYERS_H0">
            <a:extLst xmlns:a="http://schemas.openxmlformats.org/drawingml/2006/main">
              <a:ext uri="{FF2B5EF4-FFF2-40B4-BE49-F238E27FC236}">
                <a16:creationId xmlns:a16="http://schemas.microsoft.com/office/drawing/2014/main" id="{DF1F89F1-416E-4B80-9A74-DAA4F1259CC4}"/>
              </a:ext>
            </a:extLst>
          </p:cNvPr>
          <p:cNvSpPr>
            <a:spLocks xmlns:a="http://schemas.openxmlformats.org/drawingml/2006/main" noGrp="1"/>
          </p:cNvSpPr>
          <p:nvPr/>
        </p:nvSpPr>
        <p:spPr>
          <a:xfrm xmlns:a="http://schemas.openxmlformats.org/drawingml/2006/main">
            <a:off x="533400" y="4476750"/>
            <a:ext cx="2095500" cy="23622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LỚP</a:t>
            </a:r>
          </a:p>
        </p:txBody>
      </p:sp>
      <p:sp>
        <p:nvSpPr>
          <p:cNvPr id="20" name="S26_LAYERS_H1">
            <a:extLst xmlns:a="http://schemas.openxmlformats.org/drawingml/2006/main">
              <a:ext uri="{FF2B5EF4-FFF2-40B4-BE49-F238E27FC236}">
                <a16:creationId xmlns:a16="http://schemas.microsoft.com/office/drawing/2014/main" id="{44629B02-798A-4E01-B276-EB377F799583}"/>
              </a:ext>
            </a:extLst>
          </p:cNvPr>
          <p:cNvSpPr>
            <a:spLocks xmlns:a="http://schemas.openxmlformats.org/drawingml/2006/main" noGrp="1"/>
          </p:cNvSpPr>
          <p:nvPr/>
        </p:nvSpPr>
        <p:spPr>
          <a:xfrm xmlns:a="http://schemas.openxmlformats.org/drawingml/2006/main">
            <a:off x="2628900" y="4476750"/>
            <a:ext cx="4191000" cy="23622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VAI TRÒ</a:t>
            </a:r>
          </a:p>
        </p:txBody>
      </p:sp>
      <p:sp>
        <p:nvSpPr>
          <p:cNvPr id="21" name="S26_LAYERS_R0C0">
            <a:extLst xmlns:a="http://schemas.openxmlformats.org/drawingml/2006/main">
              <a:ext uri="{FF2B5EF4-FFF2-40B4-BE49-F238E27FC236}">
                <a16:creationId xmlns:a16="http://schemas.microsoft.com/office/drawing/2014/main" id="{8AB409D5-D3FE-401C-AB74-129ED6C191D7}"/>
              </a:ext>
            </a:extLst>
          </p:cNvPr>
          <p:cNvSpPr>
            <a:spLocks xmlns:a="http://schemas.openxmlformats.org/drawingml/2006/main" noGrp="1"/>
          </p:cNvSpPr>
          <p:nvPr/>
        </p:nvSpPr>
        <p:spPr>
          <a:xfrm xmlns:a="http://schemas.openxmlformats.org/drawingml/2006/main">
            <a:off x="533400" y="4712970"/>
            <a:ext cx="20955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Parameter binding</a:t>
            </a:r>
          </a:p>
        </p:txBody>
      </p:sp>
      <p:sp>
        <p:nvSpPr>
          <p:cNvPr id="22" name="S26_LAYERS_R0C1">
            <a:extLst xmlns:a="http://schemas.openxmlformats.org/drawingml/2006/main">
              <a:ext uri="{FF2B5EF4-FFF2-40B4-BE49-F238E27FC236}">
                <a16:creationId xmlns:a16="http://schemas.microsoft.com/office/drawing/2014/main" id="{9086AA86-4055-4036-94C8-F70B5775DAAF}"/>
              </a:ext>
            </a:extLst>
          </p:cNvPr>
          <p:cNvSpPr>
            <a:spLocks xmlns:a="http://schemas.openxmlformats.org/drawingml/2006/main" noGrp="1"/>
          </p:cNvSpPr>
          <p:nvPr/>
        </p:nvSpPr>
        <p:spPr>
          <a:xfrm xmlns:a="http://schemas.openxmlformats.org/drawingml/2006/main">
            <a:off x="2628900" y="4712970"/>
            <a:ext cx="41910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root fix: cấu trúc SQL cố định</a:t>
            </a:r>
          </a:p>
        </p:txBody>
      </p:sp>
      <p:sp>
        <p:nvSpPr>
          <p:cNvPr id="23" name="S26_LAYERS_R1C0">
            <a:extLst xmlns:a="http://schemas.openxmlformats.org/drawingml/2006/main">
              <a:ext uri="{FF2B5EF4-FFF2-40B4-BE49-F238E27FC236}">
                <a16:creationId xmlns:a16="http://schemas.microsoft.com/office/drawing/2014/main" id="{31B6033D-4C25-48AF-B722-4EBD1226502E}"/>
              </a:ext>
            </a:extLst>
          </p:cNvPr>
          <p:cNvSpPr>
            <a:spLocks xmlns:a="http://schemas.openxmlformats.org/drawingml/2006/main" noGrp="1"/>
          </p:cNvSpPr>
          <p:nvPr/>
        </p:nvSpPr>
        <p:spPr>
          <a:xfrm xmlns:a="http://schemas.openxmlformats.org/drawingml/2006/main">
            <a:off x="533400" y="4949190"/>
            <a:ext cx="20955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PBKDF2</a:t>
            </a:r>
          </a:p>
        </p:txBody>
      </p:sp>
      <p:sp>
        <p:nvSpPr>
          <p:cNvPr id="24" name="S26_LAYERS_R1C1">
            <a:extLst xmlns:a="http://schemas.openxmlformats.org/drawingml/2006/main">
              <a:ext uri="{FF2B5EF4-FFF2-40B4-BE49-F238E27FC236}">
                <a16:creationId xmlns:a16="http://schemas.microsoft.com/office/drawing/2014/main" id="{1FE723A1-A42D-43FA-9390-729FB7564A4D}"/>
              </a:ext>
            </a:extLst>
          </p:cNvPr>
          <p:cNvSpPr>
            <a:spLocks xmlns:a="http://schemas.openxmlformats.org/drawingml/2006/main" noGrp="1"/>
          </p:cNvSpPr>
          <p:nvPr/>
        </p:nvSpPr>
        <p:spPr>
          <a:xfrm xmlns:a="http://schemas.openxmlformats.org/drawingml/2006/main">
            <a:off x="2628900" y="4949190"/>
            <a:ext cx="41910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bảo vệ mật khẩu lưu trữ</a:t>
            </a:r>
          </a:p>
        </p:txBody>
      </p:sp>
      <p:sp>
        <p:nvSpPr>
          <p:cNvPr id="25" name="S26_LAYERS_R2C0">
            <a:extLst xmlns:a="http://schemas.openxmlformats.org/drawingml/2006/main">
              <a:ext uri="{FF2B5EF4-FFF2-40B4-BE49-F238E27FC236}">
                <a16:creationId xmlns:a16="http://schemas.microsoft.com/office/drawing/2014/main" id="{C7DD7AE5-9FDD-42ED-AC37-1B022CCE3CB9}"/>
              </a:ext>
            </a:extLst>
          </p:cNvPr>
          <p:cNvSpPr>
            <a:spLocks xmlns:a="http://schemas.openxmlformats.org/drawingml/2006/main" noGrp="1"/>
          </p:cNvSpPr>
          <p:nvPr/>
        </p:nvSpPr>
        <p:spPr>
          <a:xfrm xmlns:a="http://schemas.openxmlformats.org/drawingml/2006/main">
            <a:off x="533400" y="5185410"/>
            <a:ext cx="20955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 error</a:t>
            </a:r>
          </a:p>
        </p:txBody>
      </p:sp>
      <p:sp>
        <p:nvSpPr>
          <p:cNvPr id="26" name="S26_LAYERS_R2C1">
            <a:extLst xmlns:a="http://schemas.openxmlformats.org/drawingml/2006/main">
              <a:ext uri="{FF2B5EF4-FFF2-40B4-BE49-F238E27FC236}">
                <a16:creationId xmlns:a16="http://schemas.microsoft.com/office/drawing/2014/main" id="{CB0C3965-BBB0-49F0-9384-228B376DCF56}"/>
              </a:ext>
            </a:extLst>
          </p:cNvPr>
          <p:cNvSpPr>
            <a:spLocks xmlns:a="http://schemas.openxmlformats.org/drawingml/2006/main" noGrp="1"/>
          </p:cNvSpPr>
          <p:nvPr/>
        </p:nvSpPr>
        <p:spPr>
          <a:xfrm xmlns:a="http://schemas.openxmlformats.org/drawingml/2006/main">
            <a:off x="2628900" y="5185410"/>
            <a:ext cx="4191000" cy="23622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lộ schema/query</a:t>
            </a:r>
          </a:p>
        </p:txBody>
      </p:sp>
      <p:sp>
        <p:nvSpPr>
          <p:cNvPr id="27" name="S26_LAYERS_R3C0">
            <a:extLst xmlns:a="http://schemas.openxmlformats.org/drawingml/2006/main">
              <a:ext uri="{FF2B5EF4-FFF2-40B4-BE49-F238E27FC236}">
                <a16:creationId xmlns:a16="http://schemas.microsoft.com/office/drawing/2014/main" id="{F2EF3910-D46C-4219-96F2-D5E9442D6D6B}"/>
              </a:ext>
            </a:extLst>
          </p:cNvPr>
          <p:cNvSpPr>
            <a:spLocks xmlns:a="http://schemas.openxmlformats.org/drawingml/2006/main" noGrp="1"/>
          </p:cNvSpPr>
          <p:nvPr/>
        </p:nvSpPr>
        <p:spPr>
          <a:xfrm xmlns:a="http://schemas.openxmlformats.org/drawingml/2006/main">
            <a:off x="533400" y="5421630"/>
            <a:ext cx="20955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Least privilege</a:t>
            </a:r>
          </a:p>
        </p:txBody>
      </p:sp>
      <p:sp>
        <p:nvSpPr>
          <p:cNvPr id="28" name="S26_LAYERS_R3C1">
            <a:extLst xmlns:a="http://schemas.openxmlformats.org/drawingml/2006/main">
              <a:ext uri="{FF2B5EF4-FFF2-40B4-BE49-F238E27FC236}">
                <a16:creationId xmlns:a16="http://schemas.microsoft.com/office/drawing/2014/main" id="{301E5B94-2A60-49AF-8769-F91B7CBA6C03}"/>
              </a:ext>
            </a:extLst>
          </p:cNvPr>
          <p:cNvSpPr>
            <a:spLocks xmlns:a="http://schemas.openxmlformats.org/drawingml/2006/main" noGrp="1"/>
          </p:cNvSpPr>
          <p:nvPr/>
        </p:nvSpPr>
        <p:spPr>
          <a:xfrm xmlns:a="http://schemas.openxmlformats.org/drawingml/2006/main">
            <a:off x="2628900" y="5421630"/>
            <a:ext cx="4191000" cy="23622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giảm blast radius</a:t>
            </a:r>
          </a:p>
        </p:txBody>
      </p:sp>
    </p:spTree>
    <p:extLst>
      <p:ext uri="{BB962C8B-B14F-4D97-AF65-F5344CB8AC3E}">
        <p14:creationId xmlns:p14="http://schemas.microsoft.com/office/powerpoint/2010/main" val="995689112"/>
      </p:ext>
    </p:extLst>
  </p:cSld>
</p:sld>
</file>

<file path=ppt/slides/slide2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8" name="S27_EYEBROW">
            <a:extLst xmlns:a="http://schemas.openxmlformats.org/drawingml/2006/main">
              <a:ext uri="{FF2B5EF4-FFF2-40B4-BE49-F238E27FC236}">
                <a16:creationId xmlns:a16="http://schemas.microsoft.com/office/drawing/2014/main" id="{93B6BC04-830E-48D1-89BB-5CDE3F578AE5}"/>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LAB05 / SQL INJECTION</a:t>
            </a:r>
          </a:p>
        </p:txBody>
      </p:sp>
      <p:sp>
        <p:nvSpPr>
          <p:cNvPr id="2" name="S27_TITLE">
            <a:extLst xmlns:a="http://schemas.openxmlformats.org/drawingml/2006/main">
              <a:ext uri="{FF2B5EF4-FFF2-40B4-BE49-F238E27FC236}">
                <a16:creationId xmlns:a16="http://schemas.microsoft.com/office/drawing/2014/main" id="{B50A49BE-DBA9-49D4-B6F1-6E7D3E111164}"/>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Defense in depth bắt đầu bằng query parameterized</a:t>
            </a:r>
          </a:p>
        </p:txBody>
      </p:sp>
      <p:sp>
        <p:nvSpPr>
          <p:cNvPr id="3" name="S27_SUBTITLE">
            <a:extLst xmlns:a="http://schemas.openxmlformats.org/drawingml/2006/main">
              <a:ext uri="{FF2B5EF4-FFF2-40B4-BE49-F238E27FC236}">
                <a16:creationId xmlns:a16="http://schemas.microsoft.com/office/drawing/2014/main" id="{23943CAC-1C3E-405D-9A69-8503B7EDAF5F}"/>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WAF, validation và logging hữu ích; không lớp nào sửa query nối chuỗi.</a:t>
            </a:r>
          </a:p>
        </p:txBody>
      </p:sp>
      <p:sp>
        <p:nvSpPr>
          <p:cNvPr id="4" name="S27_TITLE_RULE">
            <a:extLst xmlns:a="http://schemas.openxmlformats.org/drawingml/2006/main">
              <a:ext uri="{FF2B5EF4-FFF2-40B4-BE49-F238E27FC236}">
                <a16:creationId xmlns:a16="http://schemas.microsoft.com/office/drawing/2014/main" id="{5508C62B-7047-478A-894F-D459B0D42E9E}"/>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7_FOOTER_RULE">
            <a:extLst xmlns:a="http://schemas.openxmlformats.org/drawingml/2006/main">
              <a:ext uri="{FF2B5EF4-FFF2-40B4-BE49-F238E27FC236}">
                <a16:creationId xmlns:a16="http://schemas.microsoft.com/office/drawing/2014/main" id="{CC8993C6-0861-4BD5-BE5C-DC69652B4F3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7_SOURCE">
            <a:extLst xmlns:a="http://schemas.openxmlformats.org/drawingml/2006/main">
              <a:ext uri="{FF2B5EF4-FFF2-40B4-BE49-F238E27FC236}">
                <a16:creationId xmlns:a16="http://schemas.microsoft.com/office/drawing/2014/main" id="{00C6FEBE-8C5F-4B2F-8A5E-776F8732CABC}"/>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Lab05 · report Lab05</a:t>
            </a:r>
          </a:p>
        </p:txBody>
      </p:sp>
      <p:sp>
        <p:nvSpPr>
          <p:cNvPr id="7" name="S27_NUMBER">
            <a:extLst xmlns:a="http://schemas.openxmlformats.org/drawingml/2006/main">
              <a:ext uri="{FF2B5EF4-FFF2-40B4-BE49-F238E27FC236}">
                <a16:creationId xmlns:a16="http://schemas.microsoft.com/office/drawing/2014/main" id="{A0A986EC-7F6A-40D9-BA5A-C66CDB4DE5E1}"/>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27</a:t>
            </a:r>
          </a:p>
        </p:txBody>
      </p:sp>
      <p:sp>
        <p:nvSpPr>
          <p:cNvPr id="8" name="S27_LAYERS_ARROW_1">
            <a:extLst xmlns:a="http://schemas.openxmlformats.org/drawingml/2006/main">
              <a:ext uri="{FF2B5EF4-FFF2-40B4-BE49-F238E27FC236}">
                <a16:creationId xmlns:a16="http://schemas.microsoft.com/office/drawing/2014/main" id="{ACE21184-FBBB-4EDA-9F20-5D5CCAE971BC}"/>
              </a:ext>
            </a:extLst>
          </p:cNvPr>
          <p:cNvSpPr>
            <a:spLocks xmlns:a="http://schemas.openxmlformats.org/drawingml/2006/main" noGrp="1"/>
          </p:cNvSpPr>
          <p:nvPr/>
        </p:nvSpPr>
        <p:spPr>
          <a:xfrm xmlns:a="http://schemas.openxmlformats.org/drawingml/2006/main">
            <a:off x="226060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9" name="S27_LAYERS_ARROW_2">
            <a:extLst xmlns:a="http://schemas.openxmlformats.org/drawingml/2006/main">
              <a:ext uri="{FF2B5EF4-FFF2-40B4-BE49-F238E27FC236}">
                <a16:creationId xmlns:a16="http://schemas.microsoft.com/office/drawing/2014/main" id="{5B787F4D-86A3-4037-808C-D7D46C414313}"/>
              </a:ext>
            </a:extLst>
          </p:cNvPr>
          <p:cNvSpPr>
            <a:spLocks xmlns:a="http://schemas.openxmlformats.org/drawingml/2006/main" noGrp="1"/>
          </p:cNvSpPr>
          <p:nvPr/>
        </p:nvSpPr>
        <p:spPr>
          <a:xfrm xmlns:a="http://schemas.openxmlformats.org/drawingml/2006/main">
            <a:off x="4149725"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0" name="S27_LAYERS_ARROW_3">
            <a:extLst xmlns:a="http://schemas.openxmlformats.org/drawingml/2006/main">
              <a:ext uri="{FF2B5EF4-FFF2-40B4-BE49-F238E27FC236}">
                <a16:creationId xmlns:a16="http://schemas.microsoft.com/office/drawing/2014/main" id="{7D67C20A-E90D-4388-B496-15362AE6D937}"/>
              </a:ext>
            </a:extLst>
          </p:cNvPr>
          <p:cNvSpPr>
            <a:spLocks xmlns:a="http://schemas.openxmlformats.org/drawingml/2006/main" noGrp="1"/>
          </p:cNvSpPr>
          <p:nvPr/>
        </p:nvSpPr>
        <p:spPr>
          <a:xfrm xmlns:a="http://schemas.openxmlformats.org/drawingml/2006/main">
            <a:off x="603885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1" name="S27_LAYERS_ARROW_4">
            <a:extLst xmlns:a="http://schemas.openxmlformats.org/drawingml/2006/main">
              <a:ext uri="{FF2B5EF4-FFF2-40B4-BE49-F238E27FC236}">
                <a16:creationId xmlns:a16="http://schemas.microsoft.com/office/drawing/2014/main" id="{B546CB99-0435-4C61-BB5A-DC7F4E181F2E}"/>
              </a:ext>
            </a:extLst>
          </p:cNvPr>
          <p:cNvSpPr>
            <a:spLocks xmlns:a="http://schemas.openxmlformats.org/drawingml/2006/main" noGrp="1"/>
          </p:cNvSpPr>
          <p:nvPr/>
        </p:nvSpPr>
        <p:spPr>
          <a:xfrm xmlns:a="http://schemas.openxmlformats.org/drawingml/2006/main">
            <a:off x="7927975"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2" name="S27_LAYERS_ARROW_5">
            <a:extLst xmlns:a="http://schemas.openxmlformats.org/drawingml/2006/main">
              <a:ext uri="{FF2B5EF4-FFF2-40B4-BE49-F238E27FC236}">
                <a16:creationId xmlns:a16="http://schemas.microsoft.com/office/drawing/2014/main" id="{EE0F99B5-EEA5-4B8A-84A4-0882976B451C}"/>
              </a:ext>
            </a:extLst>
          </p:cNvPr>
          <p:cNvSpPr>
            <a:spLocks xmlns:a="http://schemas.openxmlformats.org/drawingml/2006/main" noGrp="1"/>
          </p:cNvSpPr>
          <p:nvPr/>
        </p:nvSpPr>
        <p:spPr>
          <a:xfrm xmlns:a="http://schemas.openxmlformats.org/drawingml/2006/main">
            <a:off x="9817100" y="2085975"/>
            <a:ext cx="161925" cy="171450"/>
          </a:xfrm>
          <a:prstGeom xmlns:a="http://schemas.openxmlformats.org/drawingml/2006/main" prst="rightArrow">
            <a:avLst/>
          </a:prstGeom>
          <a:solidFill xmlns:a="http://schemas.openxmlformats.org/drawingml/2006/main">
            <a:srgbClr val="E85D26"/>
          </a:solidFill>
          <a:ln xmlns:a="http://schemas.openxmlformats.org/drawingml/2006/main" w="0">
            <a:noFill/>
            <a:prstDash val="solid"/>
          </a:ln>
        </p:spPr>
      </p:sp>
      <p:sp>
        <p:nvSpPr>
          <p:cNvPr id="13" name="S27_LAYERS_NODE_1">
            <a:extLst xmlns:a="http://schemas.openxmlformats.org/drawingml/2006/main">
              <a:ext uri="{FF2B5EF4-FFF2-40B4-BE49-F238E27FC236}">
                <a16:creationId xmlns:a16="http://schemas.microsoft.com/office/drawing/2014/main" id="{77F1D8BC-D72B-4F6F-A252-FFF2DB592005}"/>
              </a:ext>
            </a:extLst>
          </p:cNvPr>
          <p:cNvSpPr>
            <a:spLocks xmlns:a="http://schemas.openxmlformats.org/drawingml/2006/main" noGrp="1"/>
          </p:cNvSpPr>
          <p:nvPr/>
        </p:nvSpPr>
        <p:spPr>
          <a:xfrm xmlns:a="http://schemas.openxmlformats.org/drawingml/2006/main">
            <a:off x="53340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TYPE / RANGE</a:t>
            </a:r>
          </a:p>
        </p:txBody>
      </p:sp>
      <p:sp>
        <p:nvSpPr>
          <p:cNvPr id="14" name="S27_LAYERS_NODE_2">
            <a:extLst xmlns:a="http://schemas.openxmlformats.org/drawingml/2006/main">
              <a:ext uri="{FF2B5EF4-FFF2-40B4-BE49-F238E27FC236}">
                <a16:creationId xmlns:a16="http://schemas.microsoft.com/office/drawing/2014/main" id="{F1AAD012-80C1-427C-9F81-2AC6F37FF500}"/>
              </a:ext>
            </a:extLst>
          </p:cNvPr>
          <p:cNvSpPr>
            <a:spLocks xmlns:a="http://schemas.openxmlformats.org/drawingml/2006/main" noGrp="1"/>
          </p:cNvSpPr>
          <p:nvPr/>
        </p:nvSpPr>
        <p:spPr>
          <a:xfrm xmlns:a="http://schemas.openxmlformats.org/drawingml/2006/main">
            <a:off x="242252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PARAMETERIZED</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QUERY</a:t>
            </a:r>
          </a:p>
        </p:txBody>
      </p:sp>
      <p:sp>
        <p:nvSpPr>
          <p:cNvPr id="15" name="S27_LAYERS_NODE_3">
            <a:extLst xmlns:a="http://schemas.openxmlformats.org/drawingml/2006/main">
              <a:ext uri="{FF2B5EF4-FFF2-40B4-BE49-F238E27FC236}">
                <a16:creationId xmlns:a16="http://schemas.microsoft.com/office/drawing/2014/main" id="{F7B01E72-F19F-4992-91AD-FF394463152E}"/>
              </a:ext>
            </a:extLst>
          </p:cNvPr>
          <p:cNvSpPr>
            <a:spLocks xmlns:a="http://schemas.openxmlformats.org/drawingml/2006/main" noGrp="1"/>
          </p:cNvSpPr>
          <p:nvPr/>
        </p:nvSpPr>
        <p:spPr>
          <a:xfrm xmlns:a="http://schemas.openxmlformats.org/drawingml/2006/main">
            <a:off x="431165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LEAST</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PRIVILEGE</a:t>
            </a:r>
          </a:p>
        </p:txBody>
      </p:sp>
      <p:sp>
        <p:nvSpPr>
          <p:cNvPr id="16" name="S27_LAYERS_NODE_4">
            <a:extLst xmlns:a="http://schemas.openxmlformats.org/drawingml/2006/main">
              <a:ext uri="{FF2B5EF4-FFF2-40B4-BE49-F238E27FC236}">
                <a16:creationId xmlns:a16="http://schemas.microsoft.com/office/drawing/2014/main" id="{B4256675-ED3D-40B5-8F9F-6622201F5F24}"/>
              </a:ext>
            </a:extLst>
          </p:cNvPr>
          <p:cNvSpPr>
            <a:spLocks xmlns:a="http://schemas.openxmlformats.org/drawingml/2006/main" noGrp="1"/>
          </p:cNvSpPr>
          <p:nvPr/>
        </p:nvSpPr>
        <p:spPr>
          <a:xfrm xmlns:a="http://schemas.openxmlformats.org/drawingml/2006/main">
            <a:off x="620077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GENERIC</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ERROR</a:t>
            </a:r>
          </a:p>
        </p:txBody>
      </p:sp>
      <p:sp>
        <p:nvSpPr>
          <p:cNvPr id="17" name="S27_LAYERS_NODE_5">
            <a:extLst xmlns:a="http://schemas.openxmlformats.org/drawingml/2006/main">
              <a:ext uri="{FF2B5EF4-FFF2-40B4-BE49-F238E27FC236}">
                <a16:creationId xmlns:a16="http://schemas.microsoft.com/office/drawing/2014/main" id="{00C6A8E3-D80C-4791-A05E-0BEC83557CDF}"/>
              </a:ext>
            </a:extLst>
          </p:cNvPr>
          <p:cNvSpPr>
            <a:spLocks xmlns:a="http://schemas.openxmlformats.org/drawingml/2006/main" noGrp="1"/>
          </p:cNvSpPr>
          <p:nvPr/>
        </p:nvSpPr>
        <p:spPr>
          <a:xfrm xmlns:a="http://schemas.openxmlformats.org/drawingml/2006/main">
            <a:off x="8089900"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 / MONITOR</a:t>
            </a:r>
          </a:p>
        </p:txBody>
      </p:sp>
      <p:sp>
        <p:nvSpPr>
          <p:cNvPr id="18" name="S27_LAYERS_NODE_6">
            <a:extLst xmlns:a="http://schemas.openxmlformats.org/drawingml/2006/main">
              <a:ext uri="{FF2B5EF4-FFF2-40B4-BE49-F238E27FC236}">
                <a16:creationId xmlns:a16="http://schemas.microsoft.com/office/drawing/2014/main" id="{72FAC197-2623-475C-8A92-7AF3FC2907A7}"/>
              </a:ext>
            </a:extLst>
          </p:cNvPr>
          <p:cNvSpPr>
            <a:spLocks xmlns:a="http://schemas.openxmlformats.org/drawingml/2006/main" noGrp="1"/>
          </p:cNvSpPr>
          <p:nvPr/>
        </p:nvSpPr>
        <p:spPr>
          <a:xfrm xmlns:a="http://schemas.openxmlformats.org/drawingml/2006/main">
            <a:off x="9979025" y="1714500"/>
            <a:ext cx="1679575" cy="9144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WAF</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SUPPORT</a:t>
            </a:r>
          </a:p>
        </p:txBody>
      </p:sp>
      <p:sp>
        <p:nvSpPr>
          <p:cNvPr id="19" name="S27_QA_1">
            <a:extLst xmlns:a="http://schemas.openxmlformats.org/drawingml/2006/main">
              <a:ext uri="{FF2B5EF4-FFF2-40B4-BE49-F238E27FC236}">
                <a16:creationId xmlns:a16="http://schemas.microsoft.com/office/drawing/2014/main" id="{6D018607-083E-419F-85C2-7C84257BD5C9}"/>
              </a:ext>
            </a:extLst>
          </p:cNvPr>
          <p:cNvSpPr>
            <a:spLocks xmlns:a="http://schemas.openxmlformats.org/drawingml/2006/main" noGrp="1"/>
          </p:cNvSpPr>
          <p:nvPr/>
        </p:nvSpPr>
        <p:spPr>
          <a:xfrm xmlns:a="http://schemas.openxmlformats.org/drawingml/2006/main">
            <a:off x="533400" y="31051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Lỗi ở tầng xây query, trước parser.</a:t>
            </a:r>
          </a:p>
        </p:txBody>
      </p:sp>
      <p:sp>
        <p:nvSpPr>
          <p:cNvPr id="20" name="S27_QA_2">
            <a:extLst xmlns:a="http://schemas.openxmlformats.org/drawingml/2006/main">
              <a:ext uri="{FF2B5EF4-FFF2-40B4-BE49-F238E27FC236}">
                <a16:creationId xmlns:a16="http://schemas.microsoft.com/office/drawing/2014/main" id="{9E45CDD8-9CA0-49D6-9F2D-C36282B81C5A}"/>
              </a:ext>
            </a:extLst>
          </p:cNvPr>
          <p:cNvSpPr>
            <a:spLocks xmlns:a="http://schemas.openxmlformats.org/drawingml/2006/main" noGrp="1"/>
          </p:cNvSpPr>
          <p:nvPr/>
        </p:nvSpPr>
        <p:spPr>
          <a:xfrm xmlns:a="http://schemas.openxmlformats.org/drawingml/2006/main">
            <a:off x="4229100" y="31051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Escaping thủ công phụ thuộc dialect và ngữ cảnh.</a:t>
            </a:r>
          </a:p>
        </p:txBody>
      </p:sp>
      <p:sp>
        <p:nvSpPr>
          <p:cNvPr id="21" name="S27_QA_3">
            <a:extLst xmlns:a="http://schemas.openxmlformats.org/drawingml/2006/main">
              <a:ext uri="{FF2B5EF4-FFF2-40B4-BE49-F238E27FC236}">
                <a16:creationId xmlns:a16="http://schemas.microsoft.com/office/drawing/2014/main" id="{97DBB76D-49B7-45A4-94AE-023023F74640}"/>
              </a:ext>
            </a:extLst>
          </p:cNvPr>
          <p:cNvSpPr>
            <a:spLocks xmlns:a="http://schemas.openxmlformats.org/drawingml/2006/main" noGrp="1"/>
          </p:cNvSpPr>
          <p:nvPr/>
        </p:nvSpPr>
        <p:spPr>
          <a:xfrm xmlns:a="http://schemas.openxmlformats.org/drawingml/2006/main">
            <a:off x="533400" y="407670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Prepared statement cố định SQL, bind data riêng.</a:t>
            </a:r>
          </a:p>
        </p:txBody>
      </p:sp>
      <p:sp>
        <p:nvSpPr>
          <p:cNvPr id="22" name="S27_QA_4">
            <a:extLst xmlns:a="http://schemas.openxmlformats.org/drawingml/2006/main">
              <a:ext uri="{FF2B5EF4-FFF2-40B4-BE49-F238E27FC236}">
                <a16:creationId xmlns:a16="http://schemas.microsoft.com/office/drawing/2014/main" id="{FC06EC49-1E45-4CDA-B171-C350A70565F4}"/>
              </a:ext>
            </a:extLst>
          </p:cNvPr>
          <p:cNvSpPr>
            <a:spLocks xmlns:a="http://schemas.openxmlformats.org/drawingml/2006/main" noGrp="1"/>
          </p:cNvSpPr>
          <p:nvPr/>
        </p:nvSpPr>
        <p:spPr>
          <a:xfrm xmlns:a="http://schemas.openxmlformats.org/drawingml/2006/main">
            <a:off x="4229100" y="407670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ORM vẫn lỗi khi dùng raw/concat query.</a:t>
            </a:r>
          </a:p>
        </p:txBody>
      </p:sp>
      <p:sp>
        <p:nvSpPr>
          <p:cNvPr id="23" name="S27_QA_5">
            <a:extLst xmlns:a="http://schemas.openxmlformats.org/drawingml/2006/main">
              <a:ext uri="{FF2B5EF4-FFF2-40B4-BE49-F238E27FC236}">
                <a16:creationId xmlns:a16="http://schemas.microsoft.com/office/drawing/2014/main" id="{6FB39D1E-77B8-4558-B893-0A9A0D40410A}"/>
              </a:ext>
            </a:extLst>
          </p:cNvPr>
          <p:cNvSpPr>
            <a:spLocks xmlns:a="http://schemas.openxmlformats.org/drawingml/2006/main" noGrp="1"/>
          </p:cNvSpPr>
          <p:nvPr/>
        </p:nvSpPr>
        <p:spPr>
          <a:xfrm xmlns:a="http://schemas.openxmlformats.org/drawingml/2006/main">
            <a:off x="533400" y="50482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Lỗi chi tiết làm tăng khả năng dò schema.</a:t>
            </a:r>
          </a:p>
        </p:txBody>
      </p:sp>
      <p:sp>
        <p:nvSpPr>
          <p:cNvPr id="24" name="S27_QA_6">
            <a:extLst xmlns:a="http://schemas.openxmlformats.org/drawingml/2006/main">
              <a:ext uri="{FF2B5EF4-FFF2-40B4-BE49-F238E27FC236}">
                <a16:creationId xmlns:a16="http://schemas.microsoft.com/office/drawing/2014/main" id="{E13907B6-FA9D-4F6D-893F-690CB3423A95}"/>
              </a:ext>
            </a:extLst>
          </p:cNvPr>
          <p:cNvSpPr>
            <a:spLocks xmlns:a="http://schemas.openxmlformats.org/drawingml/2006/main" noGrp="1"/>
          </p:cNvSpPr>
          <p:nvPr/>
        </p:nvSpPr>
        <p:spPr>
          <a:xfrm xmlns:a="http://schemas.openxmlformats.org/drawingml/2006/main">
            <a:off x="4229100" y="5048250"/>
            <a:ext cx="3543300" cy="8191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Retest login + search bằng cùng payload.</a:t>
            </a:r>
          </a:p>
        </p:txBody>
      </p:sp>
      <p:sp>
        <p:nvSpPr>
          <p:cNvPr id="25" name="S27_ANSWER_BAR">
            <a:extLst xmlns:a="http://schemas.openxmlformats.org/drawingml/2006/main">
              <a:ext uri="{FF2B5EF4-FFF2-40B4-BE49-F238E27FC236}">
                <a16:creationId xmlns:a16="http://schemas.microsoft.com/office/drawing/2014/main" id="{180EDEE1-DF7F-405F-9AE1-2B862E81FBEE}"/>
              </a:ext>
            </a:extLst>
          </p:cNvPr>
          <p:cNvSpPr>
            <a:spLocks xmlns:a="http://schemas.openxmlformats.org/drawingml/2006/main" noGrp="1"/>
          </p:cNvSpPr>
          <p:nvPr/>
        </p:nvSpPr>
        <p:spPr>
          <a:xfrm xmlns:a="http://schemas.openxmlformats.org/drawingml/2006/main">
            <a:off x="8077200" y="3105150"/>
            <a:ext cx="76200" cy="0"/>
          </a:xfrm>
          <a:prstGeom xmlns:a="http://schemas.openxmlformats.org/drawingml/2006/main" prst="rect">
            <a:avLst/>
          </a:prstGeom>
          <a:ln xmlns:a="http://schemas.openxmlformats.org/drawingml/2006/main" w="0">
            <a:noFill/>
            <a:prstDash val="solid"/>
          </a:ln>
        </p:spPr>
      </p:sp>
      <p:sp>
        <p:nvSpPr>
          <p:cNvPr id="26" name="S27_ANSWER_LABEL">
            <a:extLst xmlns:a="http://schemas.openxmlformats.org/drawingml/2006/main">
              <a:ext uri="{FF2B5EF4-FFF2-40B4-BE49-F238E27FC236}">
                <a16:creationId xmlns:a16="http://schemas.microsoft.com/office/drawing/2014/main" id="{A995A063-FC01-4C3F-B276-11D1C30669F8}"/>
              </a:ext>
            </a:extLst>
          </p:cNvPr>
          <p:cNvSpPr>
            <a:spLocks xmlns:a="http://schemas.openxmlformats.org/drawingml/2006/main" noGrp="1"/>
          </p:cNvSpPr>
          <p:nvPr/>
        </p:nvSpPr>
        <p:spPr>
          <a:xfrm xmlns:a="http://schemas.openxmlformats.org/drawingml/2006/main">
            <a:off x="8248650" y="3124200"/>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KẾT LUẬN</a:t>
            </a:r>
          </a:p>
        </p:txBody>
      </p:sp>
      <p:sp>
        <p:nvSpPr>
          <p:cNvPr id="27" name="S27_ANSWER_BODY">
            <a:extLst xmlns:a="http://schemas.openxmlformats.org/drawingml/2006/main">
              <a:ext uri="{FF2B5EF4-FFF2-40B4-BE49-F238E27FC236}">
                <a16:creationId xmlns:a16="http://schemas.microsoft.com/office/drawing/2014/main" id="{5B4FD3F5-E3CD-4B89-A468-FCF59F013725}"/>
              </a:ext>
            </a:extLst>
          </p:cNvPr>
          <p:cNvSpPr>
            <a:spLocks xmlns:a="http://schemas.openxmlformats.org/drawingml/2006/main" noGrp="1"/>
          </p:cNvSpPr>
          <p:nvPr/>
        </p:nvSpPr>
        <p:spPr>
          <a:xfrm xmlns:a="http://schemas.openxmlformats.org/drawingml/2006/main">
            <a:off x="8248650" y="3429000"/>
            <a:ext cx="33909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Root fix = parameter binding. Nếu lab có route user detail: không nối id/input vào SQL; dùng parameterized query và authorization.</a:t>
            </a:r>
          </a:p>
        </p:txBody>
      </p:sp>
    </p:spTree>
    <p:extLst>
      <p:ext uri="{BB962C8B-B14F-4D97-AF65-F5344CB8AC3E}">
        <p14:creationId xmlns:p14="http://schemas.microsoft.com/office/powerpoint/2010/main" val="1096883822"/>
      </p:ext>
    </p:extLst>
  </p:cSld>
</p:sld>
</file>

<file path=ppt/slides/slide2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S28_EYEBROW">
            <a:extLst xmlns:a="http://schemas.openxmlformats.org/drawingml/2006/main">
              <a:ext uri="{FF2B5EF4-FFF2-40B4-BE49-F238E27FC236}">
                <a16:creationId xmlns:a16="http://schemas.microsoft.com/office/drawing/2014/main" id="{55F92985-9FDD-46DF-A90F-CCEE169A9475}"/>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28_TITLE">
            <a:extLst xmlns:a="http://schemas.openxmlformats.org/drawingml/2006/main">
              <a:ext uri="{FF2B5EF4-FFF2-40B4-BE49-F238E27FC236}">
                <a16:creationId xmlns:a16="http://schemas.microsoft.com/office/drawing/2014/main" id="{6C2218DE-0213-41F2-8F31-981D0F35A89F}"/>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Cookie vận chuyển state — không tạo niềm tin</a:t>
            </a:r>
          </a:p>
        </p:txBody>
      </p:sp>
      <p:sp>
        <p:nvSpPr>
          <p:cNvPr id="3" name="S28_SUBTITLE">
            <a:extLst xmlns:a="http://schemas.openxmlformats.org/drawingml/2006/main">
              <a:ext uri="{FF2B5EF4-FFF2-40B4-BE49-F238E27FC236}">
                <a16:creationId xmlns:a16="http://schemas.microsoft.com/office/drawing/2014/main" id="{90B44915-832A-4FE3-A0A3-FA911E978F3F}"/>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Mọi byte trong cookie quay lại từ client; server phải xác minh integrity và quyền.</a:t>
            </a:r>
          </a:p>
        </p:txBody>
      </p:sp>
      <p:sp>
        <p:nvSpPr>
          <p:cNvPr id="4" name="S28_TITLE_RULE">
            <a:extLst xmlns:a="http://schemas.openxmlformats.org/drawingml/2006/main">
              <a:ext uri="{FF2B5EF4-FFF2-40B4-BE49-F238E27FC236}">
                <a16:creationId xmlns:a16="http://schemas.microsoft.com/office/drawing/2014/main" id="{9EF74718-FDEC-4C49-A292-29CBADF8CFF5}"/>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8_FOOTER_RULE">
            <a:extLst xmlns:a="http://schemas.openxmlformats.org/drawingml/2006/main">
              <a:ext uri="{FF2B5EF4-FFF2-40B4-BE49-F238E27FC236}">
                <a16:creationId xmlns:a16="http://schemas.microsoft.com/office/drawing/2014/main" id="{6F2E9EE0-FE60-4F37-8D68-CEB47AE8BDA6}"/>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8_SOURCE">
            <a:extLst xmlns:a="http://schemas.openxmlformats.org/drawingml/2006/main">
              <a:ext uri="{FF2B5EF4-FFF2-40B4-BE49-F238E27FC236}">
                <a16:creationId xmlns:a16="http://schemas.microsoft.com/office/drawing/2014/main" id="{925F41CF-244F-40EA-B8C4-2D63309BB25D}"/>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Lab06/app.py · cookie_service.py · seed.py</a:t>
            </a:r>
          </a:p>
        </p:txBody>
      </p:sp>
      <p:sp>
        <p:nvSpPr>
          <p:cNvPr id="7" name="S28_NUMBER">
            <a:extLst xmlns:a="http://schemas.openxmlformats.org/drawingml/2006/main">
              <a:ext uri="{FF2B5EF4-FFF2-40B4-BE49-F238E27FC236}">
                <a16:creationId xmlns:a16="http://schemas.microsoft.com/office/drawing/2014/main" id="{21194258-0E32-4261-B654-87DB0975DF23}"/>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28</a:t>
            </a:r>
          </a:p>
        </p:txBody>
      </p:sp>
      <p:sp>
        <p:nvSpPr>
          <p:cNvPr id="8" name="S28_LOOP_ARROW_1">
            <a:extLst xmlns:a="http://schemas.openxmlformats.org/drawingml/2006/main">
              <a:ext uri="{FF2B5EF4-FFF2-40B4-BE49-F238E27FC236}">
                <a16:creationId xmlns:a16="http://schemas.microsoft.com/office/drawing/2014/main" id="{558B56C7-1394-4AF9-A3E4-9A668A3A27E7}"/>
              </a:ext>
            </a:extLst>
          </p:cNvPr>
          <p:cNvSpPr>
            <a:spLocks xmlns:a="http://schemas.openxmlformats.org/drawingml/2006/main" noGrp="1"/>
          </p:cNvSpPr>
          <p:nvPr/>
        </p:nvSpPr>
        <p:spPr>
          <a:xfrm xmlns:a="http://schemas.openxmlformats.org/drawingml/2006/main">
            <a:off x="257175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28_LOOP_ARROW_2">
            <a:extLst xmlns:a="http://schemas.openxmlformats.org/drawingml/2006/main">
              <a:ext uri="{FF2B5EF4-FFF2-40B4-BE49-F238E27FC236}">
                <a16:creationId xmlns:a16="http://schemas.microsoft.com/office/drawing/2014/main" id="{EAB92566-78EC-4B4E-A3DB-7B0032EAD956}"/>
              </a:ext>
            </a:extLst>
          </p:cNvPr>
          <p:cNvSpPr>
            <a:spLocks xmlns:a="http://schemas.openxmlformats.org/drawingml/2006/main" noGrp="1"/>
          </p:cNvSpPr>
          <p:nvPr/>
        </p:nvSpPr>
        <p:spPr>
          <a:xfrm xmlns:a="http://schemas.openxmlformats.org/drawingml/2006/main">
            <a:off x="487680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28_LOOP_ARROW_3">
            <a:extLst xmlns:a="http://schemas.openxmlformats.org/drawingml/2006/main">
              <a:ext uri="{FF2B5EF4-FFF2-40B4-BE49-F238E27FC236}">
                <a16:creationId xmlns:a16="http://schemas.microsoft.com/office/drawing/2014/main" id="{7BCA3B0D-154D-4485-AF87-805D33BAEE27}"/>
              </a:ext>
            </a:extLst>
          </p:cNvPr>
          <p:cNvSpPr>
            <a:spLocks xmlns:a="http://schemas.openxmlformats.org/drawingml/2006/main" noGrp="1"/>
          </p:cNvSpPr>
          <p:nvPr/>
        </p:nvSpPr>
        <p:spPr>
          <a:xfrm xmlns:a="http://schemas.openxmlformats.org/drawingml/2006/main">
            <a:off x="718185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28_LOOP_ARROW_4">
            <a:extLst xmlns:a="http://schemas.openxmlformats.org/drawingml/2006/main">
              <a:ext uri="{FF2B5EF4-FFF2-40B4-BE49-F238E27FC236}">
                <a16:creationId xmlns:a16="http://schemas.microsoft.com/office/drawing/2014/main" id="{A894D55E-A4EF-4CEE-A227-31241FF87C29}"/>
              </a:ext>
            </a:extLst>
          </p:cNvPr>
          <p:cNvSpPr>
            <a:spLocks xmlns:a="http://schemas.openxmlformats.org/drawingml/2006/main" noGrp="1"/>
          </p:cNvSpPr>
          <p:nvPr/>
        </p:nvSpPr>
        <p:spPr>
          <a:xfrm xmlns:a="http://schemas.openxmlformats.org/drawingml/2006/main">
            <a:off x="9486900" y="2228850"/>
            <a:ext cx="26670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28_LOOP_NODE_1">
            <a:extLst xmlns:a="http://schemas.openxmlformats.org/drawingml/2006/main">
              <a:ext uri="{FF2B5EF4-FFF2-40B4-BE49-F238E27FC236}">
                <a16:creationId xmlns:a16="http://schemas.microsoft.com/office/drawing/2014/main" id="{963AE471-38FB-4F04-8270-AA0AB2A23E73}"/>
              </a:ext>
            </a:extLst>
          </p:cNvPr>
          <p:cNvSpPr>
            <a:spLocks xmlns:a="http://schemas.openxmlformats.org/drawingml/2006/main" noGrp="1"/>
          </p:cNvSpPr>
          <p:nvPr/>
        </p:nvSpPr>
        <p:spPr>
          <a:xfrm xmlns:a="http://schemas.openxmlformats.org/drawingml/2006/main">
            <a:off x="5334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SETS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role=user</a:t>
            </a:r>
          </a:p>
        </p:txBody>
      </p:sp>
      <p:sp>
        <p:nvSpPr>
          <p:cNvPr id="13" name="S28_LOOP_NODE_2">
            <a:extLst xmlns:a="http://schemas.openxmlformats.org/drawingml/2006/main">
              <a:ext uri="{FF2B5EF4-FFF2-40B4-BE49-F238E27FC236}">
                <a16:creationId xmlns:a16="http://schemas.microsoft.com/office/drawing/2014/main" id="{ACFBAD3F-5557-4924-937D-A04142D8F308}"/>
              </a:ext>
            </a:extLst>
          </p:cNvPr>
          <p:cNvSpPr>
            <a:spLocks xmlns:a="http://schemas.openxmlformats.org/drawingml/2006/main" noGrp="1"/>
          </p:cNvSpPr>
          <p:nvPr/>
        </p:nvSpPr>
        <p:spPr>
          <a:xfrm xmlns:a="http://schemas.openxmlformats.org/drawingml/2006/main">
            <a:off x="283845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STORES</a:t>
            </a:r>
          </a:p>
        </p:txBody>
      </p:sp>
      <p:sp>
        <p:nvSpPr>
          <p:cNvPr id="14" name="S28_LOOP_NODE_3">
            <a:extLst xmlns:a="http://schemas.openxmlformats.org/drawingml/2006/main">
              <a:ext uri="{FF2B5EF4-FFF2-40B4-BE49-F238E27FC236}">
                <a16:creationId xmlns:a16="http://schemas.microsoft.com/office/drawing/2014/main" id="{60CA78AE-870D-484A-B818-D43261B9001E}"/>
              </a:ext>
            </a:extLst>
          </p:cNvPr>
          <p:cNvSpPr>
            <a:spLocks xmlns:a="http://schemas.openxmlformats.org/drawingml/2006/main" noGrp="1"/>
          </p:cNvSpPr>
          <p:nvPr/>
        </p:nvSpPr>
        <p:spPr>
          <a:xfrm xmlns:a="http://schemas.openxmlformats.org/drawingml/2006/main">
            <a:off x="51435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 EDITS</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role=admin</a:t>
            </a:r>
          </a:p>
        </p:txBody>
      </p:sp>
      <p:sp>
        <p:nvSpPr>
          <p:cNvPr id="15" name="S28_LOOP_NODE_4">
            <a:extLst xmlns:a="http://schemas.openxmlformats.org/drawingml/2006/main">
              <a:ext uri="{FF2B5EF4-FFF2-40B4-BE49-F238E27FC236}">
                <a16:creationId xmlns:a16="http://schemas.microsoft.com/office/drawing/2014/main" id="{EF146C75-CF10-4081-84DB-A0AC2B640D10}"/>
              </a:ext>
            </a:extLst>
          </p:cNvPr>
          <p:cNvSpPr>
            <a:spLocks xmlns:a="http://schemas.openxmlformats.org/drawingml/2006/main" noGrp="1"/>
          </p:cNvSpPr>
          <p:nvPr/>
        </p:nvSpPr>
        <p:spPr>
          <a:xfrm xmlns:a="http://schemas.openxmlformats.org/drawingml/2006/main">
            <a:off x="744855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BROWSER SENDS</a:t>
            </a:r>
          </a:p>
        </p:txBody>
      </p:sp>
      <p:sp>
        <p:nvSpPr>
          <p:cNvPr id="16" name="S28_LOOP_NODE_5">
            <a:extLst xmlns:a="http://schemas.openxmlformats.org/drawingml/2006/main">
              <a:ext uri="{FF2B5EF4-FFF2-40B4-BE49-F238E27FC236}">
                <a16:creationId xmlns:a16="http://schemas.microsoft.com/office/drawing/2014/main" id="{621B50E3-125F-4C40-B23C-D01FEDA1085E}"/>
              </a:ext>
            </a:extLst>
          </p:cNvPr>
          <p:cNvSpPr>
            <a:spLocks xmlns:a="http://schemas.openxmlformats.org/drawingml/2006/main" noGrp="1"/>
          </p:cNvSpPr>
          <p:nvPr/>
        </p:nvSpPr>
        <p:spPr>
          <a:xfrm xmlns:a="http://schemas.openxmlformats.org/drawingml/2006/main">
            <a:off x="9753600" y="1790700"/>
            <a:ext cx="1905000" cy="10477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TRUSTS</a:t>
            </a:r>
          </a:p>
        </p:txBody>
      </p:sp>
      <p:sp>
        <p:nvSpPr>
          <p:cNvPr id="17" name="S28_DIFF_LEFT">
            <a:extLst xmlns:a="http://schemas.openxmlformats.org/drawingml/2006/main">
              <a:ext uri="{FF2B5EF4-FFF2-40B4-BE49-F238E27FC236}">
                <a16:creationId xmlns:a16="http://schemas.microsoft.com/office/drawing/2014/main" id="{7A102AEB-AB89-4CF1-A5C3-2A93A77601AC}"/>
              </a:ext>
            </a:extLst>
          </p:cNvPr>
          <p:cNvSpPr>
            <a:spLocks xmlns:a="http://schemas.openxmlformats.org/drawingml/2006/main" noGrp="1"/>
          </p:cNvSpPr>
          <p:nvPr/>
        </p:nvSpPr>
        <p:spPr>
          <a:xfrm xmlns:a="http://schemas.openxmlformats.org/drawingml/2006/main">
            <a:off x="533400" y="3333750"/>
            <a:ext cx="5448300" cy="2286000"/>
          </a:xfrm>
          <a:prstGeom xmlns:a="http://schemas.openxmlformats.org/drawingml/2006/main" prst="rect">
            <a:avLst/>
          </a:prstGeom>
          <a:solidFill xmlns:a="http://schemas.openxmlformats.org/drawingml/2006/main">
            <a:srgbClr val="1A1A18"/>
          </a:solidFill>
          <a:ln xmlns:a="http://schemas.openxmlformats.org/drawingml/2006/main" w="9525">
            <a:solidFill>
              <a:srgbClr val="D96C5F"/>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COOKIE POISONING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Chính client sửa nội dung cookie để thay đổi quyết định server.</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Ví dụ: role=user → admin.</a:t>
            </a:r>
          </a:p>
        </p:txBody>
      </p:sp>
      <p:sp>
        <p:nvSpPr>
          <p:cNvPr id="18" name="S28_DIFF_RIGHT">
            <a:extLst xmlns:a="http://schemas.openxmlformats.org/drawingml/2006/main">
              <a:ext uri="{FF2B5EF4-FFF2-40B4-BE49-F238E27FC236}">
                <a16:creationId xmlns:a16="http://schemas.microsoft.com/office/drawing/2014/main" id="{4C9316D7-DA9F-4CC1-AC05-88352CDF1D0E}"/>
              </a:ext>
            </a:extLst>
          </p:cNvPr>
          <p:cNvSpPr>
            <a:spLocks xmlns:a="http://schemas.openxmlformats.org/drawingml/2006/main" noGrp="1"/>
          </p:cNvSpPr>
          <p:nvPr/>
        </p:nvSpPr>
        <p:spPr>
          <a:xfrm xmlns:a="http://schemas.openxmlformats.org/drawingml/2006/main">
            <a:off x="6210300" y="3333750"/>
            <a:ext cx="5448300" cy="2286000"/>
          </a:xfrm>
          <a:prstGeom xmlns:a="http://schemas.openxmlformats.org/drawingml/2006/main" prst="rect">
            <a:avLst/>
          </a:prstGeom>
          <a:solidFill xmlns:a="http://schemas.openxmlformats.org/drawingml/2006/main">
            <a:srgbClr val="1A1A18"/>
          </a:solidFill>
          <a:ln xmlns:a="http://schemas.openxmlformats.org/drawingml/2006/main" w="9525">
            <a:solidFill>
              <a:srgbClr val="71B48D"/>
            </a:solidFill>
            <a:prstDash val="solid"/>
          </a:ln>
        </p:spPr>
        <p:txBody>
          <a:bodyPr xmlns:a="http://schemas.openxmlformats.org/drawingml/2006/main" wrap="square" lIns="133350" tIns="114300" rIns="133350" bIns="952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SESSION HIJACKING</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Kẻ tấn công lấy token/session hợp lệ của người khác.</a:t>
            </a:r>
          </a:p>
          <a:p xmlns:a="http://schemas.openxmlformats.org/drawingml/2006/main">
            <a:r>
              <a:t/>
            </a:r>
          </a:p>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Khác về tài sản bị tấn công và control cần dùng.</a:t>
            </a:r>
          </a:p>
        </p:txBody>
      </p:sp>
    </p:spTree>
    <p:extLst>
      <p:ext uri="{BB962C8B-B14F-4D97-AF65-F5344CB8AC3E}">
        <p14:creationId xmlns:p14="http://schemas.microsoft.com/office/powerpoint/2010/main" val="390802394"/>
      </p:ext>
    </p:extLst>
  </p:cSld>
</p:sld>
</file>

<file path=ppt/slides/slide2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35" name="S29_EYEBROW">
            <a:extLst xmlns:a="http://schemas.openxmlformats.org/drawingml/2006/main">
              <a:ext uri="{FF2B5EF4-FFF2-40B4-BE49-F238E27FC236}">
                <a16:creationId xmlns:a16="http://schemas.microsoft.com/office/drawing/2014/main" id="{4717B12E-4B61-46D9-BD65-BFBCE287A9C4}"/>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29_TITLE">
            <a:extLst xmlns:a="http://schemas.openxmlformats.org/drawingml/2006/main">
              <a:ext uri="{FF2B5EF4-FFF2-40B4-BE49-F238E27FC236}">
                <a16:creationId xmlns:a16="http://schemas.microsoft.com/office/drawing/2014/main" id="{FF4ED059-3A6B-414F-8393-893E59684DDD}"/>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Plain cookie: sửa một value, đổi một quyết định</a:t>
            </a:r>
          </a:p>
        </p:txBody>
      </p:sp>
      <p:sp>
        <p:nvSpPr>
          <p:cNvPr id="3" name="S29_SUBTITLE">
            <a:extLst xmlns:a="http://schemas.openxmlformats.org/drawingml/2006/main">
              <a:ext uri="{FF2B5EF4-FFF2-40B4-BE49-F238E27FC236}">
                <a16:creationId xmlns:a16="http://schemas.microsoft.com/office/drawing/2014/main" id="{2ADEA583-DA41-4F3A-8F24-B8600D012344}"/>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DevTools cho thấy Name/Value/Domain/Path/HttpOnly/Secure/SameSite và điểm server tin sai.</a:t>
            </a:r>
          </a:p>
        </p:txBody>
      </p:sp>
      <p:sp>
        <p:nvSpPr>
          <p:cNvPr id="4" name="S29_TITLE_RULE">
            <a:extLst xmlns:a="http://schemas.openxmlformats.org/drawingml/2006/main">
              <a:ext uri="{FF2B5EF4-FFF2-40B4-BE49-F238E27FC236}">
                <a16:creationId xmlns:a16="http://schemas.microsoft.com/office/drawing/2014/main" id="{289300E7-61F2-4080-BACD-4C3987CBC11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29_FOOTER_RULE">
            <a:extLst xmlns:a="http://schemas.openxmlformats.org/drawingml/2006/main">
              <a:ext uri="{FF2B5EF4-FFF2-40B4-BE49-F238E27FC236}">
                <a16:creationId xmlns:a16="http://schemas.microsoft.com/office/drawing/2014/main" id="{4579C91F-AC8F-4F1C-B485-56817C11155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29_SOURCE">
            <a:extLst xmlns:a="http://schemas.openxmlformats.org/drawingml/2006/main">
              <a:ext uri="{FF2B5EF4-FFF2-40B4-BE49-F238E27FC236}">
                <a16:creationId xmlns:a16="http://schemas.microsoft.com/office/drawing/2014/main" id="{ABAFCBAD-0128-4ACF-B5EB-E80FC95C85C3}"/>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Lab06/app.py plain routes · config.py</a:t>
            </a:r>
          </a:p>
        </p:txBody>
      </p:sp>
      <p:sp>
        <p:nvSpPr>
          <p:cNvPr id="7" name="S29_NUMBER">
            <a:extLst xmlns:a="http://schemas.openxmlformats.org/drawingml/2006/main">
              <a:ext uri="{FF2B5EF4-FFF2-40B4-BE49-F238E27FC236}">
                <a16:creationId xmlns:a16="http://schemas.microsoft.com/office/drawing/2014/main" id="{25F60C6D-3D77-404F-9A63-085A7F632ACE}"/>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29</a:t>
            </a:r>
          </a:p>
        </p:txBody>
      </p:sp>
      <p:sp>
        <p:nvSpPr>
          <p:cNvPr id="8" name="PH_S29_Lab06_51_plain_cookie_modified_application_png_FRAME">
            <a:extLst xmlns:a="http://schemas.openxmlformats.org/drawingml/2006/main">
              <a:ext uri="{FF2B5EF4-FFF2-40B4-BE49-F238E27FC236}">
                <a16:creationId xmlns:a16="http://schemas.microsoft.com/office/drawing/2014/main" id="{64985F48-3BE1-430C-89E5-46A470110186}"/>
              </a:ext>
            </a:extLst>
          </p:cNvPr>
          <p:cNvSpPr>
            <a:spLocks xmlns:a="http://schemas.openxmlformats.org/drawingml/2006/main" noGrp="1"/>
          </p:cNvSpPr>
          <p:nvPr/>
        </p:nvSpPr>
        <p:spPr>
          <a:xfrm xmlns:a="http://schemas.openxmlformats.org/drawingml/2006/main">
            <a:off x="504825" y="1724025"/>
            <a:ext cx="5391150" cy="28384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9" name="PH_S29_Lab06_51_plain_cookie_modified_application_png_IMAGE">
            <a:extLst xmlns:a="http://schemas.openxmlformats.org/drawingml/2006/main">
              <a:ext uri="{FF2B5EF4-FFF2-40B4-BE49-F238E27FC236}">
                <a16:creationId xmlns:a16="http://schemas.microsoft.com/office/drawing/2014/main" id="{DC15989D-BB23-4301-9852-405136C676C1}"/>
              </a:ext>
            </a:extLst>
          </p:cNvPr>
          <p:cNvSpPr>
            <a:spLocks xmlns:a="http://schemas.openxmlformats.org/drawingml/2006/main" noGrp="1"/>
          </p:cNvSpPr>
          <p:nvPr/>
        </p:nvSpPr>
        <p:spPr>
          <a:xfrm xmlns:a="http://schemas.openxmlformats.org/drawingml/2006/main">
            <a:off x="533400" y="1752600"/>
            <a:ext cx="5334000" cy="27813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10" name="PH_S29_Lab06_51_plain_cookie_modified_application_png_ICON">
            <a:extLst xmlns:a="http://schemas.openxmlformats.org/drawingml/2006/main">
              <a:ext uri="{FF2B5EF4-FFF2-40B4-BE49-F238E27FC236}">
                <a16:creationId xmlns:a16="http://schemas.microsoft.com/office/drawing/2014/main" id="{AF558C90-235E-41F7-BBB1-78145AA4800C}"/>
              </a:ext>
            </a:extLst>
          </p:cNvPr>
          <p:cNvSpPr>
            <a:spLocks xmlns:a="http://schemas.openxmlformats.org/drawingml/2006/main" noGrp="1"/>
          </p:cNvSpPr>
          <p:nvPr/>
        </p:nvSpPr>
        <p:spPr>
          <a:xfrm xmlns:a="http://schemas.openxmlformats.org/drawingml/2006/main">
            <a:off x="68580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11" name="PH_S29_Lab06_51_plain_cookie_modified_application_png_INSTRUCTION">
            <a:extLst xmlns:a="http://schemas.openxmlformats.org/drawingml/2006/main">
              <a:ext uri="{FF2B5EF4-FFF2-40B4-BE49-F238E27FC236}">
                <a16:creationId xmlns:a16="http://schemas.microsoft.com/office/drawing/2014/main" id="{E6366753-8C79-475A-83FC-0D78FC2632A1}"/>
              </a:ext>
            </a:extLst>
          </p:cNvPr>
          <p:cNvSpPr>
            <a:spLocks xmlns:a="http://schemas.openxmlformats.org/drawingml/2006/main" noGrp="1"/>
          </p:cNvSpPr>
          <p:nvPr/>
        </p:nvSpPr>
        <p:spPr>
          <a:xfrm xmlns:a="http://schemas.openxmlformats.org/drawingml/2006/main">
            <a:off x="1200150" y="1924050"/>
            <a:ext cx="44958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51_plain_cookie_modified_application.png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12" name="PH_S29_Lab06_51_plain_cookie_modified_application_png_CAPTION">
            <a:extLst xmlns:a="http://schemas.openxmlformats.org/drawingml/2006/main">
              <a:ext uri="{FF2B5EF4-FFF2-40B4-BE49-F238E27FC236}">
                <a16:creationId xmlns:a16="http://schemas.microsoft.com/office/drawing/2014/main" id="{B060C5FE-DA27-4C34-BCF1-EB153C6EC900}"/>
              </a:ext>
            </a:extLst>
          </p:cNvPr>
          <p:cNvSpPr>
            <a:spLocks xmlns:a="http://schemas.openxmlformats.org/drawingml/2006/main" noGrp="1"/>
          </p:cNvSpPr>
          <p:nvPr/>
        </p:nvSpPr>
        <p:spPr>
          <a:xfrm xmlns:a="http://schemas.openxmlformats.org/drawingml/2006/main">
            <a:off x="533400" y="4124325"/>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Sửa role cookie bằng DevTools</a:t>
            </a:r>
          </a:p>
        </p:txBody>
      </p:sp>
      <p:sp>
        <p:nvSpPr>
          <p:cNvPr id="13" name="S29_STEPS_ARROW_1">
            <a:extLst xmlns:a="http://schemas.openxmlformats.org/drawingml/2006/main">
              <a:ext uri="{FF2B5EF4-FFF2-40B4-BE49-F238E27FC236}">
                <a16:creationId xmlns:a16="http://schemas.microsoft.com/office/drawing/2014/main" id="{862ABC47-FAD2-4AC8-8F27-BFA5A05DFE63}"/>
              </a:ext>
            </a:extLst>
          </p:cNvPr>
          <p:cNvSpPr>
            <a:spLocks xmlns:a="http://schemas.openxmlformats.org/drawingml/2006/main" noGrp="1"/>
          </p:cNvSpPr>
          <p:nvPr/>
        </p:nvSpPr>
        <p:spPr>
          <a:xfrm xmlns:a="http://schemas.openxmlformats.org/drawingml/2006/main">
            <a:off x="7441406"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4" name="S29_STEPS_ARROW_2">
            <a:extLst xmlns:a="http://schemas.openxmlformats.org/drawingml/2006/main">
              <a:ext uri="{FF2B5EF4-FFF2-40B4-BE49-F238E27FC236}">
                <a16:creationId xmlns:a16="http://schemas.microsoft.com/office/drawing/2014/main" id="{0F1D1030-2CF8-4CF1-A64B-D0231AB55D51}"/>
              </a:ext>
            </a:extLst>
          </p:cNvPr>
          <p:cNvSpPr>
            <a:spLocks xmlns:a="http://schemas.openxmlformats.org/drawingml/2006/main" noGrp="1"/>
          </p:cNvSpPr>
          <p:nvPr/>
        </p:nvSpPr>
        <p:spPr>
          <a:xfrm xmlns:a="http://schemas.openxmlformats.org/drawingml/2006/main">
            <a:off x="8863013"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5" name="S29_STEPS_ARROW_3">
            <a:extLst xmlns:a="http://schemas.openxmlformats.org/drawingml/2006/main">
              <a:ext uri="{FF2B5EF4-FFF2-40B4-BE49-F238E27FC236}">
                <a16:creationId xmlns:a16="http://schemas.microsoft.com/office/drawing/2014/main" id="{F0417283-26BD-4737-ACFC-B03E5CBAB1C9}"/>
              </a:ext>
            </a:extLst>
          </p:cNvPr>
          <p:cNvSpPr>
            <a:spLocks xmlns:a="http://schemas.openxmlformats.org/drawingml/2006/main" noGrp="1"/>
          </p:cNvSpPr>
          <p:nvPr/>
        </p:nvSpPr>
        <p:spPr>
          <a:xfrm xmlns:a="http://schemas.openxmlformats.org/drawingml/2006/main">
            <a:off x="10284619"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6" name="S29_STEPS_NODE_1">
            <a:extLst xmlns:a="http://schemas.openxmlformats.org/drawingml/2006/main">
              <a:ext uri="{FF2B5EF4-FFF2-40B4-BE49-F238E27FC236}">
                <a16:creationId xmlns:a16="http://schemas.microsoft.com/office/drawing/2014/main" id="{4C7F6D63-4C2C-4A6F-8D37-400EE935C3F1}"/>
              </a:ext>
            </a:extLst>
          </p:cNvPr>
          <p:cNvSpPr>
            <a:spLocks xmlns:a="http://schemas.openxmlformats.org/drawingml/2006/main" noGrp="1"/>
          </p:cNvSpPr>
          <p:nvPr/>
        </p:nvSpPr>
        <p:spPr>
          <a:xfrm xmlns:a="http://schemas.openxmlformats.org/drawingml/2006/main">
            <a:off x="6191250"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LOGIN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student</a:t>
            </a:r>
          </a:p>
        </p:txBody>
      </p:sp>
      <p:sp>
        <p:nvSpPr>
          <p:cNvPr id="17" name="S29_STEPS_NODE_2">
            <a:extLst xmlns:a="http://schemas.openxmlformats.org/drawingml/2006/main">
              <a:ext uri="{FF2B5EF4-FFF2-40B4-BE49-F238E27FC236}">
                <a16:creationId xmlns:a16="http://schemas.microsoft.com/office/drawing/2014/main" id="{98845351-043D-4DEF-A195-88D6C4692825}"/>
              </a:ext>
            </a:extLst>
          </p:cNvPr>
          <p:cNvSpPr>
            <a:spLocks xmlns:a="http://schemas.openxmlformats.org/drawingml/2006/main" noGrp="1"/>
          </p:cNvSpPr>
          <p:nvPr/>
        </p:nvSpPr>
        <p:spPr>
          <a:xfrm xmlns:a="http://schemas.openxmlformats.org/drawingml/2006/main">
            <a:off x="7612856"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lab06_role</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user → admin</a:t>
            </a:r>
          </a:p>
        </p:txBody>
      </p:sp>
      <p:sp>
        <p:nvSpPr>
          <p:cNvPr id="18" name="S29_STEPS_NODE_3">
            <a:extLst xmlns:a="http://schemas.openxmlformats.org/drawingml/2006/main">
              <a:ext uri="{FF2B5EF4-FFF2-40B4-BE49-F238E27FC236}">
                <a16:creationId xmlns:a16="http://schemas.microsoft.com/office/drawing/2014/main" id="{3334B88C-B3D9-4A11-8364-A626565D8796}"/>
              </a:ext>
            </a:extLst>
          </p:cNvPr>
          <p:cNvSpPr>
            <a:spLocks xmlns:a="http://schemas.openxmlformats.org/drawingml/2006/main" noGrp="1"/>
          </p:cNvSpPr>
          <p:nvPr/>
        </p:nvSpPr>
        <p:spPr>
          <a:xfrm xmlns:a="http://schemas.openxmlformats.org/drawingml/2006/main">
            <a:off x="9034463"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RELOAD</a:t>
            </a:r>
          </a:p>
        </p:txBody>
      </p:sp>
      <p:sp>
        <p:nvSpPr>
          <p:cNvPr id="19" name="S29_STEPS_NODE_4">
            <a:extLst xmlns:a="http://schemas.openxmlformats.org/drawingml/2006/main">
              <a:ext uri="{FF2B5EF4-FFF2-40B4-BE49-F238E27FC236}">
                <a16:creationId xmlns:a16="http://schemas.microsoft.com/office/drawing/2014/main" id="{FC39F10B-113C-4767-8CA6-0EE50A7D5040}"/>
              </a:ext>
            </a:extLst>
          </p:cNvPr>
          <p:cNvSpPr>
            <a:spLocks xmlns:a="http://schemas.openxmlformats.org/drawingml/2006/main" noGrp="1"/>
          </p:cNvSpPr>
          <p:nvPr/>
        </p:nvSpPr>
        <p:spPr>
          <a:xfrm xmlns:a="http://schemas.openxmlformats.org/drawingml/2006/main">
            <a:off x="10456069" y="1752600"/>
            <a:ext cx="1202531"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ADMIN</a:t>
            </a:r>
          </a:p>
        </p:txBody>
      </p:sp>
      <p:sp>
        <p:nvSpPr>
          <p:cNvPr id="20" name="S29_FLAGS_H0">
            <a:extLst xmlns:a="http://schemas.openxmlformats.org/drawingml/2006/main">
              <a:ext uri="{FF2B5EF4-FFF2-40B4-BE49-F238E27FC236}">
                <a16:creationId xmlns:a16="http://schemas.microsoft.com/office/drawing/2014/main" id="{36E9D737-266A-4E05-BAA0-2C04AA908862}"/>
              </a:ext>
            </a:extLst>
          </p:cNvPr>
          <p:cNvSpPr>
            <a:spLocks xmlns:a="http://schemas.openxmlformats.org/drawingml/2006/main" noGrp="1"/>
          </p:cNvSpPr>
          <p:nvPr/>
        </p:nvSpPr>
        <p:spPr>
          <a:xfrm xmlns:a="http://schemas.openxmlformats.org/drawingml/2006/main">
            <a:off x="6191250" y="3067050"/>
            <a:ext cx="1238250"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FLAG</a:t>
            </a:r>
          </a:p>
        </p:txBody>
      </p:sp>
      <p:sp>
        <p:nvSpPr>
          <p:cNvPr id="21" name="S29_FLAGS_H1">
            <a:extLst xmlns:a="http://schemas.openxmlformats.org/drawingml/2006/main">
              <a:ext uri="{FF2B5EF4-FFF2-40B4-BE49-F238E27FC236}">
                <a16:creationId xmlns:a16="http://schemas.microsoft.com/office/drawing/2014/main" id="{DABF1822-6DDB-4BFC-AAF3-FA634F73F9E9}"/>
              </a:ext>
            </a:extLst>
          </p:cNvPr>
          <p:cNvSpPr>
            <a:spLocks xmlns:a="http://schemas.openxmlformats.org/drawingml/2006/main" noGrp="1"/>
          </p:cNvSpPr>
          <p:nvPr/>
        </p:nvSpPr>
        <p:spPr>
          <a:xfrm xmlns:a="http://schemas.openxmlformats.org/drawingml/2006/main">
            <a:off x="7429500" y="3067050"/>
            <a:ext cx="1952625"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BẢO VỆ</a:t>
            </a:r>
          </a:p>
        </p:txBody>
      </p:sp>
      <p:sp>
        <p:nvSpPr>
          <p:cNvPr id="22" name="S29_FLAGS_H2">
            <a:extLst xmlns:a="http://schemas.openxmlformats.org/drawingml/2006/main">
              <a:ext uri="{FF2B5EF4-FFF2-40B4-BE49-F238E27FC236}">
                <a16:creationId xmlns:a16="http://schemas.microsoft.com/office/drawing/2014/main" id="{EFA94AEB-34E3-48D3-AFF2-86C160C83356}"/>
              </a:ext>
            </a:extLst>
          </p:cNvPr>
          <p:cNvSpPr>
            <a:spLocks xmlns:a="http://schemas.openxmlformats.org/drawingml/2006/main" noGrp="1"/>
          </p:cNvSpPr>
          <p:nvPr/>
        </p:nvSpPr>
        <p:spPr>
          <a:xfrm xmlns:a="http://schemas.openxmlformats.org/drawingml/2006/main">
            <a:off x="9382125" y="3067050"/>
            <a:ext cx="2276475" cy="490538"/>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KHÔNG BẢO VỆ</a:t>
            </a:r>
          </a:p>
        </p:txBody>
      </p:sp>
      <p:sp>
        <p:nvSpPr>
          <p:cNvPr id="23" name="S29_FLAGS_R0C0">
            <a:extLst xmlns:a="http://schemas.openxmlformats.org/drawingml/2006/main">
              <a:ext uri="{FF2B5EF4-FFF2-40B4-BE49-F238E27FC236}">
                <a16:creationId xmlns:a16="http://schemas.microsoft.com/office/drawing/2014/main" id="{E0B006A8-DF8F-482B-9FD6-1AF0016BC11F}"/>
              </a:ext>
            </a:extLst>
          </p:cNvPr>
          <p:cNvSpPr>
            <a:spLocks xmlns:a="http://schemas.openxmlformats.org/drawingml/2006/main" noGrp="1"/>
          </p:cNvSpPr>
          <p:nvPr/>
        </p:nvSpPr>
        <p:spPr>
          <a:xfrm xmlns:a="http://schemas.openxmlformats.org/drawingml/2006/main">
            <a:off x="6191250" y="3557588"/>
            <a:ext cx="1238250"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HttpOnly</a:t>
            </a:r>
          </a:p>
        </p:txBody>
      </p:sp>
      <p:sp>
        <p:nvSpPr>
          <p:cNvPr id="24" name="S29_FLAGS_R0C1">
            <a:extLst xmlns:a="http://schemas.openxmlformats.org/drawingml/2006/main">
              <a:ext uri="{FF2B5EF4-FFF2-40B4-BE49-F238E27FC236}">
                <a16:creationId xmlns:a16="http://schemas.microsoft.com/office/drawing/2014/main" id="{219E7CB0-A805-4251-93AE-DEE97378B89E}"/>
              </a:ext>
            </a:extLst>
          </p:cNvPr>
          <p:cNvSpPr>
            <a:spLocks xmlns:a="http://schemas.openxmlformats.org/drawingml/2006/main" noGrp="1"/>
          </p:cNvSpPr>
          <p:nvPr/>
        </p:nvSpPr>
        <p:spPr>
          <a:xfrm xmlns:a="http://schemas.openxmlformats.org/drawingml/2006/main">
            <a:off x="7429500" y="3557588"/>
            <a:ext cx="195262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JS đọc cookie</a:t>
            </a:r>
          </a:p>
        </p:txBody>
      </p:sp>
      <p:sp>
        <p:nvSpPr>
          <p:cNvPr id="25" name="S29_FLAGS_R0C2">
            <a:extLst xmlns:a="http://schemas.openxmlformats.org/drawingml/2006/main">
              <a:ext uri="{FF2B5EF4-FFF2-40B4-BE49-F238E27FC236}">
                <a16:creationId xmlns:a16="http://schemas.microsoft.com/office/drawing/2014/main" id="{FCA300E2-68E6-4CFB-8A22-F8637CC53801}"/>
              </a:ext>
            </a:extLst>
          </p:cNvPr>
          <p:cNvSpPr>
            <a:spLocks xmlns:a="http://schemas.openxmlformats.org/drawingml/2006/main" noGrp="1"/>
          </p:cNvSpPr>
          <p:nvPr/>
        </p:nvSpPr>
        <p:spPr>
          <a:xfrm xmlns:a="http://schemas.openxmlformats.org/drawingml/2006/main">
            <a:off x="9382125" y="3557588"/>
            <a:ext cx="227647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server tin role</a:t>
            </a:r>
          </a:p>
        </p:txBody>
      </p:sp>
      <p:sp>
        <p:nvSpPr>
          <p:cNvPr id="26" name="S29_FLAGS_R1C0">
            <a:extLst xmlns:a="http://schemas.openxmlformats.org/drawingml/2006/main">
              <a:ext uri="{FF2B5EF4-FFF2-40B4-BE49-F238E27FC236}">
                <a16:creationId xmlns:a16="http://schemas.microsoft.com/office/drawing/2014/main" id="{8016E8EF-059E-40DE-952B-0B47375A9501}"/>
              </a:ext>
            </a:extLst>
          </p:cNvPr>
          <p:cNvSpPr>
            <a:spLocks xmlns:a="http://schemas.openxmlformats.org/drawingml/2006/main" noGrp="1"/>
          </p:cNvSpPr>
          <p:nvPr/>
        </p:nvSpPr>
        <p:spPr>
          <a:xfrm xmlns:a="http://schemas.openxmlformats.org/drawingml/2006/main">
            <a:off x="6191250" y="4048125"/>
            <a:ext cx="1238250"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Secure</a:t>
            </a:r>
          </a:p>
        </p:txBody>
      </p:sp>
      <p:sp>
        <p:nvSpPr>
          <p:cNvPr id="27" name="S29_FLAGS_R1C1">
            <a:extLst xmlns:a="http://schemas.openxmlformats.org/drawingml/2006/main">
              <a:ext uri="{FF2B5EF4-FFF2-40B4-BE49-F238E27FC236}">
                <a16:creationId xmlns:a16="http://schemas.microsoft.com/office/drawing/2014/main" id="{CCF224DA-EDA9-48C8-9FB1-1F5E0AE90080}"/>
              </a:ext>
            </a:extLst>
          </p:cNvPr>
          <p:cNvSpPr>
            <a:spLocks xmlns:a="http://schemas.openxmlformats.org/drawingml/2006/main" noGrp="1"/>
          </p:cNvSpPr>
          <p:nvPr/>
        </p:nvSpPr>
        <p:spPr>
          <a:xfrm xmlns:a="http://schemas.openxmlformats.org/drawingml/2006/main">
            <a:off x="7429500" y="4048125"/>
            <a:ext cx="1952625"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HTTP transport</a:t>
            </a:r>
          </a:p>
        </p:txBody>
      </p:sp>
      <p:sp>
        <p:nvSpPr>
          <p:cNvPr id="28" name="S29_FLAGS_R1C2">
            <a:extLst xmlns:a="http://schemas.openxmlformats.org/drawingml/2006/main">
              <a:ext uri="{FF2B5EF4-FFF2-40B4-BE49-F238E27FC236}">
                <a16:creationId xmlns:a16="http://schemas.microsoft.com/office/drawing/2014/main" id="{1884FCC3-B9D0-40FC-8960-0CECECC9499F}"/>
              </a:ext>
            </a:extLst>
          </p:cNvPr>
          <p:cNvSpPr>
            <a:spLocks xmlns:a="http://schemas.openxmlformats.org/drawingml/2006/main" noGrp="1"/>
          </p:cNvSpPr>
          <p:nvPr/>
        </p:nvSpPr>
        <p:spPr>
          <a:xfrm xmlns:a="http://schemas.openxmlformats.org/drawingml/2006/main">
            <a:off x="9382125" y="4048125"/>
            <a:ext cx="2276475" cy="490538"/>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authorization</a:t>
            </a:r>
          </a:p>
        </p:txBody>
      </p:sp>
      <p:sp>
        <p:nvSpPr>
          <p:cNvPr id="29" name="S29_FLAGS_R2C0">
            <a:extLst xmlns:a="http://schemas.openxmlformats.org/drawingml/2006/main">
              <a:ext uri="{FF2B5EF4-FFF2-40B4-BE49-F238E27FC236}">
                <a16:creationId xmlns:a16="http://schemas.microsoft.com/office/drawing/2014/main" id="{447980F6-1831-4FC0-87E6-32371F64DE44}"/>
              </a:ext>
            </a:extLst>
          </p:cNvPr>
          <p:cNvSpPr>
            <a:spLocks xmlns:a="http://schemas.openxmlformats.org/drawingml/2006/main" noGrp="1"/>
          </p:cNvSpPr>
          <p:nvPr/>
        </p:nvSpPr>
        <p:spPr>
          <a:xfrm xmlns:a="http://schemas.openxmlformats.org/drawingml/2006/main">
            <a:off x="6191250" y="4538663"/>
            <a:ext cx="1238250"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SameSite</a:t>
            </a:r>
          </a:p>
        </p:txBody>
      </p:sp>
      <p:sp>
        <p:nvSpPr>
          <p:cNvPr id="30" name="S29_FLAGS_R2C1">
            <a:extLst xmlns:a="http://schemas.openxmlformats.org/drawingml/2006/main">
              <a:ext uri="{FF2B5EF4-FFF2-40B4-BE49-F238E27FC236}">
                <a16:creationId xmlns:a16="http://schemas.microsoft.com/office/drawing/2014/main" id="{D651CC00-523D-4E53-8792-D422A031F182}"/>
              </a:ext>
            </a:extLst>
          </p:cNvPr>
          <p:cNvSpPr>
            <a:spLocks xmlns:a="http://schemas.openxmlformats.org/drawingml/2006/main" noGrp="1"/>
          </p:cNvSpPr>
          <p:nvPr/>
        </p:nvSpPr>
        <p:spPr>
          <a:xfrm xmlns:a="http://schemas.openxmlformats.org/drawingml/2006/main">
            <a:off x="7429500" y="4538663"/>
            <a:ext cx="195262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cross-site send</a:t>
            </a:r>
          </a:p>
        </p:txBody>
      </p:sp>
      <p:sp>
        <p:nvSpPr>
          <p:cNvPr id="31" name="S29_FLAGS_R2C2">
            <a:extLst xmlns:a="http://schemas.openxmlformats.org/drawingml/2006/main">
              <a:ext uri="{FF2B5EF4-FFF2-40B4-BE49-F238E27FC236}">
                <a16:creationId xmlns:a16="http://schemas.microsoft.com/office/drawing/2014/main" id="{6BE2EC04-6FDE-480C-ABA3-094B2DCEBB65}"/>
              </a:ext>
            </a:extLst>
          </p:cNvPr>
          <p:cNvSpPr>
            <a:spLocks xmlns:a="http://schemas.openxmlformats.org/drawingml/2006/main" noGrp="1"/>
          </p:cNvSpPr>
          <p:nvPr/>
        </p:nvSpPr>
        <p:spPr>
          <a:xfrm xmlns:a="http://schemas.openxmlformats.org/drawingml/2006/main">
            <a:off x="9382125" y="4538663"/>
            <a:ext cx="2276475" cy="490538"/>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client edit</a:t>
            </a:r>
          </a:p>
        </p:txBody>
      </p:sp>
      <p:sp>
        <p:nvSpPr>
          <p:cNvPr id="32" name="S29_PRIVACY_BAR">
            <a:extLst xmlns:a="http://schemas.openxmlformats.org/drawingml/2006/main">
              <a:ext uri="{FF2B5EF4-FFF2-40B4-BE49-F238E27FC236}">
                <a16:creationId xmlns:a16="http://schemas.microsoft.com/office/drawing/2014/main" id="{08B183ED-3EC4-439B-914E-2F1744EE77CB}"/>
              </a:ext>
            </a:extLst>
          </p:cNvPr>
          <p:cNvSpPr>
            <a:spLocks xmlns:a="http://schemas.openxmlformats.org/drawingml/2006/main" noGrp="1"/>
          </p:cNvSpPr>
          <p:nvPr/>
        </p:nvSpPr>
        <p:spPr>
          <a:xfrm xmlns:a="http://schemas.openxmlformats.org/drawingml/2006/main">
            <a:off x="533400" y="5257800"/>
            <a:ext cx="76200" cy="0"/>
          </a:xfrm>
          <a:prstGeom xmlns:a="http://schemas.openxmlformats.org/drawingml/2006/main" prst="rect">
            <a:avLst/>
          </a:prstGeom>
          <a:ln xmlns:a="http://schemas.openxmlformats.org/drawingml/2006/main" w="0">
            <a:noFill/>
            <a:prstDash val="solid"/>
          </a:ln>
        </p:spPr>
      </p:sp>
      <p:sp>
        <p:nvSpPr>
          <p:cNvPr id="33" name="S29_PRIVACY_LABEL">
            <a:extLst xmlns:a="http://schemas.openxmlformats.org/drawingml/2006/main">
              <a:ext uri="{FF2B5EF4-FFF2-40B4-BE49-F238E27FC236}">
                <a16:creationId xmlns:a16="http://schemas.microsoft.com/office/drawing/2014/main" id="{6AA49C22-28DE-4259-A0BA-2B490D8C742E}"/>
              </a:ext>
            </a:extLst>
          </p:cNvPr>
          <p:cNvSpPr>
            <a:spLocks xmlns:a="http://schemas.openxmlformats.org/drawingml/2006/main" noGrp="1"/>
          </p:cNvSpPr>
          <p:nvPr/>
        </p:nvSpPr>
        <p:spPr>
          <a:xfrm xmlns:a="http://schemas.openxmlformats.org/drawingml/2006/main">
            <a:off x="704850" y="5257800"/>
            <a:ext cx="1638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ẢNH BẰNG CHỨNG</a:t>
            </a:r>
          </a:p>
        </p:txBody>
      </p:sp>
      <p:sp>
        <p:nvSpPr>
          <p:cNvPr id="34" name="S29_PRIVACY_BODY">
            <a:extLst xmlns:a="http://schemas.openxmlformats.org/drawingml/2006/main">
              <a:ext uri="{FF2B5EF4-FFF2-40B4-BE49-F238E27FC236}">
                <a16:creationId xmlns:a16="http://schemas.microsoft.com/office/drawing/2014/main" id="{85D1E7E3-6C03-4AAD-ADC3-D2EBEE79C576}"/>
              </a:ext>
            </a:extLst>
          </p:cNvPr>
          <p:cNvSpPr>
            <a:spLocks xmlns:a="http://schemas.openxmlformats.org/drawingml/2006/main" noGrp="1"/>
          </p:cNvSpPr>
          <p:nvPr/>
        </p:nvSpPr>
        <p:spPr>
          <a:xfrm xmlns:a="http://schemas.openxmlformats.org/drawingml/2006/main">
            <a:off x="2438400" y="5257800"/>
            <a:ext cx="9201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Che token/session dài; chỉ giữ origin, cookie name, value, path/flags và kết quả quyền cần thiết.</a:t>
            </a:r>
          </a:p>
        </p:txBody>
      </p:sp>
    </p:spTree>
    <p:extLst>
      <p:ext uri="{BB962C8B-B14F-4D97-AF65-F5344CB8AC3E}">
        <p14:creationId xmlns:p14="http://schemas.microsoft.com/office/powerpoint/2010/main" val="588473834"/>
      </p:ext>
    </p:extLst>
  </p:cSld>
</p:sld>
</file>

<file path=ppt/slides/slide3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4" name="S30_EYEBROW">
            <a:extLst xmlns:a="http://schemas.openxmlformats.org/drawingml/2006/main">
              <a:ext uri="{FF2B5EF4-FFF2-40B4-BE49-F238E27FC236}">
                <a16:creationId xmlns:a16="http://schemas.microsoft.com/office/drawing/2014/main" id="{F2219236-308D-47B1-80A1-CD108F9DA303}"/>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0_TITLE">
            <a:extLst xmlns:a="http://schemas.openxmlformats.org/drawingml/2006/main">
              <a:ext uri="{FF2B5EF4-FFF2-40B4-BE49-F238E27FC236}">
                <a16:creationId xmlns:a16="http://schemas.microsoft.com/office/drawing/2014/main" id="{B9BB1441-1C95-40C1-832A-875DB66571D8}"/>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Encoding, signing và encryption giải quyết khác nhau</a:t>
            </a:r>
          </a:p>
        </p:txBody>
      </p:sp>
      <p:sp>
        <p:nvSpPr>
          <p:cNvPr id="3" name="S30_SUBTITLE">
            <a:extLst xmlns:a="http://schemas.openxmlformats.org/drawingml/2006/main">
              <a:ext uri="{FF2B5EF4-FFF2-40B4-BE49-F238E27FC236}">
                <a16:creationId xmlns:a16="http://schemas.microsoft.com/office/drawing/2014/main" id="{0F260D4A-7D9A-405A-A353-DA760AEB209D}"/>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Encryption bảo vệ confidentiality. Integrity chỉ có khi dùng authenticated encryption/AEAD hoặc encryption kèm MAC.</a:t>
            </a:r>
          </a:p>
        </p:txBody>
      </p:sp>
      <p:sp>
        <p:nvSpPr>
          <p:cNvPr id="4" name="S30_TITLE_RULE">
            <a:extLst xmlns:a="http://schemas.openxmlformats.org/drawingml/2006/main">
              <a:ext uri="{FF2B5EF4-FFF2-40B4-BE49-F238E27FC236}">
                <a16:creationId xmlns:a16="http://schemas.microsoft.com/office/drawing/2014/main" id="{EE791E33-7DDA-440D-96B7-83D102059E2A}"/>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0_FOOTER_RULE">
            <a:extLst xmlns:a="http://schemas.openxmlformats.org/drawingml/2006/main">
              <a:ext uri="{FF2B5EF4-FFF2-40B4-BE49-F238E27FC236}">
                <a16:creationId xmlns:a16="http://schemas.microsoft.com/office/drawing/2014/main" id="{F87941F7-3A25-49BB-8D64-8BE85C49F896}"/>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0_SOURCE">
            <a:extLst xmlns:a="http://schemas.openxmlformats.org/drawingml/2006/main">
              <a:ext uri="{FF2B5EF4-FFF2-40B4-BE49-F238E27FC236}">
                <a16:creationId xmlns:a16="http://schemas.microsoft.com/office/drawing/2014/main" id="{36F99265-AFF0-4384-B2F5-BF5853FEE93F}"/>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Lab06/base64_cookie_service.py · signed/encrypted services</a:t>
            </a:r>
          </a:p>
        </p:txBody>
      </p:sp>
      <p:sp>
        <p:nvSpPr>
          <p:cNvPr id="7" name="S30_NUMBER">
            <a:extLst xmlns:a="http://schemas.openxmlformats.org/drawingml/2006/main">
              <a:ext uri="{FF2B5EF4-FFF2-40B4-BE49-F238E27FC236}">
                <a16:creationId xmlns:a16="http://schemas.microsoft.com/office/drawing/2014/main" id="{40D79AA8-8C91-4E94-8C14-2C0AFEAA128B}"/>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30</a:t>
            </a:r>
          </a:p>
        </p:txBody>
      </p:sp>
      <p:sp>
        <p:nvSpPr>
          <p:cNvPr id="8" name="S30_B64_ARROW_1">
            <a:extLst xmlns:a="http://schemas.openxmlformats.org/drawingml/2006/main">
              <a:ext uri="{FF2B5EF4-FFF2-40B4-BE49-F238E27FC236}">
                <a16:creationId xmlns:a16="http://schemas.microsoft.com/office/drawing/2014/main" id="{72EC329C-37A1-43EF-B475-8BA687558C8C}"/>
              </a:ext>
            </a:extLst>
          </p:cNvPr>
          <p:cNvSpPr>
            <a:spLocks xmlns:a="http://schemas.openxmlformats.org/drawingml/2006/main" noGrp="1"/>
          </p:cNvSpPr>
          <p:nvPr/>
        </p:nvSpPr>
        <p:spPr>
          <a:xfrm xmlns:a="http://schemas.openxmlformats.org/drawingml/2006/main">
            <a:off x="22542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9" name="S30_B64_ARROW_2">
            <a:extLst xmlns:a="http://schemas.openxmlformats.org/drawingml/2006/main">
              <a:ext uri="{FF2B5EF4-FFF2-40B4-BE49-F238E27FC236}">
                <a16:creationId xmlns:a16="http://schemas.microsoft.com/office/drawing/2014/main" id="{3921C3F0-64E4-48C9-BD89-35D927E1BB95}"/>
              </a:ext>
            </a:extLst>
          </p:cNvPr>
          <p:cNvSpPr>
            <a:spLocks xmlns:a="http://schemas.openxmlformats.org/drawingml/2006/main" noGrp="1"/>
          </p:cNvSpPr>
          <p:nvPr/>
        </p:nvSpPr>
        <p:spPr>
          <a:xfrm xmlns:a="http://schemas.openxmlformats.org/drawingml/2006/main">
            <a:off x="41465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0" name="S30_B64_ARROW_3">
            <a:extLst xmlns:a="http://schemas.openxmlformats.org/drawingml/2006/main">
              <a:ext uri="{FF2B5EF4-FFF2-40B4-BE49-F238E27FC236}">
                <a16:creationId xmlns:a16="http://schemas.microsoft.com/office/drawing/2014/main" id="{43B94FE5-043F-4A41-897B-FB84750A3643}"/>
              </a:ext>
            </a:extLst>
          </p:cNvPr>
          <p:cNvSpPr>
            <a:spLocks xmlns:a="http://schemas.openxmlformats.org/drawingml/2006/main" noGrp="1"/>
          </p:cNvSpPr>
          <p:nvPr/>
        </p:nvSpPr>
        <p:spPr>
          <a:xfrm xmlns:a="http://schemas.openxmlformats.org/drawingml/2006/main">
            <a:off x="60388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1" name="S30_B64_ARROW_4">
            <a:extLst xmlns:a="http://schemas.openxmlformats.org/drawingml/2006/main">
              <a:ext uri="{FF2B5EF4-FFF2-40B4-BE49-F238E27FC236}">
                <a16:creationId xmlns:a16="http://schemas.microsoft.com/office/drawing/2014/main" id="{7D21AC2C-982B-4DD7-9CE3-ECF3FBDDD01C}"/>
              </a:ext>
            </a:extLst>
          </p:cNvPr>
          <p:cNvSpPr>
            <a:spLocks xmlns:a="http://schemas.openxmlformats.org/drawingml/2006/main" noGrp="1"/>
          </p:cNvSpPr>
          <p:nvPr/>
        </p:nvSpPr>
        <p:spPr>
          <a:xfrm xmlns:a="http://schemas.openxmlformats.org/drawingml/2006/main">
            <a:off x="79311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2" name="S30_B64_ARROW_5">
            <a:extLst xmlns:a="http://schemas.openxmlformats.org/drawingml/2006/main">
              <a:ext uri="{FF2B5EF4-FFF2-40B4-BE49-F238E27FC236}">
                <a16:creationId xmlns:a16="http://schemas.microsoft.com/office/drawing/2014/main" id="{855744D2-E319-4745-85A0-2CA385B59641}"/>
              </a:ext>
            </a:extLst>
          </p:cNvPr>
          <p:cNvSpPr>
            <a:spLocks xmlns:a="http://schemas.openxmlformats.org/drawingml/2006/main" noGrp="1"/>
          </p:cNvSpPr>
          <p:nvPr/>
        </p:nvSpPr>
        <p:spPr>
          <a:xfrm xmlns:a="http://schemas.openxmlformats.org/drawingml/2006/main">
            <a:off x="9823450" y="2114550"/>
            <a:ext cx="171450" cy="171450"/>
          </a:xfrm>
          <a:prstGeom xmlns:a="http://schemas.openxmlformats.org/drawingml/2006/main" prst="rightArrow">
            <a:avLst/>
          </a:prstGeom>
          <a:solidFill xmlns:a="http://schemas.openxmlformats.org/drawingml/2006/main">
            <a:srgbClr val="D96C5F"/>
          </a:solidFill>
          <a:ln xmlns:a="http://schemas.openxmlformats.org/drawingml/2006/main" w="0">
            <a:noFill/>
            <a:prstDash val="solid"/>
          </a:ln>
        </p:spPr>
      </p:sp>
      <p:sp>
        <p:nvSpPr>
          <p:cNvPr id="13" name="S30_B64_NODE_1">
            <a:extLst xmlns:a="http://schemas.openxmlformats.org/drawingml/2006/main">
              <a:ext uri="{FF2B5EF4-FFF2-40B4-BE49-F238E27FC236}">
                <a16:creationId xmlns:a16="http://schemas.microsoft.com/office/drawing/2014/main" id="{251286BD-FF22-43C3-A71A-961D46147D68}"/>
              </a:ext>
            </a:extLst>
          </p:cNvPr>
          <p:cNvSpPr>
            <a:spLocks xmlns:a="http://schemas.openxmlformats.org/drawingml/2006/main" noGrp="1"/>
          </p:cNvSpPr>
          <p:nvPr/>
        </p:nvSpPr>
        <p:spPr>
          <a:xfrm xmlns:a="http://schemas.openxmlformats.org/drawingml/2006/main">
            <a:off x="5334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DECODE</a:t>
            </a:r>
          </a:p>
        </p:txBody>
      </p:sp>
      <p:sp>
        <p:nvSpPr>
          <p:cNvPr id="14" name="S30_B64_NODE_2">
            <a:extLst xmlns:a="http://schemas.openxmlformats.org/drawingml/2006/main">
              <a:ext uri="{FF2B5EF4-FFF2-40B4-BE49-F238E27FC236}">
                <a16:creationId xmlns:a16="http://schemas.microsoft.com/office/drawing/2014/main" id="{E70FDF5D-916E-4FBB-BF15-B8DAAF3FDF46}"/>
              </a:ext>
            </a:extLst>
          </p:cNvPr>
          <p:cNvSpPr>
            <a:spLocks xmlns:a="http://schemas.openxmlformats.org/drawingml/2006/main" noGrp="1"/>
          </p:cNvSpPr>
          <p:nvPr/>
        </p:nvSpPr>
        <p:spPr>
          <a:xfrm xmlns:a="http://schemas.openxmlformats.org/drawingml/2006/main">
            <a:off x="24257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XEM JSON</a:t>
            </a:r>
          </a:p>
        </p:txBody>
      </p:sp>
      <p:sp>
        <p:nvSpPr>
          <p:cNvPr id="15" name="S30_B64_NODE_3">
            <a:extLst xmlns:a="http://schemas.openxmlformats.org/drawingml/2006/main">
              <a:ext uri="{FF2B5EF4-FFF2-40B4-BE49-F238E27FC236}">
                <a16:creationId xmlns:a16="http://schemas.microsoft.com/office/drawing/2014/main" id="{13ED1CE8-84C4-4264-9770-A2013FCB2461}"/>
              </a:ext>
            </a:extLst>
          </p:cNvPr>
          <p:cNvSpPr>
            <a:spLocks xmlns:a="http://schemas.openxmlformats.org/drawingml/2006/main" noGrp="1"/>
          </p:cNvSpPr>
          <p:nvPr/>
        </p:nvSpPr>
        <p:spPr>
          <a:xfrm xmlns:a="http://schemas.openxmlformats.org/drawingml/2006/main">
            <a:off x="43180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SỬA ROLE</a:t>
            </a:r>
          </a:p>
        </p:txBody>
      </p:sp>
      <p:sp>
        <p:nvSpPr>
          <p:cNvPr id="16" name="S30_B64_NODE_4">
            <a:extLst xmlns:a="http://schemas.openxmlformats.org/drawingml/2006/main">
              <a:ext uri="{FF2B5EF4-FFF2-40B4-BE49-F238E27FC236}">
                <a16:creationId xmlns:a16="http://schemas.microsoft.com/office/drawing/2014/main" id="{06574AF7-AF2B-4D63-ABC7-260A0E007F9B}"/>
              </a:ext>
            </a:extLst>
          </p:cNvPr>
          <p:cNvSpPr>
            <a:spLocks xmlns:a="http://schemas.openxmlformats.org/drawingml/2006/main" noGrp="1"/>
          </p:cNvSpPr>
          <p:nvPr/>
        </p:nvSpPr>
        <p:spPr>
          <a:xfrm xmlns:a="http://schemas.openxmlformats.org/drawingml/2006/main">
            <a:off x="62103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ENCODE LẠI</a:t>
            </a:r>
          </a:p>
        </p:txBody>
      </p:sp>
      <p:sp>
        <p:nvSpPr>
          <p:cNvPr id="17" name="S30_B64_NODE_5">
            <a:extLst xmlns:a="http://schemas.openxmlformats.org/drawingml/2006/main">
              <a:ext uri="{FF2B5EF4-FFF2-40B4-BE49-F238E27FC236}">
                <a16:creationId xmlns:a16="http://schemas.microsoft.com/office/drawing/2014/main" id="{5CCFD825-A32A-4949-98C3-8A21B06F0540}"/>
              </a:ext>
            </a:extLst>
          </p:cNvPr>
          <p:cNvSpPr>
            <a:spLocks xmlns:a="http://schemas.openxmlformats.org/drawingml/2006/main" noGrp="1"/>
          </p:cNvSpPr>
          <p:nvPr/>
        </p:nvSpPr>
        <p:spPr>
          <a:xfrm xmlns:a="http://schemas.openxmlformats.org/drawingml/2006/main">
            <a:off x="81026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GỬI LẠI</a:t>
            </a:r>
          </a:p>
        </p:txBody>
      </p:sp>
      <p:sp>
        <p:nvSpPr>
          <p:cNvPr id="18" name="S30_B64_NODE_6">
            <a:extLst xmlns:a="http://schemas.openxmlformats.org/drawingml/2006/main">
              <a:ext uri="{FF2B5EF4-FFF2-40B4-BE49-F238E27FC236}">
                <a16:creationId xmlns:a16="http://schemas.microsoft.com/office/drawing/2014/main" id="{0F1F51A3-3DA2-4D9F-9478-55CF80DB003A}"/>
              </a:ext>
            </a:extLst>
          </p:cNvPr>
          <p:cNvSpPr>
            <a:spLocks xmlns:a="http://schemas.openxmlformats.org/drawingml/2006/main" noGrp="1"/>
          </p:cNvSpPr>
          <p:nvPr/>
        </p:nvSpPr>
        <p:spPr>
          <a:xfrm xmlns:a="http://schemas.openxmlformats.org/drawingml/2006/main">
            <a:off x="9994900" y="1752600"/>
            <a:ext cx="1663700"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VULN</a:t>
            </a:r>
          </a:p>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CHẤP NHẬN</a:t>
            </a:r>
          </a:p>
        </p:txBody>
      </p:sp>
      <p:sp>
        <p:nvSpPr>
          <p:cNvPr id="19" name="S30_COMPARE_H0">
            <a:extLst xmlns:a="http://schemas.openxmlformats.org/drawingml/2006/main">
              <a:ext uri="{FF2B5EF4-FFF2-40B4-BE49-F238E27FC236}">
                <a16:creationId xmlns:a16="http://schemas.microsoft.com/office/drawing/2014/main" id="{E61A3D15-424C-4C86-89D6-DA4E04F3A841}"/>
              </a:ext>
            </a:extLst>
          </p:cNvPr>
          <p:cNvSpPr>
            <a:spLocks xmlns:a="http://schemas.openxmlformats.org/drawingml/2006/main" noGrp="1"/>
          </p:cNvSpPr>
          <p:nvPr/>
        </p:nvSpPr>
        <p:spPr>
          <a:xfrm xmlns:a="http://schemas.openxmlformats.org/drawingml/2006/main">
            <a:off x="533400" y="3143250"/>
            <a:ext cx="1428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CƠ CHẾ</a:t>
            </a:r>
          </a:p>
        </p:txBody>
      </p:sp>
      <p:sp>
        <p:nvSpPr>
          <p:cNvPr id="20" name="S30_COMPARE_H1">
            <a:extLst xmlns:a="http://schemas.openxmlformats.org/drawingml/2006/main">
              <a:ext uri="{FF2B5EF4-FFF2-40B4-BE49-F238E27FC236}">
                <a16:creationId xmlns:a16="http://schemas.microsoft.com/office/drawing/2014/main" id="{DED32DB6-6C80-4FBB-80BF-52A9502978A6}"/>
              </a:ext>
            </a:extLst>
          </p:cNvPr>
          <p:cNvSpPr>
            <a:spLocks xmlns:a="http://schemas.openxmlformats.org/drawingml/2006/main" noGrp="1"/>
          </p:cNvSpPr>
          <p:nvPr/>
        </p:nvSpPr>
        <p:spPr>
          <a:xfrm xmlns:a="http://schemas.openxmlformats.org/drawingml/2006/main">
            <a:off x="1962150" y="3143250"/>
            <a:ext cx="16192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CONFIDENTIALITY</a:t>
            </a:r>
          </a:p>
        </p:txBody>
      </p:sp>
      <p:sp>
        <p:nvSpPr>
          <p:cNvPr id="21" name="S30_COMPARE_H2">
            <a:extLst xmlns:a="http://schemas.openxmlformats.org/drawingml/2006/main">
              <a:ext uri="{FF2B5EF4-FFF2-40B4-BE49-F238E27FC236}">
                <a16:creationId xmlns:a16="http://schemas.microsoft.com/office/drawing/2014/main" id="{720FB7BF-CAB2-464F-85AC-0BFB202E6F65}"/>
              </a:ext>
            </a:extLst>
          </p:cNvPr>
          <p:cNvSpPr>
            <a:spLocks xmlns:a="http://schemas.openxmlformats.org/drawingml/2006/main" noGrp="1"/>
          </p:cNvSpPr>
          <p:nvPr/>
        </p:nvSpPr>
        <p:spPr>
          <a:xfrm xmlns:a="http://schemas.openxmlformats.org/drawingml/2006/main">
            <a:off x="3581400" y="3143250"/>
            <a:ext cx="17145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INTEGRITY</a:t>
            </a:r>
          </a:p>
        </p:txBody>
      </p:sp>
      <p:sp>
        <p:nvSpPr>
          <p:cNvPr id="22" name="S30_COMPARE_H3">
            <a:extLst xmlns:a="http://schemas.openxmlformats.org/drawingml/2006/main">
              <a:ext uri="{FF2B5EF4-FFF2-40B4-BE49-F238E27FC236}">
                <a16:creationId xmlns:a16="http://schemas.microsoft.com/office/drawing/2014/main" id="{F17C2F71-D6AD-43CE-9E31-97BFBB6AF735}"/>
              </a:ext>
            </a:extLst>
          </p:cNvPr>
          <p:cNvSpPr>
            <a:spLocks xmlns:a="http://schemas.openxmlformats.org/drawingml/2006/main" noGrp="1"/>
          </p:cNvSpPr>
          <p:nvPr/>
        </p:nvSpPr>
        <p:spPr>
          <a:xfrm xmlns:a="http://schemas.openxmlformats.org/drawingml/2006/main">
            <a:off x="5295900" y="3143250"/>
            <a:ext cx="18097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CLIENT THẤY/SỬA</a:t>
            </a:r>
          </a:p>
        </p:txBody>
      </p:sp>
      <p:sp>
        <p:nvSpPr>
          <p:cNvPr id="23" name="S30_COMPARE_R0C0">
            <a:extLst xmlns:a="http://schemas.openxmlformats.org/drawingml/2006/main">
              <a:ext uri="{FF2B5EF4-FFF2-40B4-BE49-F238E27FC236}">
                <a16:creationId xmlns:a16="http://schemas.microsoft.com/office/drawing/2014/main" id="{E261B7A4-7745-42F8-A57E-A3DD6616DE29}"/>
              </a:ext>
            </a:extLst>
          </p:cNvPr>
          <p:cNvSpPr>
            <a:spLocks xmlns:a="http://schemas.openxmlformats.org/drawingml/2006/main" noGrp="1"/>
          </p:cNvSpPr>
          <p:nvPr/>
        </p:nvSpPr>
        <p:spPr>
          <a:xfrm xmlns:a="http://schemas.openxmlformats.org/drawingml/2006/main">
            <a:off x="533400" y="3688080"/>
            <a:ext cx="1428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Plain</a:t>
            </a:r>
          </a:p>
        </p:txBody>
      </p:sp>
      <p:sp>
        <p:nvSpPr>
          <p:cNvPr id="24" name="S30_COMPARE_R0C1">
            <a:extLst xmlns:a="http://schemas.openxmlformats.org/drawingml/2006/main">
              <a:ext uri="{FF2B5EF4-FFF2-40B4-BE49-F238E27FC236}">
                <a16:creationId xmlns:a16="http://schemas.microsoft.com/office/drawing/2014/main" id="{601430DF-8621-4376-AC18-30327F368482}"/>
              </a:ext>
            </a:extLst>
          </p:cNvPr>
          <p:cNvSpPr>
            <a:spLocks xmlns:a="http://schemas.openxmlformats.org/drawingml/2006/main" noGrp="1"/>
          </p:cNvSpPr>
          <p:nvPr/>
        </p:nvSpPr>
        <p:spPr>
          <a:xfrm xmlns:a="http://schemas.openxmlformats.org/drawingml/2006/main">
            <a:off x="1962150" y="3688080"/>
            <a:ext cx="1619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5" name="S30_COMPARE_R0C2">
            <a:extLst xmlns:a="http://schemas.openxmlformats.org/drawingml/2006/main">
              <a:ext uri="{FF2B5EF4-FFF2-40B4-BE49-F238E27FC236}">
                <a16:creationId xmlns:a16="http://schemas.microsoft.com/office/drawing/2014/main" id="{DB803AF5-DAFC-44E8-874D-A11859804C9A}"/>
              </a:ext>
            </a:extLst>
          </p:cNvPr>
          <p:cNvSpPr>
            <a:spLocks xmlns:a="http://schemas.openxmlformats.org/drawingml/2006/main" noGrp="1"/>
          </p:cNvSpPr>
          <p:nvPr/>
        </p:nvSpPr>
        <p:spPr>
          <a:xfrm xmlns:a="http://schemas.openxmlformats.org/drawingml/2006/main">
            <a:off x="3581400" y="3688080"/>
            <a:ext cx="1714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6" name="S30_COMPARE_R0C3">
            <a:extLst xmlns:a="http://schemas.openxmlformats.org/drawingml/2006/main">
              <a:ext uri="{FF2B5EF4-FFF2-40B4-BE49-F238E27FC236}">
                <a16:creationId xmlns:a16="http://schemas.microsoft.com/office/drawing/2014/main" id="{F03F67B4-FF0D-472A-B601-21D5B456D3BC}"/>
              </a:ext>
            </a:extLst>
          </p:cNvPr>
          <p:cNvSpPr>
            <a:spLocks xmlns:a="http://schemas.openxmlformats.org/drawingml/2006/main" noGrp="1"/>
          </p:cNvSpPr>
          <p:nvPr/>
        </p:nvSpPr>
        <p:spPr>
          <a:xfrm xmlns:a="http://schemas.openxmlformats.org/drawingml/2006/main">
            <a:off x="5295900" y="3688080"/>
            <a:ext cx="1809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thấy + sửa</a:t>
            </a:r>
          </a:p>
        </p:txBody>
      </p:sp>
      <p:sp>
        <p:nvSpPr>
          <p:cNvPr id="27" name="S30_COMPARE_R1C0">
            <a:extLst xmlns:a="http://schemas.openxmlformats.org/drawingml/2006/main">
              <a:ext uri="{FF2B5EF4-FFF2-40B4-BE49-F238E27FC236}">
                <a16:creationId xmlns:a16="http://schemas.microsoft.com/office/drawing/2014/main" id="{9527DB2C-EFCF-4221-8959-CBEAAB9B9DDF}"/>
              </a:ext>
            </a:extLst>
          </p:cNvPr>
          <p:cNvSpPr>
            <a:spLocks xmlns:a="http://schemas.openxmlformats.org/drawingml/2006/main" noGrp="1"/>
          </p:cNvSpPr>
          <p:nvPr/>
        </p:nvSpPr>
        <p:spPr>
          <a:xfrm xmlns:a="http://schemas.openxmlformats.org/drawingml/2006/main">
            <a:off x="533400" y="4232910"/>
            <a:ext cx="1428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Base64</a:t>
            </a:r>
          </a:p>
        </p:txBody>
      </p:sp>
      <p:sp>
        <p:nvSpPr>
          <p:cNvPr id="28" name="S30_COMPARE_R1C1">
            <a:extLst xmlns:a="http://schemas.openxmlformats.org/drawingml/2006/main">
              <a:ext uri="{FF2B5EF4-FFF2-40B4-BE49-F238E27FC236}">
                <a16:creationId xmlns:a16="http://schemas.microsoft.com/office/drawing/2014/main" id="{B0339819-4078-4132-B48D-85BCB73A22BD}"/>
              </a:ext>
            </a:extLst>
          </p:cNvPr>
          <p:cNvSpPr>
            <a:spLocks xmlns:a="http://schemas.openxmlformats.org/drawingml/2006/main" noGrp="1"/>
          </p:cNvSpPr>
          <p:nvPr/>
        </p:nvSpPr>
        <p:spPr>
          <a:xfrm xmlns:a="http://schemas.openxmlformats.org/drawingml/2006/main">
            <a:off x="1962150" y="4232910"/>
            <a:ext cx="1619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9" name="S30_COMPARE_R1C2">
            <a:extLst xmlns:a="http://schemas.openxmlformats.org/drawingml/2006/main">
              <a:ext uri="{FF2B5EF4-FFF2-40B4-BE49-F238E27FC236}">
                <a16:creationId xmlns:a16="http://schemas.microsoft.com/office/drawing/2014/main" id="{A24A5290-2015-412D-B06A-4F251E3DDE7C}"/>
              </a:ext>
            </a:extLst>
          </p:cNvPr>
          <p:cNvSpPr>
            <a:spLocks xmlns:a="http://schemas.openxmlformats.org/drawingml/2006/main" noGrp="1"/>
          </p:cNvSpPr>
          <p:nvPr/>
        </p:nvSpPr>
        <p:spPr>
          <a:xfrm xmlns:a="http://schemas.openxmlformats.org/drawingml/2006/main">
            <a:off x="3581400" y="4232910"/>
            <a:ext cx="1714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30" name="S30_COMPARE_R1C3">
            <a:extLst xmlns:a="http://schemas.openxmlformats.org/drawingml/2006/main">
              <a:ext uri="{FF2B5EF4-FFF2-40B4-BE49-F238E27FC236}">
                <a16:creationId xmlns:a16="http://schemas.microsoft.com/office/drawing/2014/main" id="{3CE113B0-E596-45FF-9F62-06CD5AA8726A}"/>
              </a:ext>
            </a:extLst>
          </p:cNvPr>
          <p:cNvSpPr>
            <a:spLocks xmlns:a="http://schemas.openxmlformats.org/drawingml/2006/main" noGrp="1"/>
          </p:cNvSpPr>
          <p:nvPr/>
        </p:nvSpPr>
        <p:spPr>
          <a:xfrm xmlns:a="http://schemas.openxmlformats.org/drawingml/2006/main">
            <a:off x="5295900" y="4232910"/>
            <a:ext cx="1809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decode + sửa</a:t>
            </a:r>
          </a:p>
        </p:txBody>
      </p:sp>
      <p:sp>
        <p:nvSpPr>
          <p:cNvPr id="31" name="S30_COMPARE_R2C0">
            <a:extLst xmlns:a="http://schemas.openxmlformats.org/drawingml/2006/main">
              <a:ext uri="{FF2B5EF4-FFF2-40B4-BE49-F238E27FC236}">
                <a16:creationId xmlns:a16="http://schemas.microsoft.com/office/drawing/2014/main" id="{DBAD3FA2-DD7A-4D2C-AF3B-7EF5A6BC64BA}"/>
              </a:ext>
            </a:extLst>
          </p:cNvPr>
          <p:cNvSpPr>
            <a:spLocks xmlns:a="http://schemas.openxmlformats.org/drawingml/2006/main" noGrp="1"/>
          </p:cNvSpPr>
          <p:nvPr/>
        </p:nvSpPr>
        <p:spPr>
          <a:xfrm xmlns:a="http://schemas.openxmlformats.org/drawingml/2006/main">
            <a:off x="533400" y="4777740"/>
            <a:ext cx="1428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Signed</a:t>
            </a:r>
          </a:p>
        </p:txBody>
      </p:sp>
      <p:sp>
        <p:nvSpPr>
          <p:cNvPr id="32" name="S30_COMPARE_R2C1">
            <a:extLst xmlns:a="http://schemas.openxmlformats.org/drawingml/2006/main">
              <a:ext uri="{FF2B5EF4-FFF2-40B4-BE49-F238E27FC236}">
                <a16:creationId xmlns:a16="http://schemas.microsoft.com/office/drawing/2014/main" id="{5130943C-53DF-4A2F-8863-D2FBA50163BC}"/>
              </a:ext>
            </a:extLst>
          </p:cNvPr>
          <p:cNvSpPr>
            <a:spLocks xmlns:a="http://schemas.openxmlformats.org/drawingml/2006/main" noGrp="1"/>
          </p:cNvSpPr>
          <p:nvPr/>
        </p:nvSpPr>
        <p:spPr>
          <a:xfrm xmlns:a="http://schemas.openxmlformats.org/drawingml/2006/main">
            <a:off x="1962150" y="4777740"/>
            <a:ext cx="1619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33" name="S30_COMPARE_R2C2">
            <a:extLst xmlns:a="http://schemas.openxmlformats.org/drawingml/2006/main">
              <a:ext uri="{FF2B5EF4-FFF2-40B4-BE49-F238E27FC236}">
                <a16:creationId xmlns:a16="http://schemas.microsoft.com/office/drawing/2014/main" id="{2109AE9D-8B3A-4B22-9F02-EF67C0ADB77D}"/>
              </a:ext>
            </a:extLst>
          </p:cNvPr>
          <p:cNvSpPr>
            <a:spLocks xmlns:a="http://schemas.openxmlformats.org/drawingml/2006/main" noGrp="1"/>
          </p:cNvSpPr>
          <p:nvPr/>
        </p:nvSpPr>
        <p:spPr>
          <a:xfrm xmlns:a="http://schemas.openxmlformats.org/drawingml/2006/main">
            <a:off x="3581400" y="4777740"/>
            <a:ext cx="17145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34" name="S30_COMPARE_R2C3">
            <a:extLst xmlns:a="http://schemas.openxmlformats.org/drawingml/2006/main">
              <a:ext uri="{FF2B5EF4-FFF2-40B4-BE49-F238E27FC236}">
                <a16:creationId xmlns:a16="http://schemas.microsoft.com/office/drawing/2014/main" id="{75E101A7-2E92-4B96-B033-C3A1EF47B7A7}"/>
              </a:ext>
            </a:extLst>
          </p:cNvPr>
          <p:cNvSpPr>
            <a:spLocks xmlns:a="http://schemas.openxmlformats.org/drawingml/2006/main" noGrp="1"/>
          </p:cNvSpPr>
          <p:nvPr/>
        </p:nvSpPr>
        <p:spPr>
          <a:xfrm xmlns:a="http://schemas.openxmlformats.org/drawingml/2006/main">
            <a:off x="5295900" y="4777740"/>
            <a:ext cx="18097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thấy; sửa bị phát hiện</a:t>
            </a:r>
          </a:p>
        </p:txBody>
      </p:sp>
      <p:sp>
        <p:nvSpPr>
          <p:cNvPr id="35" name="S30_COMPARE_R3C0">
            <a:extLst xmlns:a="http://schemas.openxmlformats.org/drawingml/2006/main">
              <a:ext uri="{FF2B5EF4-FFF2-40B4-BE49-F238E27FC236}">
                <a16:creationId xmlns:a16="http://schemas.microsoft.com/office/drawing/2014/main" id="{1A8F01EA-60F8-403E-805A-C3AA401B66BF}"/>
              </a:ext>
            </a:extLst>
          </p:cNvPr>
          <p:cNvSpPr>
            <a:spLocks xmlns:a="http://schemas.openxmlformats.org/drawingml/2006/main" noGrp="1"/>
          </p:cNvSpPr>
          <p:nvPr/>
        </p:nvSpPr>
        <p:spPr>
          <a:xfrm xmlns:a="http://schemas.openxmlformats.org/drawingml/2006/main">
            <a:off x="533400" y="5322570"/>
            <a:ext cx="1428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Encrypted</a:t>
            </a:r>
          </a:p>
        </p:txBody>
      </p:sp>
      <p:sp>
        <p:nvSpPr>
          <p:cNvPr id="36" name="S30_COMPARE_R3C1">
            <a:extLst xmlns:a="http://schemas.openxmlformats.org/drawingml/2006/main">
              <a:ext uri="{FF2B5EF4-FFF2-40B4-BE49-F238E27FC236}">
                <a16:creationId xmlns:a16="http://schemas.microsoft.com/office/drawing/2014/main" id="{2362BFAB-421E-4D28-AD3B-D493784A2CE2}"/>
              </a:ext>
            </a:extLst>
          </p:cNvPr>
          <p:cNvSpPr>
            <a:spLocks xmlns:a="http://schemas.openxmlformats.org/drawingml/2006/main" noGrp="1"/>
          </p:cNvSpPr>
          <p:nvPr/>
        </p:nvSpPr>
        <p:spPr>
          <a:xfrm xmlns:a="http://schemas.openxmlformats.org/drawingml/2006/main">
            <a:off x="1962150" y="5322570"/>
            <a:ext cx="1619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có</a:t>
            </a:r>
          </a:p>
        </p:txBody>
      </p:sp>
      <p:sp>
        <p:nvSpPr>
          <p:cNvPr id="37" name="S30_COMPARE_R3C2">
            <a:extLst xmlns:a="http://schemas.openxmlformats.org/drawingml/2006/main">
              <a:ext uri="{FF2B5EF4-FFF2-40B4-BE49-F238E27FC236}">
                <a16:creationId xmlns:a16="http://schemas.microsoft.com/office/drawing/2014/main" id="{17616EC3-6B2D-4239-B7CC-196EB70F7A57}"/>
              </a:ext>
            </a:extLst>
          </p:cNvPr>
          <p:cNvSpPr>
            <a:spLocks xmlns:a="http://schemas.openxmlformats.org/drawingml/2006/main" noGrp="1"/>
          </p:cNvSpPr>
          <p:nvPr/>
        </p:nvSpPr>
        <p:spPr>
          <a:xfrm xmlns:a="http://schemas.openxmlformats.org/drawingml/2006/main">
            <a:off x="3581400" y="5322570"/>
            <a:ext cx="17145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chỉ khi AEAD/MAC</a:t>
            </a:r>
          </a:p>
        </p:txBody>
      </p:sp>
      <p:sp>
        <p:nvSpPr>
          <p:cNvPr id="38" name="S30_COMPARE_R3C3">
            <a:extLst xmlns:a="http://schemas.openxmlformats.org/drawingml/2006/main">
              <a:ext uri="{FF2B5EF4-FFF2-40B4-BE49-F238E27FC236}">
                <a16:creationId xmlns:a16="http://schemas.microsoft.com/office/drawing/2014/main" id="{C129CCB7-78EF-4B72-BD06-2065E36054DF}"/>
              </a:ext>
            </a:extLst>
          </p:cNvPr>
          <p:cNvSpPr>
            <a:spLocks xmlns:a="http://schemas.openxmlformats.org/drawingml/2006/main" noGrp="1"/>
          </p:cNvSpPr>
          <p:nvPr/>
        </p:nvSpPr>
        <p:spPr>
          <a:xfrm xmlns:a="http://schemas.openxmlformats.org/drawingml/2006/main">
            <a:off x="5295900" y="5322570"/>
            <a:ext cx="18097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đọc;</a:t>
            </a:r>
          </a:p>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sửa cần key/MAC</a:t>
            </a:r>
          </a:p>
        </p:txBody>
      </p:sp>
      <p:sp>
        <p:nvSpPr>
          <p:cNvPr id="39" name="PH_S30_Lab06_Lab06_base64_cookie_decode_edit_encode_png_FRAME">
            <a:extLst xmlns:a="http://schemas.openxmlformats.org/drawingml/2006/main">
              <a:ext uri="{FF2B5EF4-FFF2-40B4-BE49-F238E27FC236}">
                <a16:creationId xmlns:a16="http://schemas.microsoft.com/office/drawing/2014/main" id="{42251B7D-DD9A-4FA8-BF5E-9F2A6AFCDC33}"/>
              </a:ext>
            </a:extLst>
          </p:cNvPr>
          <p:cNvSpPr>
            <a:spLocks xmlns:a="http://schemas.openxmlformats.org/drawingml/2006/main" noGrp="1"/>
          </p:cNvSpPr>
          <p:nvPr/>
        </p:nvSpPr>
        <p:spPr>
          <a:xfrm xmlns:a="http://schemas.openxmlformats.org/drawingml/2006/main">
            <a:off x="7343775" y="3114675"/>
            <a:ext cx="4343400" cy="278130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40" name="PH_S30_Lab06_Lab06_base64_cookie_decode_edit_encode_png_IMAGE">
            <a:extLst xmlns:a="http://schemas.openxmlformats.org/drawingml/2006/main">
              <a:ext uri="{FF2B5EF4-FFF2-40B4-BE49-F238E27FC236}">
                <a16:creationId xmlns:a16="http://schemas.microsoft.com/office/drawing/2014/main" id="{5B4DDC5C-DC31-4C55-8638-6D282376D384}"/>
              </a:ext>
            </a:extLst>
          </p:cNvPr>
          <p:cNvSpPr>
            <a:spLocks xmlns:a="http://schemas.openxmlformats.org/drawingml/2006/main" noGrp="1"/>
          </p:cNvSpPr>
          <p:nvPr/>
        </p:nvSpPr>
        <p:spPr>
          <a:xfrm xmlns:a="http://schemas.openxmlformats.org/drawingml/2006/main">
            <a:off x="7372350" y="3143250"/>
            <a:ext cx="4286250" cy="272415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41" name="PH_S30_Lab06_Lab06_base64_cookie_decode_edit_encode_png_ICON">
            <a:extLst xmlns:a="http://schemas.openxmlformats.org/drawingml/2006/main">
              <a:ext uri="{FF2B5EF4-FFF2-40B4-BE49-F238E27FC236}">
                <a16:creationId xmlns:a16="http://schemas.microsoft.com/office/drawing/2014/main" id="{9B38082B-6CB2-4DE0-972F-28801C5046B0}"/>
              </a:ext>
            </a:extLst>
          </p:cNvPr>
          <p:cNvSpPr>
            <a:spLocks xmlns:a="http://schemas.openxmlformats.org/drawingml/2006/main" noGrp="1"/>
          </p:cNvSpPr>
          <p:nvPr/>
        </p:nvSpPr>
        <p:spPr>
          <a:xfrm xmlns:a="http://schemas.openxmlformats.org/drawingml/2006/main">
            <a:off x="7524750" y="32861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42" name="PH_S30_Lab06_Lab06_base64_cookie_decode_edit_encode_png_INSTRUCTION">
            <a:extLst xmlns:a="http://schemas.openxmlformats.org/drawingml/2006/main">
              <a:ext uri="{FF2B5EF4-FFF2-40B4-BE49-F238E27FC236}">
                <a16:creationId xmlns:a16="http://schemas.microsoft.com/office/drawing/2014/main" id="{5AA53038-4C16-40CF-8917-6B3490AABEA2}"/>
              </a:ext>
            </a:extLst>
          </p:cNvPr>
          <p:cNvSpPr>
            <a:spLocks xmlns:a="http://schemas.openxmlformats.org/drawingml/2006/main" noGrp="1"/>
          </p:cNvSpPr>
          <p:nvPr/>
        </p:nvSpPr>
        <p:spPr>
          <a:xfrm xmlns:a="http://schemas.openxmlformats.org/drawingml/2006/main">
            <a:off x="8039100" y="3314700"/>
            <a:ext cx="34480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Lab06_base64_cookie_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decode_edit_encode.png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43" name="PH_S30_Lab06_Lab06_base64_cookie_decode_edit_encode_png_CAPTION">
            <a:extLst xmlns:a="http://schemas.openxmlformats.org/drawingml/2006/main">
              <a:ext uri="{FF2B5EF4-FFF2-40B4-BE49-F238E27FC236}">
                <a16:creationId xmlns:a16="http://schemas.microsoft.com/office/drawing/2014/main" id="{E5565681-A43D-4250-A979-332A523B389A}"/>
              </a:ext>
            </a:extLst>
          </p:cNvPr>
          <p:cNvSpPr>
            <a:spLocks xmlns:a="http://schemas.openxmlformats.org/drawingml/2006/main" noGrp="1"/>
          </p:cNvSpPr>
          <p:nvPr/>
        </p:nvSpPr>
        <p:spPr>
          <a:xfrm xmlns:a="http://schemas.openxmlformats.org/drawingml/2006/main">
            <a:off x="7372350" y="545782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Decode → sửa role → encode lại</a:t>
            </a:r>
          </a:p>
        </p:txBody>
      </p:sp>
    </p:spTree>
    <p:extLst>
      <p:ext uri="{BB962C8B-B14F-4D97-AF65-F5344CB8AC3E}">
        <p14:creationId xmlns:p14="http://schemas.microsoft.com/office/powerpoint/2010/main" val="1481657559"/>
      </p:ext>
    </p:extLst>
  </p:cSld>
</p:sld>
</file>

<file path=ppt/slides/slide3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2" name="S31_EYEBROW">
            <a:extLst xmlns:a="http://schemas.openxmlformats.org/drawingml/2006/main">
              <a:ext uri="{FF2B5EF4-FFF2-40B4-BE49-F238E27FC236}">
                <a16:creationId xmlns:a16="http://schemas.microsoft.com/office/drawing/2014/main" id="{671A3E0B-2CBE-46F1-8986-37A3F8328372}"/>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1_TITLE">
            <a:extLst xmlns:a="http://schemas.openxmlformats.org/drawingml/2006/main">
              <a:ext uri="{FF2B5EF4-FFF2-40B4-BE49-F238E27FC236}">
                <a16:creationId xmlns:a16="http://schemas.microsoft.com/office/drawing/2014/main" id="{30756517-7B4E-4E30-842B-73EA726F09FB}"/>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Server session giữ quyền ở phía authoritative</a:t>
            </a:r>
          </a:p>
        </p:txBody>
      </p:sp>
      <p:sp>
        <p:nvSpPr>
          <p:cNvPr id="3" name="S31_SUBTITLE">
            <a:extLst xmlns:a="http://schemas.openxmlformats.org/drawingml/2006/main">
              <a:ext uri="{FF2B5EF4-FFF2-40B4-BE49-F238E27FC236}">
                <a16:creationId xmlns:a16="http://schemas.microsoft.com/office/drawing/2014/main" id="{AFB67991-7E4F-4CAE-A2B2-297C1A982F1C}"/>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Signed cookie phát hiện tamper; server session giữ role authoritative và hỗ trợ rotate/revoke.</a:t>
            </a:r>
          </a:p>
        </p:txBody>
      </p:sp>
      <p:sp>
        <p:nvSpPr>
          <p:cNvPr id="4" name="S31_TITLE_RULE">
            <a:extLst xmlns:a="http://schemas.openxmlformats.org/drawingml/2006/main">
              <a:ext uri="{FF2B5EF4-FFF2-40B4-BE49-F238E27FC236}">
                <a16:creationId xmlns:a16="http://schemas.microsoft.com/office/drawing/2014/main" id="{6959049F-1E71-4C22-8408-BD89EFA17CE3}"/>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1_FOOTER_RULE">
            <a:extLst xmlns:a="http://schemas.openxmlformats.org/drawingml/2006/main">
              <a:ext uri="{FF2B5EF4-FFF2-40B4-BE49-F238E27FC236}">
                <a16:creationId xmlns:a16="http://schemas.microsoft.com/office/drawing/2014/main" id="{6096CEA8-5878-4055-86DE-B41C995B0007}"/>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1_SOURCE">
            <a:extLst xmlns:a="http://schemas.openxmlformats.org/drawingml/2006/main">
              <a:ext uri="{FF2B5EF4-FFF2-40B4-BE49-F238E27FC236}">
                <a16:creationId xmlns:a16="http://schemas.microsoft.com/office/drawing/2014/main" id="{1110A772-51CC-4EC0-B34D-A3648620EBF3}"/>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Lab06/server_session_service.py · authorization_service.py</a:t>
            </a:r>
          </a:p>
        </p:txBody>
      </p:sp>
      <p:sp>
        <p:nvSpPr>
          <p:cNvPr id="7" name="S31_NUMBER">
            <a:extLst xmlns:a="http://schemas.openxmlformats.org/drawingml/2006/main">
              <a:ext uri="{FF2B5EF4-FFF2-40B4-BE49-F238E27FC236}">
                <a16:creationId xmlns:a16="http://schemas.microsoft.com/office/drawing/2014/main" id="{C28CEBFC-F743-4A64-B58A-B2CA0CBCC6DE}"/>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31</a:t>
            </a:r>
          </a:p>
        </p:txBody>
      </p:sp>
      <p:sp>
        <p:nvSpPr>
          <p:cNvPr id="8" name="S31_SESSION_ARROW_1">
            <a:extLst xmlns:a="http://schemas.openxmlformats.org/drawingml/2006/main">
              <a:ext uri="{FF2B5EF4-FFF2-40B4-BE49-F238E27FC236}">
                <a16:creationId xmlns:a16="http://schemas.microsoft.com/office/drawing/2014/main" id="{A6281340-EC78-459C-8263-3FEE776EBC8B}"/>
              </a:ext>
            </a:extLst>
          </p:cNvPr>
          <p:cNvSpPr>
            <a:spLocks xmlns:a="http://schemas.openxmlformats.org/drawingml/2006/main" noGrp="1"/>
          </p:cNvSpPr>
          <p:nvPr/>
        </p:nvSpPr>
        <p:spPr>
          <a:xfrm xmlns:a="http://schemas.openxmlformats.org/drawingml/2006/main">
            <a:off x="1579562"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9" name="S31_SESSION_ARROW_2">
            <a:extLst xmlns:a="http://schemas.openxmlformats.org/drawingml/2006/main">
              <a:ext uri="{FF2B5EF4-FFF2-40B4-BE49-F238E27FC236}">
                <a16:creationId xmlns:a16="http://schemas.microsoft.com/office/drawing/2014/main" id="{9C08C954-E806-43AC-A712-21C1471223BD}"/>
              </a:ext>
            </a:extLst>
          </p:cNvPr>
          <p:cNvSpPr>
            <a:spLocks xmlns:a="http://schemas.openxmlformats.org/drawingml/2006/main" noGrp="1"/>
          </p:cNvSpPr>
          <p:nvPr/>
        </p:nvSpPr>
        <p:spPr>
          <a:xfrm xmlns:a="http://schemas.openxmlformats.org/drawingml/2006/main">
            <a:off x="2768600"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0" name="S31_SESSION_ARROW_3">
            <a:extLst xmlns:a="http://schemas.openxmlformats.org/drawingml/2006/main">
              <a:ext uri="{FF2B5EF4-FFF2-40B4-BE49-F238E27FC236}">
                <a16:creationId xmlns:a16="http://schemas.microsoft.com/office/drawing/2014/main" id="{90E32E4C-A4B6-4D94-B651-B385C4C1BC37}"/>
              </a:ext>
            </a:extLst>
          </p:cNvPr>
          <p:cNvSpPr>
            <a:spLocks xmlns:a="http://schemas.openxmlformats.org/drawingml/2006/main" noGrp="1"/>
          </p:cNvSpPr>
          <p:nvPr/>
        </p:nvSpPr>
        <p:spPr>
          <a:xfrm xmlns:a="http://schemas.openxmlformats.org/drawingml/2006/main">
            <a:off x="3957638"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1" name="S31_SESSION_ARROW_4">
            <a:extLst xmlns:a="http://schemas.openxmlformats.org/drawingml/2006/main">
              <a:ext uri="{FF2B5EF4-FFF2-40B4-BE49-F238E27FC236}">
                <a16:creationId xmlns:a16="http://schemas.microsoft.com/office/drawing/2014/main" id="{38639B37-5250-4D51-9B56-E71CA8A250DF}"/>
              </a:ext>
            </a:extLst>
          </p:cNvPr>
          <p:cNvSpPr>
            <a:spLocks xmlns:a="http://schemas.openxmlformats.org/drawingml/2006/main" noGrp="1"/>
          </p:cNvSpPr>
          <p:nvPr/>
        </p:nvSpPr>
        <p:spPr>
          <a:xfrm xmlns:a="http://schemas.openxmlformats.org/drawingml/2006/main">
            <a:off x="5146675"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2" name="S31_SESSION_ARROW_5">
            <a:extLst xmlns:a="http://schemas.openxmlformats.org/drawingml/2006/main">
              <a:ext uri="{FF2B5EF4-FFF2-40B4-BE49-F238E27FC236}">
                <a16:creationId xmlns:a16="http://schemas.microsoft.com/office/drawing/2014/main" id="{09EDB411-3D78-48E2-95FF-571C1C89D60B}"/>
              </a:ext>
            </a:extLst>
          </p:cNvPr>
          <p:cNvSpPr>
            <a:spLocks xmlns:a="http://schemas.openxmlformats.org/drawingml/2006/main" noGrp="1"/>
          </p:cNvSpPr>
          <p:nvPr/>
        </p:nvSpPr>
        <p:spPr>
          <a:xfrm xmlns:a="http://schemas.openxmlformats.org/drawingml/2006/main">
            <a:off x="6335713" y="2114550"/>
            <a:ext cx="142875" cy="171450"/>
          </a:xfrm>
          <a:prstGeom xmlns:a="http://schemas.openxmlformats.org/drawingml/2006/main" prst="rightArrow">
            <a:avLst/>
          </a:prstGeom>
          <a:solidFill xmlns:a="http://schemas.openxmlformats.org/drawingml/2006/main">
            <a:srgbClr val="71B48D"/>
          </a:solidFill>
          <a:ln xmlns:a="http://schemas.openxmlformats.org/drawingml/2006/main" w="0">
            <a:noFill/>
            <a:prstDash val="solid"/>
          </a:ln>
        </p:spPr>
      </p:sp>
      <p:sp>
        <p:nvSpPr>
          <p:cNvPr id="13" name="S31_SESSION_NODE_1">
            <a:extLst xmlns:a="http://schemas.openxmlformats.org/drawingml/2006/main">
              <a:ext uri="{FF2B5EF4-FFF2-40B4-BE49-F238E27FC236}">
                <a16:creationId xmlns:a16="http://schemas.microsoft.com/office/drawing/2014/main" id="{B9B62532-2505-4FAA-B068-D6351C2AF182}"/>
              </a:ext>
            </a:extLst>
          </p:cNvPr>
          <p:cNvSpPr>
            <a:spLocks xmlns:a="http://schemas.openxmlformats.org/drawingml/2006/main" noGrp="1"/>
          </p:cNvSpPr>
          <p:nvPr/>
        </p:nvSpPr>
        <p:spPr>
          <a:xfrm xmlns:a="http://schemas.openxmlformats.org/drawingml/2006/main">
            <a:off x="53340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opaque ID</a:t>
            </a:r>
          </a:p>
        </p:txBody>
      </p:sp>
      <p:sp>
        <p:nvSpPr>
          <p:cNvPr id="14" name="S31_SESSION_NODE_2">
            <a:extLst xmlns:a="http://schemas.openxmlformats.org/drawingml/2006/main">
              <a:ext uri="{FF2B5EF4-FFF2-40B4-BE49-F238E27FC236}">
                <a16:creationId xmlns:a16="http://schemas.microsoft.com/office/drawing/2014/main" id="{7AE5CCC2-EAAF-4092-B476-9221051156BA}"/>
              </a:ext>
            </a:extLst>
          </p:cNvPr>
          <p:cNvSpPr>
            <a:spLocks xmlns:a="http://schemas.openxmlformats.org/drawingml/2006/main" noGrp="1"/>
          </p:cNvSpPr>
          <p:nvPr/>
        </p:nvSpPr>
        <p:spPr>
          <a:xfrm xmlns:a="http://schemas.openxmlformats.org/drawingml/2006/main">
            <a:off x="1722437"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hash lookup</a:t>
            </a:r>
          </a:p>
        </p:txBody>
      </p:sp>
      <p:sp>
        <p:nvSpPr>
          <p:cNvPr id="15" name="S31_SESSION_NODE_3">
            <a:extLst xmlns:a="http://schemas.openxmlformats.org/drawingml/2006/main">
              <a:ext uri="{FF2B5EF4-FFF2-40B4-BE49-F238E27FC236}">
                <a16:creationId xmlns:a16="http://schemas.microsoft.com/office/drawing/2014/main" id="{5CCF610D-4298-42FE-A8F4-73D1996ED840}"/>
              </a:ext>
            </a:extLst>
          </p:cNvPr>
          <p:cNvSpPr>
            <a:spLocks xmlns:a="http://schemas.openxmlformats.org/drawingml/2006/main" noGrp="1"/>
          </p:cNvSpPr>
          <p:nvPr/>
        </p:nvSpPr>
        <p:spPr>
          <a:xfrm xmlns:a="http://schemas.openxmlformats.org/drawingml/2006/main">
            <a:off x="2911475"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active + expiry</a:t>
            </a:r>
          </a:p>
        </p:txBody>
      </p:sp>
      <p:sp>
        <p:nvSpPr>
          <p:cNvPr id="16" name="S31_SESSION_NODE_4">
            <a:extLst xmlns:a="http://schemas.openxmlformats.org/drawingml/2006/main">
              <a:ext uri="{FF2B5EF4-FFF2-40B4-BE49-F238E27FC236}">
                <a16:creationId xmlns:a16="http://schemas.microsoft.com/office/drawing/2014/main" id="{60DA1F58-C563-4742-ABBE-35E4D2BDE85F}"/>
              </a:ext>
            </a:extLst>
          </p:cNvPr>
          <p:cNvSpPr>
            <a:spLocks xmlns:a="http://schemas.openxmlformats.org/drawingml/2006/main" noGrp="1"/>
          </p:cNvSpPr>
          <p:nvPr/>
        </p:nvSpPr>
        <p:spPr>
          <a:xfrm xmlns:a="http://schemas.openxmlformats.org/drawingml/2006/main">
            <a:off x="4100513"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DB role</a:t>
            </a:r>
          </a:p>
        </p:txBody>
      </p:sp>
      <p:sp>
        <p:nvSpPr>
          <p:cNvPr id="17" name="S31_SESSION_NODE_5">
            <a:extLst xmlns:a="http://schemas.openxmlformats.org/drawingml/2006/main">
              <a:ext uri="{FF2B5EF4-FFF2-40B4-BE49-F238E27FC236}">
                <a16:creationId xmlns:a16="http://schemas.microsoft.com/office/drawing/2014/main" id="{D9D90AA7-7D26-4DD6-9EB3-DADE6C08D2DE}"/>
              </a:ext>
            </a:extLst>
          </p:cNvPr>
          <p:cNvSpPr>
            <a:spLocks xmlns:a="http://schemas.openxmlformats.org/drawingml/2006/main" noGrp="1"/>
          </p:cNvSpPr>
          <p:nvPr/>
        </p:nvSpPr>
        <p:spPr>
          <a:xfrm xmlns:a="http://schemas.openxmlformats.org/drawingml/2006/main">
            <a:off x="5289550"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authorize</a:t>
            </a:r>
          </a:p>
        </p:txBody>
      </p:sp>
      <p:sp>
        <p:nvSpPr>
          <p:cNvPr id="18" name="S31_SESSION_NODE_6">
            <a:extLst xmlns:a="http://schemas.openxmlformats.org/drawingml/2006/main">
              <a:ext uri="{FF2B5EF4-FFF2-40B4-BE49-F238E27FC236}">
                <a16:creationId xmlns:a16="http://schemas.microsoft.com/office/drawing/2014/main" id="{4D5DA230-A7B6-48E6-82E3-6EF1F15F4DEA}"/>
              </a:ext>
            </a:extLst>
          </p:cNvPr>
          <p:cNvSpPr>
            <a:spLocks xmlns:a="http://schemas.openxmlformats.org/drawingml/2006/main" noGrp="1"/>
          </p:cNvSpPr>
          <p:nvPr/>
        </p:nvSpPr>
        <p:spPr>
          <a:xfrm xmlns:a="http://schemas.openxmlformats.org/drawingml/2006/main">
            <a:off x="6478588" y="1752600"/>
            <a:ext cx="1008063" cy="8953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57150" rIns="66675" bIns="57150" anchor="ctr">
            <a:noAutofit/>
          </a:bodyPr>
          <a:lstStyle xmlns:a="http://schemas.openxmlformats.org/drawingml/2006/main"/>
          <a:p xmlns:a="http://schemas.openxmlformats.org/drawingml/2006/main">
            <a:pPr algn="ctr">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allow / deny</a:t>
            </a:r>
          </a:p>
        </p:txBody>
      </p:sp>
      <p:sp>
        <p:nvSpPr>
          <p:cNvPr id="19" name="PH_S31_Lab06_56_signed_cookie_rejected_response_png_FRAME">
            <a:extLst xmlns:a="http://schemas.openxmlformats.org/drawingml/2006/main">
              <a:ext uri="{FF2B5EF4-FFF2-40B4-BE49-F238E27FC236}">
                <a16:creationId xmlns:a16="http://schemas.microsoft.com/office/drawing/2014/main" id="{058A6630-878E-439E-929C-B2B75C9B3532}"/>
              </a:ext>
            </a:extLst>
          </p:cNvPr>
          <p:cNvSpPr>
            <a:spLocks xmlns:a="http://schemas.openxmlformats.org/drawingml/2006/main" noGrp="1"/>
          </p:cNvSpPr>
          <p:nvPr/>
        </p:nvSpPr>
        <p:spPr>
          <a:xfrm xmlns:a="http://schemas.openxmlformats.org/drawingml/2006/main">
            <a:off x="7800975" y="1724025"/>
            <a:ext cx="3886200" cy="2381250"/>
          </a:xfrm>
          <a:prstGeom xmlns:a="http://schemas.openxmlformats.org/drawingml/2006/main" prst="rect">
            <a:avLst/>
          </a:prstGeom>
          <a:noFill xmlns:a="http://schemas.openxmlformats.org/drawingml/2006/main"/>
          <a:ln xmlns:a="http://schemas.openxmlformats.org/drawingml/2006/main" w="19050">
            <a:solidFill>
              <a:srgbClr val="E85D26"/>
            </a:solidFill>
            <a:prstDash val="solid"/>
          </a:ln>
        </p:spPr>
      </p:sp>
      <p:sp>
        <p:nvSpPr>
          <p:cNvPr id="20" name="PH_S31_Lab06_56_signed_cookie_rejected_response_png_IMAGE">
            <a:extLst xmlns:a="http://schemas.openxmlformats.org/drawingml/2006/main">
              <a:ext uri="{FF2B5EF4-FFF2-40B4-BE49-F238E27FC236}">
                <a16:creationId xmlns:a16="http://schemas.microsoft.com/office/drawing/2014/main" id="{5B443141-BEE3-4AB0-BE4D-AB53EA819BB1}"/>
              </a:ext>
            </a:extLst>
          </p:cNvPr>
          <p:cNvSpPr>
            <a:spLocks xmlns:a="http://schemas.openxmlformats.org/drawingml/2006/main" noGrp="1"/>
          </p:cNvSpPr>
          <p:nvPr/>
        </p:nvSpPr>
        <p:spPr>
          <a:xfrm xmlns:a="http://schemas.openxmlformats.org/drawingml/2006/main">
            <a:off x="7829550" y="1752600"/>
            <a:ext cx="3829050" cy="23241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sp>
      <p:sp>
        <p:nvSpPr>
          <p:cNvPr id="21" name="PH_S31_Lab06_56_signed_cookie_rejected_response_png_ICON">
            <a:extLst xmlns:a="http://schemas.openxmlformats.org/drawingml/2006/main">
              <a:ext uri="{FF2B5EF4-FFF2-40B4-BE49-F238E27FC236}">
                <a16:creationId xmlns:a16="http://schemas.microsoft.com/office/drawing/2014/main" id="{B73A05DB-D811-4747-BADB-3EFEA15D9C24}"/>
              </a:ext>
            </a:extLst>
          </p:cNvPr>
          <p:cNvSpPr>
            <a:spLocks xmlns:a="http://schemas.openxmlformats.org/drawingml/2006/main" noGrp="1"/>
          </p:cNvSpPr>
          <p:nvPr/>
        </p:nvSpPr>
        <p:spPr>
          <a:xfrm xmlns:a="http://schemas.openxmlformats.org/drawingml/2006/main">
            <a:off x="7981950" y="18954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250" b="1">
                <a:solidFill>
                  <a:srgbClr val="E85D26"/>
                </a:solidFill>
                <a:latin typeface="Consolas"/>
                <a:ea typeface="Consolas"/>
                <a:cs typeface="Consolas"/>
              </a:defRPr>
            </a:pPr>
            <a:r>
              <a:rPr sz="2250" b="1">
                <a:solidFill>
                  <a:srgbClr val="E85D26"/>
                </a:solidFill>
                <a:latin typeface="Consolas"/>
                <a:ea typeface="Consolas"/>
                <a:cs typeface="Consolas"/>
              </a:rPr>
              <a:t>▣</a:t>
            </a:r>
          </a:p>
        </p:txBody>
      </p:sp>
      <p:sp>
        <p:nvSpPr>
          <p:cNvPr id="22" name="PH_S31_Lab06_56_signed_cookie_rejected_response_png_INSTRUCTION">
            <a:extLst xmlns:a="http://schemas.openxmlformats.org/drawingml/2006/main">
              <a:ext uri="{FF2B5EF4-FFF2-40B4-BE49-F238E27FC236}">
                <a16:creationId xmlns:a16="http://schemas.microsoft.com/office/drawing/2014/main" id="{9231E1EA-B60B-431C-BCBC-5731F8B7BD80}"/>
              </a:ext>
            </a:extLst>
          </p:cNvPr>
          <p:cNvSpPr>
            <a:spLocks xmlns:a="http://schemas.openxmlformats.org/drawingml/2006/main" noGrp="1"/>
          </p:cNvSpPr>
          <p:nvPr/>
        </p:nvSpPr>
        <p:spPr>
          <a:xfrm xmlns:a="http://schemas.openxmlformats.org/drawingml/2006/main">
            <a:off x="8496300" y="1924050"/>
            <a:ext cx="29908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CHÈN ẢNH THẬT</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56_signed_cookie_</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rejected_response.png</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16:9 · CROP → FILL</a:t>
            </a:r>
          </a:p>
          <a:p xmlns:a="http://schemas.openxmlformats.org/drawingml/2006/main">
            <a:pPr algn="l">
              <a:lnSpc>
                <a:spcPct val="100000"/>
              </a:lnSpc>
              <a:buNone/>
              <a:defRPr sz="1425" b="1">
                <a:solidFill>
                  <a:srgbClr val="F0ECE5"/>
                </a:solidFill>
                <a:latin typeface="Consolas"/>
                <a:ea typeface="Consolas"/>
                <a:cs typeface="Consolas"/>
              </a:defRPr>
            </a:pPr>
            <a:r>
              <a:rPr sz="1425" b="1">
                <a:solidFill>
                  <a:srgbClr val="F0ECE5"/>
                </a:solidFill>
                <a:latin typeface="Consolas"/>
                <a:ea typeface="Consolas"/>
                <a:cs typeface="Consolas"/>
              </a:rPr>
              <a:t>XEM GUIDE</a:t>
            </a:r>
          </a:p>
        </p:txBody>
      </p:sp>
      <p:sp>
        <p:nvSpPr>
          <p:cNvPr id="23" name="PH_S31_Lab06_56_signed_cookie_rejected_response_png_CAPTION">
            <a:extLst xmlns:a="http://schemas.openxmlformats.org/drawingml/2006/main">
              <a:ext uri="{FF2B5EF4-FFF2-40B4-BE49-F238E27FC236}">
                <a16:creationId xmlns:a16="http://schemas.microsoft.com/office/drawing/2014/main" id="{75307262-3079-4961-BA87-735C2AD82F41}"/>
              </a:ext>
            </a:extLst>
          </p:cNvPr>
          <p:cNvSpPr>
            <a:spLocks xmlns:a="http://schemas.openxmlformats.org/drawingml/2006/main" noGrp="1"/>
          </p:cNvSpPr>
          <p:nvPr/>
        </p:nvSpPr>
        <p:spPr>
          <a:xfrm xmlns:a="http://schemas.openxmlformats.org/drawingml/2006/main">
            <a:off x="7829550" y="3667125"/>
            <a:ext cx="3829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19050" rIns="76200"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Response secure từ chối signed cookie sửa</a:t>
            </a:r>
          </a:p>
        </p:txBody>
      </p:sp>
      <p:sp>
        <p:nvSpPr>
          <p:cNvPr id="24" name="S31_CONTROL_H0">
            <a:extLst xmlns:a="http://schemas.openxmlformats.org/drawingml/2006/main">
              <a:ext uri="{FF2B5EF4-FFF2-40B4-BE49-F238E27FC236}">
                <a16:creationId xmlns:a16="http://schemas.microsoft.com/office/drawing/2014/main" id="{B1FB9413-A487-403C-A009-FC0269ED5594}"/>
              </a:ext>
            </a:extLst>
          </p:cNvPr>
          <p:cNvSpPr>
            <a:spLocks xmlns:a="http://schemas.openxmlformats.org/drawingml/2006/main" noGrp="1"/>
          </p:cNvSpPr>
          <p:nvPr/>
        </p:nvSpPr>
        <p:spPr>
          <a:xfrm xmlns:a="http://schemas.openxmlformats.org/drawingml/2006/main">
            <a:off x="533400" y="3105150"/>
            <a:ext cx="1524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SỰ KIỆN</a:t>
            </a:r>
          </a:p>
        </p:txBody>
      </p:sp>
      <p:sp>
        <p:nvSpPr>
          <p:cNvPr id="25" name="S31_CONTROL_H1">
            <a:extLst xmlns:a="http://schemas.openxmlformats.org/drawingml/2006/main">
              <a:ext uri="{FF2B5EF4-FFF2-40B4-BE49-F238E27FC236}">
                <a16:creationId xmlns:a16="http://schemas.microsoft.com/office/drawing/2014/main" id="{76DE2511-F20B-4411-841F-C804753B62D5}"/>
              </a:ext>
            </a:extLst>
          </p:cNvPr>
          <p:cNvSpPr>
            <a:spLocks xmlns:a="http://schemas.openxmlformats.org/drawingml/2006/main" noGrp="1"/>
          </p:cNvSpPr>
          <p:nvPr/>
        </p:nvSpPr>
        <p:spPr>
          <a:xfrm xmlns:a="http://schemas.openxmlformats.org/drawingml/2006/main">
            <a:off x="2057400" y="3105150"/>
            <a:ext cx="266700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SERVER ACTION</a:t>
            </a:r>
          </a:p>
        </p:txBody>
      </p:sp>
      <p:sp>
        <p:nvSpPr>
          <p:cNvPr id="26" name="S31_CONTROL_H2">
            <a:extLst xmlns:a="http://schemas.openxmlformats.org/drawingml/2006/main">
              <a:ext uri="{FF2B5EF4-FFF2-40B4-BE49-F238E27FC236}">
                <a16:creationId xmlns:a16="http://schemas.microsoft.com/office/drawing/2014/main" id="{D9FC52E0-BDCA-437B-AC54-E847C92C3F51}"/>
              </a:ext>
            </a:extLst>
          </p:cNvPr>
          <p:cNvSpPr>
            <a:spLocks xmlns:a="http://schemas.openxmlformats.org/drawingml/2006/main" noGrp="1"/>
          </p:cNvSpPr>
          <p:nvPr/>
        </p:nvSpPr>
        <p:spPr>
          <a:xfrm xmlns:a="http://schemas.openxmlformats.org/drawingml/2006/main">
            <a:off x="4724400" y="3105150"/>
            <a:ext cx="2762250" cy="54483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HIỆU QUẢ</a:t>
            </a:r>
          </a:p>
        </p:txBody>
      </p:sp>
      <p:sp>
        <p:nvSpPr>
          <p:cNvPr id="27" name="S31_CONTROL_R0C0">
            <a:extLst xmlns:a="http://schemas.openxmlformats.org/drawingml/2006/main">
              <a:ext uri="{FF2B5EF4-FFF2-40B4-BE49-F238E27FC236}">
                <a16:creationId xmlns:a16="http://schemas.microsoft.com/office/drawing/2014/main" id="{BBBD51CF-B300-4EE2-AEC3-F6DD3564B16D}"/>
              </a:ext>
            </a:extLst>
          </p:cNvPr>
          <p:cNvSpPr>
            <a:spLocks xmlns:a="http://schemas.openxmlformats.org/drawingml/2006/main" noGrp="1"/>
          </p:cNvSpPr>
          <p:nvPr/>
        </p:nvSpPr>
        <p:spPr>
          <a:xfrm xmlns:a="http://schemas.openxmlformats.org/drawingml/2006/main">
            <a:off x="533400" y="364998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Login</a:t>
            </a:r>
          </a:p>
        </p:txBody>
      </p:sp>
      <p:sp>
        <p:nvSpPr>
          <p:cNvPr id="28" name="S31_CONTROL_R0C1">
            <a:extLst xmlns:a="http://schemas.openxmlformats.org/drawingml/2006/main">
              <a:ext uri="{FF2B5EF4-FFF2-40B4-BE49-F238E27FC236}">
                <a16:creationId xmlns:a16="http://schemas.microsoft.com/office/drawing/2014/main" id="{25BE21E8-563B-488E-ABF0-C7AD37ADF425}"/>
              </a:ext>
            </a:extLst>
          </p:cNvPr>
          <p:cNvSpPr>
            <a:spLocks xmlns:a="http://schemas.openxmlformats.org/drawingml/2006/main" noGrp="1"/>
          </p:cNvSpPr>
          <p:nvPr/>
        </p:nvSpPr>
        <p:spPr>
          <a:xfrm xmlns:a="http://schemas.openxmlformats.org/drawingml/2006/main">
            <a:off x="2057400" y="3649980"/>
            <a:ext cx="2667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rotate ID</a:t>
            </a:r>
          </a:p>
        </p:txBody>
      </p:sp>
      <p:sp>
        <p:nvSpPr>
          <p:cNvPr id="29" name="S31_CONTROL_R0C2">
            <a:extLst xmlns:a="http://schemas.openxmlformats.org/drawingml/2006/main">
              <a:ext uri="{FF2B5EF4-FFF2-40B4-BE49-F238E27FC236}">
                <a16:creationId xmlns:a16="http://schemas.microsoft.com/office/drawing/2014/main" id="{750ACB5A-18D6-4332-8784-199D164004EE}"/>
              </a:ext>
            </a:extLst>
          </p:cNvPr>
          <p:cNvSpPr>
            <a:spLocks xmlns:a="http://schemas.openxmlformats.org/drawingml/2006/main" noGrp="1"/>
          </p:cNvSpPr>
          <p:nvPr/>
        </p:nvSpPr>
        <p:spPr>
          <a:xfrm xmlns:a="http://schemas.openxmlformats.org/drawingml/2006/main">
            <a:off x="4724400" y="3649980"/>
            <a:ext cx="2762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chống fixation</a:t>
            </a:r>
          </a:p>
        </p:txBody>
      </p:sp>
      <p:sp>
        <p:nvSpPr>
          <p:cNvPr id="30" name="S31_CONTROL_R1C0">
            <a:extLst xmlns:a="http://schemas.openxmlformats.org/drawingml/2006/main">
              <a:ext uri="{FF2B5EF4-FFF2-40B4-BE49-F238E27FC236}">
                <a16:creationId xmlns:a16="http://schemas.microsoft.com/office/drawing/2014/main" id="{70FFBB6B-BEB2-49AC-B2E5-27A14D5C3EC8}"/>
              </a:ext>
            </a:extLst>
          </p:cNvPr>
          <p:cNvSpPr>
            <a:spLocks xmlns:a="http://schemas.openxmlformats.org/drawingml/2006/main" noGrp="1"/>
          </p:cNvSpPr>
          <p:nvPr/>
        </p:nvSpPr>
        <p:spPr>
          <a:xfrm xmlns:a="http://schemas.openxmlformats.org/drawingml/2006/main">
            <a:off x="533400" y="419481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Request</a:t>
            </a:r>
          </a:p>
        </p:txBody>
      </p:sp>
      <p:sp>
        <p:nvSpPr>
          <p:cNvPr id="31" name="S31_CONTROL_R1C1">
            <a:extLst xmlns:a="http://schemas.openxmlformats.org/drawingml/2006/main">
              <a:ext uri="{FF2B5EF4-FFF2-40B4-BE49-F238E27FC236}">
                <a16:creationId xmlns:a16="http://schemas.microsoft.com/office/drawing/2014/main" id="{79FFE989-719F-4003-834D-825999792684}"/>
              </a:ext>
            </a:extLst>
          </p:cNvPr>
          <p:cNvSpPr>
            <a:spLocks xmlns:a="http://schemas.openxmlformats.org/drawingml/2006/main" noGrp="1"/>
          </p:cNvSpPr>
          <p:nvPr/>
        </p:nvSpPr>
        <p:spPr>
          <a:xfrm xmlns:a="http://schemas.openxmlformats.org/drawingml/2006/main">
            <a:off x="2057400" y="4194810"/>
            <a:ext cx="2667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DB role + authz</a:t>
            </a:r>
          </a:p>
        </p:txBody>
      </p:sp>
      <p:sp>
        <p:nvSpPr>
          <p:cNvPr id="32" name="S31_CONTROL_R1C2">
            <a:extLst xmlns:a="http://schemas.openxmlformats.org/drawingml/2006/main">
              <a:ext uri="{FF2B5EF4-FFF2-40B4-BE49-F238E27FC236}">
                <a16:creationId xmlns:a16="http://schemas.microsoft.com/office/drawing/2014/main" id="{8318809D-CB4A-4851-B7E6-D425B8517D96}"/>
              </a:ext>
            </a:extLst>
          </p:cNvPr>
          <p:cNvSpPr>
            <a:spLocks xmlns:a="http://schemas.openxmlformats.org/drawingml/2006/main" noGrp="1"/>
          </p:cNvSpPr>
          <p:nvPr/>
        </p:nvSpPr>
        <p:spPr>
          <a:xfrm xmlns:a="http://schemas.openxmlformats.org/drawingml/2006/main">
            <a:off x="4724400" y="4194810"/>
            <a:ext cx="2762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tin client role</a:t>
            </a:r>
          </a:p>
        </p:txBody>
      </p:sp>
      <p:sp>
        <p:nvSpPr>
          <p:cNvPr id="33" name="S31_CONTROL_R2C0">
            <a:extLst xmlns:a="http://schemas.openxmlformats.org/drawingml/2006/main">
              <a:ext uri="{FF2B5EF4-FFF2-40B4-BE49-F238E27FC236}">
                <a16:creationId xmlns:a16="http://schemas.microsoft.com/office/drawing/2014/main" id="{928631F0-B1B0-4B87-82B7-93337E615BCB}"/>
              </a:ext>
            </a:extLst>
          </p:cNvPr>
          <p:cNvSpPr>
            <a:spLocks xmlns:a="http://schemas.openxmlformats.org/drawingml/2006/main" noGrp="1"/>
          </p:cNvSpPr>
          <p:nvPr/>
        </p:nvSpPr>
        <p:spPr>
          <a:xfrm xmlns:a="http://schemas.openxmlformats.org/drawingml/2006/main">
            <a:off x="533400" y="4739640"/>
            <a:ext cx="1524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Logout</a:t>
            </a:r>
          </a:p>
        </p:txBody>
      </p:sp>
      <p:sp>
        <p:nvSpPr>
          <p:cNvPr id="34" name="S31_CONTROL_R2C1">
            <a:extLst xmlns:a="http://schemas.openxmlformats.org/drawingml/2006/main">
              <a:ext uri="{FF2B5EF4-FFF2-40B4-BE49-F238E27FC236}">
                <a16:creationId xmlns:a16="http://schemas.microsoft.com/office/drawing/2014/main" id="{1E472BDC-2FCF-42E1-8344-F41898726C34}"/>
              </a:ext>
            </a:extLst>
          </p:cNvPr>
          <p:cNvSpPr>
            <a:spLocks xmlns:a="http://schemas.openxmlformats.org/drawingml/2006/main" noGrp="1"/>
          </p:cNvSpPr>
          <p:nvPr/>
        </p:nvSpPr>
        <p:spPr>
          <a:xfrm xmlns:a="http://schemas.openxmlformats.org/drawingml/2006/main">
            <a:off x="2057400" y="4739640"/>
            <a:ext cx="266700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revoke session</a:t>
            </a:r>
          </a:p>
        </p:txBody>
      </p:sp>
      <p:sp>
        <p:nvSpPr>
          <p:cNvPr id="35" name="S31_CONTROL_R2C2">
            <a:extLst xmlns:a="http://schemas.openxmlformats.org/drawingml/2006/main">
              <a:ext uri="{FF2B5EF4-FFF2-40B4-BE49-F238E27FC236}">
                <a16:creationId xmlns:a16="http://schemas.microsoft.com/office/drawing/2014/main" id="{93E7C09C-9B4A-4EB8-A620-8FA4FDEF1345}"/>
              </a:ext>
            </a:extLst>
          </p:cNvPr>
          <p:cNvSpPr>
            <a:spLocks xmlns:a="http://schemas.openxmlformats.org/drawingml/2006/main" noGrp="1"/>
          </p:cNvSpPr>
          <p:nvPr/>
        </p:nvSpPr>
        <p:spPr>
          <a:xfrm xmlns:a="http://schemas.openxmlformats.org/drawingml/2006/main">
            <a:off x="4724400" y="4739640"/>
            <a:ext cx="2762250" cy="54483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token cũ vô hiệu</a:t>
            </a:r>
          </a:p>
        </p:txBody>
      </p:sp>
      <p:sp>
        <p:nvSpPr>
          <p:cNvPr id="36" name="S31_CONTROL_R3C0">
            <a:extLst xmlns:a="http://schemas.openxmlformats.org/drawingml/2006/main">
              <a:ext uri="{FF2B5EF4-FFF2-40B4-BE49-F238E27FC236}">
                <a16:creationId xmlns:a16="http://schemas.microsoft.com/office/drawing/2014/main" id="{4D8992E3-CB71-4E5E-A86B-D2209B1E5BE7}"/>
              </a:ext>
            </a:extLst>
          </p:cNvPr>
          <p:cNvSpPr>
            <a:spLocks xmlns:a="http://schemas.openxmlformats.org/drawingml/2006/main" noGrp="1"/>
          </p:cNvSpPr>
          <p:nvPr/>
        </p:nvSpPr>
        <p:spPr>
          <a:xfrm xmlns:a="http://schemas.openxmlformats.org/drawingml/2006/main">
            <a:off x="533400" y="5284470"/>
            <a:ext cx="1524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Tamper signed</a:t>
            </a:r>
          </a:p>
        </p:txBody>
      </p:sp>
      <p:sp>
        <p:nvSpPr>
          <p:cNvPr id="37" name="S31_CONTROL_R3C1">
            <a:extLst xmlns:a="http://schemas.openxmlformats.org/drawingml/2006/main">
              <a:ext uri="{FF2B5EF4-FFF2-40B4-BE49-F238E27FC236}">
                <a16:creationId xmlns:a16="http://schemas.microsoft.com/office/drawing/2014/main" id="{D36821E4-5716-4255-A10E-0CB8DAC91E68}"/>
              </a:ext>
            </a:extLst>
          </p:cNvPr>
          <p:cNvSpPr>
            <a:spLocks xmlns:a="http://schemas.openxmlformats.org/drawingml/2006/main" noGrp="1"/>
          </p:cNvSpPr>
          <p:nvPr/>
        </p:nvSpPr>
        <p:spPr>
          <a:xfrm xmlns:a="http://schemas.openxmlformats.org/drawingml/2006/main">
            <a:off x="2057400" y="5284470"/>
            <a:ext cx="266700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BadData → reject</a:t>
            </a:r>
          </a:p>
        </p:txBody>
      </p:sp>
      <p:sp>
        <p:nvSpPr>
          <p:cNvPr id="38" name="S31_CONTROL_R3C2">
            <a:extLst xmlns:a="http://schemas.openxmlformats.org/drawingml/2006/main">
              <a:ext uri="{FF2B5EF4-FFF2-40B4-BE49-F238E27FC236}">
                <a16:creationId xmlns:a16="http://schemas.microsoft.com/office/drawing/2014/main" id="{A9313CE9-83EC-493D-A0A7-9AF62BB18BA8}"/>
              </a:ext>
            </a:extLst>
          </p:cNvPr>
          <p:cNvSpPr>
            <a:spLocks xmlns:a="http://schemas.openxmlformats.org/drawingml/2006/main" noGrp="1"/>
          </p:cNvSpPr>
          <p:nvPr/>
        </p:nvSpPr>
        <p:spPr>
          <a:xfrm xmlns:a="http://schemas.openxmlformats.org/drawingml/2006/main">
            <a:off x="4724400" y="5284470"/>
            <a:ext cx="2762250" cy="54483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integrity fail closed</a:t>
            </a:r>
          </a:p>
        </p:txBody>
      </p:sp>
      <p:sp>
        <p:nvSpPr>
          <p:cNvPr id="39" name="S31_FLAGS_BAR">
            <a:extLst xmlns:a="http://schemas.openxmlformats.org/drawingml/2006/main">
              <a:ext uri="{FF2B5EF4-FFF2-40B4-BE49-F238E27FC236}">
                <a16:creationId xmlns:a16="http://schemas.microsoft.com/office/drawing/2014/main" id="{C597E20D-85D8-4650-8600-D4D70E75D096}"/>
              </a:ext>
            </a:extLst>
          </p:cNvPr>
          <p:cNvSpPr>
            <a:spLocks xmlns:a="http://schemas.openxmlformats.org/drawingml/2006/main" noGrp="1"/>
          </p:cNvSpPr>
          <p:nvPr/>
        </p:nvSpPr>
        <p:spPr>
          <a:xfrm xmlns:a="http://schemas.openxmlformats.org/drawingml/2006/main">
            <a:off x="7829550" y="4476750"/>
            <a:ext cx="76200" cy="0"/>
          </a:xfrm>
          <a:prstGeom xmlns:a="http://schemas.openxmlformats.org/drawingml/2006/main" prst="rect">
            <a:avLst/>
          </a:prstGeom>
          <a:ln xmlns:a="http://schemas.openxmlformats.org/drawingml/2006/main" w="0">
            <a:noFill/>
            <a:prstDash val="solid"/>
          </a:ln>
        </p:spPr>
      </p:sp>
      <p:sp>
        <p:nvSpPr>
          <p:cNvPr id="40" name="S31_FLAGS_LABEL">
            <a:extLst xmlns:a="http://schemas.openxmlformats.org/drawingml/2006/main">
              <a:ext uri="{FF2B5EF4-FFF2-40B4-BE49-F238E27FC236}">
                <a16:creationId xmlns:a16="http://schemas.microsoft.com/office/drawing/2014/main" id="{60C606B1-E411-4146-83F4-EA9FA3CBF783}"/>
              </a:ext>
            </a:extLst>
          </p:cNvPr>
          <p:cNvSpPr>
            <a:spLocks xmlns:a="http://schemas.openxmlformats.org/drawingml/2006/main" noGrp="1"/>
          </p:cNvSpPr>
          <p:nvPr/>
        </p:nvSpPr>
        <p:spPr>
          <a:xfrm xmlns:a="http://schemas.openxmlformats.org/drawingml/2006/main">
            <a:off x="8001000" y="44958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COOKIE FLAGS</a:t>
            </a:r>
          </a:p>
        </p:txBody>
      </p:sp>
      <p:sp>
        <p:nvSpPr>
          <p:cNvPr id="41" name="S31_FLAGS_BODY">
            <a:extLst xmlns:a="http://schemas.openxmlformats.org/drawingml/2006/main">
              <a:ext uri="{FF2B5EF4-FFF2-40B4-BE49-F238E27FC236}">
                <a16:creationId xmlns:a16="http://schemas.microsoft.com/office/drawing/2014/main" id="{C9C77049-5D8E-4063-84B1-628876EE3747}"/>
              </a:ext>
            </a:extLst>
          </p:cNvPr>
          <p:cNvSpPr>
            <a:spLocks xmlns:a="http://schemas.openxmlformats.org/drawingml/2006/main" noGrp="1"/>
          </p:cNvSpPr>
          <p:nvPr/>
        </p:nvSpPr>
        <p:spPr>
          <a:xfrm xmlns:a="http://schemas.openxmlformats.org/drawingml/2006/main">
            <a:off x="8001000" y="4800600"/>
            <a:ext cx="3638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0000"/>
              </a:lnSpc>
              <a:buNone/>
              <a:defRPr sz="1500" b="0">
                <a:solidFill>
                  <a:srgbClr val="F0ECE5"/>
                </a:solidFill>
                <a:latin typeface="Bahnschrift"/>
                <a:ea typeface="Bahnschrift"/>
                <a:cs typeface="Bahnschrift"/>
              </a:defRPr>
            </a:pPr>
            <a:r>
              <a:rPr sz="1500" b="0">
                <a:solidFill>
                  <a:srgbClr val="F0ECE5"/>
                </a:solidFill>
                <a:latin typeface="Bahnschrift"/>
                <a:ea typeface="Bahnschrift"/>
                <a:cs typeface="Bahnschrift"/>
              </a:rPr>
              <a:t>HttpOnly · Secure khi HTTPS · SameSite=Lax · Path=/ — lớp bổ sung cho token, không thay server-side authz.</a:t>
            </a:r>
          </a:p>
        </p:txBody>
      </p:sp>
    </p:spTree>
    <p:extLst>
      <p:ext uri="{BB962C8B-B14F-4D97-AF65-F5344CB8AC3E}">
        <p14:creationId xmlns:p14="http://schemas.microsoft.com/office/powerpoint/2010/main" val="181600227"/>
      </p:ext>
    </p:extLst>
  </p:cSld>
</p:sld>
</file>

<file path=ppt/slides/slide3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47" name="S32_EYEBROW">
            <a:extLst xmlns:a="http://schemas.openxmlformats.org/drawingml/2006/main">
              <a:ext uri="{FF2B5EF4-FFF2-40B4-BE49-F238E27FC236}">
                <a16:creationId xmlns:a16="http://schemas.microsoft.com/office/drawing/2014/main" id="{39143C8E-2A1E-4C52-8233-50D726C89FBD}"/>
              </a:ext>
            </a:extLst>
          </p:cNvPr>
          <p:cNvSpPr>
            <a:spLocks xmlns:a="http://schemas.openxmlformats.org/drawingml/2006/main" noGrp="1"/>
          </p:cNvSpPr>
          <p:nvPr/>
        </p:nvSpPr>
        <p:spPr>
          <a:xfrm xmlns:a="http://schemas.openxmlformats.org/drawingml/2006/main">
            <a:off x="533400" y="2286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LAB06 / COOKIE POISONING</a:t>
            </a:r>
          </a:p>
        </p:txBody>
      </p:sp>
      <p:sp>
        <p:nvSpPr>
          <p:cNvPr id="2" name="S32_TITLE">
            <a:extLst xmlns:a="http://schemas.openxmlformats.org/drawingml/2006/main">
              <a:ext uri="{FF2B5EF4-FFF2-40B4-BE49-F238E27FC236}">
                <a16:creationId xmlns:a16="http://schemas.microsoft.com/office/drawing/2014/main" id="{5C9F5E8B-00FE-4E28-828E-B4FF9CBD589C}"/>
              </a:ext>
            </a:extLst>
          </p:cNvPr>
          <p:cNvSpPr>
            <a:spLocks xmlns:a="http://schemas.openxmlformats.org/drawingml/2006/main" noGrp="1"/>
          </p:cNvSpPr>
          <p:nvPr/>
        </p:nvSpPr>
        <p:spPr>
          <a:xfrm xmlns:a="http://schemas.openxmlformats.org/drawingml/2006/main">
            <a:off x="514350" y="495300"/>
            <a:ext cx="11144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3000" b="1">
                <a:solidFill>
                  <a:srgbClr val="F0ECE5"/>
                </a:solidFill>
                <a:latin typeface="Bahnschrift"/>
                <a:ea typeface="Bahnschrift"/>
                <a:cs typeface="Bahnschrift"/>
              </a:defRPr>
            </a:pPr>
            <a:r>
              <a:rPr sz="3000" b="1">
                <a:solidFill>
                  <a:srgbClr val="F0ECE5"/>
                </a:solidFill>
                <a:latin typeface="Bahnschrift"/>
                <a:ea typeface="Bahnschrift"/>
                <a:cs typeface="Bahnschrift"/>
              </a:rPr>
              <a:t>Chọn state model theo thuộc tính cần bảo vệ</a:t>
            </a:r>
          </a:p>
        </p:txBody>
      </p:sp>
      <p:sp>
        <p:nvSpPr>
          <p:cNvPr id="3" name="S32_SUBTITLE">
            <a:extLst xmlns:a="http://schemas.openxmlformats.org/drawingml/2006/main">
              <a:ext uri="{FF2B5EF4-FFF2-40B4-BE49-F238E27FC236}">
                <a16:creationId xmlns:a16="http://schemas.microsoft.com/office/drawing/2014/main" id="{15AB03B8-034F-435C-9F31-55C5754DCAC5}"/>
              </a:ext>
            </a:extLst>
          </p:cNvPr>
          <p:cNvSpPr>
            <a:spLocks xmlns:a="http://schemas.openxmlformats.org/drawingml/2006/main" noGrp="1"/>
          </p:cNvSpPr>
          <p:nvPr/>
        </p:nvSpPr>
        <p:spPr>
          <a:xfrm xmlns:a="http://schemas.openxmlformats.org/drawingml/2006/main">
            <a:off x="533400" y="10572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Authorization nhạy cảm vẫn phải được quyết định ở server.</a:t>
            </a:r>
          </a:p>
        </p:txBody>
      </p:sp>
      <p:sp>
        <p:nvSpPr>
          <p:cNvPr id="4" name="S32_TITLE_RULE">
            <a:extLst xmlns:a="http://schemas.openxmlformats.org/drawingml/2006/main">
              <a:ext uri="{FF2B5EF4-FFF2-40B4-BE49-F238E27FC236}">
                <a16:creationId xmlns:a16="http://schemas.microsoft.com/office/drawing/2014/main" id="{7E20B1FF-8735-46A0-B533-4567DE9D360F}"/>
              </a:ext>
            </a:extLst>
          </p:cNvPr>
          <p:cNvSpPr>
            <a:spLocks xmlns:a="http://schemas.openxmlformats.org/drawingml/2006/main" noGrp="1"/>
          </p:cNvSpPr>
          <p:nvPr/>
        </p:nvSpPr>
        <p:spPr>
          <a:xfrm xmlns:a="http://schemas.openxmlformats.org/drawingml/2006/main">
            <a:off x="533400" y="14287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5" name="S32_FOOTER_RULE">
            <a:extLst xmlns:a="http://schemas.openxmlformats.org/drawingml/2006/main">
              <a:ext uri="{FF2B5EF4-FFF2-40B4-BE49-F238E27FC236}">
                <a16:creationId xmlns:a16="http://schemas.microsoft.com/office/drawing/2014/main" id="{444A226B-ACEA-4F65-BF0B-434AB54AC9B0}"/>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505048"/>
          </a:solidFill>
          <a:ln xmlns:a="http://schemas.openxmlformats.org/drawingml/2006/main" w="0">
            <a:noFill/>
            <a:prstDash val="solid"/>
          </a:ln>
        </p:spPr>
      </p:sp>
      <p:sp>
        <p:nvSpPr>
          <p:cNvPr id="6" name="S32_SOURCE">
            <a:extLst xmlns:a="http://schemas.openxmlformats.org/drawingml/2006/main">
              <a:ext uri="{FF2B5EF4-FFF2-40B4-BE49-F238E27FC236}">
                <a16:creationId xmlns:a16="http://schemas.microsoft.com/office/drawing/2014/main" id="{CF92C349-D1EB-40AE-8984-B59FEE842853}"/>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888880"/>
                </a:solidFill>
                <a:latin typeface="Consolas"/>
                <a:ea typeface="Consolas"/>
                <a:cs typeface="Consolas"/>
              </a:defRPr>
            </a:pPr>
            <a:r>
              <a:rPr sz="1425" b="0">
                <a:solidFill>
                  <a:srgbClr val="888880"/>
                </a:solidFill>
                <a:latin typeface="Consolas"/>
                <a:ea typeface="Consolas"/>
                <a:cs typeface="Consolas"/>
              </a:rPr>
              <a:t>NGUỒN  BaiTapTopic04.docx · mục Lab06 · report Lab06</a:t>
            </a:r>
          </a:p>
        </p:txBody>
      </p:sp>
      <p:sp>
        <p:nvSpPr>
          <p:cNvPr id="7" name="S32_NUMBER">
            <a:extLst xmlns:a="http://schemas.openxmlformats.org/drawingml/2006/main">
              <a:ext uri="{FF2B5EF4-FFF2-40B4-BE49-F238E27FC236}">
                <a16:creationId xmlns:a16="http://schemas.microsoft.com/office/drawing/2014/main" id="{F2988386-0F83-493C-B03A-4F4FA1FF57AE}"/>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888880"/>
                </a:solidFill>
                <a:latin typeface="Consolas"/>
                <a:ea typeface="Consolas"/>
                <a:cs typeface="Consolas"/>
              </a:defRPr>
            </a:pPr>
            <a:r>
              <a:rPr sz="1425" b="1">
                <a:solidFill>
                  <a:srgbClr val="888880"/>
                </a:solidFill>
                <a:latin typeface="Consolas"/>
                <a:ea typeface="Consolas"/>
                <a:cs typeface="Consolas"/>
              </a:rPr>
              <a:t>32</a:t>
            </a:r>
          </a:p>
        </p:txBody>
      </p:sp>
      <p:sp>
        <p:nvSpPr>
          <p:cNvPr id="8" name="S32_MATRIX_H0">
            <a:extLst xmlns:a="http://schemas.openxmlformats.org/drawingml/2006/main">
              <a:ext uri="{FF2B5EF4-FFF2-40B4-BE49-F238E27FC236}">
                <a16:creationId xmlns:a16="http://schemas.microsoft.com/office/drawing/2014/main" id="{34752F2B-7E7E-46EE-B622-ECA3743019C6}"/>
              </a:ext>
            </a:extLst>
          </p:cNvPr>
          <p:cNvSpPr>
            <a:spLocks xmlns:a="http://schemas.openxmlformats.org/drawingml/2006/main" noGrp="1"/>
          </p:cNvSpPr>
          <p:nvPr/>
        </p:nvSpPr>
        <p:spPr>
          <a:xfrm xmlns:a="http://schemas.openxmlformats.org/drawingml/2006/main">
            <a:off x="533400" y="1695450"/>
            <a:ext cx="142875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MODEL</a:t>
            </a:r>
          </a:p>
        </p:txBody>
      </p:sp>
      <p:sp>
        <p:nvSpPr>
          <p:cNvPr id="9" name="S32_MATRIX_H1">
            <a:extLst xmlns:a="http://schemas.openxmlformats.org/drawingml/2006/main">
              <a:ext uri="{FF2B5EF4-FFF2-40B4-BE49-F238E27FC236}">
                <a16:creationId xmlns:a16="http://schemas.microsoft.com/office/drawing/2014/main" id="{863A702E-3D4D-4AE1-BD70-CA104991F397}"/>
              </a:ext>
            </a:extLst>
          </p:cNvPr>
          <p:cNvSpPr>
            <a:spLocks xmlns:a="http://schemas.openxmlformats.org/drawingml/2006/main" noGrp="1"/>
          </p:cNvSpPr>
          <p:nvPr/>
        </p:nvSpPr>
        <p:spPr>
          <a:xfrm xmlns:a="http://schemas.openxmlformats.org/drawingml/2006/main">
            <a:off x="1962150" y="1695450"/>
            <a:ext cx="523875"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C</a:t>
            </a:r>
          </a:p>
        </p:txBody>
      </p:sp>
      <p:sp>
        <p:nvSpPr>
          <p:cNvPr id="10" name="S32_MATRIX_H2">
            <a:extLst xmlns:a="http://schemas.openxmlformats.org/drawingml/2006/main">
              <a:ext uri="{FF2B5EF4-FFF2-40B4-BE49-F238E27FC236}">
                <a16:creationId xmlns:a16="http://schemas.microsoft.com/office/drawing/2014/main" id="{DC9AFCCF-0808-4F48-B7EC-8F0990A663C6}"/>
              </a:ext>
            </a:extLst>
          </p:cNvPr>
          <p:cNvSpPr>
            <a:spLocks xmlns:a="http://schemas.openxmlformats.org/drawingml/2006/main" noGrp="1"/>
          </p:cNvSpPr>
          <p:nvPr/>
        </p:nvSpPr>
        <p:spPr>
          <a:xfrm xmlns:a="http://schemas.openxmlformats.org/drawingml/2006/main">
            <a:off x="2486025" y="1695450"/>
            <a:ext cx="1666875"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I</a:t>
            </a:r>
          </a:p>
        </p:txBody>
      </p:sp>
      <p:sp>
        <p:nvSpPr>
          <p:cNvPr id="11" name="S32_MATRIX_H3">
            <a:extLst xmlns:a="http://schemas.openxmlformats.org/drawingml/2006/main">
              <a:ext uri="{FF2B5EF4-FFF2-40B4-BE49-F238E27FC236}">
                <a16:creationId xmlns:a16="http://schemas.microsoft.com/office/drawing/2014/main" id="{A14B6067-6F83-4788-93E8-BE22F5CD25EF}"/>
              </a:ext>
            </a:extLst>
          </p:cNvPr>
          <p:cNvSpPr>
            <a:spLocks xmlns:a="http://schemas.openxmlformats.org/drawingml/2006/main" noGrp="1"/>
          </p:cNvSpPr>
          <p:nvPr/>
        </p:nvSpPr>
        <p:spPr>
          <a:xfrm xmlns:a="http://schemas.openxmlformats.org/drawingml/2006/main">
            <a:off x="4152900" y="1695450"/>
            <a:ext cx="104775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REVOKE?</a:t>
            </a:r>
          </a:p>
        </p:txBody>
      </p:sp>
      <p:sp>
        <p:nvSpPr>
          <p:cNvPr id="12" name="S32_MATRIX_H4">
            <a:extLst xmlns:a="http://schemas.openxmlformats.org/drawingml/2006/main">
              <a:ext uri="{FF2B5EF4-FFF2-40B4-BE49-F238E27FC236}">
                <a16:creationId xmlns:a16="http://schemas.microsoft.com/office/drawing/2014/main" id="{04D7FDCD-007D-4C54-BBD3-A181255F818C}"/>
              </a:ext>
            </a:extLst>
          </p:cNvPr>
          <p:cNvSpPr>
            <a:spLocks xmlns:a="http://schemas.openxmlformats.org/drawingml/2006/main" noGrp="1"/>
          </p:cNvSpPr>
          <p:nvPr/>
        </p:nvSpPr>
        <p:spPr>
          <a:xfrm xmlns:a="http://schemas.openxmlformats.org/drawingml/2006/main">
            <a:off x="5200650" y="1695450"/>
            <a:ext cx="1905000" cy="558800"/>
          </a:xfrm>
          <a:prstGeom xmlns:a="http://schemas.openxmlformats.org/drawingml/2006/main" prst="rect">
            <a:avLst/>
          </a:prstGeom>
          <a:solidFill xmlns:a="http://schemas.openxmlformats.org/drawingml/2006/main">
            <a:srgbClr val="E85D26"/>
          </a:solidFill>
          <a:ln xmlns:a="http://schemas.openxmlformats.org/drawingml/2006/main" w="9525">
            <a:solidFill>
              <a:srgbClr val="111111"/>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Bahnschrift"/>
                <a:ea typeface="Bahnschrift"/>
                <a:cs typeface="Bahnschrift"/>
              </a:defRPr>
            </a:pPr>
            <a:r>
              <a:rPr sz="1425" b="1">
                <a:solidFill>
                  <a:srgbClr val="111111"/>
                </a:solidFill>
                <a:latin typeface="Bahnschrift"/>
                <a:ea typeface="Bahnschrift"/>
                <a:cs typeface="Bahnschrift"/>
              </a:rPr>
              <a:t>DÙNG CHO ROLE?</a:t>
            </a:r>
          </a:p>
        </p:txBody>
      </p:sp>
      <p:sp>
        <p:nvSpPr>
          <p:cNvPr id="13" name="S32_MATRIX_R0C0">
            <a:extLst xmlns:a="http://schemas.openxmlformats.org/drawingml/2006/main">
              <a:ext uri="{FF2B5EF4-FFF2-40B4-BE49-F238E27FC236}">
                <a16:creationId xmlns:a16="http://schemas.microsoft.com/office/drawing/2014/main" id="{02A723C7-1374-4DE3-8205-11403324B50E}"/>
              </a:ext>
            </a:extLst>
          </p:cNvPr>
          <p:cNvSpPr>
            <a:spLocks xmlns:a="http://schemas.openxmlformats.org/drawingml/2006/main" noGrp="1"/>
          </p:cNvSpPr>
          <p:nvPr/>
        </p:nvSpPr>
        <p:spPr>
          <a:xfrm xmlns:a="http://schemas.openxmlformats.org/drawingml/2006/main">
            <a:off x="533400" y="22542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Plain</a:t>
            </a:r>
          </a:p>
        </p:txBody>
      </p:sp>
      <p:sp>
        <p:nvSpPr>
          <p:cNvPr id="14" name="S32_MATRIX_R0C1">
            <a:extLst xmlns:a="http://schemas.openxmlformats.org/drawingml/2006/main">
              <a:ext uri="{FF2B5EF4-FFF2-40B4-BE49-F238E27FC236}">
                <a16:creationId xmlns:a16="http://schemas.microsoft.com/office/drawing/2014/main" id="{28BA4B1D-ACDE-4229-9F24-78C9AD56F9C8}"/>
              </a:ext>
            </a:extLst>
          </p:cNvPr>
          <p:cNvSpPr>
            <a:spLocks xmlns:a="http://schemas.openxmlformats.org/drawingml/2006/main" noGrp="1"/>
          </p:cNvSpPr>
          <p:nvPr/>
        </p:nvSpPr>
        <p:spPr>
          <a:xfrm xmlns:a="http://schemas.openxmlformats.org/drawingml/2006/main">
            <a:off x="1962150" y="22542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5" name="S32_MATRIX_R0C2">
            <a:extLst xmlns:a="http://schemas.openxmlformats.org/drawingml/2006/main">
              <a:ext uri="{FF2B5EF4-FFF2-40B4-BE49-F238E27FC236}">
                <a16:creationId xmlns:a16="http://schemas.microsoft.com/office/drawing/2014/main" id="{57D48973-23FC-481B-A640-F725EAAF68DF}"/>
              </a:ext>
            </a:extLst>
          </p:cNvPr>
          <p:cNvSpPr>
            <a:spLocks xmlns:a="http://schemas.openxmlformats.org/drawingml/2006/main" noGrp="1"/>
          </p:cNvSpPr>
          <p:nvPr/>
        </p:nvSpPr>
        <p:spPr>
          <a:xfrm xmlns:a="http://schemas.openxmlformats.org/drawingml/2006/main">
            <a:off x="2486025" y="22542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6" name="S32_MATRIX_R0C3">
            <a:extLst xmlns:a="http://schemas.openxmlformats.org/drawingml/2006/main">
              <a:ext uri="{FF2B5EF4-FFF2-40B4-BE49-F238E27FC236}">
                <a16:creationId xmlns:a16="http://schemas.microsoft.com/office/drawing/2014/main" id="{D2F92579-8C72-4B1D-B6E9-85573E9ADF26}"/>
              </a:ext>
            </a:extLst>
          </p:cNvPr>
          <p:cNvSpPr>
            <a:spLocks xmlns:a="http://schemas.openxmlformats.org/drawingml/2006/main" noGrp="1"/>
          </p:cNvSpPr>
          <p:nvPr/>
        </p:nvSpPr>
        <p:spPr>
          <a:xfrm xmlns:a="http://schemas.openxmlformats.org/drawingml/2006/main">
            <a:off x="4152900" y="22542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17" name="S32_MATRIX_R0C4">
            <a:extLst xmlns:a="http://schemas.openxmlformats.org/drawingml/2006/main">
              <a:ext uri="{FF2B5EF4-FFF2-40B4-BE49-F238E27FC236}">
                <a16:creationId xmlns:a16="http://schemas.microsoft.com/office/drawing/2014/main" id="{7FB6C026-02E2-46CB-BCEA-2235A7413565}"/>
              </a:ext>
            </a:extLst>
          </p:cNvPr>
          <p:cNvSpPr>
            <a:spLocks xmlns:a="http://schemas.openxmlformats.org/drawingml/2006/main" noGrp="1"/>
          </p:cNvSpPr>
          <p:nvPr/>
        </p:nvSpPr>
        <p:spPr>
          <a:xfrm xmlns:a="http://schemas.openxmlformats.org/drawingml/2006/main">
            <a:off x="5200650" y="22542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18" name="S32_MATRIX_R1C0">
            <a:extLst xmlns:a="http://schemas.openxmlformats.org/drawingml/2006/main">
              <a:ext uri="{FF2B5EF4-FFF2-40B4-BE49-F238E27FC236}">
                <a16:creationId xmlns:a16="http://schemas.microsoft.com/office/drawing/2014/main" id="{22C513E0-CCF7-464D-9B4B-A1DCDE235B8E}"/>
              </a:ext>
            </a:extLst>
          </p:cNvPr>
          <p:cNvSpPr>
            <a:spLocks xmlns:a="http://schemas.openxmlformats.org/drawingml/2006/main" noGrp="1"/>
          </p:cNvSpPr>
          <p:nvPr/>
        </p:nvSpPr>
        <p:spPr>
          <a:xfrm xmlns:a="http://schemas.openxmlformats.org/drawingml/2006/main">
            <a:off x="533400" y="2813050"/>
            <a:ext cx="1428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Base64</a:t>
            </a:r>
          </a:p>
        </p:txBody>
      </p:sp>
      <p:sp>
        <p:nvSpPr>
          <p:cNvPr id="19" name="S32_MATRIX_R1C1">
            <a:extLst xmlns:a="http://schemas.openxmlformats.org/drawingml/2006/main">
              <a:ext uri="{FF2B5EF4-FFF2-40B4-BE49-F238E27FC236}">
                <a16:creationId xmlns:a16="http://schemas.microsoft.com/office/drawing/2014/main" id="{499C0848-9A52-4C68-84B7-BC4C583D9D8F}"/>
              </a:ext>
            </a:extLst>
          </p:cNvPr>
          <p:cNvSpPr>
            <a:spLocks xmlns:a="http://schemas.openxmlformats.org/drawingml/2006/main" noGrp="1"/>
          </p:cNvSpPr>
          <p:nvPr/>
        </p:nvSpPr>
        <p:spPr>
          <a:xfrm xmlns:a="http://schemas.openxmlformats.org/drawingml/2006/main">
            <a:off x="1962150" y="2813050"/>
            <a:ext cx="523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0" name="S32_MATRIX_R1C2">
            <a:extLst xmlns:a="http://schemas.openxmlformats.org/drawingml/2006/main">
              <a:ext uri="{FF2B5EF4-FFF2-40B4-BE49-F238E27FC236}">
                <a16:creationId xmlns:a16="http://schemas.microsoft.com/office/drawing/2014/main" id="{00C37549-0AD2-43A9-9B63-BD5440D21898}"/>
              </a:ext>
            </a:extLst>
          </p:cNvPr>
          <p:cNvSpPr>
            <a:spLocks xmlns:a="http://schemas.openxmlformats.org/drawingml/2006/main" noGrp="1"/>
          </p:cNvSpPr>
          <p:nvPr/>
        </p:nvSpPr>
        <p:spPr>
          <a:xfrm xmlns:a="http://schemas.openxmlformats.org/drawingml/2006/main">
            <a:off x="2486025" y="2813050"/>
            <a:ext cx="1666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1" name="S32_MATRIX_R1C3">
            <a:extLst xmlns:a="http://schemas.openxmlformats.org/drawingml/2006/main">
              <a:ext uri="{FF2B5EF4-FFF2-40B4-BE49-F238E27FC236}">
                <a16:creationId xmlns:a16="http://schemas.microsoft.com/office/drawing/2014/main" id="{540D70EF-E26A-4D9C-BC9A-18B084960CD7}"/>
              </a:ext>
            </a:extLst>
          </p:cNvPr>
          <p:cNvSpPr>
            <a:spLocks xmlns:a="http://schemas.openxmlformats.org/drawingml/2006/main" noGrp="1"/>
          </p:cNvSpPr>
          <p:nvPr/>
        </p:nvSpPr>
        <p:spPr>
          <a:xfrm xmlns:a="http://schemas.openxmlformats.org/drawingml/2006/main">
            <a:off x="4152900" y="2813050"/>
            <a:ext cx="1047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2" name="S32_MATRIX_R1C4">
            <a:extLst xmlns:a="http://schemas.openxmlformats.org/drawingml/2006/main">
              <a:ext uri="{FF2B5EF4-FFF2-40B4-BE49-F238E27FC236}">
                <a16:creationId xmlns:a16="http://schemas.microsoft.com/office/drawing/2014/main" id="{2726F56F-5645-4F32-989B-F8A2D978FD57}"/>
              </a:ext>
            </a:extLst>
          </p:cNvPr>
          <p:cNvSpPr>
            <a:spLocks xmlns:a="http://schemas.openxmlformats.org/drawingml/2006/main" noGrp="1"/>
          </p:cNvSpPr>
          <p:nvPr/>
        </p:nvSpPr>
        <p:spPr>
          <a:xfrm xmlns:a="http://schemas.openxmlformats.org/drawingml/2006/main">
            <a:off x="5200650" y="2813050"/>
            <a:ext cx="190500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a:t>
            </a:r>
          </a:p>
        </p:txBody>
      </p:sp>
      <p:sp>
        <p:nvSpPr>
          <p:cNvPr id="23" name="S32_MATRIX_R2C0">
            <a:extLst xmlns:a="http://schemas.openxmlformats.org/drawingml/2006/main">
              <a:ext uri="{FF2B5EF4-FFF2-40B4-BE49-F238E27FC236}">
                <a16:creationId xmlns:a16="http://schemas.microsoft.com/office/drawing/2014/main" id="{C3F2AC4E-595A-4273-9910-B3EA0B675E83}"/>
              </a:ext>
            </a:extLst>
          </p:cNvPr>
          <p:cNvSpPr>
            <a:spLocks xmlns:a="http://schemas.openxmlformats.org/drawingml/2006/main" noGrp="1"/>
          </p:cNvSpPr>
          <p:nvPr/>
        </p:nvSpPr>
        <p:spPr>
          <a:xfrm xmlns:a="http://schemas.openxmlformats.org/drawingml/2006/main">
            <a:off x="533400" y="33718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Signed</a:t>
            </a:r>
          </a:p>
        </p:txBody>
      </p:sp>
      <p:sp>
        <p:nvSpPr>
          <p:cNvPr id="24" name="S32_MATRIX_R2C1">
            <a:extLst xmlns:a="http://schemas.openxmlformats.org/drawingml/2006/main">
              <a:ext uri="{FF2B5EF4-FFF2-40B4-BE49-F238E27FC236}">
                <a16:creationId xmlns:a16="http://schemas.microsoft.com/office/drawing/2014/main" id="{E3F3B604-DCC5-4EE8-8693-D5B2B9CE5A67}"/>
              </a:ext>
            </a:extLst>
          </p:cNvPr>
          <p:cNvSpPr>
            <a:spLocks xmlns:a="http://schemas.openxmlformats.org/drawingml/2006/main" noGrp="1"/>
          </p:cNvSpPr>
          <p:nvPr/>
        </p:nvSpPr>
        <p:spPr>
          <a:xfrm xmlns:a="http://schemas.openxmlformats.org/drawingml/2006/main">
            <a:off x="1962150" y="33718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5" name="S32_MATRIX_R2C2">
            <a:extLst xmlns:a="http://schemas.openxmlformats.org/drawingml/2006/main">
              <a:ext uri="{FF2B5EF4-FFF2-40B4-BE49-F238E27FC236}">
                <a16:creationId xmlns:a16="http://schemas.microsoft.com/office/drawing/2014/main" id="{E40628BE-5F26-4840-B76E-6FCADC3B952E}"/>
              </a:ext>
            </a:extLst>
          </p:cNvPr>
          <p:cNvSpPr>
            <a:spLocks xmlns:a="http://schemas.openxmlformats.org/drawingml/2006/main" noGrp="1"/>
          </p:cNvSpPr>
          <p:nvPr/>
        </p:nvSpPr>
        <p:spPr>
          <a:xfrm xmlns:a="http://schemas.openxmlformats.org/drawingml/2006/main">
            <a:off x="2486025" y="33718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26" name="S32_MATRIX_R2C3">
            <a:extLst xmlns:a="http://schemas.openxmlformats.org/drawingml/2006/main">
              <a:ext uri="{FF2B5EF4-FFF2-40B4-BE49-F238E27FC236}">
                <a16:creationId xmlns:a16="http://schemas.microsoft.com/office/drawing/2014/main" id="{14ABD431-CC95-4BDA-BB4D-EB64797BD7C7}"/>
              </a:ext>
            </a:extLst>
          </p:cNvPr>
          <p:cNvSpPr>
            <a:spLocks xmlns:a="http://schemas.openxmlformats.org/drawingml/2006/main" noGrp="1"/>
          </p:cNvSpPr>
          <p:nvPr/>
        </p:nvSpPr>
        <p:spPr>
          <a:xfrm xmlns:a="http://schemas.openxmlformats.org/drawingml/2006/main">
            <a:off x="4152900" y="33718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a:t>
            </a:r>
          </a:p>
        </p:txBody>
      </p:sp>
      <p:sp>
        <p:nvSpPr>
          <p:cNvPr id="27" name="S32_MATRIX_R2C4">
            <a:extLst xmlns:a="http://schemas.openxmlformats.org/drawingml/2006/main">
              <a:ext uri="{FF2B5EF4-FFF2-40B4-BE49-F238E27FC236}">
                <a16:creationId xmlns:a16="http://schemas.microsoft.com/office/drawing/2014/main" id="{0C44A2FB-6633-4DFA-9598-E8D08E6E98F0}"/>
              </a:ext>
            </a:extLst>
          </p:cNvPr>
          <p:cNvSpPr>
            <a:spLocks xmlns:a="http://schemas.openxmlformats.org/drawingml/2006/main" noGrp="1"/>
          </p:cNvSpPr>
          <p:nvPr/>
        </p:nvSpPr>
        <p:spPr>
          <a:xfrm xmlns:a="http://schemas.openxmlformats.org/drawingml/2006/main">
            <a:off x="5200650" y="33718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vẫn cần server authz</a:t>
            </a:r>
          </a:p>
        </p:txBody>
      </p:sp>
      <p:sp>
        <p:nvSpPr>
          <p:cNvPr id="28" name="S32_MATRIX_R3C0">
            <a:extLst xmlns:a="http://schemas.openxmlformats.org/drawingml/2006/main">
              <a:ext uri="{FF2B5EF4-FFF2-40B4-BE49-F238E27FC236}">
                <a16:creationId xmlns:a16="http://schemas.microsoft.com/office/drawing/2014/main" id="{8B62880A-85D1-406D-BC62-9CE5F4D7511D}"/>
              </a:ext>
            </a:extLst>
          </p:cNvPr>
          <p:cNvSpPr>
            <a:spLocks xmlns:a="http://schemas.openxmlformats.org/drawingml/2006/main" noGrp="1"/>
          </p:cNvSpPr>
          <p:nvPr/>
        </p:nvSpPr>
        <p:spPr>
          <a:xfrm xmlns:a="http://schemas.openxmlformats.org/drawingml/2006/main">
            <a:off x="533400" y="3930650"/>
            <a:ext cx="1428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Encrypted</a:t>
            </a:r>
          </a:p>
        </p:txBody>
      </p:sp>
      <p:sp>
        <p:nvSpPr>
          <p:cNvPr id="29" name="S32_MATRIX_R3C1">
            <a:extLst xmlns:a="http://schemas.openxmlformats.org/drawingml/2006/main">
              <a:ext uri="{FF2B5EF4-FFF2-40B4-BE49-F238E27FC236}">
                <a16:creationId xmlns:a16="http://schemas.microsoft.com/office/drawing/2014/main" id="{91EB8EF0-81E5-45D3-B5C5-65C9A4819E4E}"/>
              </a:ext>
            </a:extLst>
          </p:cNvPr>
          <p:cNvSpPr>
            <a:spLocks xmlns:a="http://schemas.openxmlformats.org/drawingml/2006/main" noGrp="1"/>
          </p:cNvSpPr>
          <p:nvPr/>
        </p:nvSpPr>
        <p:spPr>
          <a:xfrm xmlns:a="http://schemas.openxmlformats.org/drawingml/2006/main">
            <a:off x="1962150" y="3930650"/>
            <a:ext cx="523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0" name="S32_MATRIX_R3C2">
            <a:extLst xmlns:a="http://schemas.openxmlformats.org/drawingml/2006/main">
              <a:ext uri="{FF2B5EF4-FFF2-40B4-BE49-F238E27FC236}">
                <a16:creationId xmlns:a16="http://schemas.microsoft.com/office/drawing/2014/main" id="{7989878D-C04D-4E3E-B958-B35C4DC49617}"/>
              </a:ext>
            </a:extLst>
          </p:cNvPr>
          <p:cNvSpPr>
            <a:spLocks xmlns:a="http://schemas.openxmlformats.org/drawingml/2006/main" noGrp="1"/>
          </p:cNvSpPr>
          <p:nvPr/>
        </p:nvSpPr>
        <p:spPr>
          <a:xfrm xmlns:a="http://schemas.openxmlformats.org/drawingml/2006/main">
            <a:off x="2486025" y="3930650"/>
            <a:ext cx="1666875"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AEAD/MAC mới có</a:t>
            </a:r>
          </a:p>
        </p:txBody>
      </p:sp>
      <p:sp>
        <p:nvSpPr>
          <p:cNvPr id="31" name="S32_MATRIX_R3C3">
            <a:extLst xmlns:a="http://schemas.openxmlformats.org/drawingml/2006/main">
              <a:ext uri="{FF2B5EF4-FFF2-40B4-BE49-F238E27FC236}">
                <a16:creationId xmlns:a16="http://schemas.microsoft.com/office/drawing/2014/main" id="{F46F6A9F-D38C-4603-B80F-108D727E1B63}"/>
              </a:ext>
            </a:extLst>
          </p:cNvPr>
          <p:cNvSpPr>
            <a:spLocks xmlns:a="http://schemas.openxmlformats.org/drawingml/2006/main" noGrp="1"/>
          </p:cNvSpPr>
          <p:nvPr/>
        </p:nvSpPr>
        <p:spPr>
          <a:xfrm xmlns:a="http://schemas.openxmlformats.org/drawingml/2006/main">
            <a:off x="4152900" y="3930650"/>
            <a:ext cx="104775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khó</a:t>
            </a:r>
          </a:p>
        </p:txBody>
      </p:sp>
      <p:sp>
        <p:nvSpPr>
          <p:cNvPr id="32" name="S32_MATRIX_R3C4">
            <a:extLst xmlns:a="http://schemas.openxmlformats.org/drawingml/2006/main">
              <a:ext uri="{FF2B5EF4-FFF2-40B4-BE49-F238E27FC236}">
                <a16:creationId xmlns:a16="http://schemas.microsoft.com/office/drawing/2014/main" id="{7BF6EF31-5E58-46AF-BC04-4E6F93D7E969}"/>
              </a:ext>
            </a:extLst>
          </p:cNvPr>
          <p:cNvSpPr>
            <a:spLocks xmlns:a="http://schemas.openxmlformats.org/drawingml/2006/main" noGrp="1"/>
          </p:cNvSpPr>
          <p:nvPr/>
        </p:nvSpPr>
        <p:spPr>
          <a:xfrm xmlns:a="http://schemas.openxmlformats.org/drawingml/2006/main">
            <a:off x="5200650" y="3930650"/>
            <a:ext cx="1905000" cy="558800"/>
          </a:xfrm>
          <a:prstGeom xmlns:a="http://schemas.openxmlformats.org/drawingml/2006/main" prst="rect">
            <a:avLst/>
          </a:prstGeom>
          <a:solidFill xmlns:a="http://schemas.openxmlformats.org/drawingml/2006/main">
            <a:srgbClr val="242420"/>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không làm nguồn quyền authoritative</a:t>
            </a:r>
          </a:p>
        </p:txBody>
      </p:sp>
      <p:sp>
        <p:nvSpPr>
          <p:cNvPr id="33" name="S32_MATRIX_R4C0">
            <a:extLst xmlns:a="http://schemas.openxmlformats.org/drawingml/2006/main">
              <a:ext uri="{FF2B5EF4-FFF2-40B4-BE49-F238E27FC236}">
                <a16:creationId xmlns:a16="http://schemas.microsoft.com/office/drawing/2014/main" id="{7EED8012-DF32-4E25-BE13-A55F8EA5684F}"/>
              </a:ext>
            </a:extLst>
          </p:cNvPr>
          <p:cNvSpPr>
            <a:spLocks xmlns:a="http://schemas.openxmlformats.org/drawingml/2006/main" noGrp="1"/>
          </p:cNvSpPr>
          <p:nvPr/>
        </p:nvSpPr>
        <p:spPr>
          <a:xfrm xmlns:a="http://schemas.openxmlformats.org/drawingml/2006/main">
            <a:off x="533400" y="4489450"/>
            <a:ext cx="1428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1">
                <a:solidFill>
                  <a:srgbClr val="F0ECE5"/>
                </a:solidFill>
                <a:latin typeface="Bahnschrift"/>
                <a:ea typeface="Bahnschrift"/>
                <a:cs typeface="Bahnschrift"/>
              </a:defRPr>
            </a:pPr>
            <a:r>
              <a:rPr sz="1425" b="1">
                <a:solidFill>
                  <a:srgbClr val="F0ECE5"/>
                </a:solidFill>
                <a:latin typeface="Bahnschrift"/>
                <a:ea typeface="Bahnschrift"/>
                <a:cs typeface="Bahnschrift"/>
              </a:rPr>
              <a:t>Server session</a:t>
            </a:r>
          </a:p>
        </p:txBody>
      </p:sp>
      <p:sp>
        <p:nvSpPr>
          <p:cNvPr id="34" name="S32_MATRIX_R4C1">
            <a:extLst xmlns:a="http://schemas.openxmlformats.org/drawingml/2006/main">
              <a:ext uri="{FF2B5EF4-FFF2-40B4-BE49-F238E27FC236}">
                <a16:creationId xmlns:a16="http://schemas.microsoft.com/office/drawing/2014/main" id="{2BB3955F-8CE9-4219-8EC0-4F2733CECA7F}"/>
              </a:ext>
            </a:extLst>
          </p:cNvPr>
          <p:cNvSpPr>
            <a:spLocks xmlns:a="http://schemas.openxmlformats.org/drawingml/2006/main" noGrp="1"/>
          </p:cNvSpPr>
          <p:nvPr/>
        </p:nvSpPr>
        <p:spPr>
          <a:xfrm xmlns:a="http://schemas.openxmlformats.org/drawingml/2006/main">
            <a:off x="1962150" y="4489450"/>
            <a:ext cx="523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5" name="S32_MATRIX_R4C2">
            <a:extLst xmlns:a="http://schemas.openxmlformats.org/drawingml/2006/main">
              <a:ext uri="{FF2B5EF4-FFF2-40B4-BE49-F238E27FC236}">
                <a16:creationId xmlns:a16="http://schemas.microsoft.com/office/drawing/2014/main" id="{648F25E4-9CAE-4418-9C43-A51667218608}"/>
              </a:ext>
            </a:extLst>
          </p:cNvPr>
          <p:cNvSpPr>
            <a:spLocks xmlns:a="http://schemas.openxmlformats.org/drawingml/2006/main" noGrp="1"/>
          </p:cNvSpPr>
          <p:nvPr/>
        </p:nvSpPr>
        <p:spPr>
          <a:xfrm xmlns:a="http://schemas.openxmlformats.org/drawingml/2006/main">
            <a:off x="2486025" y="4489450"/>
            <a:ext cx="1666875"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6" name="S32_MATRIX_R4C3">
            <a:extLst xmlns:a="http://schemas.openxmlformats.org/drawingml/2006/main">
              <a:ext uri="{FF2B5EF4-FFF2-40B4-BE49-F238E27FC236}">
                <a16:creationId xmlns:a16="http://schemas.microsoft.com/office/drawing/2014/main" id="{F1F33BEF-34B6-4D20-980C-CCC762DC8B8B}"/>
              </a:ext>
            </a:extLst>
          </p:cNvPr>
          <p:cNvSpPr>
            <a:spLocks xmlns:a="http://schemas.openxmlformats.org/drawingml/2006/main" noGrp="1"/>
          </p:cNvSpPr>
          <p:nvPr/>
        </p:nvSpPr>
        <p:spPr>
          <a:xfrm xmlns:a="http://schemas.openxmlformats.org/drawingml/2006/main">
            <a:off x="4152900" y="4489450"/>
            <a:ext cx="104775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a:t>
            </a:r>
          </a:p>
        </p:txBody>
      </p:sp>
      <p:sp>
        <p:nvSpPr>
          <p:cNvPr id="37" name="S32_MATRIX_R4C4">
            <a:extLst xmlns:a="http://schemas.openxmlformats.org/drawingml/2006/main">
              <a:ext uri="{FF2B5EF4-FFF2-40B4-BE49-F238E27FC236}">
                <a16:creationId xmlns:a16="http://schemas.microsoft.com/office/drawing/2014/main" id="{83C4E9DC-70B2-49BC-A996-4E36C89C819C}"/>
              </a:ext>
            </a:extLst>
          </p:cNvPr>
          <p:cNvSpPr>
            <a:spLocks xmlns:a="http://schemas.openxmlformats.org/drawingml/2006/main" noGrp="1"/>
          </p:cNvSpPr>
          <p:nvPr/>
        </p:nvSpPr>
        <p:spPr>
          <a:xfrm xmlns:a="http://schemas.openxmlformats.org/drawingml/2006/main">
            <a:off x="5200650" y="4489450"/>
            <a:ext cx="1905000" cy="55880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l">
              <a:lnSpc>
                <a:spcPct val="100000"/>
              </a:lnSpc>
              <a:buNone/>
              <a:defRPr sz="1425" b="0">
                <a:solidFill>
                  <a:srgbClr val="888880"/>
                </a:solidFill>
                <a:latin typeface="Bahnschrift"/>
                <a:ea typeface="Bahnschrift"/>
                <a:cs typeface="Bahnschrift"/>
              </a:defRPr>
            </a:pPr>
            <a:r>
              <a:rPr sz="1425" b="0">
                <a:solidFill>
                  <a:srgbClr val="888880"/>
                </a:solidFill>
                <a:latin typeface="Bahnschrift"/>
                <a:ea typeface="Bahnschrift"/>
                <a:cs typeface="Bahnschrift"/>
              </a:rPr>
              <a:t>khuyến nghị</a:t>
            </a:r>
          </a:p>
        </p:txBody>
      </p:sp>
      <p:sp>
        <p:nvSpPr>
          <p:cNvPr id="38" name="S32_QA_1">
            <a:extLst xmlns:a="http://schemas.openxmlformats.org/drawingml/2006/main">
              <a:ext uri="{FF2B5EF4-FFF2-40B4-BE49-F238E27FC236}">
                <a16:creationId xmlns:a16="http://schemas.microsoft.com/office/drawing/2014/main" id="{15830D9E-7808-426B-8918-43C59BADF24E}"/>
              </a:ext>
            </a:extLst>
          </p:cNvPr>
          <p:cNvSpPr>
            <a:spLocks xmlns:a="http://schemas.openxmlformats.org/drawingml/2006/main" noGrp="1"/>
          </p:cNvSpPr>
          <p:nvPr/>
        </p:nvSpPr>
        <p:spPr>
          <a:xfrm xmlns:a="http://schemas.openxmlformats.org/drawingml/2006/main">
            <a:off x="7372350" y="16954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01  Cookie là client-controlled input.</a:t>
            </a:r>
          </a:p>
        </p:txBody>
      </p:sp>
      <p:sp>
        <p:nvSpPr>
          <p:cNvPr id="39" name="S32_QA_2">
            <a:extLst xmlns:a="http://schemas.openxmlformats.org/drawingml/2006/main">
              <a:ext uri="{FF2B5EF4-FFF2-40B4-BE49-F238E27FC236}">
                <a16:creationId xmlns:a16="http://schemas.microsoft.com/office/drawing/2014/main" id="{EB233ABE-B5D6-43AF-ACA2-C74396C4FEBE}"/>
              </a:ext>
            </a:extLst>
          </p:cNvPr>
          <p:cNvSpPr>
            <a:spLocks xmlns:a="http://schemas.openxmlformats.org/drawingml/2006/main" noGrp="1"/>
          </p:cNvSpPr>
          <p:nvPr/>
        </p:nvSpPr>
        <p:spPr>
          <a:xfrm xmlns:a="http://schemas.openxmlformats.org/drawingml/2006/main">
            <a:off x="9591675" y="16954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02  Poisoning sửa state; hijacking lấy token.</a:t>
            </a:r>
          </a:p>
        </p:txBody>
      </p:sp>
      <p:sp>
        <p:nvSpPr>
          <p:cNvPr id="40" name="S32_QA_3">
            <a:extLst xmlns:a="http://schemas.openxmlformats.org/drawingml/2006/main">
              <a:ext uri="{FF2B5EF4-FFF2-40B4-BE49-F238E27FC236}">
                <a16:creationId xmlns:a16="http://schemas.microsoft.com/office/drawing/2014/main" id="{FC05462B-DCDB-4081-9E02-37F9D3744C2B}"/>
              </a:ext>
            </a:extLst>
          </p:cNvPr>
          <p:cNvSpPr>
            <a:spLocks xmlns:a="http://schemas.openxmlformats.org/drawingml/2006/main" noGrp="1"/>
          </p:cNvSpPr>
          <p:nvPr/>
        </p:nvSpPr>
        <p:spPr>
          <a:xfrm xmlns:a="http://schemas.openxmlformats.org/drawingml/2006/main">
            <a:off x="7372350" y="313690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03  Base64 là encoding, không encryption.</a:t>
            </a:r>
          </a:p>
        </p:txBody>
      </p:sp>
      <p:sp>
        <p:nvSpPr>
          <p:cNvPr id="41" name="S32_QA_4">
            <a:extLst xmlns:a="http://schemas.openxmlformats.org/drawingml/2006/main">
              <a:ext uri="{FF2B5EF4-FFF2-40B4-BE49-F238E27FC236}">
                <a16:creationId xmlns:a16="http://schemas.microsoft.com/office/drawing/2014/main" id="{F793B67E-1FB0-4E81-99B9-D40A840632BB}"/>
              </a:ext>
            </a:extLst>
          </p:cNvPr>
          <p:cNvSpPr>
            <a:spLocks xmlns:a="http://schemas.openxmlformats.org/drawingml/2006/main" noGrp="1"/>
          </p:cNvSpPr>
          <p:nvPr/>
        </p:nvSpPr>
        <p:spPr>
          <a:xfrm xmlns:a="http://schemas.openxmlformats.org/drawingml/2006/main">
            <a:off x="9591675" y="313690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04  Signed cookie phát hiện sửa đổi.</a:t>
            </a:r>
          </a:p>
        </p:txBody>
      </p:sp>
      <p:sp>
        <p:nvSpPr>
          <p:cNvPr id="42" name="S32_QA_5">
            <a:extLst xmlns:a="http://schemas.openxmlformats.org/drawingml/2006/main">
              <a:ext uri="{FF2B5EF4-FFF2-40B4-BE49-F238E27FC236}">
                <a16:creationId xmlns:a16="http://schemas.microsoft.com/office/drawing/2014/main" id="{4FDBA3B9-283F-4C4E-A3DD-A74CE00C602D}"/>
              </a:ext>
            </a:extLst>
          </p:cNvPr>
          <p:cNvSpPr>
            <a:spLocks xmlns:a="http://schemas.openxmlformats.org/drawingml/2006/main" noGrp="1"/>
          </p:cNvSpPr>
          <p:nvPr/>
        </p:nvSpPr>
        <p:spPr>
          <a:xfrm xmlns:a="http://schemas.openxmlformats.org/drawingml/2006/main">
            <a:off x="7372350" y="45783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505048"/>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05  Flags không thay authorization.</a:t>
            </a:r>
          </a:p>
        </p:txBody>
      </p:sp>
      <p:sp>
        <p:nvSpPr>
          <p:cNvPr id="43" name="S32_QA_6">
            <a:extLst xmlns:a="http://schemas.openxmlformats.org/drawingml/2006/main">
              <a:ext uri="{FF2B5EF4-FFF2-40B4-BE49-F238E27FC236}">
                <a16:creationId xmlns:a16="http://schemas.microsoft.com/office/drawing/2014/main" id="{77B3846C-B223-4943-B850-0A21684B3845}"/>
              </a:ext>
            </a:extLst>
          </p:cNvPr>
          <p:cNvSpPr>
            <a:spLocks xmlns:a="http://schemas.openxmlformats.org/drawingml/2006/main" noGrp="1"/>
          </p:cNvSpPr>
          <p:nvPr/>
        </p:nvSpPr>
        <p:spPr>
          <a:xfrm xmlns:a="http://schemas.openxmlformats.org/drawingml/2006/main">
            <a:off x="9591675" y="4578350"/>
            <a:ext cx="2066925" cy="1289050"/>
          </a:xfrm>
          <a:prstGeom xmlns:a="http://schemas.openxmlformats.org/drawingml/2006/main" prst="rect">
            <a:avLst/>
          </a:prstGeom>
          <a:solidFill xmlns:a="http://schemas.openxmlformats.org/drawingml/2006/main">
            <a:srgbClr val="1A1A18"/>
          </a:solidFill>
          <a:ln xmlns:a="http://schemas.openxmlformats.org/drawingml/2006/main" w="9525">
            <a:solidFill>
              <a:srgbClr val="E85D26"/>
            </a:solidFill>
            <a:prstDash val="solid"/>
          </a:ln>
        </p:spPr>
        <p:txBody>
          <a:bodyPr xmlns:a="http://schemas.openxmlformats.org/drawingml/2006/main" wrap="square" lIns="95250" tIns="76200" rIns="95250" bIns="7620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06  Server session hỗ trợ rotate + revoke.</a:t>
            </a:r>
          </a:p>
        </p:txBody>
      </p:sp>
      <p:sp>
        <p:nvSpPr>
          <p:cNvPr id="44" name="S32_RULE_BAR">
            <a:extLst xmlns:a="http://schemas.openxmlformats.org/drawingml/2006/main">
              <a:ext uri="{FF2B5EF4-FFF2-40B4-BE49-F238E27FC236}">
                <a16:creationId xmlns:a16="http://schemas.microsoft.com/office/drawing/2014/main" id="{938C3CED-583D-44D5-B3A4-E7320F187D51}"/>
              </a:ext>
            </a:extLst>
          </p:cNvPr>
          <p:cNvSpPr>
            <a:spLocks xmlns:a="http://schemas.openxmlformats.org/drawingml/2006/main" noGrp="1"/>
          </p:cNvSpPr>
          <p:nvPr/>
        </p:nvSpPr>
        <p:spPr>
          <a:xfrm xmlns:a="http://schemas.openxmlformats.org/drawingml/2006/main">
            <a:off x="533400" y="5391150"/>
            <a:ext cx="76200" cy="0"/>
          </a:xfrm>
          <a:prstGeom xmlns:a="http://schemas.openxmlformats.org/drawingml/2006/main" prst="rect">
            <a:avLst/>
          </a:prstGeom>
          <a:ln xmlns:a="http://schemas.openxmlformats.org/drawingml/2006/main" w="0">
            <a:noFill/>
            <a:prstDash val="solid"/>
          </a:ln>
        </p:spPr>
      </p:sp>
      <p:sp>
        <p:nvSpPr>
          <p:cNvPr id="45" name="S32_RULE_LABEL">
            <a:extLst xmlns:a="http://schemas.openxmlformats.org/drawingml/2006/main">
              <a:ext uri="{FF2B5EF4-FFF2-40B4-BE49-F238E27FC236}">
                <a16:creationId xmlns:a16="http://schemas.microsoft.com/office/drawing/2014/main" id="{AE05AEDD-3B63-4F42-80F4-899443D265D0}"/>
              </a:ext>
            </a:extLst>
          </p:cNvPr>
          <p:cNvSpPr>
            <a:spLocks xmlns:a="http://schemas.openxmlformats.org/drawingml/2006/main" noGrp="1"/>
          </p:cNvSpPr>
          <p:nvPr/>
        </p:nvSpPr>
        <p:spPr>
          <a:xfrm xmlns:a="http://schemas.openxmlformats.org/drawingml/2006/main">
            <a:off x="704850" y="5391150"/>
            <a:ext cx="163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E85D26"/>
                </a:solidFill>
                <a:latin typeface="Consolas"/>
                <a:ea typeface="Consolas"/>
                <a:cs typeface="Consolas"/>
              </a:defRPr>
            </a:pPr>
            <a:r>
              <a:rPr sz="1425" b="1">
                <a:solidFill>
                  <a:srgbClr val="E85D26"/>
                </a:solidFill>
                <a:latin typeface="Consolas"/>
                <a:ea typeface="Consolas"/>
                <a:cs typeface="Consolas"/>
              </a:rPr>
              <a:t>RULE</a:t>
            </a:r>
          </a:p>
        </p:txBody>
      </p:sp>
      <p:sp>
        <p:nvSpPr>
          <p:cNvPr id="46" name="S32_RULE_BODY">
            <a:extLst xmlns:a="http://schemas.openxmlformats.org/drawingml/2006/main">
              <a:ext uri="{FF2B5EF4-FFF2-40B4-BE49-F238E27FC236}">
                <a16:creationId xmlns:a16="http://schemas.microsoft.com/office/drawing/2014/main" id="{ABB1789F-6D0A-40E1-93A5-367A52563008}"/>
              </a:ext>
            </a:extLst>
          </p:cNvPr>
          <p:cNvSpPr>
            <a:spLocks xmlns:a="http://schemas.openxmlformats.org/drawingml/2006/main" noGrp="1"/>
          </p:cNvSpPr>
          <p:nvPr/>
        </p:nvSpPr>
        <p:spPr>
          <a:xfrm xmlns:a="http://schemas.openxmlformats.org/drawingml/2006/main">
            <a:off x="2438400" y="5391150"/>
            <a:ext cx="464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0">
                <a:solidFill>
                  <a:srgbClr val="F0ECE5"/>
                </a:solidFill>
                <a:latin typeface="Bahnschrift"/>
                <a:ea typeface="Bahnschrift"/>
                <a:cs typeface="Bahnschrift"/>
              </a:defRPr>
            </a:pPr>
            <a:r>
              <a:rPr sz="1425" b="0">
                <a:solidFill>
                  <a:srgbClr val="F0ECE5"/>
                </a:solidFill>
                <a:latin typeface="Bahnschrift"/>
                <a:ea typeface="Bahnschrift"/>
                <a:cs typeface="Bahnschrift"/>
              </a:rPr>
              <a:t>Không lưu role, is_admin, balance hoặc permission như dữ liệu authoritative ở client.</a:t>
            </a:r>
          </a:p>
        </p:txBody>
      </p:sp>
    </p:spTree>
    <p:extLst>
      <p:ext uri="{BB962C8B-B14F-4D97-AF65-F5344CB8AC3E}">
        <p14:creationId xmlns:p14="http://schemas.microsoft.com/office/powerpoint/2010/main" val="1556326427"/>
      </p:ext>
    </p:extLst>
  </p:cSld>
</p:sld>
</file>

<file path=ppt/slides/slide33.xml><?xml version="1.0" encoding="utf-8"?>
<p:sld xmlns:p="http://schemas.openxmlformats.org/presentationml/2006/main">
  <p:cSld>
    <p:bg>
      <p:bgPr>
        <a:solidFill xmlns:a="http://schemas.openxmlformats.org/drawingml/2006/main">
          <a:srgbClr val="E85D26"/>
        </a:solidFill>
      </p:bgPr>
    </p:bg>
    <p:spTree>
      <p:nvGrpSpPr>
        <p:cNvPr id="1" name=""/>
        <p:cNvGrpSpPr/>
        <p:nvPr/>
      </p:nvGrpSpPr>
      <p:grpSpPr>
        <a:xfrm xmlns:a="http://schemas.openxmlformats.org/drawingml/2006/main"/>
      </p:grpSpPr>
      <p:sp>
        <p:nvSpPr>
          <p:cNvPr id="15" name="S33_FOOTER_RULE">
            <a:extLst xmlns:a="http://schemas.openxmlformats.org/drawingml/2006/main">
              <a:ext uri="{FF2B5EF4-FFF2-40B4-BE49-F238E27FC236}">
                <a16:creationId xmlns:a16="http://schemas.microsoft.com/office/drawing/2014/main" id="{CD18FD19-B1C1-4DA2-81DD-4577C1FA0725}"/>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S33_SOURCE">
            <a:extLst xmlns:a="http://schemas.openxmlformats.org/drawingml/2006/main">
              <a:ext uri="{FF2B5EF4-FFF2-40B4-BE49-F238E27FC236}">
                <a16:creationId xmlns:a16="http://schemas.microsoft.com/office/drawing/2014/main" id="{677CF945-8928-4E52-818E-74C5E84A1130}"/>
              </a:ext>
            </a:extLst>
          </p:cNvPr>
          <p:cNvSpPr>
            <a:spLocks xmlns:a="http://schemas.openxmlformats.org/drawingml/2006/main" noGrp="1"/>
          </p:cNvSpPr>
          <p:nvPr/>
        </p:nvSpPr>
        <p:spPr>
          <a:xfrm xmlns:a="http://schemas.openxmlformats.org/drawingml/2006/main">
            <a:off x="533400" y="6486525"/>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1425" b="0">
                <a:solidFill>
                  <a:srgbClr val="111111"/>
                </a:solidFill>
                <a:latin typeface="Consolas"/>
                <a:ea typeface="Consolas"/>
                <a:cs typeface="Consolas"/>
              </a:defRPr>
            </a:pPr>
            <a:r>
              <a:rPr sz="1425" b="0">
                <a:solidFill>
                  <a:srgbClr val="111111"/>
                </a:solidFill>
                <a:latin typeface="Consolas"/>
                <a:ea typeface="Consolas"/>
                <a:cs typeface="Consolas"/>
              </a:rPr>
              <a:t>NGUỒN  BaiTapTopic04.docx · phần bài học và tổng kết · Lab01–Lab06</a:t>
            </a:r>
          </a:p>
        </p:txBody>
      </p:sp>
      <p:sp>
        <p:nvSpPr>
          <p:cNvPr id="3" name="S33_NUMBER">
            <a:extLst xmlns:a="http://schemas.openxmlformats.org/drawingml/2006/main">
              <a:ext uri="{FF2B5EF4-FFF2-40B4-BE49-F238E27FC236}">
                <a16:creationId xmlns:a16="http://schemas.microsoft.com/office/drawing/2014/main" id="{3170577B-5711-4485-A5B2-6592937C3A1A}"/>
              </a:ext>
            </a:extLst>
          </p:cNvPr>
          <p:cNvSpPr>
            <a:spLocks xmlns:a="http://schemas.openxmlformats.org/drawingml/2006/main" noGrp="1"/>
          </p:cNvSpPr>
          <p:nvPr/>
        </p:nvSpPr>
        <p:spPr>
          <a:xfrm xmlns:a="http://schemas.openxmlformats.org/drawingml/2006/main">
            <a:off x="10858500" y="64865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33</a:t>
            </a:r>
          </a:p>
        </p:txBody>
      </p:sp>
      <p:sp>
        <p:nvSpPr>
          <p:cNvPr id="4" name="S33_KICKER">
            <a:extLst xmlns:a="http://schemas.openxmlformats.org/drawingml/2006/main">
              <a:ext uri="{FF2B5EF4-FFF2-40B4-BE49-F238E27FC236}">
                <a16:creationId xmlns:a16="http://schemas.microsoft.com/office/drawing/2014/main" id="{B056A502-A5E5-42AF-8FD2-1A7113BABA6F}"/>
              </a:ext>
            </a:extLst>
          </p:cNvPr>
          <p:cNvSpPr>
            <a:spLocks xmlns:a="http://schemas.openxmlformats.org/drawingml/2006/main" noGrp="1"/>
          </p:cNvSpPr>
          <p:nvPr/>
        </p:nvSpPr>
        <p:spPr>
          <a:xfrm xmlns:a="http://schemas.openxmlformats.org/drawingml/2006/main">
            <a:off x="533400" y="3810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SECURITY CYCLE / ROOT-CAUSE FIRST</a:t>
            </a:r>
          </a:p>
        </p:txBody>
      </p:sp>
      <p:sp>
        <p:nvSpPr>
          <p:cNvPr id="5" name="S33_TITLE">
            <a:extLst xmlns:a="http://schemas.openxmlformats.org/drawingml/2006/main">
              <a:ext uri="{FF2B5EF4-FFF2-40B4-BE49-F238E27FC236}">
                <a16:creationId xmlns:a16="http://schemas.microsoft.com/office/drawing/2014/main" id="{5FA815B3-8B0B-4FD3-876F-9432B0B04F83}"/>
              </a:ext>
            </a:extLst>
          </p:cNvPr>
          <p:cNvSpPr>
            <a:spLocks xmlns:a="http://schemas.openxmlformats.org/drawingml/2006/main" noGrp="1"/>
          </p:cNvSpPr>
          <p:nvPr/>
        </p:nvSpPr>
        <p:spPr>
          <a:xfrm xmlns:a="http://schemas.openxmlformats.org/drawingml/2006/main">
            <a:off x="495300" y="876300"/>
            <a:ext cx="11144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050" b="1">
                <a:solidFill>
                  <a:srgbClr val="111111"/>
                </a:solidFill>
                <a:latin typeface="Bahnschrift"/>
                <a:ea typeface="Bahnschrift"/>
                <a:cs typeface="Bahnschrift"/>
              </a:defRPr>
            </a:pPr>
            <a:r>
              <a:rPr sz="4050" b="1">
                <a:solidFill>
                  <a:srgbClr val="111111"/>
                </a:solidFill>
                <a:latin typeface="Bahnschrift"/>
                <a:ea typeface="Bahnschrift"/>
                <a:cs typeface="Bahnschrift"/>
              </a:rPr>
              <a:t>THEO DẤU DỮ LIỆU.</a:t>
            </a:r>
          </a:p>
          <a:p xmlns:a="http://schemas.openxmlformats.org/drawingml/2006/main">
            <a:pPr algn="l">
              <a:lnSpc>
                <a:spcPct val="100000"/>
              </a:lnSpc>
              <a:buNone/>
              <a:defRPr sz="4050" b="1">
                <a:solidFill>
                  <a:srgbClr val="111111"/>
                </a:solidFill>
                <a:latin typeface="Bahnschrift"/>
                <a:ea typeface="Bahnschrift"/>
                <a:cs typeface="Bahnschrift"/>
              </a:defRPr>
            </a:pPr>
            <a:r>
              <a:rPr sz="4050" b="1">
                <a:solidFill>
                  <a:srgbClr val="111111"/>
                </a:solidFill>
                <a:latin typeface="Bahnschrift"/>
                <a:ea typeface="Bahnschrift"/>
                <a:cs typeface="Bahnschrift"/>
              </a:rPr>
              <a:t>VÁ ĐÚNG ĐIỂM GÃY.</a:t>
            </a:r>
          </a:p>
        </p:txBody>
      </p:sp>
      <p:sp>
        <p:nvSpPr>
          <p:cNvPr id="6" name="S33_STEP_1">
            <a:extLst xmlns:a="http://schemas.openxmlformats.org/drawingml/2006/main">
              <a:ext uri="{FF2B5EF4-FFF2-40B4-BE49-F238E27FC236}">
                <a16:creationId xmlns:a16="http://schemas.microsoft.com/office/drawing/2014/main" id="{F4A8366F-DEC0-42D1-BD28-ACC5BCD97915}"/>
              </a:ext>
            </a:extLst>
          </p:cNvPr>
          <p:cNvSpPr>
            <a:spLocks xmlns:a="http://schemas.openxmlformats.org/drawingml/2006/main" noGrp="1"/>
          </p:cNvSpPr>
          <p:nvPr/>
        </p:nvSpPr>
        <p:spPr>
          <a:xfrm xmlns:a="http://schemas.openxmlformats.org/drawingml/2006/main">
            <a:off x="5334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1 NHẬN DIỆN</a:t>
            </a:r>
          </a:p>
        </p:txBody>
      </p:sp>
      <p:sp>
        <p:nvSpPr>
          <p:cNvPr id="7" name="S33_STEP_2">
            <a:extLst xmlns:a="http://schemas.openxmlformats.org/drawingml/2006/main">
              <a:ext uri="{FF2B5EF4-FFF2-40B4-BE49-F238E27FC236}">
                <a16:creationId xmlns:a16="http://schemas.microsoft.com/office/drawing/2014/main" id="{5B04E0DE-3631-4048-AF9B-EB9078854409}"/>
              </a:ext>
            </a:extLst>
          </p:cNvPr>
          <p:cNvSpPr>
            <a:spLocks xmlns:a="http://schemas.openxmlformats.org/drawingml/2006/main" noGrp="1"/>
          </p:cNvSpPr>
          <p:nvPr/>
        </p:nvSpPr>
        <p:spPr>
          <a:xfrm xmlns:a="http://schemas.openxmlformats.org/drawingml/2006/main">
            <a:off x="33147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2 KHAI THÁC LOCAL</a:t>
            </a:r>
          </a:p>
        </p:txBody>
      </p:sp>
      <p:sp>
        <p:nvSpPr>
          <p:cNvPr id="8" name="S33_STEP_3">
            <a:extLst xmlns:a="http://schemas.openxmlformats.org/drawingml/2006/main">
              <a:ext uri="{FF2B5EF4-FFF2-40B4-BE49-F238E27FC236}">
                <a16:creationId xmlns:a16="http://schemas.microsoft.com/office/drawing/2014/main" id="{5461C7DD-E43C-4C05-9B71-DA64D9564C01}"/>
              </a:ext>
            </a:extLst>
          </p:cNvPr>
          <p:cNvSpPr>
            <a:spLocks xmlns:a="http://schemas.openxmlformats.org/drawingml/2006/main" noGrp="1"/>
          </p:cNvSpPr>
          <p:nvPr/>
        </p:nvSpPr>
        <p:spPr>
          <a:xfrm xmlns:a="http://schemas.openxmlformats.org/drawingml/2006/main">
            <a:off x="60960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3 QUAN SÁT</a:t>
            </a:r>
          </a:p>
        </p:txBody>
      </p:sp>
      <p:sp>
        <p:nvSpPr>
          <p:cNvPr id="9" name="S33_STEP_4">
            <a:extLst xmlns:a="http://schemas.openxmlformats.org/drawingml/2006/main">
              <a:ext uri="{FF2B5EF4-FFF2-40B4-BE49-F238E27FC236}">
                <a16:creationId xmlns:a16="http://schemas.microsoft.com/office/drawing/2014/main" id="{11A3ACC0-E15A-456F-BDA3-29AF79F7717D}"/>
              </a:ext>
            </a:extLst>
          </p:cNvPr>
          <p:cNvSpPr>
            <a:spLocks xmlns:a="http://schemas.openxmlformats.org/drawingml/2006/main" noGrp="1"/>
          </p:cNvSpPr>
          <p:nvPr/>
        </p:nvSpPr>
        <p:spPr>
          <a:xfrm xmlns:a="http://schemas.openxmlformats.org/drawingml/2006/main">
            <a:off x="8877300" y="26479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4 PHÂN TÍCH</a:t>
            </a:r>
          </a:p>
        </p:txBody>
      </p:sp>
      <p:sp>
        <p:nvSpPr>
          <p:cNvPr id="10" name="S33_STEP_5">
            <a:extLst xmlns:a="http://schemas.openxmlformats.org/drawingml/2006/main">
              <a:ext uri="{FF2B5EF4-FFF2-40B4-BE49-F238E27FC236}">
                <a16:creationId xmlns:a16="http://schemas.microsoft.com/office/drawing/2014/main" id="{9D81ABF3-4359-4D0C-B02D-FD00385AB277}"/>
              </a:ext>
            </a:extLst>
          </p:cNvPr>
          <p:cNvSpPr>
            <a:spLocks xmlns:a="http://schemas.openxmlformats.org/drawingml/2006/main" noGrp="1"/>
          </p:cNvSpPr>
          <p:nvPr/>
        </p:nvSpPr>
        <p:spPr>
          <a:xfrm xmlns:a="http://schemas.openxmlformats.org/drawingml/2006/main">
            <a:off x="5334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5 ĐÁNH GIÁ</a:t>
            </a:r>
          </a:p>
        </p:txBody>
      </p:sp>
      <p:sp>
        <p:nvSpPr>
          <p:cNvPr id="11" name="S33_STEP_6">
            <a:extLst xmlns:a="http://schemas.openxmlformats.org/drawingml/2006/main">
              <a:ext uri="{FF2B5EF4-FFF2-40B4-BE49-F238E27FC236}">
                <a16:creationId xmlns:a16="http://schemas.microsoft.com/office/drawing/2014/main" id="{8EC8E6F9-C3FC-45FA-87BD-ABF0951546A4}"/>
              </a:ext>
            </a:extLst>
          </p:cNvPr>
          <p:cNvSpPr>
            <a:spLocks xmlns:a="http://schemas.openxmlformats.org/drawingml/2006/main" noGrp="1"/>
          </p:cNvSpPr>
          <p:nvPr/>
        </p:nvSpPr>
        <p:spPr>
          <a:xfrm xmlns:a="http://schemas.openxmlformats.org/drawingml/2006/main">
            <a:off x="33147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6 VÁ</a:t>
            </a:r>
          </a:p>
        </p:txBody>
      </p:sp>
      <p:sp>
        <p:nvSpPr>
          <p:cNvPr id="12" name="S33_STEP_7">
            <a:extLst xmlns:a="http://schemas.openxmlformats.org/drawingml/2006/main">
              <a:ext uri="{FF2B5EF4-FFF2-40B4-BE49-F238E27FC236}">
                <a16:creationId xmlns:a16="http://schemas.microsoft.com/office/drawing/2014/main" id="{17CA5929-5D07-475A-854D-4DA7189EB14A}"/>
              </a:ext>
            </a:extLst>
          </p:cNvPr>
          <p:cNvSpPr>
            <a:spLocks xmlns:a="http://schemas.openxmlformats.org/drawingml/2006/main" noGrp="1"/>
          </p:cNvSpPr>
          <p:nvPr/>
        </p:nvSpPr>
        <p:spPr>
          <a:xfrm xmlns:a="http://schemas.openxmlformats.org/drawingml/2006/main">
            <a:off x="6096000" y="3562350"/>
            <a:ext cx="2571750" cy="685800"/>
          </a:xfrm>
          <a:prstGeom xmlns:a="http://schemas.openxmlformats.org/drawingml/2006/main" prst="rect">
            <a:avLst/>
          </a:prstGeom>
          <a:noFill xmlns:a="http://schemas.openxmlformats.org/drawingml/2006/main"/>
          <a:ln xmlns:a="http://schemas.openxmlformats.org/drawingml/2006/main" w="9525">
            <a:solidFill>
              <a:srgbClr val="111111"/>
            </a:solidFill>
            <a:prstDash val="solid"/>
          </a:ln>
        </p:spPr>
        <p:txBody>
          <a:bodyPr xmlns:a="http://schemas.openxmlformats.org/drawingml/2006/main" wrap="square" lIns="133350" tIns="114300" rIns="133350" bIns="95250" anchor="ctr">
            <a:noAutofit/>
          </a:bodyPr>
          <a:lstStyle xmlns:a="http://schemas.openxmlformats.org/drawingml/2006/main"/>
          <a:p xmlns:a="http://schemas.openxmlformats.org/drawingml/2006/main">
            <a:pPr algn="ctr">
              <a:lnSpc>
                <a:spcPct val="100000"/>
              </a:lnSpc>
              <a:buNone/>
              <a:defRPr sz="1500" b="1">
                <a:solidFill>
                  <a:srgbClr val="111111"/>
                </a:solidFill>
                <a:latin typeface="Bahnschrift"/>
                <a:ea typeface="Bahnschrift"/>
                <a:cs typeface="Bahnschrift"/>
              </a:defRPr>
            </a:pPr>
            <a:r>
              <a:rPr sz="1500" b="1">
                <a:solidFill>
                  <a:srgbClr val="111111"/>
                </a:solidFill>
                <a:latin typeface="Bahnschrift"/>
                <a:ea typeface="Bahnschrift"/>
                <a:cs typeface="Bahnschrift"/>
              </a:rPr>
              <a:t>7 RETEST</a:t>
            </a:r>
          </a:p>
        </p:txBody>
      </p:sp>
      <p:sp>
        <p:nvSpPr>
          <p:cNvPr id="13" name="S33_RULES">
            <a:extLst xmlns:a="http://schemas.openxmlformats.org/drawingml/2006/main">
              <a:ext uri="{FF2B5EF4-FFF2-40B4-BE49-F238E27FC236}">
                <a16:creationId xmlns:a16="http://schemas.microsoft.com/office/drawing/2014/main" id="{0AB77088-F09B-4AF2-8C4D-C03E87F2CAD3}"/>
              </a:ext>
            </a:extLst>
          </p:cNvPr>
          <p:cNvSpPr>
            <a:spLocks xmlns:a="http://schemas.openxmlformats.org/drawingml/2006/main" noGrp="1"/>
          </p:cNvSpPr>
          <p:nvPr/>
        </p:nvSpPr>
        <p:spPr>
          <a:xfrm xmlns:a="http://schemas.openxmlformats.org/drawingml/2006/main">
            <a:off x="533400" y="4781550"/>
            <a:ext cx="11125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500" b="1">
                <a:solidFill>
                  <a:srgbClr val="111111"/>
                </a:solidFill>
                <a:latin typeface="Consolas"/>
                <a:ea typeface="Consolas"/>
                <a:cs typeface="Consolas"/>
              </a:defRPr>
            </a:pPr>
            <a:r>
              <a:rPr sz="1500" b="1">
                <a:solidFill>
                  <a:srgbClr val="111111"/>
                </a:solidFill>
                <a:latin typeface="Consolas"/>
                <a:ea typeface="Consolas"/>
                <a:cs typeface="Consolas"/>
              </a:rPr>
              <a:t>XSS → SAFE OUTPUT/SINK   /   BUFFER → BOUNDED COPY   /   TAMPERING → SERVER POLICY</a:t>
            </a:r>
          </a:p>
          <a:p xmlns:a="http://schemas.openxmlformats.org/drawingml/2006/main">
            <a:pPr algn="ctr">
              <a:lnSpc>
                <a:spcPct val="100000"/>
              </a:lnSpc>
              <a:buNone/>
              <a:defRPr sz="1500" b="1">
                <a:solidFill>
                  <a:srgbClr val="111111"/>
                </a:solidFill>
                <a:latin typeface="Consolas"/>
                <a:ea typeface="Consolas"/>
                <a:cs typeface="Consolas"/>
              </a:defRPr>
            </a:pPr>
            <a:r>
              <a:rPr sz="1500" b="1">
                <a:solidFill>
                  <a:srgbClr val="111111"/>
                </a:solidFill>
                <a:latin typeface="Consolas"/>
                <a:ea typeface="Consolas"/>
                <a:cs typeface="Consolas"/>
              </a:rPr>
              <a:t>CSRF → INTENT PROOF   /   SQLi → PARAMETER BINDING   /   COOKIE → SERVER AUTHORIZATION</a:t>
            </a:r>
          </a:p>
        </p:txBody>
      </p:sp>
      <p:sp>
        <p:nvSpPr>
          <p:cNvPr id="14" name="S33_CLOSE">
            <a:extLst xmlns:a="http://schemas.openxmlformats.org/drawingml/2006/main">
              <a:ext uri="{FF2B5EF4-FFF2-40B4-BE49-F238E27FC236}">
                <a16:creationId xmlns:a16="http://schemas.microsoft.com/office/drawing/2014/main" id="{00A32225-8329-4C36-87A3-3148F9590C5E}"/>
              </a:ext>
            </a:extLst>
          </p:cNvPr>
          <p:cNvSpPr>
            <a:spLocks xmlns:a="http://schemas.openxmlformats.org/drawingml/2006/main" noGrp="1"/>
          </p:cNvSpPr>
          <p:nvPr/>
        </p:nvSpPr>
        <p:spPr>
          <a:xfrm xmlns:a="http://schemas.openxmlformats.org/drawingml/2006/main">
            <a:off x="533400" y="560070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CẤU TRÚC BÁO CÁO 11 MỤC</a:t>
            </a:r>
          </a:p>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Tên lab · Mục tiêu · Môi trường · Các bước · Kết quả · Nguyên nhân</a:t>
            </a:r>
          </a:p>
          <a:p xmlns:a="http://schemas.openxmlformats.org/drawingml/2006/main">
            <a:pPr algn="ctr">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Ảnh hưởng · Phòng chống · Bản vá · Bài học · Phụ lục ảnh/log/request-response.</a:t>
            </a:r>
          </a:p>
        </p:txBody>
      </p:sp>
    </p:spTree>
    <p:extLst>
      <p:ext uri="{BB962C8B-B14F-4D97-AF65-F5344CB8AC3E}">
        <p14:creationId xmlns:p14="http://schemas.microsoft.com/office/powerpoint/2010/main" val="593520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2026-07-18T17:57:21.6810000Z</dcterms:created>
  <dcterms:modified xsi:type="dcterms:W3CDTF">2026-07-18T17:57:21.6810000Z</dcterms:modified>
</coreProperties>
</file>
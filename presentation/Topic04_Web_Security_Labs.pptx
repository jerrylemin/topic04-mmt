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03305e29f34029" /><Relationship Type="http://schemas.openxmlformats.org/officeDocument/2006/relationships/extended-properties" Target="/docProps/app.xml" Id="Rb6ab8f31ecd84a31" /><Relationship Type="http://schemas.openxmlformats.org/officeDocument/2006/relationships/officeDocument" Target="/ppt/presentation.xml" Id="R0a88b1943e0349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a573228de94430"/>
  </p:sldMasterIdLst>
  <p:notesMasterIdLst>
    <p:notesMasterId xmlns:r="http://schemas.openxmlformats.org/officeDocument/2006/relationships" r:id="R8f30c97f06274085"/>
  </p:notesMasterIdLst>
  <p:sldIdLst>
    <p:sldId xmlns:r="http://schemas.openxmlformats.org/officeDocument/2006/relationships" id="256" r:id="Rf60b8c1c6c8e496b"/>
    <p:sldId xmlns:r="http://schemas.openxmlformats.org/officeDocument/2006/relationships" id="257" r:id="R6644d9d3ff6f4b7e"/>
    <p:sldId xmlns:r="http://schemas.openxmlformats.org/officeDocument/2006/relationships" id="258" r:id="R972d355afeeb47e9"/>
    <p:sldId xmlns:r="http://schemas.openxmlformats.org/officeDocument/2006/relationships" id="259" r:id="Raa1f117e750b4cb1"/>
    <p:sldId xmlns:r="http://schemas.openxmlformats.org/officeDocument/2006/relationships" id="260" r:id="Rb09c2eeadeda4ec1"/>
    <p:sldId xmlns:r="http://schemas.openxmlformats.org/officeDocument/2006/relationships" id="261" r:id="R73f750e4e26c42bb"/>
    <p:sldId xmlns:r="http://schemas.openxmlformats.org/officeDocument/2006/relationships" id="262" r:id="Ra0ed8ef47ed143e4"/>
    <p:sldId xmlns:r="http://schemas.openxmlformats.org/officeDocument/2006/relationships" id="263" r:id="R28714c4b586d4ac2"/>
    <p:sldId xmlns:r="http://schemas.openxmlformats.org/officeDocument/2006/relationships" id="264" r:id="Rc2dee2cb5bcb4737"/>
    <p:sldId xmlns:r="http://schemas.openxmlformats.org/officeDocument/2006/relationships" id="265" r:id="R39f1afede2c74a3b"/>
    <p:sldId xmlns:r="http://schemas.openxmlformats.org/officeDocument/2006/relationships" id="266" r:id="R8b184a92159149be"/>
    <p:sldId xmlns:r="http://schemas.openxmlformats.org/officeDocument/2006/relationships" id="267" r:id="R36f6166ffac948ec"/>
    <p:sldId xmlns:r="http://schemas.openxmlformats.org/officeDocument/2006/relationships" id="268" r:id="Rc268d77787014c69"/>
    <p:sldId xmlns:r="http://schemas.openxmlformats.org/officeDocument/2006/relationships" id="269" r:id="Rc3c13cc4cf8a4b4e"/>
    <p:sldId xmlns:r="http://schemas.openxmlformats.org/officeDocument/2006/relationships" id="270" r:id="Rb3693d907f9b4232"/>
    <p:sldId xmlns:r="http://schemas.openxmlformats.org/officeDocument/2006/relationships" id="271" r:id="R9e4abdf4a80741d2"/>
    <p:sldId xmlns:r="http://schemas.openxmlformats.org/officeDocument/2006/relationships" id="272" r:id="Rd881c77de51d4304"/>
    <p:sldId xmlns:r="http://schemas.openxmlformats.org/officeDocument/2006/relationships" id="273" r:id="Rc1c31e548fda435d"/>
    <p:sldId xmlns:r="http://schemas.openxmlformats.org/officeDocument/2006/relationships" id="274" r:id="Ra6381e43b7d047cb"/>
    <p:sldId xmlns:r="http://schemas.openxmlformats.org/officeDocument/2006/relationships" id="275" r:id="R92458ba718cc4a1b"/>
    <p:sldId xmlns:r="http://schemas.openxmlformats.org/officeDocument/2006/relationships" id="276" r:id="Rf6191d3f34294ba5"/>
    <p:sldId xmlns:r="http://schemas.openxmlformats.org/officeDocument/2006/relationships" id="277" r:id="R938fb223d7ae4cd7"/>
    <p:sldId xmlns:r="http://schemas.openxmlformats.org/officeDocument/2006/relationships" id="278" r:id="Rb4aaf295cb4043e9"/>
    <p:sldId xmlns:r="http://schemas.openxmlformats.org/officeDocument/2006/relationships" id="279" r:id="R5fecf051a1f6464b"/>
    <p:sldId xmlns:r="http://schemas.openxmlformats.org/officeDocument/2006/relationships" id="280" r:id="Rf265408f0c6d4bc9"/>
    <p:sldId xmlns:r="http://schemas.openxmlformats.org/officeDocument/2006/relationships" id="281" r:id="Rfc10c992f5a849e6"/>
    <p:sldId xmlns:r="http://schemas.openxmlformats.org/officeDocument/2006/relationships" id="282" r:id="Rd7bf958261e74b78"/>
    <p:sldId xmlns:r="http://schemas.openxmlformats.org/officeDocument/2006/relationships" id="283" r:id="Ra53770fef43f405c"/>
    <p:sldId xmlns:r="http://schemas.openxmlformats.org/officeDocument/2006/relationships" id="284" r:id="Red23d47a50354c63"/>
    <p:sldId xmlns:r="http://schemas.openxmlformats.org/officeDocument/2006/relationships" id="285" r:id="R8a341c98507147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c0b1890464403e" /><Relationship Type="http://schemas.openxmlformats.org/officeDocument/2006/relationships/slideMaster" Target="/ppt/slideMasters/slideMaster1.xml" Id="R3ea573228de94430" /><Relationship Type="http://schemas.openxmlformats.org/officeDocument/2006/relationships/notesMaster" Target="/ppt/notesMasters/notesMaster1.xml" Id="R8f30c97f06274085" /><Relationship Type="http://schemas.openxmlformats.org/officeDocument/2006/relationships/presProps" Target="/ppt/presProps.xml" Id="R7f50940e976c4fff" /><Relationship Type="http://schemas.openxmlformats.org/officeDocument/2006/relationships/tableStyles" Target="/ppt/tableStyles.xml" Id="Reb308b4e09394d3d" /><Relationship Type="http://schemas.openxmlformats.org/officeDocument/2006/relationships/slide" Target="/ppt/slides/slide1.xml" Id="Rf60b8c1c6c8e496b" /><Relationship Type="http://schemas.openxmlformats.org/officeDocument/2006/relationships/slide" Target="/ppt/slides/slide2.xml" Id="R6644d9d3ff6f4b7e" /><Relationship Type="http://schemas.openxmlformats.org/officeDocument/2006/relationships/slide" Target="/ppt/slides/slide3.xml" Id="R972d355afeeb47e9" /><Relationship Type="http://schemas.openxmlformats.org/officeDocument/2006/relationships/slide" Target="/ppt/slides/slide4.xml" Id="Raa1f117e750b4cb1" /><Relationship Type="http://schemas.openxmlformats.org/officeDocument/2006/relationships/slide" Target="/ppt/slides/slide5.xml" Id="Rb09c2eeadeda4ec1" /><Relationship Type="http://schemas.openxmlformats.org/officeDocument/2006/relationships/slide" Target="/ppt/slides/slide6.xml" Id="R73f750e4e26c42bb" /><Relationship Type="http://schemas.openxmlformats.org/officeDocument/2006/relationships/slide" Target="/ppt/slides/slide7.xml" Id="Ra0ed8ef47ed143e4" /><Relationship Type="http://schemas.openxmlformats.org/officeDocument/2006/relationships/slide" Target="/ppt/slides/slide8.xml" Id="R28714c4b586d4ac2" /><Relationship Type="http://schemas.openxmlformats.org/officeDocument/2006/relationships/slide" Target="/ppt/slides/slide9.xml" Id="Rc2dee2cb5bcb4737" /><Relationship Type="http://schemas.openxmlformats.org/officeDocument/2006/relationships/slide" Target="/ppt/slides/slide10.xml" Id="R39f1afede2c74a3b" /><Relationship Type="http://schemas.openxmlformats.org/officeDocument/2006/relationships/slide" Target="/ppt/slides/slide11.xml" Id="R8b184a92159149be" /><Relationship Type="http://schemas.openxmlformats.org/officeDocument/2006/relationships/slide" Target="/ppt/slides/slide12.xml" Id="R36f6166ffac948ec" /><Relationship Type="http://schemas.openxmlformats.org/officeDocument/2006/relationships/slide" Target="/ppt/slides/slide13.xml" Id="Rc268d77787014c69" /><Relationship Type="http://schemas.openxmlformats.org/officeDocument/2006/relationships/slide" Target="/ppt/slides/slide14.xml" Id="Rc3c13cc4cf8a4b4e" /><Relationship Type="http://schemas.openxmlformats.org/officeDocument/2006/relationships/slide" Target="/ppt/slides/slide15.xml" Id="Rb3693d907f9b4232" /><Relationship Type="http://schemas.openxmlformats.org/officeDocument/2006/relationships/slide" Target="/ppt/slides/slide16.xml" Id="R9e4abdf4a80741d2" /><Relationship Type="http://schemas.openxmlformats.org/officeDocument/2006/relationships/slide" Target="/ppt/slides/slide17.xml" Id="Rd881c77de51d4304" /><Relationship Type="http://schemas.openxmlformats.org/officeDocument/2006/relationships/slide" Target="/ppt/slides/slide18.xml" Id="Rc1c31e548fda435d" /><Relationship Type="http://schemas.openxmlformats.org/officeDocument/2006/relationships/slide" Target="/ppt/slides/slide19.xml" Id="Ra6381e43b7d047cb" /><Relationship Type="http://schemas.openxmlformats.org/officeDocument/2006/relationships/slide" Target="/ppt/slides/slide20.xml" Id="R92458ba718cc4a1b" /><Relationship Type="http://schemas.openxmlformats.org/officeDocument/2006/relationships/slide" Target="/ppt/slides/slide21.xml" Id="Rf6191d3f34294ba5" /><Relationship Type="http://schemas.openxmlformats.org/officeDocument/2006/relationships/slide" Target="/ppt/slides/slide22.xml" Id="R938fb223d7ae4cd7" /><Relationship Type="http://schemas.openxmlformats.org/officeDocument/2006/relationships/slide" Target="/ppt/slides/slide23.xml" Id="Rb4aaf295cb4043e9" /><Relationship Type="http://schemas.openxmlformats.org/officeDocument/2006/relationships/slide" Target="/ppt/slides/slide24.xml" Id="R5fecf051a1f6464b" /><Relationship Type="http://schemas.openxmlformats.org/officeDocument/2006/relationships/slide" Target="/ppt/slides/slide25.xml" Id="Rf265408f0c6d4bc9" /><Relationship Type="http://schemas.openxmlformats.org/officeDocument/2006/relationships/slide" Target="/ppt/slides/slide26.xml" Id="Rfc10c992f5a849e6" /><Relationship Type="http://schemas.openxmlformats.org/officeDocument/2006/relationships/slide" Target="/ppt/slides/slide27.xml" Id="Rd7bf958261e74b78" /><Relationship Type="http://schemas.openxmlformats.org/officeDocument/2006/relationships/slide" Target="/ppt/slides/slide28.xml" Id="Ra53770fef43f405c" /><Relationship Type="http://schemas.openxmlformats.org/officeDocument/2006/relationships/slide" Target="/ppt/slides/slide29.xml" Id="Red23d47a50354c63" /><Relationship Type="http://schemas.openxmlformats.org/officeDocument/2006/relationships/slide" Target="/ppt/slides/slide30.xml" Id="R8a341c98507147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00ac75e4ba43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3c9f024ab54c35" /><Relationship Type="http://schemas.openxmlformats.org/officeDocument/2006/relationships/notesMaster" Target="/ppt/notesMasters/notesMaster1.xml" Id="R7a96dcb0fdb94a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545e1489614b76" /><Relationship Type="http://schemas.openxmlformats.org/officeDocument/2006/relationships/notesMaster" Target="/ppt/notesMasters/notesMaster1.xml" Id="R5b4fb813e45f40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1ae30a548341d5" /><Relationship Type="http://schemas.openxmlformats.org/officeDocument/2006/relationships/notesMaster" Target="/ppt/notesMasters/notesMaster1.xml" Id="R3f8ea03d9dc845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69f08654094f70" /><Relationship Type="http://schemas.openxmlformats.org/officeDocument/2006/relationships/notesMaster" Target="/ppt/notesMasters/notesMaster1.xml" Id="R9f63f20d6cba43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9e6df48e5e406a" /><Relationship Type="http://schemas.openxmlformats.org/officeDocument/2006/relationships/notesMaster" Target="/ppt/notesMasters/notesMaster1.xml" Id="Rcfb15c3a36894b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adf87455af4415" /><Relationship Type="http://schemas.openxmlformats.org/officeDocument/2006/relationships/notesMaster" Target="/ppt/notesMasters/notesMaster1.xml" Id="R9285a352a77048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52ffc3902e4b52" /><Relationship Type="http://schemas.openxmlformats.org/officeDocument/2006/relationships/notesMaster" Target="/ppt/notesMasters/notesMaster1.xml" Id="R1863450ebcaf47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c65f67997a4ab2" /><Relationship Type="http://schemas.openxmlformats.org/officeDocument/2006/relationships/notesMaster" Target="/ppt/notesMasters/notesMaster1.xml" Id="R7a63e064676949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6f429f125a433d" /><Relationship Type="http://schemas.openxmlformats.org/officeDocument/2006/relationships/notesMaster" Target="/ppt/notesMasters/notesMaster1.xml" Id="R1b9ce962253d4c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6cfc707ec14992" /><Relationship Type="http://schemas.openxmlformats.org/officeDocument/2006/relationships/notesMaster" Target="/ppt/notesMasters/notesMaster1.xml" Id="Rc1d81cdb2f7f4a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7b099da14e4166" /><Relationship Type="http://schemas.openxmlformats.org/officeDocument/2006/relationships/notesMaster" Target="/ppt/notesMasters/notesMaster1.xml" Id="R7a5cba5e5c4d41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8bb415b2af4684" /><Relationship Type="http://schemas.openxmlformats.org/officeDocument/2006/relationships/notesMaster" Target="/ppt/notesMasters/notesMaster1.xml" Id="R4d93b14231664d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a8408caa26428d" /><Relationship Type="http://schemas.openxmlformats.org/officeDocument/2006/relationships/notesMaster" Target="/ppt/notesMasters/notesMaster1.xml" Id="Ra13cf8b32c5048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4360a986304710" /><Relationship Type="http://schemas.openxmlformats.org/officeDocument/2006/relationships/notesMaster" Target="/ppt/notesMasters/notesMaster1.xml" Id="R4b74cbfb241341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7f4ec2c4e014c98" /><Relationship Type="http://schemas.openxmlformats.org/officeDocument/2006/relationships/notesMaster" Target="/ppt/notesMasters/notesMaster1.xml" Id="R2230a10ab11747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db967f54a43496b" /><Relationship Type="http://schemas.openxmlformats.org/officeDocument/2006/relationships/notesMaster" Target="/ppt/notesMasters/notesMaster1.xml" Id="R5a60f7c0418341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700c29b728b4650" /><Relationship Type="http://schemas.openxmlformats.org/officeDocument/2006/relationships/notesMaster" Target="/ppt/notesMasters/notesMaster1.xml" Id="Rcc5103642a164cb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49877288b14f52" /><Relationship Type="http://schemas.openxmlformats.org/officeDocument/2006/relationships/notesMaster" Target="/ppt/notesMasters/notesMaster1.xml" Id="Ra68783f395c349f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1cafc3ab3174a25" /><Relationship Type="http://schemas.openxmlformats.org/officeDocument/2006/relationships/notesMaster" Target="/ppt/notesMasters/notesMaster1.xml" Id="Re42ecbe3e9e3463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29f69f4102d4530" /><Relationship Type="http://schemas.openxmlformats.org/officeDocument/2006/relationships/notesMaster" Target="/ppt/notesMasters/notesMaster1.xml" Id="Ra2f8369865c54b9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1119a7e0b3e4577" /><Relationship Type="http://schemas.openxmlformats.org/officeDocument/2006/relationships/notesMaster" Target="/ppt/notesMasters/notesMaster1.xml" Id="Rfedfe948022b431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461146c4b2e45a7" /><Relationship Type="http://schemas.openxmlformats.org/officeDocument/2006/relationships/notesMaster" Target="/ppt/notesMasters/notesMaster1.xml" Id="R83c21861e0064fd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78468c02a4b404c" /><Relationship Type="http://schemas.openxmlformats.org/officeDocument/2006/relationships/notesMaster" Target="/ppt/notesMasters/notesMaster1.xml" Id="Ra695657c38ac4b0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2a5e15e4ea24dd1" /><Relationship Type="http://schemas.openxmlformats.org/officeDocument/2006/relationships/notesMaster" Target="/ppt/notesMasters/notesMaster1.xml" Id="R022f7d796f31464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8cac03ded8a49cb" /><Relationship Type="http://schemas.openxmlformats.org/officeDocument/2006/relationships/notesMaster" Target="/ppt/notesMasters/notesMaster1.xml" Id="Ra56f5445c0ed458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4456fb6252f4fa6" /><Relationship Type="http://schemas.openxmlformats.org/officeDocument/2006/relationships/notesMaster" Target="/ppt/notesMasters/notesMaster1.xml" Id="R1c438419fb634a2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85f6f85abed4cf8" /><Relationship Type="http://schemas.openxmlformats.org/officeDocument/2006/relationships/notesMaster" Target="/ppt/notesMasters/notesMaster1.xml" Id="Rd7eee2530606474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b5912d8d2ca492f" /><Relationship Type="http://schemas.openxmlformats.org/officeDocument/2006/relationships/notesMaster" Target="/ppt/notesMasters/notesMaster1.xml" Id="Rf171119034134d4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529455fe0874c3b" /><Relationship Type="http://schemas.openxmlformats.org/officeDocument/2006/relationships/notesMaster" Target="/ppt/notesMasters/notesMaster1.xml" Id="Rf6ed7d705070483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ecfc8b4e503431c" /><Relationship Type="http://schemas.openxmlformats.org/officeDocument/2006/relationships/notesMaster" Target="/ppt/notesMasters/notesMaster1.xml" Id="R0be05173048d4b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4578c587234e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c86dc4b8b04772" /><Relationship Type="http://schemas.openxmlformats.org/officeDocument/2006/relationships/slideLayout" Target="/ppt/slideLayouts/slideLayout1.xml" Id="R1e15a0bc53eb4f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15a0bc53eb4f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6a718c6cd4b1a" /><Relationship Type="http://schemas.openxmlformats.org/officeDocument/2006/relationships/notesSlide" Target="/ppt/notesSlides/notesSlide1.xml" Id="Rb2f636682c3743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88e75850344bd" /><Relationship Type="http://schemas.openxmlformats.org/officeDocument/2006/relationships/notesSlide" Target="/ppt/notesSlides/notesSlide2.xml" Id="Re1d9529fa16845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656a499a3493e" /><Relationship Type="http://schemas.openxmlformats.org/officeDocument/2006/relationships/notesSlide" Target="/ppt/notesSlides/notesSlide3.xml" Id="Ra95cd5c469ce44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6e3c105054072" /><Relationship Type="http://schemas.openxmlformats.org/officeDocument/2006/relationships/notesSlide" Target="/ppt/notesSlides/notesSlide4.xml" Id="R284ff43695a342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2344c1eac4b7d" /><Relationship Type="http://schemas.openxmlformats.org/officeDocument/2006/relationships/notesSlide" Target="/ppt/notesSlides/notesSlide5.xml" Id="R02dfbd2956f441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4e64eba4c4137" /><Relationship Type="http://schemas.openxmlformats.org/officeDocument/2006/relationships/notesSlide" Target="/ppt/notesSlides/notesSlide6.xml" Id="Rdbe7b6f56c9b4a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84041fc674095" /><Relationship Type="http://schemas.openxmlformats.org/officeDocument/2006/relationships/notesSlide" Target="/ppt/notesSlides/notesSlide7.xml" Id="R2f53ea7269484d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7f96c6e064be8" /><Relationship Type="http://schemas.openxmlformats.org/officeDocument/2006/relationships/notesSlide" Target="/ppt/notesSlides/notesSlide8.xml" Id="R7412126434ab4e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06f04961f4178" /><Relationship Type="http://schemas.openxmlformats.org/officeDocument/2006/relationships/notesSlide" Target="/ppt/notesSlides/notesSlide9.xml" Id="Rf331f57b9aaf49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6f43664094b88" /><Relationship Type="http://schemas.openxmlformats.org/officeDocument/2006/relationships/notesSlide" Target="/ppt/notesSlides/notesSlide10.xml" Id="R7c8767eaaa8144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722f7f6e7416e" /><Relationship Type="http://schemas.openxmlformats.org/officeDocument/2006/relationships/notesSlide" Target="/ppt/notesSlides/notesSlide11.xml" Id="Rd457b012a3674e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470542dc44c46" /><Relationship Type="http://schemas.openxmlformats.org/officeDocument/2006/relationships/notesSlide" Target="/ppt/notesSlides/notesSlide12.xml" Id="Re17fb2030f114f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f1328d6f148bd" /><Relationship Type="http://schemas.openxmlformats.org/officeDocument/2006/relationships/notesSlide" Target="/ppt/notesSlides/notesSlide13.xml" Id="R64e757bb1f344a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d91eb00b64cd1" /><Relationship Type="http://schemas.openxmlformats.org/officeDocument/2006/relationships/notesSlide" Target="/ppt/notesSlides/notesSlide14.xml" Id="Re45db3d8ad1f4a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5c56d7769416f" /><Relationship Type="http://schemas.openxmlformats.org/officeDocument/2006/relationships/notesSlide" Target="/ppt/notesSlides/notesSlide15.xml" Id="Rb621a5cbc98843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b77736e194cd6" /><Relationship Type="http://schemas.openxmlformats.org/officeDocument/2006/relationships/notesSlide" Target="/ppt/notesSlides/notesSlide16.xml" Id="R7d61b009949540d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488bd57904ffe" /><Relationship Type="http://schemas.openxmlformats.org/officeDocument/2006/relationships/notesSlide" Target="/ppt/notesSlides/notesSlide17.xml" Id="R53422b46603f453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ea552c18e4273" /><Relationship Type="http://schemas.openxmlformats.org/officeDocument/2006/relationships/notesSlide" Target="/ppt/notesSlides/notesSlide18.xml" Id="Re201d931e8f144d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7f14141ae43a5" /><Relationship Type="http://schemas.openxmlformats.org/officeDocument/2006/relationships/notesSlide" Target="/ppt/notesSlides/notesSlide19.xml" Id="Rd4e1f1be9648497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a94341fbd4e0d" /><Relationship Type="http://schemas.openxmlformats.org/officeDocument/2006/relationships/notesSlide" Target="/ppt/notesSlides/notesSlide20.xml" Id="Rd07e0cb87d69461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39eee1cd84af2" /><Relationship Type="http://schemas.openxmlformats.org/officeDocument/2006/relationships/notesSlide" Target="/ppt/notesSlides/notesSlide21.xml" Id="Rb050d2c4670b46e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a1d84e6ab4783" /><Relationship Type="http://schemas.openxmlformats.org/officeDocument/2006/relationships/notesSlide" Target="/ppt/notesSlides/notesSlide22.xml" Id="Ra1901d0b8fd4428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66087eef44ffb" /><Relationship Type="http://schemas.openxmlformats.org/officeDocument/2006/relationships/notesSlide" Target="/ppt/notesSlides/notesSlide23.xml" Id="Rbed1391389954cb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fdf015c624806" /><Relationship Type="http://schemas.openxmlformats.org/officeDocument/2006/relationships/notesSlide" Target="/ppt/notesSlides/notesSlide24.xml" Id="Rd2bf40d90db1453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59ff20b06413f" /><Relationship Type="http://schemas.openxmlformats.org/officeDocument/2006/relationships/notesSlide" Target="/ppt/notesSlides/notesSlide25.xml" Id="R1c3edd8288c349f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2385a00764c5f" /><Relationship Type="http://schemas.openxmlformats.org/officeDocument/2006/relationships/notesSlide" Target="/ppt/notesSlides/notesSlide26.xml" Id="R6f63b5d75baf4eb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bb38de3aa4e20" /><Relationship Type="http://schemas.openxmlformats.org/officeDocument/2006/relationships/notesSlide" Target="/ppt/notesSlides/notesSlide27.xml" Id="Re05d970ee3a6414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22f57b0dc4063" /><Relationship Type="http://schemas.openxmlformats.org/officeDocument/2006/relationships/notesSlide" Target="/ppt/notesSlides/notesSlide28.xml" Id="R009f8df6afd4426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e8d66863d423d" /><Relationship Type="http://schemas.openxmlformats.org/officeDocument/2006/relationships/notesSlide" Target="/ppt/notesSlides/notesSlide29.xml" Id="R7be352540841406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ffcad116c42a8" /><Relationship Type="http://schemas.openxmlformats.org/officeDocument/2006/relationships/notesSlide" Target="/ppt/notesSlides/notesSlide30.xml" Id="R68da7117839047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5D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3D4E0-FCD8-46CE-9832-106F3992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A3219"/>
                </a:solidFill>
              </a:defRPr>
            </a:pPr>
            <a:r>
              <a:rPr sz="825" b="1">
                <a:solidFill>
                  <a:srgbClr val="7A3219"/>
                </a:solidFill>
              </a:rPr>
              <a:t>01 / 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889AE-23EF-44AB-951F-B7148970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47750"/>
            <a:ext cx="7239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Thử nghiệm những kỹ thuật</a:t>
            </a:r>
          </a:p>
          <a:p xmlns:a="http://schemas.openxmlformats.org/drawingml/2006/main">
            <a:pPr algn="l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khai thác lỗ hổng bảo mật</a:t>
            </a:r>
          </a:p>
          <a:p xmlns:a="http://schemas.openxmlformats.org/drawingml/2006/main">
            <a:pPr algn="l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ứng dụng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61492-50B3-430D-9ADC-1464B93D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3219"/>
                </a:solidFill>
              </a:defRPr>
            </a:pPr>
            <a:r>
              <a:rPr sz="1050" b="1">
                <a:solidFill>
                  <a:srgbClr val="7A3219"/>
                </a:solidFill>
              </a:rPr>
              <a:t>21127645 Lê Minh  ·  21127224 Nguyễn Vũ Bách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3B9F8-82BF-44AA-A9B1-06EB21CA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3219"/>
          </a:solidFill>
          <a:ln xmlns:a="http://schemas.openxmlformats.org/drawingml/2006/main" w="0">
            <a:solidFill>
              <a:srgbClr val="7A321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454C0-D8E1-4696-94F4-0C9F2A15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LAB01  XSS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EA82F-3589-4761-AF8C-AB6745DC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714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LAB02  BUFFER OVERFLOW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1BD79-D280-49A1-B547-72010623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14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LAB03  PARAMETER TAMPERING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CCC9B-7616-4C9F-886A-2B7D8EE1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LAB04  CSRF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C0AE9-2B71-4878-A29F-A759BDFD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2386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LAB05  SQL INJECTION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ADE3C-52FD-4D92-8553-9E6662B1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386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LAB06  COOKIE POISONING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05C73-BEF0-4BDA-8F74-5626423D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3219"/>
                </a:solidFill>
              </a:defRPr>
            </a:pPr>
            <a:r>
              <a:rPr sz="750" b="1">
                <a:solidFill>
                  <a:srgbClr val="7A3219"/>
                </a:solidFill>
              </a:rPr>
              <a:t>LOCAL ONLY · 6 VULNERABLE/SECURE PAIRS · SOURCE-BACKED</a:t>
            </a:r>
          </a:p>
        </p:txBody>
      </p:sp>
    </p:spTree>
    <p:extLst>
      <p:ext uri="{BB962C8B-B14F-4D97-AF65-F5344CB8AC3E}">
        <p14:creationId xmlns:p14="http://schemas.microsoft.com/office/powerpoint/2010/main" val="506075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7E2906-83D3-4ABB-82AC-D06F21F6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PHẦN A · MỞ ĐẦU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607D8-227D-4532-A3D3-51A9139E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02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6310A-0127-4504-9B13-6BD53899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BD60D-0831-4DA4-8900-325284F0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Mục tiêu, phạm vi và quy định an toàn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C011F-B5F5-4776-AD11-8F22C85B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5970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31597-5F83-4A08-A6B8-496B4C3F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44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NHẬN DIỆN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20D5F-EA97-44AA-811E-25151847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950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05A0A-36F2-49B4-9CCE-A0DDAE8D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175" y="1143000"/>
            <a:ext cx="15970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64058-D4A2-4C71-9C31-F529A9CA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375" y="1219200"/>
            <a:ext cx="144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KHAI THÁC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EC13C-665E-4709-941A-46F6E2DE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82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D5E4F-AE21-4AED-AFCC-38E9C92D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1143000"/>
            <a:ext cx="15970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F9288-6A0A-4E9E-93C8-CB5B4E02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219200"/>
            <a:ext cx="144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QUAN SÁT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A4B72-FA2E-4576-B1C5-39D94C0B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A521E-3D80-4A41-841D-427A8F4B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143000"/>
            <a:ext cx="15970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3FFB0-4EA8-4EA7-A0C3-12E9BB3B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19200"/>
            <a:ext cx="144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PHÂN TÍCH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F492B-C5D9-40C8-892B-927AD735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57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3DDEF-8EFC-4A79-9791-CB2F2CF3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143000"/>
            <a:ext cx="15970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8433C-1093-49D5-AB0E-364F1714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1219200"/>
            <a:ext cx="144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VÁ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B10A6-25A6-4599-AE06-1ED6D53F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50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AB414-094E-4296-9F2B-9DC2AFD9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75" y="1143000"/>
            <a:ext cx="15970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D42EC-6FB2-46A2-BA34-ED54C170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75" y="1219200"/>
            <a:ext cx="144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RETEST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5848A5-D313-43CD-8275-0EAA7FEB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3632200" cy="440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67E9D-F47F-42E6-AA7C-585658C0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71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84B05-FDED-49EC-B50C-07061B77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Mục tiêu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46D7B1-A28A-40D7-A3E9-6ECCEAF0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Giải thích cơ chế và trust boundary.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2D602F-5ED1-4886-8313-98FABD1A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9488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Demo đúng route/payload local.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C61FC8-FC32-41EF-8E2E-D378CD41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Quan sát request, response, trace, DB/log.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6F6D29-F44E-4D3C-88E1-D4C07353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3063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Vá lỗi và kiểm chứng lại.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853927-C5B6-4B8F-9BF3-035D75B9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33600"/>
            <a:ext cx="3632200" cy="440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658D2D-1794-4D23-BC72-6AC63F37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33600"/>
            <a:ext cx="571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C63453-7499-47C6-BCAC-62B73A9B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22885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Chu trình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1FFA23-EEE8-43E3-A512-89E0DC68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5527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Nhận diện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77441F-355C-474C-922B-40729572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197225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Khai thác trong lab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5E2811-A7FD-40D7-8AF2-E6F19EEA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8417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Quan sát 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9FE556-AB6E-4218-96F8-222DE51B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4486275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Phân tích nguyên nhân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2812CF-7D18-48AF-92DD-CB3F82BF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51308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Vá lỗi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358789-F362-4F94-AD5C-CE518DE2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5775325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Kiểm chứng secure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370033-CA68-4D8C-A746-8FAB8EF3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133600"/>
            <a:ext cx="3632200" cy="440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05FD7D-5F06-41AF-A49C-681F4319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133600"/>
            <a:ext cx="571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9AD7C9-B708-4C2E-B52C-C171D1CC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22885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Quy định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E58CAB-BAD8-432C-B877-DD415533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527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Chỉ chạy local/loopback.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2AB6BD-5829-4A87-A2F9-3E860043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19488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Không thử website thật.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40EA39-4D5B-41C5-86DB-3CD87F59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486275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Không dùng dữ liệu thật.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B4969F-9F17-4F37-A884-AAAC0F9C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5453063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Không malware, reverse shell hoặc persistence.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27C663-62B5-4E53-BB9C-C540F936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A59482-C02D-4064-81B5-B0064305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B83F47-2CB3-4BC2-82B0-404DF53E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5718349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7F100A-BC67-43A8-9466-B5583BED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PHẦN A · MỞ ĐẦU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47C03-2F0B-4A3D-91C7-00D3B56D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03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85B44-E9D3-4AEF-BBDF-6DB6E7A6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89514-8F2A-4B3C-A79E-2CFDA19A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Sáu lab, sáu điểm đặt niềm tin sai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382F6-249C-4A53-904D-AE17A34C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36322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B4FCC-1CC1-4EE5-980A-DF661BB6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57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D2896-6062-4212-80DD-7FA92E8F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01 · XSS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F3C19-A927-4DF7-AA9E-CB2B0395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Lỗi: HTML/DOM sink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7B859-4098-452C-8F20-A39C8765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0263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Tin sai: text là markup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FCC58-D12A-4BFD-9683-EA13DD0B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Ảnh hưởng: chạy 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42A98-A55F-467A-8F8C-61C21FE0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8488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Vá: encode · sanitize · textContent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8887B-A883-4A95-8D3B-46B38882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162050"/>
            <a:ext cx="36322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13D5C-7C04-4F15-B6C3-71400059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162050"/>
            <a:ext cx="57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45BD0-EBD7-43F2-A40D-A4766B75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125730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02 · Buffer Overflow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E9E0C-DBDC-4917-A289-F7FB71DC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15811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Lỗi: native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C4660-246F-4BA9-AAD1-751CE2A9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100263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Tin sai: input vừa buffer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BD74F-6449-47F6-83B6-6CC85DEB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619375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Ảnh hưởng: crash/corruption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80C42-0381-41E2-8F83-A9439BE6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138488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Vá: bounds + hardening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FED10-70CC-4D57-8C40-1DEFF9FD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162050"/>
            <a:ext cx="36322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13811A-D7BF-4D6A-A4A8-6B1D54BA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162050"/>
            <a:ext cx="57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0FD28F-F2D8-4376-9869-4DEE1847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125730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03 · Parameter Tampering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4FE58D-B2FF-4F0B-BDFC-9CE947C0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15811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Lỗi: business logic/authz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8FD18-EB39-4664-B9EE-21EE290C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00263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Tin sai: giá, ID, role client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9364E2-9C40-4BDB-B305-7A2DE137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619375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Ảnh hưởng: sai giá/IDOR/role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47E63-6AE6-4269-A768-63D45C40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138488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Vá: DB + object authorization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87E53D-13FF-445F-9D48-FC5D1455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24300"/>
            <a:ext cx="36322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0C611B-0DEE-41F3-B99C-166F39F0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24300"/>
            <a:ext cx="57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0AC926-923C-4DCF-B831-A7F0BE27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04 · CSRF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D99E4F-1FE9-4123-941B-63809E05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Lỗi: state-changing request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B8807C-10E7-4051-9C7E-80BA3BC6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2513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Tin sai: có cookie là chủ 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B83173-D26B-408F-914A-48EC22A3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Ảnh hưởng: đổi dữ liệu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40E9A1-58CB-4A88-BA44-BD9FD387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0738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Vá: token + Origin/Referer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50BE78-C4FA-4A41-9329-42D1273D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924300"/>
            <a:ext cx="36322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F79B08-73DF-4AE0-8464-DAD66A29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924300"/>
            <a:ext cx="57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EE7118-2567-424A-984D-1AB65A62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401955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05 · SQL Injection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DDA2EB-B00F-436E-BCD0-F782F4E4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43434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Lỗi: query construction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FAE300-F8B6-41E2-B81B-24BE15AE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4862513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Tin sai: input là SQL text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24A917-EEF9-4B04-8B5A-2A81F3D2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5381625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Ảnh hưởng: bypass/rò dữ liệu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426B17-9480-43F7-B811-B53BE446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5900738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Vá: parameter binding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4EF347-4B01-426F-A8C8-CCE00089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924300"/>
            <a:ext cx="36322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A8F785-4265-49C3-AAE4-C6BD18C5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924300"/>
            <a:ext cx="57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85EFE1-1DF0-4387-8EDA-73517BCF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1955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06 · Cookie Poisoning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85B25F-21EC-43C7-95EA-15CC7D25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3434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Lỗi: client state/authz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F38475-A066-4E48-94BB-236B33B5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862513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Tin sai: role trong cookie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6822D8-CDA0-47CF-93ED-094DA962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5381625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Ảnh hưởng: leo quyền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AD7EDC-6504-4ECA-A2AD-0BEB924E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5900738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Vá: signature/session server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55AE01-8C25-40FF-BFB7-8A325062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DD5D91-496F-4531-AF3D-79710758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42E97D-06C6-442C-A201-3156A8AC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7890063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15BC68D-1C91-4D3D-A062-E150B7F2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LAB01 · XSS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2642A-7213-440D-93B6-38B24703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04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B5495-7ACF-405D-9133-3C20D6B5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F88C0-D64A-4DAF-B0B1-6A2A5EA5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Ba loại XSS khác nhau ở đường dữ liệu đi vào sink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03D34-8F2D-4B80-BAA7-7C6748F6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7223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D28C6-7748-44AF-B3BF-DBF77448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6461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QUERY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966C9-9945-469E-8BAF-58F01EB6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712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6B343-1AB7-4C6F-93BD-16DC52DA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262" y="1162050"/>
            <a:ext cx="7223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59995-1D55-40A0-B53A-49E9C95C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362" y="1200150"/>
            <a:ext cx="6461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FLASK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6E283-6586-4965-85A5-EBDE01C1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75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456FF-9090-4C86-A3BE-4A6E4CDA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25" y="1162050"/>
            <a:ext cx="7223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6618D-03A9-46C6-A1E2-D14C0515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325" y="1200150"/>
            <a:ext cx="6461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HTML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ADE88-86B7-42FD-8AFB-D2F879E6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638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0A02F-8321-43CB-BBCF-95022494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1162050"/>
            <a:ext cx="7223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B0311-6926-4803-8B15-8A7571C5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200150"/>
            <a:ext cx="6461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BROWSER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4EED0-407F-47B5-AEB9-E2E18E06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162050"/>
            <a:ext cx="7223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A835E-EAC8-47C6-9D45-E99D6908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200150"/>
            <a:ext cx="6461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COMMENT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D83940-7B7F-4B6F-A523-B75A2D14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313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C2201-876C-41FC-B15A-F79ADE4B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9863" y="1162050"/>
            <a:ext cx="7223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0495E1-87D6-4D45-B381-76FA8B86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963" y="1200150"/>
            <a:ext cx="6461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SQLITE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ED85A6-487C-4CB7-A7E1-BC21E730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7BC0D-1A53-4529-8A42-41F3A164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162050"/>
            <a:ext cx="7223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14D499-F214-49D8-B93D-932F6B3E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200150"/>
            <a:ext cx="6461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HTML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18A0B8-DEED-4861-983E-1EC98171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0238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DFF173-8CD8-496A-AB44-B4A01559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9787" y="1162050"/>
            <a:ext cx="7223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246DB2-1C60-4243-9C5B-C3BAE4C7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887" y="1200150"/>
            <a:ext cx="6461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NHIỀU USER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4A0486-E335-4C5A-A517-5A1CF289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162050"/>
            <a:ext cx="7223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6F8948-8ECE-490A-A11C-B4792241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1200150"/>
            <a:ext cx="6461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#HASH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2D5B31-5CD1-4AF7-98A0-28639E2E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419A10-7E22-4DBA-B56A-A17258E3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1162050"/>
            <a:ext cx="7223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1F8102-4EA3-4BA8-9B68-F6E146F0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200150"/>
            <a:ext cx="6461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JAVASCRIPT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4555DA-F17A-4ABC-BDBD-451F9D77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875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75BFE5-09FE-4D38-9E6F-82923940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425" y="1162050"/>
            <a:ext cx="7223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0EB6B4-FC8E-4F0B-8F50-461DA9AC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525" y="1200150"/>
            <a:ext cx="6461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innerHTML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A74DC8-6931-4CC2-9C5B-040D1A4C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4837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2D9672-14C4-4D18-8B57-1963ACAA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387" y="1162050"/>
            <a:ext cx="7223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692D50-66A8-4C7D-BA86-DE9C5F65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2487" y="1200150"/>
            <a:ext cx="6461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DOM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12EF59-E2CE-406C-B6FE-46E58CFE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36322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071B50-3B82-4769-B219-A96D27D8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571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F7035A-EAAA-4139-910F-4960CED5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Reflected XSS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A4233E-F7C0-421E-B342-2564A4E9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Source: query q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E97FB5-F0FA-4A37-8644-B6A44577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Sink: HTML response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E55405-EF45-4274-B913-59700AA0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Tồn tại: một request/URL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13072F-F19F-4122-A4B1-AC250D5D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Nạn nhân: người mở URL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159D22-8DD9-46C9-862C-8025F779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Server phản chiếu dữ liệu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D9B2D4-FF0F-4CFC-99B4-90590986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000250"/>
            <a:ext cx="36322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2EB48F-DE7B-455D-8004-BBDE6CE8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000250"/>
            <a:ext cx="571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0BEEE4-4FB4-4EB4-80FD-0A44EBCB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09550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Stored XSS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2C0152-851E-4A40-805F-65AEE689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4193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Source: comment form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74F495-C27D-4425-838E-584F6B30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1051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Sink: HTML khi render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442E8B-5711-4996-AFAD-A5C6AE09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7909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Tồn tại: SQLite comments.body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E92B7B-7DB4-4F78-B513-3811858A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44767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Nạn nhân: mọi người xem bài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F1B573-4838-4AA8-9497-58D509ED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51625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Server lưu rồi phát lại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CB96EC1-FBC1-460D-8F02-6D303E08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000250"/>
            <a:ext cx="36322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1F9D6C-92E5-486C-AE66-7242B8C8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000250"/>
            <a:ext cx="571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92C58A-4BC0-47EC-8C32-93CEBA3E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09550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DOM-based XSS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A2AC1A-AEAE-48FB-97E4-13B9F97B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4193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Source: location.hash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A0658E-81A4-490B-B60F-C8242842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1051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Sink: innerHTML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C88770-959F-4C80-BDD6-E2C26B58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7909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Tồn tại: URL fragment/client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B5BE8B-C1A3-4190-A385-9FB72BCD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4767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Nạn nhân: người mở URL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C75E30B-D189-400C-B219-540BFF68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51625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Server không nhận fragment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ACE27AA-3F52-4ACE-9AE7-FB66916F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57900"/>
            <a:ext cx="11201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83F8A14-5B93-4835-BC8F-FB46A18C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85D26"/>
                </a:solidFill>
              </a:defRPr>
            </a:pPr>
            <a:r>
              <a:rPr sz="713" b="1">
                <a:solidFill>
                  <a:srgbClr val="E85D26"/>
                </a:solidFill>
              </a:rPr>
              <a:t>VÍ DỤ THỰC TẾ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1E04FA3-F477-4F89-8A40-BA6337CD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10552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01  Link search/campaign phản chiếu payload khi mở.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95B2FF-4356-408D-ACB2-601117B9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550" y="610552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02  Bình luận/review lưu payload cho mọi người xem.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180DAA0-B944-4DBE-B116-4009F685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610552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03  SPA đọc #hash rồi gán vào innerHTML.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E5C3BFB-D587-46DE-8AA0-C150D4B0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BA1272A-7813-4704-B4CF-4A740086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B781F5A-EA53-4D35-AC36-F914C48D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16985297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59908C-E02B-4497-A2CB-803ABFAA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LAB01 · XSS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9DA1A-48BE-4BF2-B0AB-006381C5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05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07B98-00BC-4EE3-8424-D7B54F9F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B4BC5-7321-49FE-88FA-ADA70062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Reflected XSS: Markup biến dữ liệu thành HTML thực thi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11378-42A7-4E1B-AFBC-3BD53C6F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25574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BDC23-4194-4BBD-B89C-E5A9AC5D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240506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q từ URL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11278-91BE-49F4-ADBF-5B53848E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388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AF169-FDDB-442B-94F3-C2AE2ABC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1143000"/>
            <a:ext cx="25574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9ABCB-1D7B-400F-BC56-FF197470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1219200"/>
            <a:ext cx="240506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Markup(q)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E2F05-9488-47FF-AF12-F3686B05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2E03F-54CD-478D-871D-0A81DA8C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143000"/>
            <a:ext cx="25574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54AAF-EB19-42CA-933F-7E4410D2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19200"/>
            <a:ext cx="240506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HTML response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970C9-31F3-4880-B61B-80A388C5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33B36-7AAB-4BAA-98A6-0B3D2950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1143000"/>
            <a:ext cx="25574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E3F16-ECB5-41A4-A94F-45F991D7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1219200"/>
            <a:ext cx="240506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Browser thực thi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BDEBDC-4BE4-47A4-925D-C601876E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524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F7450-D9AE-4CEC-BC40-51DA74ED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71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08587E-0050-4D34-83B3-348CC471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Vulnerable · app.py / search()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E9CBA-C3AE-49FD-94B4-6D761B89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GET /vulnerable/search?q=…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77785-C567-407E-9219-E16E6B8D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4188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Payload img/onerror an toàn trong local.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69F0C3-406A-41FC-9390-0A048D63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Response 200 chứa img/onerror chưa encode.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B7C19A-1D0D-48F9-A9BA-68D355AA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7163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Browser parse HTML → event handler chạy.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AC741C-F6E7-4F6D-87B0-A5ECB43F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3B61B1-95DF-453A-BECB-C936058D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06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raw = request.args.get("q", "")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return traced(..., q=Markup(q))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# reflected_vulnerable.html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Kết quả cho: {{ q }}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E5E692-28CC-4F96-A18E-B8D42F8B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524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369AAB-33E8-4CB2-A40E-7B47048F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71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E7A381-B356-4B40-BD80-1F934A30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Secure · cùng hàm search()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508806-F17F-4A55-AEC4-0EC5C3BD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GET /secure/search?q=…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120DEE-5F9C-40D1-BB50-5E7A8082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4188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Jinja autoescape giữ input là text.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36367D-D4F2-4058-A970-32579924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95675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Trace chứa &amp;lt;img … &amp;gt;; CSP hỗ trợ.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A36F9B-C4E8-4821-B86D-16D03089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67163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DOM không tạo element/event handler.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0E242D-51DB-43FA-B8F1-2802BE1F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AC0FA8-1A21-4046-8BC8-61760B95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506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return traced(..., q=q)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# reflected_secure.html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Payload hiển thị như văn bản: {{ q }}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# output encoding đúng ngữ cảnh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C7AC75-E37C-4BA9-AD45-B9F4D0B2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1201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5D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7EC69E-52D4-44BC-8E4C-EB21743A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C71F18-857A-4E32-90A3-9E0534A7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DEMO CUE · XSS-R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CC8B42-39E4-464A-815E-48D2F3B1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10225"/>
            <a:ext cx="902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http://127.0.0.1:5000/vulnerable/search · Không cần đăng nhập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4B2B79-1215-4DE6-A943-52FA1BD6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INPUT  &lt;img src=x onerror="alert('Reflected XSS')"&gt;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49D3CC-12AA-48C6-BF95-2D916C07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674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1. Mở URL vulnerable  →  2. Xem Network response  →  3. Inspect DOM và alert  →  4. Mở route secure  →  5. So sánh encoded output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EC9939-44BD-44E8-9646-749D743D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QUAN SÁT  Query · HTML response · DOM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3AE80E-676B-48FE-83EA-4AFE5476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VULN  payload_executed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664EA4-C2DE-47B4-B920-0DC61B44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SECURE  rendered_as_text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4BFDD0-F9BD-4CB0-9AC9-30D1C5DA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34100"/>
            <a:ext cx="327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Không dùng Markup cho input không tin cậy.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890710-B8D8-45A8-B949-BA659EF4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BE8D92-687D-41F4-9E87-F34C56CB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7EF90A-3702-4DCB-ACE3-4947B6E7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3930313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13C4C36-893D-4B48-8D7F-63C8D6A5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LAB01 · XSS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746EB-8E31-46EF-99EA-7A15CE17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06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82B60-0010-43A7-B0B3-F6DB8358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BDB1F-86CB-4779-81C1-287579F2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Stored XSS nguy hiểm vì payload được lưu và phát lại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D0A93-970D-4525-A821-B8659A86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25574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63CD6-2B65-44C7-AACD-60B00DE9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240506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CF77B-4D85-45B8-ABF0-A082EB83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388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1E0ED-8A04-45F8-B6D5-2B663780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1143000"/>
            <a:ext cx="25574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96FCC-450E-432B-83B0-4CA49E92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1219200"/>
            <a:ext cx="240506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SQLITE: raw payload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32F6C-92F3-446C-9E3F-D85FBC83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9C6D4-B0BE-41AA-80E7-A4EF1E97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143000"/>
            <a:ext cx="25574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FD671-AC68-40F4-BA99-6364555F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19200"/>
            <a:ext cx="240506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RENDER Markup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ECADC-3049-4BCB-8EFF-3D022AAF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EFE6F-A829-48CE-AA14-284F1E63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1143000"/>
            <a:ext cx="25574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C9B3F-7FB1-44F3-BF77-973C105F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1219200"/>
            <a:ext cx="240506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NHIỀU BROWSER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CAC5A-991B-4B90-A3EF-514B6C87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52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69B9E-CFB2-4062-B0C5-8716FA19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06593-37EC-4212-B55C-DFC525B9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1 · Form / payload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04F049-4363-4A70-9A9F-CE423883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POST /vulnerable/post/1/comments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F9AA0-D660-49DD-B443-0B9F8B5F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83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author=Kiểm thử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06ADD-E2A5-48E7-9AE4-0A82129D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39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body=&lt;img …&gt;&lt;strong&gt;Xin chào&lt;/strong&gt;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803640-0D87-4700-B0B4-732E0CE1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52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178C86-E1B3-4FA5-A391-9C6A3BBB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80C5AC-9437-47E5-8E63-C6BD9836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2 · SQLite thật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3B0317-85B7-4FC3-8162-25D52179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Bảng comments lưu raw body.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F8A11F-30CC-4E25-84AD-4AD91D16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083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Evidence: stored=true; row_count=3.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4C087C-76FE-477D-A70C-3A4BEADE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639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Database Inspector còn nguyên img/onerror.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2CC8F5-A6B4-42A2-B846-65023A0B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552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C297A4-0263-49DD-8645-2B0F692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FED770-C873-4F6A-8641-B675C8DF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3 · Reload / người khác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28837C-CF32-4879-8A78-CF31B6EB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SELECT rồi Markup(body).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CCDC27-0860-455D-90BA-834558D1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09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Payload có thể chạy lại mỗi lần render.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208EFA-E562-452E-90B0-2EC5C4B0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65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Phạm vi tăng theo số người xem.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A57270-33D1-4CB9-B05F-E868E1D3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552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6080ED-306F-4ADA-B428-8FA5ED55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247866-44D4-411D-9C1B-08400F94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814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4 · Sanitization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09191A-D2E0-4C70-B400-472070FA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05300"/>
            <a:ext cx="5257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bleach.clean dùng allowlist.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A845B0-1C88-43C5-934D-0395DB40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05325"/>
            <a:ext cx="5257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img/onerror bị loại; strong được giữ.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C3F989-8DB6-42E3-A585-579FC1A2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05350"/>
            <a:ext cx="5257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DB có thể lưu raw, output phải an toàn.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8A55AF-7E30-478D-AFA3-305169EF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43450"/>
            <a:ext cx="5257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CD1527-6EAD-42FD-99F7-43B3F1E9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row["sanitized"] = Markup(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 bleach.clean(row["body"],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 tags=ALLOWED_TAGS, attributes={},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 protocols=[], strip=True))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9D8CE9-3E1A-48F2-8367-7B7FF6E0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1201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5D2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65F61E-DD3D-498A-A101-5498D6C5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F703CB-E33B-4C12-8DBB-F551EFEA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DEMO CUE · XSS-S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B8A238-97DB-4775-B911-996EF112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10225"/>
            <a:ext cx="902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http://127.0.0.1:5000/vulnerable/post/1/comments · Không cần đăng nhập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F958EC-B7F9-488E-9BB2-6E9A10BC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INPUT  &lt;img src=x onerror=alert(1)&gt;&lt;strong&gt;Xin chào&lt;/strong&gt;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00BA3B-4941-4192-9A82-A783F3E8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674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1. POST comment  →  2. Xem Database Inspector  →  3. Reload trang  →  4. Mở secure  →  5. So sánh sanitized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6D690C-742C-4A17-B794-BA28020B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QUAN SÁT  Request · comments.body · response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E1F141-4BEE-452A-A4ED-734453BC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VULN  thực thi lặp lại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DC70AD-7E8B-4A78-B90C-39CF040A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SECURE  chỉ còn &lt;strong&gt;Xin chào&lt;/strong&gt;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AD34C7-CBAB-4273-B1B9-5D9ED8E5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34100"/>
            <a:ext cx="327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Stored XSS nguy hiểm hơn vì payload tồn tại và khuếch đại.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0C4279-D210-488D-91DB-2291D58D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D19A61-801A-44C5-8B67-3E688014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692A84-4E41-4265-9C73-108F432B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16955507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EEC915-5112-4314-8E4F-772787ED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LAB01 · XSS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165F2-142A-4D22-ACE7-AA98DA6C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07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57B56-1924-4E0F-9584-ED96947B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34A49-1473-4CD5-A4DC-52E697D9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DOM XSS: fragment không lên server nhưng vẫn đến innerHTML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A8EE7-A2D8-48F2-A3EA-F42213C1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36B39-AFAF-4892-B36F-83A81EC1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URL #fragment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4DCD0-1C5D-43BF-B8E7-F995AA1A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A0D0D-6396-4E1C-8D78-8016B782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4D759-B615-4A80-A521-A6B5CFEB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location.hash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14330-95BA-4818-B26E-10149068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30F8E-0C85-42EA-8478-5ABA79F1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B517E-7F0D-40EC-946F-2921EBEF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decodeURIComponent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39A8B-1076-43A8-9663-A7906CF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D14C5-7F0E-40A6-8BBF-10AB008A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1D6D6-7A87-4D97-B401-61E1DA36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innerHTML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16D18-15CD-44CE-81B3-E5B3466E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7CFA4-C2D2-4895-9FDB-75BC68EC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C9211-9C84-42D8-B7CA-0AF3D298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DOM element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EF64E-FAA9-43CF-9816-5CDE26F9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524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C347E-ED20-48C9-9522-C3F2D83A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71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73EF3E-CBAA-4101-8CF4-9A89CB1C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Vulnerable · dom_vulnerable.js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82C83-51B9-4294-A70D-2DB75CD1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Source: location.hash.slice(1)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9EED37-BFB7-4FE5-80EB-32B278F6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4188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decodeURIComponent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FC4E0-FC03-423D-BB83-887BFA41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Sink: result.innerHTML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749E7B-4366-4ABD-9800-15E43B5B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7163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Network request không chứa fragment.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E43107-79CD-4C91-A63D-8F294F6D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15A12D-B992-4138-B7D1-90CC1A6F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06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const raw = location.hash.slice(1);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const value = decodeURIComponent(raw);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result.innerHTML = value;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15D057-145B-44C7-B913-0C120E9D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524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E004B1-D3DA-4B70-BF8C-ACEE34B4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71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ED492B-3E5E-485A-AA91-25A52505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Secure · dom_secure.js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746C06-D080-420A-9B27-7300C684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textContent tạo text node.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BD9D09-CD89-478D-9814-DF494F35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4188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Chỉ sanitize nếu thật sự cho phép HTML.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D0BA98-D03F-44A8-8E09-7393DB66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95675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CSP giảm hậu quả, không sửa sink.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4B7DF5-7475-4BB3-A667-908A2776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67163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Trace: rendered_as_text.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809CE4-7991-4892-A6CA-AE752032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CA06B9-4757-48AA-A9D3-83EAC915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506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const raw = location.hash.slice(1);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const value = decodeURIComponent(raw);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result.textContent = value;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59AF5B-7C95-4D2B-8BF5-6BB69BA4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1201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5D2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287E01-CEEE-45BA-A32D-5BE2C05C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97A960-9319-40BD-B698-EC2E2871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DEMO CUE · XSS-D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159841-0DBC-4D8A-96FE-C04233A7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10225"/>
            <a:ext cx="902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http://127.0.0.1:5000/vulnerable/dom-search#… · Không cần đăng nhập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BD7420-4BFB-4858-BBE4-355FDF48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INPUT  #&lt;img src=x onerror="alert('DOM XSS')"&gt;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ECBB46-1777-4501-B000-7E3BFA4F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674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1. Mở URL fragment  →  2. Network: fragment vắng mặt  →  3. Inspect DOM  →  4. Mở secure  →  5. So sánh text node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385FE7-E07A-4AFF-A25D-8F01D525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QUAN SÁT  Network · Elements · source→sink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C9139D-00D3-4952-B234-B959D5D3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VULN  innerHTML tạo element/event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4042A3-13E1-4318-A28F-690B7348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SECURE  textContent hiển thị literal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FFE871-3F7F-4BFB-BC9E-E2FF244E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34100"/>
            <a:ext cx="327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Lỗi hoàn toàn ở client-side sink.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B1DD49-02DC-4663-BFDC-122D3C2B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C00E9F-29A4-4544-9F4D-4F53EE97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2D6BC5-D3CD-4734-B847-D9B1AECD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3559298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47DE66-8C59-4F3A-8B5C-19C1516E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LAB01 · XSS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C9FA9-A93A-442D-A86D-C967FADE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08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5DF48-C51E-4D94-BAA1-A1B21B01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8B4F1-E081-4736-9233-D0880C82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Câu hỏi trong docx → Trả lời đúng trọng tâm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A9E45-2CA7-440E-BBD9-990A516F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85D26"/>
                </a:solidFill>
              </a:defRPr>
            </a:pPr>
            <a:r>
              <a:rPr sz="825" b="1">
                <a:solidFill>
                  <a:srgbClr val="E85D26"/>
                </a:solidFill>
              </a:rPr>
              <a:t>CÂU HỎI TRONG DOCX → TRẢ LỜI ĐÚNG TRỌNG TÂM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E61E4-084F-479A-9F40-37448AAC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5553075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FF979-A7D3-43B0-A5F9-6AE45C47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387822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01  Dữ liệu Reflected được đưa vào HTML ở đâu?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4368D-1A94-453A-BE6E-D12E7CAF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1514475"/>
            <a:ext cx="2903411" cy="57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Tham số q được truyền vào template tại vùng kết quả tìm kiếm; bản lỗi dùng Markup(q) nên trở thành markup.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30503-EC57-4A3D-8120-BDF6F86C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5200"/>
            <a:ext cx="5553075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26EDF-43C5-4BF7-BCD1-56CA1C53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2350"/>
            <a:ext cx="2387822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02  Ứng dụng có escape &lt;, &gt;, ", ' không?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0958F-929B-4208-BCA5-97A519B5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2282825"/>
            <a:ext cx="2903411" cy="57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Vulnerable không escape vì Markup đánh dấu trusted; secure để Jinja autoescape thành &amp;lt;, &amp;gt;, &amp;quot;, &amp;#39;.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131A6-A03C-452B-BE38-AB256659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03550"/>
            <a:ext cx="5553075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F341A-E4AF-460E-AA8D-873C53D4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0700"/>
            <a:ext cx="2387822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03  Nạn nhân bấm URL chứa payload thì sao?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1371F-DBBC-4DD4-A147-94267E31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3051175"/>
            <a:ext cx="2903411" cy="57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Server phản chiếu payload; browser parse response và event handler chạy trong origin của ứng dụng.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EA0E4-ABE0-40E7-BEA5-123EB741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71900"/>
            <a:ext cx="5553075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13B7F-AF73-4BBC-B5B2-324715BE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387822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04  Vì sao Stored nguy hiểm hơn Reflected?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37EC5-A7CE-4028-86D6-3C126CD7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3819525"/>
            <a:ext cx="2903411" cy="57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Payload tồn tại trong DB và tự phát lại cho nhiều lần xem, không cần nạn nhân mở đúng URL payload.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21DE8-83EA-4E7D-ABD8-3C222FD7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40250"/>
            <a:ext cx="5553075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59F243-41E0-4A50-88DD-FD67CDBF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7400"/>
            <a:ext cx="2387822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05  Stored ảnh hưởng mọi người xem trang không?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2B1281-D771-4D58-A2BF-E6A5D423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4587875"/>
            <a:ext cx="2903411" cy="57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Có, nếu họ nhận cùng HTML chứa payload; phạm vi phụ thuộc quyền xem bài viết.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2191E-A755-41F7-943D-47B8FABA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08600"/>
            <a:ext cx="5553075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7DF611-3FDD-4505-BC66-0FE278F9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5750"/>
            <a:ext cx="2387822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06  Cookie không HttpOnly có rủi ro gì?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1B2B73-B52E-4458-BFAA-2AFF42A2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5356225"/>
            <a:ext cx="2903411" cy="57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JavaScript do XSS có thể đọc cookie không HttpOnly và gửi ra ngoài; HttpOnly giảm hậu quả đánh cắp phiên.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0A6ED3-2357-4606-93AD-C23EEC60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66850"/>
            <a:ext cx="5553075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3814CE-FF1A-48CB-90C8-DF0B022B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4000"/>
            <a:ext cx="2387822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07  Vì sao DOM XSS xảy ra ở browser?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9C977C-0424-4947-91E8-3E141867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1514475"/>
            <a:ext cx="2903411" cy="57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Fragment không gửi tới server; JavaScript client đọc location.hash rồi đưa trực tiếp vào innerHTML.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F37418-51B7-43EC-9AFE-E0BD8F95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5200"/>
            <a:ext cx="5553075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1D07DA-DB99-4AA8-8BE9-0C99E681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92350"/>
            <a:ext cx="2387822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08  So sánh Reflected, Stored và DOM XSS?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E49FFA-C5E9-444E-AA4F-9786124B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2282825"/>
            <a:ext cx="2903411" cy="57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Reflected theo request hiện tại; Stored lưu server rồi phát lại; DOM là source→sink ở client.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74304D-FAF8-4646-B05D-4D9FC6F5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03550"/>
            <a:ext cx="5553075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A8E4A7-06CB-4A86-9D9A-90A8413E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060700"/>
            <a:ext cx="2387822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09  Vì sao validate input chưa đủ?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C80944-8B53-409D-82AC-C524240C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3051175"/>
            <a:ext cx="2903411" cy="57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Input hợp lệ nghiệp vụ vẫn có thể nguy hiểm ở ngữ cảnh HTML/attribute/URL/JS; phải xử lý đúng sink.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F77E33-BA8B-4D06-8BCD-771013C2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71900"/>
            <a:ext cx="5553075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8E605B-7D7D-487E-A4A8-1AD5C92C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29050"/>
            <a:ext cx="2387822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10  Vì sao cần output encoding?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83A292-A39C-41D0-9DBA-B401FCF5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3819525"/>
            <a:ext cx="2903411" cy="57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Encoding biến ký tự cú pháp thành dữ liệu, ngăn browser tạo node hoặc script.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9EA6F0-BDF2-4133-9F7F-8C8910D8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40250"/>
            <a:ext cx="5553075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85A12F-9563-4695-876A-BA106EE4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97400"/>
            <a:ext cx="2387822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11  CSP có thay thế sửa code không?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9606B4-80D7-406A-B330-76839A33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4587875"/>
            <a:ext cx="2903411" cy="57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Không. CSP là defense in depth; sink nguy hiểm vẫn phải sửa.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3466CE-E06F-4542-A413-8D5AE074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308600"/>
            <a:ext cx="5553075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25AEA3-A96E-41D9-AC70-2A04AE4C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65750"/>
            <a:ext cx="2387822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12  Vá từng lỗi thế nào?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ACB7CB-8044-4992-A89D-1800F720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5356225"/>
            <a:ext cx="2903411" cy="57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Reflected: autoescape; Stored: sanitize allowlist; DOM: textContent; thêm CSP và cookie flags.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8D2A50-7952-432C-8A8A-D7AE7BF2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11201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981CE6-12CE-4866-B29C-D6B98AC2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62675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HTML/attribute/URL/JS encoding  ·  Sanitization allowlist  ·  textContent  ·  CSP  ·  HttpOnly · Secure · SameSite  ·  Không tin URL/form/cookie/localStorage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F81BCD-DCE2-4324-BD66-CF064426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37918D-0DA0-4DC4-B759-A7DFFC83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934985-8A7E-4D3C-90FA-4777B60E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8935118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2CF630-C24E-455D-851F-F389372F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LAB02 · BUFFER OVERFLOW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E1AEA-388A-4405-A02E-779CBE71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09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EA056-78C1-433F-92FA-B3567C2C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795A0-3ADC-4729-8B76-D5C417BC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HTTP có thể chạm tới stack của chương trình 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34B3B-717B-42CB-91E3-FB064046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322614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74AAF-A47A-49EB-B129-2C70A8A9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170214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4D437-AA83-4AB4-ACD4-26E1EE8C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539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C5EBF-883A-439C-AC00-BDB49B9B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764" y="1143000"/>
            <a:ext cx="1322614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7FFCD-DEE2-4FB4-9F61-4D3D9BC0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964" y="1219200"/>
            <a:ext cx="1170214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HTTP POST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83468-AB34-4A03-AF21-5E203584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004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52AF8-B9BE-40E1-9A2E-AAFE1AB8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229" y="1143000"/>
            <a:ext cx="1322614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42847-0932-4A0F-AA1E-0608FD17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429" y="1219200"/>
            <a:ext cx="1170214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FLASK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0FC0B-A91A-4389-95ED-EB9E27AE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468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989B2-14D8-49A5-A060-07290388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693" y="1143000"/>
            <a:ext cx="1322614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8B7CB-9591-4D41-9CEA-68E2D8BF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1219200"/>
            <a:ext cx="1170214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SUBPROCESS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8547D-9720-4E62-B20C-36BB8E4A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932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EF3DA-B649-4C67-AF91-ECA7F31F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1157" y="1143000"/>
            <a:ext cx="1322614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FD07D-C300-473E-931F-82BF2845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357" y="1219200"/>
            <a:ext cx="1170214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C PROGRAM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F5540-FEAF-4617-B6D6-92E60900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396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AA7133-7618-4088-8DC4-EF0A386A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7621" y="1143000"/>
            <a:ext cx="1322614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1CD43-35D1-4B72-B89D-CE9C9FE2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821" y="1219200"/>
            <a:ext cx="1170214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SIG/EXIT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1D825-D42E-4624-A5B8-CF131C92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7861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A153CC-7805-4215-B365-225D14D2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4086" y="1143000"/>
            <a:ext cx="1322614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07A118-C52F-4920-AF02-7E4B65D5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1219200"/>
            <a:ext cx="1170214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HTTP RESPONSE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7DAFC6-1175-4C94-954C-183F40A7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419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6120C5-3C8C-4D58-B8BD-4D491B0A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99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name[32]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6F579C-3161-4EA1-8541-66987817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38575"/>
            <a:ext cx="419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813133-47B6-412E-BEE8-D52B6A86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766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STACK CANARY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D82944-1F7A-43D2-A91C-C2950AF0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419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BB08E0-934C-48E9-98A5-4E8E6740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43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SAVED FP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EF1D3E-72C7-4EF0-9FA5-E3B0E958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72025"/>
            <a:ext cx="419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00CDBB-DCD9-4E4E-9E84-29C7E890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10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RETURN ADDRESS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852424-C783-4D82-9C96-E48AD43C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52450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C4EFF0-A434-4095-8F2C-29807902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71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EC673D-405B-46B0-A121-F9CE001D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Luồng thật · app.py / native_runner.py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DD4F14-109C-46F2-9A68-1157AEEE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POST /submit đi qua Flask.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9A74A4-35E2-423B-9A36-587BCFC6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6613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subprocess.run([...], shell=False).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6EE9E4-4A1F-412C-A497-CCDC2516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Binary trả exit code hoặc signal.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F6CD3F-1B64-48AB-B023-A82F1D92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4438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Trace được đưa vào HTTP response.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29103E-97D5-4322-86B1-E6313F28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52450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E208D6-28B1-451D-B144-3D099600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71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D1FA0B-8570-4BBE-AC13-E46DDC1F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Stack · vulnerable_processor.c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5FA216-7E46-4F44-9EB0-406F17A4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char name[32] = 31 byte + NUL.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276CFC-B56A-4662-8684-E27B3D69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6613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Sau buffer: canary / frame pointer / return address.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E10135-61F0-43A3-B33E-F4817706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00525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strcpy không biết capacity đích.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49A281-8766-4082-A324-41D6E97F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24438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Input web cuối cùng trở thành argv native.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999AB6-B187-4668-A63C-4738E99C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57900"/>
            <a:ext cx="11201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2CB61E-0646-4657-AD4F-6B5A44E0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85D26"/>
                </a:solidFill>
              </a:defRPr>
            </a:pPr>
            <a:r>
              <a:rPr sz="713" b="1">
                <a:solidFill>
                  <a:srgbClr val="E85D26"/>
                </a:solidFill>
              </a:rPr>
              <a:t>VÍ DỤ THỰC TẾ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5650D2-3D77-4B0E-9D53-3C8B617B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10552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01  Tên/CSV dài đi vào thư viện C cũ.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B5D8D7-2BFF-4CA2-A7BB-61CBFE80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550" y="610552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02  Image/PDF metadata parser nhận file upload.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5924F3-2743-4585-A1BD-24EE7243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610552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03  Native extension hoặc proxy parse header.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D41767-5247-488F-A386-25F1F14D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A2CC09-D927-4D41-A8C3-BFECD1A8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72B9CC-8A73-4F22-AF05-525CC1FB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1594315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4F1B90-9670-48C6-8639-5889B55D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LAB02 · BUFFER OVERFLOW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080EB-0ECB-4FB3-954D-DF482612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10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FD148-C0C5-418F-A804-02029DBD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E7A8E-530F-42FC-A972-F4E9E6EB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Byte thứ 32 làm strcpy ghi vượt name[32]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5DF3E-BF4D-40D2-83BE-0460EA92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764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F0EC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8F80D-33D2-4363-B286-10B558BF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24075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name[32]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C3EFC-95D7-4217-8A7B-C9926892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3219"/>
          </a:solidFill>
          <a:ln xmlns:a="http://schemas.openxmlformats.org/drawingml/2006/main" w="9525">
            <a:solidFill>
              <a:srgbClr val="F0EC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2D723-EC55-407C-82E3-1C631CE9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2407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ECE5"/>
                </a:solidFill>
              </a:defRPr>
            </a:pPr>
            <a:r>
              <a:rPr sz="975" b="1">
                <a:solidFill>
                  <a:srgbClr val="F0ECE5"/>
                </a:solidFill>
              </a:rPr>
              <a:t>OVERFLOW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E7D56-C2B7-4E05-88BB-A802EF50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F0EC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949A2-9D68-46C8-8CE2-206FE512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24075"/>
            <a:ext cx="106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ECE5"/>
                </a:solidFill>
              </a:defRPr>
            </a:pPr>
            <a:r>
              <a:rPr sz="975" b="1">
                <a:solidFill>
                  <a:srgbClr val="F0ECE5"/>
                </a:solidFill>
              </a:rPr>
              <a:t>CANARY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8EDD0-2C91-44AD-AA55-C43CFAB3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764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F0EC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832E9-CE1E-4CF4-9912-AD8603F9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24075"/>
            <a:ext cx="106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ECE5"/>
                </a:solidFill>
              </a:defRPr>
            </a:pPr>
            <a:r>
              <a:rPr sz="975" b="1">
                <a:solidFill>
                  <a:srgbClr val="F0ECE5"/>
                </a:solidFill>
              </a:rPr>
              <a:t>SAVED FP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ED329-EDF9-4B6B-AC26-2B0E8638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764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F0EC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4D27FB-0D38-4D92-8826-EAE35CF2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24075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ECE5"/>
                </a:solidFill>
              </a:defRPr>
            </a:pPr>
            <a:r>
              <a:rPr sz="975" b="1">
                <a:solidFill>
                  <a:srgbClr val="F0ECE5"/>
                </a:solidFill>
              </a:rPr>
              <a:t>RETURN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07DFC-8879-40BF-BFFA-E10367AE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6B0A8"/>
                </a:solidFill>
              </a:defRPr>
            </a:pPr>
            <a:r>
              <a:rPr sz="825" b="1">
                <a:solidFill>
                  <a:srgbClr val="B6B0A8"/>
                </a:solidFill>
              </a:rPr>
              <a:t>31 bytes + NUL vừa buffer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D9FB7-6C57-413B-8DCA-E1A1938D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85D26"/>
                </a:solidFill>
              </a:defRPr>
            </a:pPr>
            <a:r>
              <a:rPr sz="825" b="1">
                <a:solidFill>
                  <a:srgbClr val="E85D26"/>
                </a:solidFill>
              </a:rPr>
              <a:t>byte 32 → WRITE size 33 → ASan SIGABRT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FBCC0D-9FDE-4BE5-B065-3C80F25F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2300"/>
            <a:ext cx="55245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F9931-9395-4FB3-A375-FD189D23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2300"/>
            <a:ext cx="57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FAB4F-0644-4F78-BC2F-2C5F746F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Nguyên nhân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C7F07D-9DE6-406B-ADA8-9093B834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5257800" cy="251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strcpy sao chép tới NUL, không có giới hạn.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BC8495-E69C-434B-9E4C-031C7AD7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2101"/>
            <a:ext cx="5257800" cy="251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31 byte + NUL vừa đúng buffer.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583D5E-5FFB-4E0E-97B8-E8A82F3E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2801"/>
            <a:ext cx="5257800" cy="251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32 byte cần 33 byte → ghi vượt 1 byte.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CCF33B-4A17-42B2-BBBA-D7301138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3502"/>
            <a:ext cx="5257800" cy="251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ASan chặn trước khi lỗi lan rộng.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535204-6DCE-4535-A41E-07547EFD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0402"/>
            <a:ext cx="5257800" cy="650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0A6A8F-E0F9-4007-9B59-3D9BDD92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7552"/>
            <a:ext cx="5067300" cy="555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int process_name(const char *user_input) {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  char name[32];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  strcpy(name, user_input);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  printf("Hello %s\n", name);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DE6D28-8754-4E8E-9FC1-AD6CBD9A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62300"/>
            <a:ext cx="55245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8A7D44-0994-4025-BD6F-ED5B90C7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62300"/>
            <a:ext cx="57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D4FCFC-3BA3-4EA3-A204-AC263193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575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Evidence chạy thật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FF74E8-4B24-422B-9C54-54234B3B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81400"/>
            <a:ext cx="5257800" cy="251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31 byte → exit 0, no sanitizer finding.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A8F9A9-337D-433C-B2E5-60264394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52101"/>
            <a:ext cx="5257800" cy="251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32 byte → WRITE size 33, SIGABRT, exit -6.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B6BAF1-00CD-4E2B-96F1-BF0321D0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22801"/>
            <a:ext cx="5257800" cy="251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64 byte → WRITE size 65, SIGABRT, exit -6.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2AC6CD-EF51-4723-B6B7-3397A65D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93502"/>
            <a:ext cx="5257800" cy="251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Không trình bày shellcode/ROP/chiếm quyền.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5BA647-EBDE-40DB-8617-DD67449A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40402"/>
            <a:ext cx="5257800" cy="650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DE4259-7904-45FE-BCB7-283A1E7A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97552"/>
            <a:ext cx="5067300" cy="555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mode=vulnerable_asan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stack-buffer-overflow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WRITE of size 33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signal=SIGABRT · exit=-6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C999F8-4243-4855-973F-B6D2E1D9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1201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5D2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22E694-4C8B-4C43-80FD-DD0751DC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B5CE7A-87BC-46F2-ADC9-55723652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DEMO CUE · BOF-CRASH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8C283D-B53C-4F25-8664-47BF664A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10225"/>
            <a:ext cx="902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http://127.0.0.1:5002/submit · Không cần đăng nhập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6B240D-9EDA-4D3F-BE87-B8450C45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INPUT  A × 31; A × 32; A × 64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A46B13-0888-4EE5-9F19-75B2A11A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674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1. Gửi 31 byte  →  2. Ghi exit 0  →  3. Gửi 32 byte  →  4. Xem ASan trace  →  5. Gửi 64 byte và so sánh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F19821-DF00-413D-83A8-F7BD6C62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QUAN SÁT  Input length · ASan · signal · exit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25EC10-DEEF-41EC-8F8B-324569BB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VULN  32/64 byte crash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A4F1D9-BE25-435B-A17F-F302A901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SECURE  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67EC17-2FCB-4992-B8F7-C6F5188E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34100"/>
            <a:ext cx="327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Crash có thể kích hoạt qua HTTP vì dữ liệu đi tới code native.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05F324-A163-4B98-AD69-CD55D54D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493ED0-B10F-49AB-A825-ECD23404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4DABB9-3520-4133-988D-4B390E73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6796745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B1547C-7DFD-497E-8818-D00182E5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LAB02 · BUFFER OVERFLOW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EB927-D661-4559-BB6E-B6870215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11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52B41-130C-457B-B39B-16860D81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D583D-266C-49F6-AB85-1386A94E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Hai bản vá giữ invariant “không quá 31 byte”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B1620-C5AA-43AF-AF3A-163976BB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FD386-FFEB-4D68-823C-AAF5ACAB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59537-F607-47C0-9013-2274B058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FE1FD-C1F1-491D-80EF-0FAE406F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F82F8-3C06-46D0-BAF5-6E7F083C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BOUNDS 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05635-8CE2-4600-9845-B23DA69A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104F4-CB4D-436D-A0E5-841A34C7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E3CD2-C88A-4311-8891-15BBCB88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BOUNDED COPY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14EEE-BA1E-487C-8010-446C8DCA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8C2C0-EC83-4CFD-BF99-26A9C705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9C363-6ACF-4975-A2FC-52A6BDAC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NUL TERMINATE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6B8B1-56F8-488C-A01D-DF2CFCAC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F77C6-5283-4D40-97B1-B6FCA485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27E23-5299-4429-85EE-999BAE48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SAFE EXIT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6DA5A-5F15-40C4-B488-A184BE35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3632200" cy="440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66721-BDA4-4DA2-A55B-FD03489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71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880F6-4C19-4036-AFC3-575BF611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Vulnerable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834A3-CF46-441B-A971-2605F047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Không kiểm tra độ dài.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0A51A5-3442-494F-8C63-9840542A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strcpy ghi không giới hạn.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BE8919-AA4B-42AA-8ED2-1761FE73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336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28A7F0-49A0-453C-B42E-9E9DB7B1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317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char name[32];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strcpy(name, user_input);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4CEA7E-F964-4F16-9AF6-E09FC61A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33600"/>
            <a:ext cx="3632200" cy="440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C80D3E-590D-42B3-AF92-F16C4610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33600"/>
            <a:ext cx="571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7E5328-11BE-40D7-BA6D-65BE90B7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22885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Bản vá 1 · length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876F57-D116-4A3C-8CD2-A580D22C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5527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strnlen chặn input quá dài.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9E69EC-36AE-46F5-9879-4BA61D4A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5306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memcpy đúng length; tự thêm NUL.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CE7E90-C079-4CEB-8CC4-84584A80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45085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64 byte → exit 65.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1108F2-7BA3-4C3C-B476-62B108C2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5562600"/>
            <a:ext cx="336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D94B10-C1D7-4BAA-B5C3-96EDD1B1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5619750"/>
            <a:ext cx="317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length=strnlen(input,33);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if(length&gt;31) return 65;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memcpy(name,input,length);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name[length]='\0';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D92284-FB3C-4481-8CE3-E630FA45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133600"/>
            <a:ext cx="3632200" cy="440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A2324D-BF96-4550-86B0-E3A4876E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133600"/>
            <a:ext cx="571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37B656-1796-46DE-AB9C-13FBC8B8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22885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Bản vá 2 · snprintf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221031-7855-4403-A6B5-A69CD4FB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527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Kiểm tra lỗi và truncation.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3130F8-7C9D-425E-8D00-51099D69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195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64 byte → exit 67.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05C86A-A930-4497-B463-0983BAD7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5562600"/>
            <a:ext cx="336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41DAAF-8535-41AF-A545-DFF09F95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5619750"/>
            <a:ext cx="317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written=snprintf(name,sizeof(name),"%s",input);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if(written&lt;0) return 66;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if((size_t)written&gt;=sizeof(name)) return 67;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B66F9D-8940-4EDF-A60F-0412F324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11201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1BD772-51CB-42CC-BE24-7E9AC1DD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Stack protector  ·  ASLR  ·  NX/DEP  ·  PIE  ·  RELRO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C0A3BC-1AC6-4908-A994-EE737F5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BD949E-9341-43D4-8EE1-F7F901F8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8A72F4-63BC-4C18-B001-53A244AD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12951256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87D79F-82B3-4B8C-90A3-CE83C27D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LAB02 · BUFFER OVERFLOW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6D1A0-284E-4427-8D3D-636419FD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12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B9C42-47C1-4B58-A150-E6151BFF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51B15-C51F-4EDF-B552-E1173D64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Câu hỏi trong docx → Trả lời đúng trọng tâm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2FEAD-2BC9-4F4C-8EB0-C4031AEC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85D26"/>
                </a:solidFill>
              </a:defRPr>
            </a:pPr>
            <a:r>
              <a:rPr sz="825" b="1">
                <a:solidFill>
                  <a:srgbClr val="E85D26"/>
                </a:solidFill>
              </a:rPr>
              <a:t>CÂU HỎI TRONG DOCX → TRẢ LỜI ĐÚNG TRỌNG TÂM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75941-3BB8-4237-BE1E-55B0D47E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5553075" cy="636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47AF7-763B-40C1-8D2B-40A7D371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387822" cy="52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01  Chương trình crash ở đâu?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24586-7A40-42A1-8454-13289C5E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1514475"/>
            <a:ext cx="2903411" cy="54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ASan báo stack-buffer-overflow tại strcpy trong process_name() của vulnerable_processor.c.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2B854-EBB0-4507-B432-66647A70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8914"/>
            <a:ext cx="5553075" cy="636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11E37-54AD-46F6-8F9F-EC608EDF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6064"/>
            <a:ext cx="2387822" cy="52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02  Stack có bị ghi đè không?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0FEFF-3FF8-4D43-9F9C-9170FC4B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2246539"/>
            <a:ext cx="2903411" cy="54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Có. WRITE size 33/65 đi qua ranh giới name[32]; ASan dừng tiến trình trước khi lan xa.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1CDCA-0DF0-4259-B165-1A1FC296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30979"/>
            <a:ext cx="5553075" cy="636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3D156-35E0-46A5-BC5C-2FA3FBC2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8129"/>
            <a:ext cx="2387822" cy="52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03  Độ dài nào bắt đầu gây lỗi?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E0B70-5FAF-4F1E-80A1-6317B2E5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2978604"/>
            <a:ext cx="2903411" cy="54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31 byte + NUL vừa đủ; 32 byte cần 33 byte nên bắt đầu overflow trong evidence của lab.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8B3158-6066-4BCD-A471-8282FB79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63043"/>
            <a:ext cx="5553075" cy="636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49BBC-A8FE-48B4-9176-735962D8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0193"/>
            <a:ext cx="2387822" cy="52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04  Buffer nằm ở vùng nhớ nào?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A8FF4C-5D7C-4196-85E5-948CAC93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3710668"/>
            <a:ext cx="2903411" cy="54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name[32] là biến cục bộ trong stack frame của process_name().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EB897-B158-4B8D-859F-0753EB1A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95107"/>
            <a:ext cx="5553075" cy="636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E95353-9C2A-445E-ADA0-CCEDB6A1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2257"/>
            <a:ext cx="2387822" cy="52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05  Input vượt kích thước gây gì?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1B719-F2DD-4015-9D21-6D569D57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4442732"/>
            <a:ext cx="2903411" cy="54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Ghi đè byte kế tiếp, có thể phá canary, frame pointer, return address và gây crash/corruption.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7400D-7255-42DE-8EE1-228D89CB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7171"/>
            <a:ext cx="5553075" cy="636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9162C-96D0-43A9-A5D1-AF69D083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4321"/>
            <a:ext cx="2387822" cy="52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06  Vì sao strcpy/gets/sprintf nguy hiểm?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828D52-650C-4AD8-86E9-E867CBF4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5174796"/>
            <a:ext cx="2903411" cy="54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Chúng không tự biết capacity đích hoặc dễ dùng thiếu giới hạn/kiểm tra truncation.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17A063-1B5C-4A6A-B54A-D650F918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59236"/>
            <a:ext cx="5553075" cy="636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B33EE5-7D8D-48E7-8537-560C905E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6386"/>
            <a:ext cx="2387822" cy="52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07  Vì sao memory corruption nghiêm trọng?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F349E0-A516-406F-A475-B86EFE03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5906861"/>
            <a:ext cx="2903411" cy="54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Nó có thể phá dữ liệu và luồng điều khiển, nghiêm trọng hơn sai quyết định logic đơn thuần.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3CF09B-042F-4BBE-B2E5-808E3DEC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66850"/>
            <a:ext cx="5553075" cy="636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0CA7DE-2597-4F61-97BD-C40B096F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4000"/>
            <a:ext cx="2387822" cy="52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08  Canary, ASLR, DEP/NX có tác dụng gì?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F4E098-108E-4D30-B9AC-3F27A804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1514475"/>
            <a:ext cx="2903411" cy="54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Canary phát hiện ghi đè; ASLR ngẫu nhiên địa chỉ; NX cấm thực thi vùng dữ liệu.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4A8759-E5B0-4034-89F9-9376E701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98914"/>
            <a:ext cx="5553075" cy="636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70C821-AF75-4609-BD9E-AEB0D320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56064"/>
            <a:ext cx="2387822" cy="52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09  Buffer Overflow khác Injection?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F7F35D-F169-48B6-8C87-FA98903E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2246539"/>
            <a:ext cx="2903411" cy="54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Overflow phá an toàn bộ nhớ; injection làm input thành cú pháp của interpreter.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EB0191-C8EE-47C8-BACB-36513E22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30979"/>
            <a:ext cx="5553075" cy="636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53A4FC-4C3F-4C09-9764-7891F428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88129"/>
            <a:ext cx="2387822" cy="52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10  Vì sao backend native bị kích hoạt qua HTTP?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CB250A-BA56-424A-8B6E-0EC0EC71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2978604"/>
            <a:ext cx="2903411" cy="54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Request đi qua Flask/subprocess và trở thành argv cho hàm C vulnerable.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2D2BB4-A6C8-405D-A9D0-2D83AC6A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63043"/>
            <a:ext cx="5553075" cy="636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7C1F15-C33F-4352-8D82-35FDDC13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20193"/>
            <a:ext cx="2387822" cy="52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11  Vì sao firewall không đủ?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FA3F7E-C042-444C-BDC1-A56988C4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3710668"/>
            <a:ext cx="2903411" cy="54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Request hợp lệ về HTTP và đúng route; lỗi xuất hiện sau khi dữ liệu vào code native.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1ECF70-43F6-48EA-8DFF-C9D3ADF8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95107"/>
            <a:ext cx="5553075" cy="636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594348-D351-4509-953C-A46AED25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52257"/>
            <a:ext cx="2387822" cy="52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12  Bản vá hiệu quả vì sao?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1F02EA-6A96-4555-940C-F27FBC2B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4442732"/>
            <a:ext cx="2903411" cy="54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Length patch và snprintf đều giữ tối đa 31 byte, kiểm tra lỗi/truncation trước khi dùng buffer.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133185-2130-4F59-BA04-1719A013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27171"/>
            <a:ext cx="5553075" cy="636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68121C-9CB7-4B14-9E6B-D2BD4BBA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184321"/>
            <a:ext cx="2387822" cy="52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13  Ít nhất 3 hardening?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FDCA75-341B-4949-B412-4F1DF584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5174796"/>
            <a:ext cx="2903411" cy="54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Stack protector, ASLR, NX/DEP; bổ sung PIE và RELRO, giới hạn request và ưu tiên memory-safe language.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B2DF82-3101-467F-A907-55E10663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7DE164-E0C2-43FF-B631-34AA9121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9B5BA6-29D7-464E-BDD8-DF7271DA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14814478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BD615B-1394-4E60-9EA7-01E861BA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LAB03 · PARAMETER TAMPERING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E63B4-DEF8-4811-A589-32953654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13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319FF-9D70-4957-907E-98833D1C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1B94B-139B-49E7-B8D3-0259FBE9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Ba kịch bản cùng một lỗi: server tin tham số 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E35EC-CEF8-4C85-BDC0-F3789B1C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04563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813C5-D39D-4B42-927E-7BFF652F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6943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CLIENT price=1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EF693-2C77-4C6B-9AD1-74E5A8C0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033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CCF1A-0E83-4B66-A2AE-EC9F563F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583" y="1162050"/>
            <a:ext cx="104563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19681-90DD-427A-AFD6-FD052CC5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683" y="1200150"/>
            <a:ext cx="96943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SERVER TIN GIÁ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19C84-6F14-44AA-9561-72567DDD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317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38CEC-E9F9-4F64-B50D-4751A9FA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867" y="1162050"/>
            <a:ext cx="104563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CED32-5C89-438C-BE20-CD97E543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967" y="1200150"/>
            <a:ext cx="96943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TOTAL=1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01124-3967-4ACA-B101-F5B5B501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162050"/>
            <a:ext cx="104563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4A0567-A8D7-4C1F-9730-BC5C467F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200150"/>
            <a:ext cx="96943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USER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C355C7-E67D-4C0D-8D83-53010416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633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C96008-7BC5-4E0B-B84C-A671346F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183" y="1162050"/>
            <a:ext cx="104563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36C181-3834-4D8B-B561-D684B073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283" y="1200150"/>
            <a:ext cx="96943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id=1002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5A828-91B8-4F74-B056-EB3FFB33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917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B9726-FB7E-49F0-B85B-2FBCA5B2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467" y="1162050"/>
            <a:ext cx="104563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10FF89-2763-4D7F-9AC6-1AE6DC68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567" y="1200150"/>
            <a:ext cx="96943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HÓA ĐƠN 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00DDEA-3FE8-4ED0-A691-C2E699F5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162050"/>
            <a:ext cx="104563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E085E0-D228-4E46-B363-795B4074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1200150"/>
            <a:ext cx="96943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FORM role=admin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4CEAC-50A0-4B80-9435-FF1A7255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233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999E10-3A6B-4582-B84B-80F2921F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783" y="1162050"/>
            <a:ext cx="104563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8ED583-12A0-4859-96AA-47CE9E4F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883" y="1200150"/>
            <a:ext cx="96943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MASS ASSIGN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9410A-B8A0-4031-9A16-369FF00D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1517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CE7E28-293D-4818-854C-67B79AFD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1067" y="1162050"/>
            <a:ext cx="104563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1A588F-3C54-4273-91B3-B923DB6A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9167" y="1200150"/>
            <a:ext cx="96943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ADMIN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F9FC1F-D5A6-4849-AB6D-AA013AE2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36322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CC43E7-9FE3-403D-8677-0EB084BF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571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753B71-9AFE-4259-A8F0-49F1F0CB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Thay đổi giá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5C4F8D-3DA6-401D-860A-B58FA445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POST /vulnerable/checkout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8473CB-3742-4BAB-97BE-029E22E2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price=100000 → 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B2405D-AA27-473A-B37D-A158815D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Thiếu tra giá authoritative.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587D6B-2F71-4E0A-83FC-8594BE4F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Ảnh hưởng: sai tổng tiền.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80A3A0-89DC-4F7F-A862-6A09AF49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Vá: lấy giá từ DB.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B1466F-D521-4B4A-90CF-3ED7CAC4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000250"/>
            <a:ext cx="36322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5D437F-ABDA-4337-A93A-8BC6C6AD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000250"/>
            <a:ext cx="571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83C244-F92F-47EB-8036-AECB9897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09550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IDOR hóa đơn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42C86D-3A11-4144-B496-639801D3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4193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GET /vulnerable/invoice?id=1002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E63648-86DC-4150-BF71-538A42C9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1051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User A đổi object ID.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D0AF75-4DEC-4912-A0B3-103A4AC9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7909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Thiếu owner-or-admin check.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3E1B8F-9419-4FC0-804E-942B6BA0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44767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Ảnh hưởng: lộ hóa đơn B.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E48132-43DC-4705-8E5C-9DF9222F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51625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Vá: object authorization.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550318-CBF4-418F-82FB-273CC2E8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000250"/>
            <a:ext cx="36322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692576-DB75-4638-BF9B-25CAC500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000250"/>
            <a:ext cx="571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CAE640-6061-4824-8E43-5768979F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09550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role=admin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E32F6D-175B-465A-BCAA-7162BA5E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4193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POST /vulnerable/profile/update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B29A3D-6F09-42B9-A441-8F1D82B0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1051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role=user → admin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008202-A3BD-4067-BF3A-D0B6861C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7909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Mass assignment.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4DBE7C-FC84-49F8-88BE-B48D7E68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4767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Ảnh hưởng: leo quyền.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EEB14E-0349-4724-84CA-B7C9B965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51625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Vá: allowlist + authz.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BFCD4D-F696-4955-802A-81623740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57900"/>
            <a:ext cx="11201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965D83-1638-4E23-B82E-D44CFBA1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85D26"/>
                </a:solidFill>
              </a:defRPr>
            </a:pPr>
            <a:r>
              <a:rPr sz="713" b="1">
                <a:solidFill>
                  <a:srgbClr val="E85D26"/>
                </a:solidFill>
              </a:rPr>
              <a:t>VÍ DỤ THỰC TẾ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285701-9B3D-4D8E-92D0-21F797BD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10552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01  Sửa price/quantity/discount trước checkout.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C8DF35-7878-4B20-B0A0-5AAF6223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550" y="610552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02  Đổi invoice/order ID để đọc object người khác.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5FE7F8-E9AF-4221-850C-38F4FC96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610552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03  Thêm role/is_admin/balance ngoài giao diện.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AF2D853-A0BC-4D33-AA32-81BB100B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A71DB4-8DEB-492B-9BAB-31ADC1C1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603C5D8-F486-4B78-8D4A-0966EABB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19320560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1F67E98-59AB-42AE-9564-CB031470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LAB03 · PARAMETER TAMPERING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799FB-7963-4667-BEB9-68E356B1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14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11EAF-D20E-49ED-8028-F1BC0086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5A6CB-EFB5-4DB1-B772-DA57382A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Giá và object ID đều phải được xác minh ở server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DBBE3-F6F7-4114-BAAF-D25CB247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676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21D48-CD6C-4BBF-9947-DFF3F501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CLIENT price=1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0F4EB-D0F4-4AE9-9CB1-840DCB01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1A296-4472-44CA-92FC-2F3F5DD6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162050"/>
            <a:ext cx="1676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0813E-637E-428F-837B-89E228E8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200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CHECKOUT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4CE7B-15E3-4F3F-AC95-AD40F89D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49EBE-010F-484A-A886-F794C349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162050"/>
            <a:ext cx="1676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AE46D-6358-47B5-8A2B-090A4219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00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DB ORDER total=1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248D7-14D4-497D-8521-B252D2A5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162050"/>
            <a:ext cx="11953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BA2E7-78B0-48FB-A584-73B0F9FC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00150"/>
            <a:ext cx="111918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USER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5B1EE-30E0-4DCC-A70B-48D91A7D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15CBE-BEEC-4327-953D-236D564A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5238" y="1162050"/>
            <a:ext cx="11953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C9A2F-3DBC-483D-B88C-1642355F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338" y="1200150"/>
            <a:ext cx="111918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?id=1002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11334-F4BF-42C8-869C-B09DADC1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67FBA5-6E9E-4D37-A0BD-063F8D26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162050"/>
            <a:ext cx="11953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0F3B9-F0E5-41C5-95ED-5E7A3E39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200150"/>
            <a:ext cx="111918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OWNER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3D0C85-5A9A-4716-AF6E-EF864995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763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888B64-09EC-454D-B891-8EF0FDF0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1313" y="1162050"/>
            <a:ext cx="11953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8B3F7-E285-4A44-A5EE-047CF16A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9413" y="1200150"/>
            <a:ext cx="111918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403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31001-F63C-4FFE-850F-919A68E6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55245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2DE5AE-514F-4D58-AA90-D06F1819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571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C7497E-5252-42EB-9648-27AD4281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Checkout · vulnerable → secure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1A9EC9-8114-4B96-83BA-7EC06515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Sản phẩm 5: USB Security Key, DB=100000 VND.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F3E589-38D8-4D4B-BEB6-18C71DAC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245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Vuln gửi price=1 → unit_price=1, total=1.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6F7D03-277A-4F64-9F3F-92DA90E0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555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Secure bỏ price client, đọc DB → total=100000.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8AE765-6D37-4734-A5AC-2A9FAF49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6CDC64-BC8A-46D8-A4CD-9FE14BA1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06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# vulnerable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unit_price = int(request.form["price"])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# secure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product = get_product(product_id)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unit_price = product["price"]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214B86-7885-4B90-9BB4-78D8E5AA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55245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CBF965-B918-45C8-A3B4-B14EA04C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571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68758E-A087-429A-9020-B444E933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IDOR · vulnerable → secure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CEA891-1CD3-4FD1-A6E5-4ABF18C3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User A id=12; invoice 1002 thuộc User B id=13.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4950D5-B1B4-449F-95B8-DC3EDB3D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9245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Vuln đổi id → response 200 và lộ hóa đơn.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9C66BB-EF29-4443-9D80-BC4CBB09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6555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Secure owner-or-admin check → 403.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EA576E-6E6E-4921-954A-24E782B4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994E9D-0ECC-4FD3-982A-F2AE4747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506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invoice = get_invoice(invoice_id)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allowed = (invoice.user_id == session.user_id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           or session.role == "admin")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if not allowed: return 403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FF6397-8FAB-43DA-A328-798CF87B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1201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5D2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E32993-8F5B-423C-8FF4-4A0F7B2D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077B8B-5494-49F6-8BFA-38C61DEF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DEMO CUE · PT-PRICE/IDOR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CE3053-E805-4529-ADB7-80A64524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10225"/>
            <a:ext cx="902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http://127.0.0.1:5003 · user_a / UserA123!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C5ED0A-E1D2-4F78-9A7F-9ED06CC5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INPUT  product_id=5, price=1; invoice id=1002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2D2627-467D-4E72-BBAF-0146B2C0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674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1. Login user_a  →  2. Tamper checkout price  →  3. So sánh total  →  4. Đổi invoice id  →  5. Lặp secure và xem 403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454EC0-E9D1-4A3F-AE27-D4D225AB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QUAN SÁT  Request · order DB · authorization trace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056AA0-D3E6-4D23-B7FB-DE445051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VULN  total=1; hóa đơn B lộ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D2EBC1-FAAE-4D43-A155-7BAB2D07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SECURE  total=100000; 403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A051A4-9D3C-45EF-BD14-61428E29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34100"/>
            <a:ext cx="327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Không dùng giá/ownership do client khai báo.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A4FA72-E5C7-4719-B809-E285C544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58D298-B450-4A25-8B79-F3DBD232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3D71C9-DF94-403D-A5F9-52F70117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10830589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E0E7C9-F348-464B-ADF4-7B49FEA7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LAB03 · PARAMETER TAMPERING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A5552-3429-4AA6-A2BA-915F1097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15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204A2-B9D3-493B-93D2-1863C81A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9E727-E330-45E2-98E2-784F048F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Mass assignment biến field role thành quyền quản trị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2CBFA-01BD-4CEE-84CA-797512D6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25574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7FA8D-9EE8-4095-BF10-7DC62A27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240506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FORM role=admin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4A1F2-252A-4290-8B84-85ADA4CD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388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8CCB1-0C85-4D0F-BE96-5E2566C6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1143000"/>
            <a:ext cx="25574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69EDC-75BC-47A3-9380-9B1EF3C4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1219200"/>
            <a:ext cx="240506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BIND ALL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EB811-DDD0-4ED3-97C3-D1837121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2DB71-F808-4DD7-9F5F-A81D78F9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143000"/>
            <a:ext cx="25574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39A25-BEC9-434E-B0A5-BD34F07C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19200"/>
            <a:ext cx="240506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DB role=admin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AD560-E141-4A1B-B2DA-C04210CB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E876D-28DE-4DA7-8A8D-E2E6EE92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1143000"/>
            <a:ext cx="25574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038130-4EC5-4936-8B65-3F8C7D55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1219200"/>
            <a:ext cx="240506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SESSION 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D6AB2-1A5B-499F-8E0E-5BA3EC68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36322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F8053-BB42-4C1D-89DB-5D275388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71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F97D8-C9C2-46CC-8DDB-A92F1660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Vulnerable request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31747-BE0E-417D-82F8-AF8E61CD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POST /vulnerable/profile/update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82B0EF-20FA-429C-A1AF-6257B791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989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display_name=User 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7C3603-F9FE-4149-9706-6DE7D78A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0708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role=admin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4A72BD-B9DF-47E4-9A46-9D5E362F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427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user_id=12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7CDED2-BB2E-43FD-9025-CEAA2469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146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Framework gán toàn bộ field vào model.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5D0C31-C640-43F6-8CF3-F1D24EC1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336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54F268-E699-42B5-AAF6-84C9693C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317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updates = dict(request.form)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update_user(user_id, **updates)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session["role"] = updates["role"]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782FFB-B981-47E3-B852-388A3227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33600"/>
            <a:ext cx="36322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6D55D6-4BE3-48D0-80EE-20078ACF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33600"/>
            <a:ext cx="571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AE20BA-54A2-482C-86F7-56419D4F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22885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Secure request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4B7471-4B33-4253-BC89-CE43A5C1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5527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POST /secure/profile/update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860147-F49F-486E-AFFE-DA072429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024188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Allowlist chỉ nhận display_name.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C44CBE-6A57-46D8-8B27-93E04E60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495675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role/user_id bị rejected_fields.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402012-93E8-4E20-B295-BC3855D8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967163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Quyền đọc từ DB, kiểm tra trên server.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DFFCD3-3EED-48A8-92EF-7A77D413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514850"/>
            <a:ext cx="336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787293-B717-474A-89BC-6EFF1298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572000"/>
            <a:ext cx="317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ALLOWED = {"display_name"}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updates = {k:v for k,v in form.items()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           if k in ALLOWED}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role = current_user_from_db.role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99BD03-89F4-42B6-884C-58B84EDE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133600"/>
            <a:ext cx="36322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04B7DE-8570-4E6D-8472-92261187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133600"/>
            <a:ext cx="571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442E22-D962-4DDD-922E-F08522C5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22885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Audit log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2E6ABD-D683-4BD4-AAF7-FF9DE1D3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527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actor_user_id=12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964223-1336-4B14-97E8-C08486A6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11658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attempted_fields=display_name,role,user_id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DF4B40-4DB5-44B1-A7EB-C24AC740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8046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rejected_fields=role,user_id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27CD64-B129-4CBC-9801-7BA11991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4434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before_role=user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FAA0BD-F08A-4AAA-952A-81342991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80822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after_role=user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0329D7-2C59-47D9-A0C1-0A9D82F8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1201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5D2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41DCD0-CBA2-4A32-B65E-4EAB9546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AAC754-7BB9-450D-B0A0-F4886456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DEMO CUE · PT-ROLE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6BF4A8-7A00-467A-BA8A-DAA3A99B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10225"/>
            <a:ext cx="902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http://127.0.0.1:5003/vulnerable/profile/update · user_a / UserA123!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476783-9471-4C40-9E58-B7E3E9E9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INPUT  role=admin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7199BC-071E-4F38-9441-7EB545D1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674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1. Login user_a  →  2. Chặn request  →  3. Thêm role=admin  →  4. Xem DB/session/audit  →  5. Lặp secure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1D19A4-1399-4F6A-B5DB-C2514B7C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QUAN SÁT  Request fields · DB role · session · audit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A7A17F-B7FA-412D-BB4E-5C518B5E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VULN  user → admin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E624C1-0778-450D-B1EF-B5C617D9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SECURE  role giữ user; field bị reject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41D9BB-5374-4C37-8443-99FEF591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34100"/>
            <a:ext cx="327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Allowlist field không thay thế authorization server-side.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12B919-7AE1-4417-A444-E2E102C9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08B36F-F9C1-4B9F-864A-C2EE3A59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A84409-EE6F-4A7F-A443-BE6F5989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6269123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6CAFB9-698F-4BE3-ADB7-69876CB9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LAB03 · PARAMETER TAMPERING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47279-53F9-49AC-8E70-34EABCB7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16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D923F-BDDC-4A9F-B1BE-6A786D0D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FA206-E343-43DF-BBD3-8CFFB3EE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Câu hỏi trong docx → Trả lời đúng trọng tâm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77E30-7752-441D-B1CE-9C2A8054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85D26"/>
                </a:solidFill>
              </a:defRPr>
            </a:pPr>
            <a:r>
              <a:rPr sz="825" b="1">
                <a:solidFill>
                  <a:srgbClr val="E85D26"/>
                </a:solidFill>
              </a:rPr>
              <a:t>CÂU HỎI TRONG DOCX → TRẢ LỜI ĐÚNG TRỌNG TÂM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AD9FA-0167-489A-870F-0FE2EA87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826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41DDD-3033-48C2-BB4C-09381797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816602" cy="712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01  Parameter Tampering khác SQL Injection?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729C5-2EE4-497F-9036-FB5EA9D1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916" y="1514475"/>
            <a:ext cx="5953506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Tampering sửa giá trị nghiệp vụ/đối tượng; SQLi biến input thành cú pháp query.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2197C-3F16-4100-9005-30B5A854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8870"/>
            <a:ext cx="11201400" cy="826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C9664-BA4A-4E5F-833F-C0356404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6020"/>
            <a:ext cx="4816602" cy="712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02  Vì sao hidden field không bảo mật?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F4A9D-042E-4F3F-9855-6EA33077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916" y="2436495"/>
            <a:ext cx="5953506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Nó vẫn nằm ở client và có thể sửa bằng DevTools hoặc proxy.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C90D5-DB78-4031-AAEC-36DA35FC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0890"/>
            <a:ext cx="11201400" cy="826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02BF7-00A7-493E-89CF-3C55B6CF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8040"/>
            <a:ext cx="4816602" cy="712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03  IDOR thuộc nhóm lỗi nào?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14E9A-0EAF-4953-9BE1-8879D746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916" y="3358515"/>
            <a:ext cx="5953506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Broken Access Control: thiếu kiểm tra quyền trên từng object.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41D4D-D9B3-45EA-92FC-038E72C2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32910"/>
            <a:ext cx="11201400" cy="826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A497C-F691-44A4-A790-57C87BD8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0060"/>
            <a:ext cx="4816602" cy="712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04  Server phải kiểm tra gì trước khi trả hóa đơn?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662A7-BEB6-446D-BE9E-19A32418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916" y="4280535"/>
            <a:ext cx="5953506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Xác thực user, tải object, rồi xác minh owner-or-admin trên server.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F59EE-55FF-4A20-93C5-C58B4461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54930"/>
            <a:ext cx="11201400" cy="826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5930D9-3C32-4634-BACA-4A63A754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2080"/>
            <a:ext cx="4816602" cy="712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05  Vì sao không gửi giá từ client?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B1CB46-E5B6-4EC5-97AD-2E5C9870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916" y="5202555"/>
            <a:ext cx="5953506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Giá authoritative nằm trong catalog/DB; client chỉ nên gửi product_id và quantity.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E50268-CAFD-40AC-96BB-E1E2DF7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11201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E6D2E1-46B5-449F-9C49-CCEA2CC6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62675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DB authoritative values  ·  Object-level authorization  ·  Field allowlist  ·  Server-side validation  ·  Audit rejected fields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E54170-2052-461E-81B6-337F8D28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B63E2B-EA48-4D38-BEBB-222AE3ED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0B2352-7053-436A-BB63-A2C58C22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16143396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B33A70-D169-4438-B337-7F881848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LAB04 · CSRF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D579F-8865-431E-B2CF-70AAF4CD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17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1782D-515F-46DC-8E9A-273FC47C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2B07F-2B3F-42B6-AD68-B1C524EC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CSRF mượn quyền gửi request; XSS mượn quyền chạy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B5792-EEAC-446C-9696-A1557478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C5BA6-69E8-4ADB-AA69-CC1F9608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VICTIM LOGIN :5004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CE99B-594F-4BF9-8886-3A881F50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D9BC9-4D9D-40FE-8E40-ECEDE23A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F79E8-EC0C-47FC-9FF6-1BB85D59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ATTACKER PAGE :9004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835C0-A28D-4933-A0FA-0F10349C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5EC3E-F126-4C00-B120-4A47031D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84C3C-5595-4C9A-87D2-FC0C57BD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BROWSER + COOKIE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9EAA9-16A3-4AD6-A43B-E7800462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2A92F-D56A-49FA-A815-110A865B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26BDB-5392-48F0-AA05-D872193D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POST CHANGE EMAIL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B20CC-5845-4D1C-B7A8-294B5353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A53B7-AC60-4534-B282-24522D49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E0C191-C1AF-4DDC-B760-A328E7A6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SERVER MUTATES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E783E3-A04C-480C-9908-837C2C30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52450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472C46-AF29-4D7D-BACA-806E4F82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71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598BC-675B-4982-AAA3-F81343A6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Cơ chế CSRF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4EF7F-B137-46DF-9674-000F6F03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Victim đã login ở 127.0.0.1:5004.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DB5AB-BCEF-438E-A6DC-6F1FF855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6613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Attacker page ở 127.0.0.1:9004.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F7F896-116E-489C-9E19-BA1E911A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Browser tự gửi cookie phù hợp.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B8D6B7-2EFF-4646-A6FA-A9FA7AD0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4438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Server đổi email nếu chỉ tin session cookie.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7FFA0C-F43D-4598-8C24-8A65870D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52450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05E86D-5EBB-4107-A808-F4690F5A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71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11EB2C-D6BF-4C38-B707-F7B7FEE7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XSS vs CSRF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29B84E-C75F-45A9-9B2F-EBD7F2DC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XSS: chèn code vào origin nạn nhân; có thể đọc DOM/response.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CED5A7-E747-4F94-BDD8-5081BFE9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5125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CSRF: ép browser gửi request; thường không đọc được response.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763C36-DF1E-4B19-935B-93B00E54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498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XSS lợi dụng trust vào content; CSRF lợi dụng ambient authority.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C1D990-C4CA-49A2-967B-317554C2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57900"/>
            <a:ext cx="11201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0F6AC6-6E9E-426B-9B62-6263980B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85D26"/>
                </a:solidFill>
              </a:defRPr>
            </a:pPr>
            <a:r>
              <a:rPr sz="713" b="1">
                <a:solidFill>
                  <a:srgbClr val="E85D26"/>
                </a:solidFill>
              </a:rPr>
              <a:t>VÍ DỤ THỰC TẾ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28605C-3D59-47F8-A097-09D1703F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10552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01  Form tự submit đổi email khôi phục.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40D4A2-1A18-4024-A1AA-90C592AB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550" y="610552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02  Đổi mật khẩu/chuyển tiền bằng phiên nạn nhân.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F7B2FE-441A-442A-8B14-7F30AFE5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610552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03  Ảnh/link GET kích hoạt state change sai thiết kế.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C4EEBF-215E-4F1B-B1DA-D8AB4494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F82948-B9C0-4347-BDCD-12F9C8D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E6D16E-2750-458A-AF7C-DF75CD91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935034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F22A59-C42F-4E21-A5A4-4F0C1649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LAB04 · CSRF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AB979-27B9-4771-AA78-A85F678A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18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A3E0A-A469-4461-A239-23CD6341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64897-83B9-4A65-B039-FB487173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Demo vulnerable: hai origin, một cookie phiên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04F60-8A92-47D8-A5F8-6EDF2BDF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25574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B155D-59BF-430B-B99E-073BE4A9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240506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:9004 ATTACKER 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7CBE6-769C-4A22-9C95-FB31088E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388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821F1-D721-4DE4-A237-B3F851D0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1143000"/>
            <a:ext cx="25574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39B17-467E-4BA0-8B95-DCAAE50E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1219200"/>
            <a:ext cx="240506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BROWSER COOKIE JAR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FA03C-2E8C-495F-9869-68DDBB87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8C572-0A7F-4A27-AAD3-C6B66CD4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143000"/>
            <a:ext cx="25574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708A0-D054-480B-8433-A4A70DFB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19200"/>
            <a:ext cx="240506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:5004 POST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E92C8-14DA-41B9-BD2D-5D8EFA9D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7D1FA-FE91-4F86-9074-84E16614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1143000"/>
            <a:ext cx="25574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BE9BC-5464-466B-AD02-D5193C9E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1219200"/>
            <a:ext cx="240506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DB EMAIL 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D9B20-DE08-4BAE-B96C-C5434059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52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754E4-32B1-458F-BE69-10471C0E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B40F83-0735-4E51-8FDA-094E08CA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1 · Request hợp lệ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C7D41-E7B8-4287-9CE8-3FCEDDC2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POST /vulnerable/change-email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18A413-D8F9-4A81-A762-33341E0F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83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Cookie phiên victim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1F592C-6C10-43E3-866F-B5A91874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39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email=victim_old@lab.local → giá trị mới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BE2C5A-FCA4-4289-B870-01802E24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52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8C7C73-7109-46A4-9B72-1A6D29D3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7646B4-4FA9-4C5C-A61D-BD923AC2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2 · Attacker local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4AA814-7687-4176-BCF5-0EB491C8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GET http://127.0.0.1:9004/attack/vulnerable-email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FF76C2-3048-4EE4-95E4-FC844A68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083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Origin khác port = khác origin.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FC866A-6980-4183-9FF3-EB391F6B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639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Trang chứa form ẩn.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F05265-2425-4016-90CC-F565FBBA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552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462823-94CF-492B-B9C1-6F025D11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F5C6DD-068C-4B89-B562-E4661E3C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3 · Form tự submit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A0EB02-8343-423B-BE73-322C1162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target=http://127.0.0.1:5004/vulnerable/change-email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C0629F-3ABE-4843-B9A6-60A41D79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09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email=demo_changed@lab.local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E834A9-B20B-4264-98B4-9B29B3E3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65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JavaScript submit ngay khi load.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EBD7DA-ED28-408E-A448-15F1580E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552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EF67C7-8A2E-4E77-97A4-76FA870C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3983E9-CD90-4508-90E9-08875110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814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4 ·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6F5C7D-6AB0-477C-995D-064326D3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053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Origin=http://127.0.0.1:9004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1A9735-3124-40DD-9C50-08C85A1D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09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Browser gửi cookie phiên.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AA8B84-97BD-4172-BEA4-2D4FE7AC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165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Server trả success; DB email bị đổi.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B92BCF-F7DB-469F-AB5F-ABC53D9F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1201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5D2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863BCB-5C99-4AA4-8B41-86B9C06C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1475DE-77DF-4913-8A04-B5550EA5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DEMO CUE · CSRF-V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5D0855-0C1C-4B9B-ACF3-5B6B1DE1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10225"/>
            <a:ext cx="902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http://127.0.0.1:9004/attack/vulnerable-email · victim / Victim123!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DDADA8-1161-4E7D-90EC-DAD5D388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INPUT  email=demo_changed@lab.local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212E8A-0ECA-4819-9809-B541CB28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674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1. Login victim ở :5004  →  2. Ghi email cũ  →  3. Mở attacker :9004  →  4. Chờ auto-submit  →  5. Reload profile/trace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45E50E-4A6C-44D6-B3CF-097E7483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QUAN SÁT  Origin · Cookie · request · DB state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2A450C-50C5-446E-BF3D-1A04F6EC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VULN  email bị đổi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008876-39A0-440C-8C55-68AD8C92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SECURE  —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586626-0CF2-472A-87FD-14B87198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34100"/>
            <a:ext cx="327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Cookie chứng minh phiên, không chứng minh chủ ý.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67A507-0113-48B7-9615-779067BD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4FA3DF-F8DC-4688-8BD2-85D486F1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DCDEC3-990B-4ED6-B76E-FDFF58D5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19599342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7918E9-DB77-4E92-9728-46F9A647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LAB04 · CSRF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36215-2359-45B7-B754-9F1B5C35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19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A1BA5-B81F-4895-A807-C0A7C850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D48E3-22B2-4A4B-B2E5-B37E813A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Secure route yêu cầu cả nguồn hợp lệ và token đúng session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A84F7-E818-4F4A-B413-F92BB777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70016-D020-4777-9EE1-6127C10F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POST 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2B3D6-9778-4656-9E54-B1CEE9FD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946B8-E10F-4CF0-A47C-1556EE6A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0FDE8-82FC-4EAB-9880-E46BFF9D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ORIGIN 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80AAF-CE74-48A5-806E-C33557D7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FDEFA-3921-45EF-8217-05283588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38571-F49A-4D2B-A45F-A3F9DF19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SESSION TOKEN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ED6DA6-BE0E-4E27-AB9D-4F318305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5E219-E6DA-4861-B917-B059A095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8CFB0-D4CB-4064-AAEB-07CE3160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STATE CHANGE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E1D3E-57D2-4007-B1D8-40796114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907929-204E-4EAB-8F2D-A8A27121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070E9-EFB4-4612-8CD2-52490630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ROTATE 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ED179-162F-4649-A2A9-833AFD52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36322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EA7E8-B70D-4E3A-BFAB-D13A7ECB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71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22971A-A141-4150-92DC-9FEB7970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CSRF token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1CFA4C-37E0-428C-8F2C-D36700E2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Token sinh và gắn với session.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BF2A71-05D3-4AF5-961B-C994E6F6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Form nội bộ gửi hidden csrf_token.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5511A1-96A0-4F4C-9B02-3D6090B3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Missing/invalid token → 403.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683865-CB34-4D0E-A422-C6F168CB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Token rotate sau thao tác nhạy cảm.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32B57C-FD8A-48DD-9114-653753E5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33600"/>
            <a:ext cx="36322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942FCA-40D9-4E70-879F-5D29356B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33600"/>
            <a:ext cx="571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C8873A-DF25-4D6D-8C3E-604CD5AC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22885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Origin / Referer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F182B7-D182-493A-841B-5956A6DA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5527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Allow Origin http://127.0.0.1:5004.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C8A441-4250-420A-8618-CF25C556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2575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Origin :9004 → 403.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F98F73-716C-4D20-80F0-0AD222A9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9624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Referer là fallback có kiểm soát.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EFE5A-DDE6-4DD2-A15A-4CAD9746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46672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Không dựa riêng vào header dễ thiếu.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82DCDC-FB4E-406D-A8F2-2A300802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133600"/>
            <a:ext cx="36322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2D374C-7933-43EB-B499-762051CA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133600"/>
            <a:ext cx="571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DAD477-432E-42AF-B1B4-1BAA00E5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22885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Defense in depth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50A196-00C7-4513-8CEB-2F4D6802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527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SameSite hạn chế cross-site cookie.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E50D2E-3875-4C4F-84AC-DE2897B4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2575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Re-auth cho thao tác nhạy cảm.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3F6917-68BB-46D3-A36C-F1FBB30F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624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Không dùng GET để thay đổi dữ liệu.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CEDD87-0C2A-4245-B2BE-EECC2D20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6672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CAPTCHA không phải kiểm soát chính.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A71A2B-C2E1-4D62-B3A5-582AA194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1201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5D2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DF6BD7-DF57-4224-A67F-3ABE8AF2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9E88F5-D346-414E-AC05-D25BF9A9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DEMO CUE · CSRF-S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FC56A1-2AC2-4B52-B215-9CA976C8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10225"/>
            <a:ext cx="902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http://127.0.0.1:5004/secure/change-email · victim / Victim123!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73494A-2989-47D7-A96C-966B4ADD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INPUT  valid token nội bộ; bad-token từ attacker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402E3A-138A-4F3B-818F-360AD591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674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1. Thử attacker secure  →  2. Xem 403 missing/invalid/origin  →  3. Mở form nội bộ  →  4. Gửi valid token  →  5. Xác minh email đổi đúng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99408F-0DE2-4952-9DFE-D56ED453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QUAN SÁT  Origin · Referer · token · session · DB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CD39DB-6743-4B9D-84E0-EE9FAEA9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VULN  attacker bị 403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97A4BF-7683-46D5-BD3C-687460EB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SECURE  valid same-origin thành công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9F3FF3-565D-4E29-A848-DD81E7F9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34100"/>
            <a:ext cx="327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Token là bằng chứng request đến từ form do server phát.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96B5AC-B881-4EAC-B481-C69A2CD5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353512-8A52-4336-871A-2B6F5506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B1281C-FD19-4C20-A2BD-EE7D8E23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12170305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6BD761-5DEA-4ABC-96D8-750ADBE4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LAB04 · CSRF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D4D9D-7C85-4150-9B2F-F7D19F25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20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50689-F9B9-4BC9-A2F3-554A10DE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61D33-BF3F-41F8-8BCA-9D29BA2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Câu hỏi trong docx → Trả lời đúng trọng tâm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FFED8-A181-46DE-BF7A-30A262BB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85D26"/>
                </a:solidFill>
              </a:defRPr>
            </a:pPr>
            <a:r>
              <a:rPr sz="825" b="1">
                <a:solidFill>
                  <a:srgbClr val="E85D26"/>
                </a:solidFill>
              </a:rPr>
              <a:t>CÂU HỎI TRONG DOCX → TRẢ LỜI ĐÚNG TRỌNG TÂM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D041A-6770-43D6-A848-F6906D69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5553075" cy="118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49BAC-2AB4-4C89-AD61-D63930DD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387822" cy="1071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01  Vì sao trình duyệt tự gửi cookie?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E6C2E-1641-49BD-AF00-FB80DC32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1514475"/>
            <a:ext cx="2903411" cy="1090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Cookie được gắn theo domain/path/SameSite, nên browser tự đính kèm khi request phù hợp.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13B51-C1CF-4F87-9B1B-1F4E0967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47963"/>
            <a:ext cx="5553075" cy="118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0387D-A627-4AEC-89A2-B74FF80A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5113"/>
            <a:ext cx="2387822" cy="1071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02  Vì sao attacker không cần mật khẩu?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83710-7F07-416A-9B97-1C3B5E0F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2795588"/>
            <a:ext cx="2903411" cy="1090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Victim đã có session hợp lệ; attacker chỉ kích hoạt browser dùng ambient authority đó.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5ADDC-CF66-4137-A970-79F7BE3D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29075"/>
            <a:ext cx="5553075" cy="118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9C889-1A18-40DB-AB40-38521716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2387822" cy="1071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03  CSRF có đọc response không?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63CE3-0BE6-4DC1-BB28-C0CB84CF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4076700"/>
            <a:ext cx="2903411" cy="1090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Thông thường không, do same-origin policy; CSRF chủ yếu gây side effect.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8BB00-7FAA-4B07-840B-B7DEC22F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10188"/>
            <a:ext cx="5553075" cy="118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7F3A6-C6E3-4693-AF37-8F960BD5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7338"/>
            <a:ext cx="2387822" cy="1071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04  CSRF khác XSS?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E109F-C01D-43A1-825B-954D7BE2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5357813"/>
            <a:ext cx="2903411" cy="1090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CSRF ép request bằng quyền phiên; XSS chạy script trong origin nạn nhân.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0862A-5BD1-4F2E-B169-C5D223C4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66850"/>
            <a:ext cx="5553075" cy="118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217C6-F0B9-4783-BEEA-5FF77890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4000"/>
            <a:ext cx="2387822" cy="1071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05  Vì sao không dùng GET?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AA3D6E-1C80-457B-877F-7E0523D7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1514475"/>
            <a:ext cx="2903411" cy="1090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GET có thể bị prefetch, cache, nhúng và kích hoạt ngoài ý muốn; phải là safe/idempotent.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82A692-77BB-474D-AA43-74D94214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47963"/>
            <a:ext cx="5553075" cy="118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1190D-9A1F-4ABC-8A75-9E174732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5113"/>
            <a:ext cx="2387822" cy="1071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06  Vì sao CAPTCHA không phải biện pháp chính?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08671E-0031-4855-838C-8F7FD57A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2795588"/>
            <a:ext cx="2903411" cy="1090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Nó tăng ma sát nhưng không ràng buộc request với session/origin như token CSRF.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A6D27C-E397-498E-ACCE-F1F3D71E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29075"/>
            <a:ext cx="5553075" cy="118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A90A4-FDB2-4331-9224-A2A4BDEB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86225"/>
            <a:ext cx="2387822" cy="1071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07  Vì sao bản vá CSRF hiệu quả?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59AEDF-55FB-4B44-BE88-9DC8E098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4076700"/>
            <a:ext cx="2903411" cy="1090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Server chỉ đổi state khi token khớp session và Origin/Referer hợp lệ; request từ :9004 bị 403.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DAE8D3-FBB1-4A90-B2E1-ED5B41D8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310188"/>
            <a:ext cx="5553075" cy="118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D8369A-9AD9-4F34-B6CB-AE5AB967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67338"/>
            <a:ext cx="2387822" cy="1071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08  Token CSRF phải tạo và kiểm tra thế nào?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AC8529-4578-43CA-A9A0-7A1D9A48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5357813"/>
            <a:ext cx="2903411" cy="1090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Token ngẫu nhiên, duy nhất theo session, đặt trong form và bắt buộc so khớp ở server trước khi đổi state.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6ADC5F-7C1C-4DB1-B55B-8C92ACC5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075876-1FE2-4057-8D88-E29CA1B6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3DC9B5-1542-4BF0-A75D-8F24A7EC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15455615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38CE56-3631-4CF7-AAB2-E0F8E7DA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LAB05 · SQL INJECTION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FB198-7132-4DD8-A816-62126E18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21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FEC66-5809-4EE1-8E74-6CEC3668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B1250-80A3-43FD-8BEB-2A256EEB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Input nối chuỗi trở thành một phần cú pháp 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50863-E953-408F-9CD3-49117A51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89AB2-EB1B-4B8D-8763-CB8211F9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USER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1439E-5BB6-400B-8BAF-973F289F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DF884-AFDA-4648-A6E3-B0DEB21A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84D5B-BDB4-4CD3-AC7B-B0208254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STRING CONCAT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31138-D6F1-44A4-848A-3280FB6B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9B32E-99A0-4A8B-A9F8-8E12863E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9C1DF-1257-4452-8886-1CC4FB37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SQL PARSER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D056D-4DAA-4834-B8E5-B17E0A88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4D75B-C03B-45BB-9A04-4C5A9293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E87E3-FC65-41D2-A22B-7A2606D1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STRUCTURE 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3E19F-9BD3-491B-B3D9-B1569A5A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FA4F2-F7B7-431C-9DAC-9575B094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725132-9D41-40F1-9B04-17E1F40A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ROWS / AUTH 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690FB-0428-423E-94C2-94C6A408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363220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6A9FE-7FD6-46BF-8900-71898D62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71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C4C3D-CCF2-4BF3-807C-70ED8EF8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Login query vulnerable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0E4B93-20B7-4390-9408-D3FE507A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vulnerable_queries.py dùng f-string.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2BC146-1574-414A-9A7B-6DD86D5C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12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username và digest được chèn vào WHERE.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358584-0A6A-499E-A23D-531968F5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98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Comment có thể vô hiệu hóa phần password.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9FEDD5-3A55-4EE2-93F4-2666960B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33600"/>
            <a:ext cx="363220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520F9B-599F-4088-9011-61FABFCD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33600"/>
            <a:ext cx="571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63328F-C051-446F-8A93-4A551A3F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22885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Search query vulnerable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BA8A6D-83DF-408E-9695-4CF1840F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5527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name LIKE '%{keyword}%'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EABFB5-85AB-4814-9557-CD8E097A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65125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OR 1=1 thay đổi điều kiện lọc.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7D54D2-86D2-441C-BEFC-B3C25312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47498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Không thêm UNION/extraction ngoài lab.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342F2F-9B1D-49EA-9AE5-546B732A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133600"/>
            <a:ext cx="363220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122656-5312-4637-B040-9B3116D0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133600"/>
            <a:ext cx="571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BE126F-A47B-4624-8DA1-F53B6B8D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228850"/>
            <a:ext cx="336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Dấu hiệu phát hiện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6684EE-9505-40FD-BEDA-EEE9AD6E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52700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Dấu nháy đơn gây lỗi/hành vi khác.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592DDA-A369-4BF9-AE49-8D59454A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376613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Row count bất thường.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045B22-784E-4927-89B6-A10ADB79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00525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Query event cho thấy structure_changed.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5256FD-A8D5-4F02-8E2F-ED1950D0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5024438"/>
            <a:ext cx="336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Không trả lỗi SQL chi tiết ra client.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3E0366-255D-4459-9DD0-D6EDD01C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57900"/>
            <a:ext cx="11201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9B44C1-4E09-4716-9893-8CF68D4B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85D26"/>
                </a:solidFill>
              </a:defRPr>
            </a:pPr>
            <a:r>
              <a:rPr sz="713" b="1">
                <a:solidFill>
                  <a:srgbClr val="E85D26"/>
                </a:solidFill>
              </a:rPr>
              <a:t>VÍ DỤ THỰC TẾ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5FD4F8-E1A5-4A6A-92D6-05F44492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10552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01  Login bypass bằng comment bỏ password.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4C7137-5C95-4209-B5A0-6D30AE8F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550" y="610552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02  Search OR 1=1 trả toàn bộ 8 sản phẩm.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C2270A-590F-45A6-A7F8-46BEFE9C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610552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03  Lỗi SQL chi tiết làm lộ schema/query nội bộ.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5582AF-2E29-4F2C-A39F-80AE812B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BE9FD0-806E-4C8B-AA37-EC7975CB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15A534-8F88-4BBF-BD97-82DDBE75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7851984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1E0E31-20EC-412B-B7FA-599B092C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LAB05 · SQL INJECTION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82825-4D40-413D-BF58-AEB15379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22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B7F6E-AEFE-47CE-A71D-B4BDE378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27068-64AE-413C-99B8-7B8CE2C4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Authentication bypass: comment loại điều kiện password khỏi WHERE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A159F-4FA6-47A9-B2F3-7966F5EB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8C05D-3CB2-4FB2-8560-5B090380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username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5D8FD-9ED3-4698-B4DA-904F5E9A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EC8EA-4E3F-465C-8759-ADC5CD32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DCAFF-4564-43B1-BBD2-4E481E96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CONCAT INTO WHERE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8AE81-1B5C-4C14-8A5F-2674BDF6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3D46F-1674-4299-8347-CBD07F37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52CC0-2DBE-4852-8346-0B0AC5E4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-- COMMENTS PASSWORD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79AA7-F793-4F6B-B97F-26807786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CB6AF-A03E-41DE-BFB0-474F1330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1A40D-F0B5-449E-9069-F887CD6B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1 ROW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829B17-8BD1-48E6-838D-56464C0B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C3B1D-9C5B-4073-B441-49F8D8C4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DB0338-6F4C-430C-A040-170B2451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SESSION CREATED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B310EE-1D49-47E4-8358-A7E333B4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524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F2740E-9993-4FA8-AD6A-BF14C0BD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71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FD7D72-5590-4DC8-9EE1-0BD23BDD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Query trước → sau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0BCE6F-2470-4426-B18F-8C0D10F5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Payload cố định: admin_lab' -- 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AEF7DC-C8DD-4A66-9951-2876B95B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4188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Password bất kỳ.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8E9B0C-8BDF-4BDD-B12E-9BF3F4E3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SQLite trả user id=1; session_created=true.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3917AC-32C0-462D-9349-FD363591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7163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database_modified=false.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615551-9166-4BD5-A352-B8138A61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DB9ABE-344E-4C26-9FC3-1A2D96AE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06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-- template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WHERE username = '&lt;input&gt;'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AND legacy_password_digest = '&lt;digest&gt;'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-- final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WHERE username = 'admin_lab' -- '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AND legacy_password_digest = '…'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FAA523-4DC6-4F2D-96A1-10D56D12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524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ED7781-7F8E-4A44-8464-D37836AE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71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E6E2DC-67D9-4FDA-92B3-2618F8E1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Evidence request / response / audit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DD0C3F-F704-4A12-BD80-552E7990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POST /vulnerable/login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1521AE-CDAD-4484-BEFB-9ADDD4C4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1658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rows_returned=1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4FBA7F-9667-47AA-BEE4-3A1E96F5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8046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sql_structure_changed=true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E5D0FB-8ED0-4689-9187-5FE0A79D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4434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final_decision=local_demo_bypass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61A708-5372-4DB3-9A7A-B139B455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0822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audit: login_logic_changed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0F10F6-2C83-45B0-B7C1-B9701F4E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1201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5D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5BB40A-0DF5-4E27-9B12-DAC48305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FBCE1A-7EE0-42E9-9220-F9F67940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DEMO CUE · SQLI-A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4B8CF5-3239-42F5-897F-1BA3D3E0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10225"/>
            <a:ext cx="902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http://127.0.0.1:5005/vulnerable/login · Không cần mật khẩu đúng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6EA334-2236-45C5-ACB6-4E4BB53C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INPUT  username=admin_lab' -- ; password=bất kỳ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5B40AD-A4F3-413C-8519-7B4AD4E9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674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1. Mở login vulnerable  →  2. Chọn payload cố định  →  3. Gửi request  →  4. Xem final SQL/audit  →  5. Lặp ở secure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004A91-D5E9-44AF-8D25-693FCAAA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QUAN SÁT  Request · final query · rows · session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CDF3A5-2AA6-411A-8033-95F6EED6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VULN  1 row; bypass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131CA8-6821-40CF-A3DC-0815E4BD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SECURE  0 row; invalid credentials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0AC5A7-BF7A-49A9-98B1-E7136740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34100"/>
            <a:ext cx="327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Nối chuỗi cho phép input thay đổi cấu trúc SQL.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E5CEBF-D05C-457A-909B-38315DF1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0F580E-CF8B-4B1D-B757-2C2D3EB6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0A2E16-0B87-4680-891B-06DD7196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434754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DEAAF5-E131-44B0-9E63-73C34565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LAB05 · SQL INJECTION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3FBFD-3453-49F0-9228-C75854FB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23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2DCE2-0205-4243-B565-CA515F44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8CA87-4D4E-49B2-90C7-8C287861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Prepared statement giữ cấu trúc query bất biến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971C6-8AB4-4953-92EB-73A6DB75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98962-5B92-49EA-87AF-5B4CC823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SQL TEMPLATE 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325DF-FF97-44CD-A39E-15790591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CB9A9-76F6-4507-8701-9B1230FB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C2F9F-70F5-4B55-806C-9E1813C6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PARAMETER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2ED4D-6B5C-4D74-8D23-AD71B982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905B4-ECF1-41A7-89E8-CFBD0661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934B3-1214-47BC-8944-08021437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DB BINDS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4CB54-1832-4150-BFD0-67D0F68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4A32F-35F3-49ED-A024-907533BC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BA8D3-6194-4D05-8D96-693F28F5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QUERY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B7CFB-E649-4A18-A1A6-EADB3431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9649B-A806-414D-8F8B-1174688E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1E2ED-D146-4DF3-AFA5-A79CB3F9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EXPECTED ROWS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CE973-9B00-41C1-A3A7-09115EBE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524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6423F0-C9CB-4872-8E9C-2795BF58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71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478CA8-CE1E-4AE4-BB27-8C442AD8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Search vulnerable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6110E6-0A89-4206-A516-32B4A7A2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Normal USB → đúng subset.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35253B-7A48-4AFF-B996-DA5A24D8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4188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Payload %' OR 1=1 -- 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E40B97-DFDF-461E-A4B4-0456F773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Final SQL: LIKE '%%' OR 1=1 -- %'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8B2601-FEAA-4D28-8353-58B9F65A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7163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Kết quả: 8 rows.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0A1DA3-89E4-488C-BD77-37FE0810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D9E0DA-597E-4505-9F07-49642520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06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sql = f"... name LIKE '%{keyword}%'"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rows = execute_read_only(sql)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3D82C7-6D51-4822-8FDE-E948900C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524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7A18E9-1A12-4D0A-9B0E-FB4A1F83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71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57EBD9-F784-45F9-A762-E28F95D7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Search + login secure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D4682B-650C-4805-961B-017647AB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Template chứa ?; input nằm trong params.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3CA65F-E336-4852-A00E-D7454B09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4188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Cùng payload search → 0 rows.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A6162E-95CE-4B08-BFC4-BB968175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95675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Login username=?; PBKDF2 check_password_hash.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87D335-6B0E-4616-A00D-A64C9E5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67163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Safe error không lộ SQL/traceback.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28922D-45F8-4C7A-B5B2-927FFFFC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890007-D575-4FAA-AF97-A5C06731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506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SEARCH_SQL = "... name LIKE ? LIMIT 50"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_run("search", SEARCH_SQL, (f"%{keyword}%",))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LOGIN_SQL = "... username = ? ..."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B34AEB-8E74-40D9-BC53-6097C324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1201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5D2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C72490-B8CC-4C3F-9C29-0851672E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7A0DED-8075-4290-A5A0-015CBF6B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DEMO CUE · SQLI-S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774E21-0F95-4BBD-9225-6E42A311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10225"/>
            <a:ext cx="902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http://127.0.0.1:5005/vulnerable/search · Không cần đăng nhập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EABCD4-FBA7-4489-A30E-90ED2E6D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INPUT  keyword=%' OR 1=1 --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89B8E6-3D8E-4839-ABE5-AEBE4F9A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674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1. Search USB baseline  →  2. Gửi payload vulnerable  →  3. Ghi 8 rows/final SQL  →  4. Gửi payload secure  →  5. Ghi 0 rows/template 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8F8733-19C8-44AF-9FFF-19A9F403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QUAN SÁT  Query event · params · row count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2A2E04-320C-4338-B31D-531FBAE3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VULN  WHERE bị đổi; 8 rows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6F2916-DA69-465C-9951-20D3BA9A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SECURE  input là data; 0 rows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E231EA-881D-4AF4-8932-B3D47E28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34100"/>
            <a:ext cx="327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Parameter binding tách code khỏi data.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5D9DC4-DF13-44BF-82E1-9EA5C785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897B0D-5E8C-4320-B245-D2A93CA4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C3902A-9C16-4F08-9584-3B3767AE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2494062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DC222E-B812-4F6A-8CC3-6E0E9B6D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LAB05 · SQL INJECTION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A6BED-2D26-4F61-9321-C9046B81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24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C7799-F79B-4A1F-BD5E-6AC899D7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D541A-5118-4D5E-8AC7-6D379658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Câu hỏi trong docx → Trả lời đúng trọng tâm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F3372-F2AF-4274-9636-786A3748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85D26"/>
                </a:solidFill>
              </a:defRPr>
            </a:pPr>
            <a:r>
              <a:rPr sz="825" b="1">
                <a:solidFill>
                  <a:srgbClr val="E85D26"/>
                </a:solidFill>
              </a:rPr>
              <a:t>CÂU HỎI TRONG DOCX → TRẢ LỜI ĐÚNG TRỌNG TÂM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F0208-B7A8-4CD3-9C66-C4D92CE6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826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9E076-FC88-4A5D-986D-F95B29AF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816602" cy="712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01  SQL Injection xảy ra ở tầng nào?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C783D-C32B-48EC-A040-5287C339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916" y="1514475"/>
            <a:ext cx="5953506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Tầng truy cập dữ liệu/query construction giữa ứng dụng và database engine.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944A1-44F1-4729-BDBD-E0554802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8870"/>
            <a:ext cx="11201400" cy="826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42CDC-3D1E-4971-AA8A-CAFBDF1A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6020"/>
            <a:ext cx="4816602" cy="712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02  Vì sao escaping thủ công dễ sai?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F684E-0E7F-45A9-9B66-83761F49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916" y="2436495"/>
            <a:ext cx="5953506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Nó phụ thuộc DB, encoding và context; dễ bỏ sót biến thể hoặc xử lý sai thứ tự.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1B0BA-BB8D-42D7-ACE2-2A24EC73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0890"/>
            <a:ext cx="11201400" cy="826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D8AA4-ED3D-43DB-89A9-DDA9FC43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8040"/>
            <a:ext cx="4816602" cy="712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03  Prepared statement khác nối chuỗi?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788B9-3F88-415B-BB48-F82DEF3B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916" y="3358515"/>
            <a:ext cx="5953506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SQL template cố định; giá trị được truyền riêng và không được parse như cú pháp.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34CCD-508D-48CC-BF76-8BA44043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32910"/>
            <a:ext cx="11201400" cy="826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E9068-56FF-44F3-9E1C-031432C6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0060"/>
            <a:ext cx="4816602" cy="712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04  ORM có luôn chống SQL Injection không?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F22EE-F4F4-4C45-8E13-1E43AD97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916" y="4280535"/>
            <a:ext cx="5953506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Không. Raw SQL, interpolation hoặc dùng API ORM sai vẫn có thể injection.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B1EB1-95D5-4B26-9B72-9E0579D0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54930"/>
            <a:ext cx="11201400" cy="826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ADB09-593D-493D-B987-2F689084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2080"/>
            <a:ext cx="4816602" cy="712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05  Vì sao không hiển thị lỗi SQL chi tiết?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23BD72-D761-4046-BB88-03383BAE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916" y="5202555"/>
            <a:ext cx="5953506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Lỗi có thể lộ schema, query và đường dẫn; trả thông báo chung, log nội bộ đã redact.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82D513-F491-433D-A070-8F693345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11201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B4B22D-96ED-4FF5-A90F-2CD7DF3D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62675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Least privilege  ·  Logging/monitoring  ·  Validation theo kiểu dữ liệu  ·  Password hashing  ·  WAF không thay sửa 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2D1A91-907B-409C-BB5D-E3EF60D4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BE7983-A52C-44B2-A234-F7E6B7D0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BAC9E-8314-409F-9103-F32D997F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199520101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7C05DC5-BFA7-4904-B364-00AA78D4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LAB06 · COOKIE POISONING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470FC-4370-463E-A62E-3D618B42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25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61392-1733-4815-8172-DE46FA75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6FE4D-F24C-4BE8-BE0F-BC3E182B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Plain và Base64 cookie đều là dữ liệu client-controlled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52EAF-6930-4244-8603-6A396164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1953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7963D-AE74-4735-81A5-E2741935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918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COOKIE role=user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E3107-E0FE-4D55-91A6-39C2D723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8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6F75E-F769-406E-AC00-897A8241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38" y="1162050"/>
            <a:ext cx="11953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9E366-080E-48D2-B502-CAD8E7CC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8" y="1200150"/>
            <a:ext cx="111918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EDIT DEVTOOLS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1C7B1-6786-4FD9-A2E5-72C70DC2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F7193-5798-46BF-8CE8-28B1DC4C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162050"/>
            <a:ext cx="11953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013C0-3FFE-47A4-AA13-93A80EC2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200150"/>
            <a:ext cx="111918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role=admin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A567C-3C56-4B34-B9A6-3B8A18D0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47A2C-6951-4A6D-9757-EAE2D3A7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413" y="1162050"/>
            <a:ext cx="11953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2278F-2692-475C-BBBC-3E719197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513" y="1200150"/>
            <a:ext cx="111918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ADMIN ALLOW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7ADC6-A969-448A-BE81-C5B936B1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162050"/>
            <a:ext cx="9067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BEBEF-47F4-493A-AB38-A02D238A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00150"/>
            <a:ext cx="8305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BASE64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7DC47-239C-487E-BAC8-E9A6B77C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080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40B21C-BDB8-45D1-92A1-2C03A872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1162050"/>
            <a:ext cx="9067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E9E898-B4F1-4E32-BD9A-4FD35FF5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1200150"/>
            <a:ext cx="8305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DECODE 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F424C-8A77-4D59-AD81-30B7E625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510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FE35A-86F0-4776-AD21-A2D865AE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060" y="1162050"/>
            <a:ext cx="9067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FEEF4E-0395-4EB1-BED4-742DF41B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9160" y="1200150"/>
            <a:ext cx="8305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EDIT role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06CCC-58C8-4B30-BBB3-0976693E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FB7E96-417E-415E-AB14-82EE9F46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1162050"/>
            <a:ext cx="9067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A47241-C1BC-4956-B56E-7BF491E5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1200150"/>
            <a:ext cx="8305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ENCODE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F8D4EB-DEE1-498C-A2C5-C16B79EF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0370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6A6318-02C4-4124-8999-35A8DE28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1162050"/>
            <a:ext cx="9067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BE4F3B-5330-481A-BBE0-93881911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020" y="1200150"/>
            <a:ext cx="8305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ADMIN ALLOW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8B7AB2-DB29-46C1-AF87-AB6AF8B6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5524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0AD4C0-9358-4ED2-9650-36C19699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571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1D7BD8-4558-40EC-B7AC-E264ADE7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Plain Cookie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965353-903A-47BE-BEBF-4CA3DF7A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Login student / Student123!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192DA7-4381-4CCC-901E-647FA4D9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635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lab06_role=user → sửa admin.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C6D88D-AA90-44E7-A52E-25773329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3349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GET /vulnerable/plain/admin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C0408E-FB32-4AD2-A791-9FF5A8C5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0349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Decision deny → allow.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7E965B-F991-4FBE-B450-F57AD819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3548"/>
            <a:ext cx="5257800" cy="8161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D430AB-8E62-4F1E-8CB9-C34E15BD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0698"/>
            <a:ext cx="5067300" cy="720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role = request.cookies.get("lab06_role")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allowed = role == "admin"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FFDE9F-B6AB-4835-ABD4-BD41C008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5524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694731-FD5C-432C-AE2A-7277EF86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571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4CADED-F5C0-497D-BCF2-135F7FE4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Base64 Cookie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EC97B8-67B3-4BB8-A2A7-60C6576F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lab06_profile_b64 chứa JSON.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B193AB-2E73-429D-9C21-3A147444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9635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Decode role=user; sửa admin; encode lại.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E9C967-CCF3-4C46-9281-056E286D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73349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GET /vulnerable/base64/admin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CEF7CB-1246-4DCA-A755-3C14AE75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50349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Base64 là encoding, không integrity.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D298EF-1ACE-4729-89A3-F77894B8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3548"/>
            <a:ext cx="5257800" cy="8161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72967D-0757-40EB-9348-4D6812FC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0698"/>
            <a:ext cx="5067300" cy="720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user: eyJ1c2VybmFtZSI6InN0dWRlbnQiLCJyb2xlIjoidXNlciJ9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admin: eyJ1c2VybmFtZSI6InN0dWRlbnQiLCJyb2xlIjoiYWRtaW4ifQ==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12C328-98AC-4600-8175-1E8E061A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0150"/>
            <a:ext cx="11201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E6A33B-63C8-4862-9CB8-9982986A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85D26"/>
                </a:solidFill>
              </a:defRPr>
            </a:pPr>
            <a:r>
              <a:rPr sz="713" b="1">
                <a:solidFill>
                  <a:srgbClr val="E85D26"/>
                </a:solidFill>
              </a:rPr>
              <a:t>VÍ DỤ THỰC TẾ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A69F6F-9836-4091-BEEA-4FA1575A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5777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01  Sửa role/is_admin trong cookie tự mô tả.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8946A4-BF66-4B53-9760-1726664C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550" y="505777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02  Sửa plan/discount/balance do client giữ.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06C716-D9F6-4550-AB4A-F425C780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505777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03  Decode Base64 JSON rồi nhầm là mã hóa.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E9D11B-2F20-43DB-977C-BB250AB4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1201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5D2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C123BC-4387-4379-A668-50CF4E14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1B6F974-A021-4731-8B8E-847B1B62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DEMO CUE · COOKIE-V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27A295-51EC-4F93-A1BC-FE0C6059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10225"/>
            <a:ext cx="902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http://127.0.0.1:5006/login · student / Student123!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38BEE0-2F9E-4FEB-BAFA-5DCF2EBC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INPUT  lab06_role=admin hoặc Base64 admin cố định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17B14A7-1EB6-41FE-99B2-DE5246E5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674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1. Login Plain/Base64  →  2. Mở admin: deny  →  3. Sửa cookie DevTools  →  4. Reload admin  →  5. Xem Authz Inspector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EF3821-4296-4910-AA50-4C79FC34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QUAN SÁT  Cookie · role source · decision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6D25222-667B-439E-A516-F027C704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VULN  client role → allow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ED77B14-C8F4-43B1-AEE7-D48FA053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SECURE  —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F1A2751-69B8-48E2-8444-66E7C973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34100"/>
            <a:ext cx="327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Encoding không tạo niềm tin.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EDBA33-1705-42FE-ABAD-777D0CF2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F3330D1-FB5A-4584-A6CA-93111D55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A26E76D-345F-4660-B4B0-E7D671F2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154196487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EA2BAC-19D2-471D-82B8-ECE61639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LAB06 · COOKIE POISONING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84E2C-F0E3-46C9-9BE0-15EA4C96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26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D075E-2F4B-4EA8-A444-6D6345DF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443AD-4789-4E92-84E4-C2C6A9B5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Signing bảo vệ integrity; encryption thêm confidentiality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490F0-1AEC-4BB2-BA40-4724AF4C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9067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37A8D-D367-4362-AB19-DAD32B34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305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PAYLOAD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7472E-B4E1-4F57-AA2F-5E2E3BEC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AE3D6-C158-495D-9797-C6A61849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" y="1162050"/>
            <a:ext cx="9067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82112-2E83-4969-8918-CDE0AD3C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" y="1200150"/>
            <a:ext cx="8305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HMAC 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53868-D557-4EA3-8416-7B2BBEF1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5D378-6669-42C1-81DC-7FFC07AB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1162050"/>
            <a:ext cx="9067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DBC66-35F8-4172-97B9-953A0993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1200150"/>
            <a:ext cx="8305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COOKIE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5207B-AC52-4ADB-B238-4A5D4152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C253B-F2F5-469C-A454-E64D3C47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590" y="1162050"/>
            <a:ext cx="9067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5A6AE-A83F-4AE8-A885-9F5EB1EA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690" y="1200150"/>
            <a:ext cx="8305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6295A-A87A-47A2-830F-1E98FDCA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470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A460EE-5413-4AE7-87C6-18348DF7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1162050"/>
            <a:ext cx="9067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C2A3EE-9403-402F-85F1-56751321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1200150"/>
            <a:ext cx="8305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ACCEPT / REJECT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69CBB2-7311-4AD3-BCF5-66BEC967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162050"/>
            <a:ext cx="9067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CF4E2-6A7A-4395-B5BD-59ABBE7C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00150"/>
            <a:ext cx="8305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PLAINTEXT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D27173-A9D2-497A-AEE0-D33A06F0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080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B2E2F5-60F8-41E1-B9A6-6A6721DD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1162050"/>
            <a:ext cx="9067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8F8A1-4833-4F98-B0C5-85ED9214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1200150"/>
            <a:ext cx="8305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AEAD ENCRYPT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E27FF8-464E-4F78-8B61-7A6ECD49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510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0A6D1A-7755-4A8C-AC42-51A73368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060" y="1162050"/>
            <a:ext cx="9067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4381D7-CC07-41C4-A5EB-7E75CB3E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9160" y="1200150"/>
            <a:ext cx="8305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TOKEN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27C48F-694E-45F8-86F3-9727545E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8F068D-AD4C-48D1-BF53-191E59F4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1162050"/>
            <a:ext cx="9067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C185C4-4015-4531-995B-05D02912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1200150"/>
            <a:ext cx="8305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DECRYPT+VERIFY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D127AD-AC1A-4636-8EFD-F0748D50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0370" y="138112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A7E46D-CA42-4237-8BC3-BCAF10C2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1162050"/>
            <a:ext cx="9067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FE46E7-BEE6-4425-B313-208085E1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020" y="1200150"/>
            <a:ext cx="8305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DATA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FA9E61-9B0F-4314-93F7-A12D9B35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55245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82AAF8-B0C5-44EB-9874-8AE0B255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571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91EE81-9F19-4121-A5C7-B3DF71E0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Signed Cookie · itsdangerous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B75494-CF84-4F8B-871B-8F5A147E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Payload vẫn đọc được.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835BA0-B8F5-4973-9894-4BCE6B47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3238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Chữ ký xác nhận integrity/authenticity.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C6F9C4-703C-4CE1-B0E4-57E2CD8A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Sửa payload → BadData/signature_rejected.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4AE081-2578-4F52-98BE-25DBE0A6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1013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Authorize vẫn lấy DB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85E55C-FE14-401B-BA5D-4494B085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9E58CD-DA0E-4AF6-A743-A2E38AC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506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try: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  data = serializer.loads(value)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except BadData: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  return invalid("signature_rejected")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735459-0FB1-47DC-A125-01A5766C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55245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CC880A-5BAE-47C0-AC37-D1A7A4F9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571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B21CA1-6339-4EB3-A764-34F1C789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Encrypted Cookie · Fernet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5DC47B-611D-4EB6-BE28-7312EBB7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Authenticated encryption = confidentiality + integrity.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2AADBB-FB02-4A87-A27B-ED251987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43238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Tamper → InvalidToken.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615C3A-5645-4008-92EA-97805BA1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67125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Demo không nhét role vào token encrypted.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568244-7CB2-41F8-B3FC-CAA2F703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91013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Không thay authorization.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A84603-9B94-4BE8-AFD5-2D003FE6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911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6FE4C6-2953-4AF8-ACDE-C72D8CAF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506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try: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  plaintext = fernet.decrypt(token)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except InvalidToken: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  return invalid("authenticated_decryption_failed")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2F47AC-A7B7-42FB-8B98-1F92F9C2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57900"/>
            <a:ext cx="11201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7E484B-40D9-4740-AB0B-63F54BE2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85D26"/>
                </a:solidFill>
              </a:defRPr>
            </a:pPr>
            <a:r>
              <a:rPr sz="713" b="1">
                <a:solidFill>
                  <a:srgbClr val="E85D26"/>
                </a:solidFill>
              </a:rPr>
              <a:t>VÍ DỤ THỰC TẾ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714F7A-E325-4CE1-BFCE-BDA1AA7C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10552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01  Signed preference: đọc được, sửa bị reject.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5E86AA-1797-4197-A3D8-DC4CCF9A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550" y="610552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02  Encrypted recovery state: che + integrity.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59AA1C-01C3-4453-8EBA-CD6B5FCA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6105525"/>
            <a:ext cx="309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03  Role vẫn phải tra DB dù token hợp lệ.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FDF69C-B3A5-44E8-A309-CCE4D2A1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C2BEBE-2CEC-443D-A84E-9EBE2575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4EEA221-8BB2-41E3-9EF8-19766DE7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194751224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BC4517-F9D0-4FC6-9D68-C138308A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LAB06 · COOKIE POISONING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68A1B-6071-4725-840B-7BE164E0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27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5F1AE-02A7-4E9D-A8EE-ACF5BD5D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EA2A5-C11C-4BCC-8C75-B351D9CA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Server-side Session giữ role và vòng đời ở phía server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0EFE2-5E5F-4C4A-A941-3B19A05A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73F34-2947-421B-A6AD-588F69F8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OPAQUE SESSION 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8C226-E9A0-455F-A04F-B3A01B75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A4D2F-28F9-4895-AA54-466ADC0C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E64A0-1014-408A-8B72-57E82BE8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HASH LOOKUP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EDEA0-B8D4-4D0E-9FB4-76A7B20F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6FAC7-874E-4291-822D-D63CDC1F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24C46-5542-4970-878B-22E1E8BA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SESSION STORE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578A6-048F-401E-AD09-AEA07ED3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4AABF-2FEE-4D4B-AB7E-F7CD964F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33278-48B2-4703-99EB-5E0EA7BD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DATABASE 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69E1C-DDF5-427B-949F-C21CD638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146C51-0DC6-4A13-8EC0-DB65CE53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143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13335">
            <a:solidFill>
              <a:srgbClr val="E85D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201E0-5DDB-4A78-B779-C9AC7280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219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CE5"/>
                </a:solidFill>
              </a:defRPr>
            </a:pPr>
            <a:r>
              <a:rPr sz="900" b="1">
                <a:solidFill>
                  <a:srgbClr val="F0ECE5"/>
                </a:solidFill>
              </a:rPr>
              <a:t>AUTHORIZATION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03AEB-055B-4D83-98CB-72A03D9C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524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132F68-2E14-428A-8B2E-20978FFE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71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00D48F-946D-46FF-816D-EB0D38D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Luồng phân quyền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9AE6A-FA8A-49AB-AC3B-C425645F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Cookie chỉ chứa lab06_session ngẫu nhiên.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F07CC5-15A9-438F-85DD-1E4883DE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Server SHA-256 token để lookup session.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123AF0-919E-43E3-B3A9-CD11E8B3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JOIN users lấy role hiện tại.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1128C5-72C5-43F7-9BEB-6E3FCFC5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Mỗi request kiểm tra active/expiry/DB role.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A2EB2F-3C8C-4473-B3C6-B32DD59F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524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B03261-BF9F-41FC-86D8-323D75E4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71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C60D0F-1521-4DA0-94B5-1C5380F3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Lifecycle +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7C4C5C-35AA-4426-BCAF-94609E1F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secrets.token_urlsafe(32).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7BDAA8-72AF-4BA0-AF45-F99771A5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4188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Rotate sau login; revoke phiên cũ.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BD1B33-F87A-4B83-9E77-BD14FB16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95675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POST /secure/session/logout → active=0.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6683EA-F843-42A7-86D5-72EED72B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67163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student deny; admin_lab allow.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5CE5A5-AA00-4F94-90F0-7978F364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2FE1FF-A14C-428A-A49A-55B91457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506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TRÍCH ĐOẠN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raw = secrets.token_urlsafe(32)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hash = sha256(raw)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... JOIN users ...</a:t>
            </a:r>
          </a:p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allowed = valid and db_role == "admin"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146B7D-49B4-40EE-AA0D-F679F371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1201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5D2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1D77A9-0E4F-4B50-ACB4-BFAC1E2D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A5AB9C-C22E-4ECF-8C19-58A38B88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DEMO CUE · COOKIE-S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CF6388-44B2-4846-AED8-C1E585C4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10225"/>
            <a:ext cx="902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http://127.0.0.1:5006/secure/session/admin · student / Student123!; admin_lab / AdminLab123!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69409D-1596-4F2D-B393-74302BA7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INPUT  Cookie lab06_session không chứa role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CEADB0-D2F5-4935-BF4D-905E40D0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674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1. Login student Session  →  2. Admin route → 403  →  3. Login admin_lab  →  4. Admin route → allow  →  5. POST logout và thử lại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6E2D0D-F3E2-4027-BE61-ADB81211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QUAN SÁT  Session Inspector · DB role · active/revoked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AB1C44-CC47-444E-8829-5006C0B5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VULN  Plain/Base64 tin role client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2BEA07-58E8-4278-938C-673D915E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181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ECE5"/>
                </a:solidFill>
              </a:defRPr>
            </a:pPr>
            <a:r>
              <a:rPr sz="750" b="1">
                <a:solidFill>
                  <a:srgbClr val="F0ECE5"/>
                </a:solidFill>
              </a:rPr>
              <a:t>SECURE  DB role + revoke quyết định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E35597-F343-40F4-AE59-F9E2FA9E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34100"/>
            <a:ext cx="327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ECE5"/>
                </a:solidFill>
              </a:defRPr>
            </a:pPr>
            <a:r>
              <a:rPr sz="788" b="1">
                <a:solidFill>
                  <a:srgbClr val="F0ECE5"/>
                </a:solidFill>
              </a:rPr>
              <a:t>HttpOnly/Secure/SameSite hỗ trợ bảo vệ token.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F4D12E-A2B4-4AB1-B916-85489644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607E20-09E0-4A9A-8E52-920CE438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B6C4E0-10D6-4338-A685-E05CC228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50144317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BB3E84-C67B-4D91-80CD-78325F6A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LAB06 · COOKIE POISONING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1330F-CF1B-46FA-B2E3-39B52269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28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5529E-6B23-42E6-8054-945AA61F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12460-F45E-4F0B-A7E8-C8F1E786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Câu hỏi trong docx → Trả lời đúng trọng tâm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0E2E1-01EE-45CC-92DE-844A6E7C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85D26"/>
                </a:solidFill>
              </a:defRPr>
            </a:pPr>
            <a:r>
              <a:rPr sz="825" b="1">
                <a:solidFill>
                  <a:srgbClr val="E85D26"/>
                </a:solidFill>
              </a:rPr>
              <a:t>CÂU HỎI TRONG DOCX → TRẢ LỜI ĐÚNG TRỌNG TÂM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113CC-7AD0-4124-B15E-31C2B53C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55530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6D18C-CE4A-4703-84AE-22A7DE06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387822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01  Vì sao cookie không đáng tin?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81835-A8E7-4390-A1D2-9E29EA09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1514475"/>
            <a:ext cx="2903411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Client lưu, sửa và gửi lại mọi byte; server phải xác minh trước khi dùng.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1ECBF-DE32-48EB-8CE9-DB78F4E7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19375"/>
            <a:ext cx="55530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9A943-F8AC-499A-9B5C-81F1F7DA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2387822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02  Cookie Poisoning khác Session Hijacking?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23A2E-35FC-4757-B8F5-2EF9C33A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2667000"/>
            <a:ext cx="2903411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Poisoning sửa state; hijacking chiếm token/session hợp lệ của người khác.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53837-6BA8-4E60-90E0-0BAE34D6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71900"/>
            <a:ext cx="55530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6A50D-9701-4125-A575-9A225345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387822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03  Base64 có phải mã hóa không?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20D7C-C441-494A-A4DC-6EA98BAE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3819525"/>
            <a:ext cx="2903411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Không. Đây là biểu diễn bytes thành text và đảo ngược không cần khóa.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9EDB8-E075-4921-8DF0-F6327702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24425"/>
            <a:ext cx="55530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B75A1-28E3-4653-A4D4-4EFAC367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2387822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04  Signed Cookie giải quyết gì?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BE544-06A6-451A-B130-A0CA1149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53" y="4972050"/>
            <a:ext cx="2903411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Integrity/authenticity; không che nội dung, không tự revoke và không tự phân quyền.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B26FAD-727E-4CC8-828A-15E61B83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66850"/>
            <a:ext cx="55530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F3067E-5153-4376-A9B1-AEC50735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4000"/>
            <a:ext cx="2387822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05  Vì sao server-side authorization vẫn bắt buộc?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DF4C64-B11A-4983-9AAC-06BE0A34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1514475"/>
            <a:ext cx="2903411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Quyền có thể đổi/revoke và phải dựa trên trạng thái authoritative ở mỗi request.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10F60-C71E-41BB-A40B-8130E6D7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19375"/>
            <a:ext cx="55530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B3DA43-1864-474A-82E1-759BEA10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76525"/>
            <a:ext cx="2387822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06  Signed khác Encrypted Cookie?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24E501-4310-4B15-9C9F-B5B578C0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2667000"/>
            <a:ext cx="2903411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Signed bảo vệ integrity nhưng nội dung vẫn đọc được; encrypted AEAD thêm confidentiality và integrity.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2E45F7-AC34-468D-B8AE-6693A229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71900"/>
            <a:ext cx="55530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C0F582-2A55-4479-82A8-AB00D635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29050"/>
            <a:ext cx="2387822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07  Vì sao Session ID phải ngẫu nhiên?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0BD746-05D0-42A9-9559-3BA49D77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3819525"/>
            <a:ext cx="2903411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Để chống đoán/giả mạo; Lab06 dùng token_urlsafe(32), lưu hash và revoke phía server.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D6B39C-DE84-4050-A512-95AE311F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924425"/>
            <a:ext cx="55530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674062-6145-4FA1-AE58-BBCE7FB3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981575"/>
            <a:ext cx="2387822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0ECE5"/>
                </a:solidFill>
              </a:defRPr>
            </a:pPr>
            <a:r>
              <a:rPr sz="938" b="1">
                <a:solidFill>
                  <a:srgbClr val="F0ECE5"/>
                </a:solidFill>
              </a:rPr>
              <a:t>08  Login và logout phải quản lý session ra sao?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532280-21C0-451F-8820-A3A71BC7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978" y="4972050"/>
            <a:ext cx="2903411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0A8"/>
                </a:solidFill>
              </a:defRPr>
            </a:pPr>
            <a:r>
              <a:rPr sz="900" b="0">
                <a:solidFill>
                  <a:srgbClr val="B6B0A8"/>
                </a:solidFill>
              </a:rPr>
              <a:t>Rotate session sau login để chống fixation; logout phải revoke session ở server, không chỉ xóa cookie client.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9C2E0F-46C4-415B-8C70-5EE6379C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11201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4986B9-7E35-4DB4-A44F-D111E6D1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62675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Không lưu role/is_admin/balance  ·  Signed ≠ encrypted  ·  HttpOnly · Secure · SameSite  ·  Rotate sau login  ·  Revoke khi logout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932FBE-3449-4F42-84AC-9E2B955D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BB48AF-5752-4A37-9D3D-307B9A94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7AB7BB-3CBA-4646-B23B-B092667E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205349021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19D6990-F6B9-4456-90F8-8377EEB1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PHẦN H · TỔNG HỢP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D6E67-E8F3-4BC2-A83E-EF79A8D3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29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F3441-CEC6-48EC-ADB8-E3FAD4C9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37315-C47A-458D-9E5A-C6650607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ECE5"/>
                </a:solidFill>
              </a:defRPr>
            </a:pPr>
            <a:r>
              <a:rPr sz="2175" b="1">
                <a:solidFill>
                  <a:srgbClr val="F0ECE5"/>
                </a:solidFill>
              </a:rPr>
              <a:t>Sáu lỗ hổng khác nhau, cùng một sai lầm về trust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749A9-EBBC-4973-85AA-A3A242D1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645A1-24C6-49DE-BC7F-F5185C01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22872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</a:defRPr>
            </a:pPr>
            <a:r>
              <a:rPr sz="750" b="1">
                <a:solidFill>
                  <a:srgbClr val="111111"/>
                </a:solidFill>
              </a:rPr>
              <a:t>Lỗ hổng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404B6-6157-45FE-9A16-43236752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1811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7592A-70E0-4DD1-9BE1-16D97BF3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228725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</a:defRPr>
            </a:pPr>
            <a:r>
              <a:rPr sz="750" b="1">
                <a:solidFill>
                  <a:srgbClr val="111111"/>
                </a:solidFill>
              </a:rPr>
              <a:t>Nguồn dữ liệu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3BCE3-1696-406A-B208-6CEFDA12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1811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16C4C-AED7-4C86-9313-CBDC057E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22872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</a:defRPr>
            </a:pPr>
            <a:r>
              <a:rPr sz="750" b="1">
                <a:solidFill>
                  <a:srgbClr val="111111"/>
                </a:solidFill>
              </a:rPr>
              <a:t>Thành phần tin sai / vị trí lỗi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D4DCC-0C79-458F-8B84-1055174B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181100"/>
            <a:ext cx="1571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9DEE9-8528-4EBE-88CA-4B5512FB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228725"/>
            <a:ext cx="143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</a:defRPr>
            </a:pPr>
            <a:r>
              <a:rPr sz="750" b="1">
                <a:solidFill>
                  <a:srgbClr val="111111"/>
                </a:solidFill>
              </a:rPr>
              <a:t>Ảnh hưởng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F2B7E-5AD3-4DD6-835D-A1ED0874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811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87060-13FC-49AB-88A8-6ED5BA95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228725"/>
            <a:ext cx="2105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</a:defRPr>
            </a:pPr>
            <a:r>
              <a:rPr sz="750" b="1">
                <a:solidFill>
                  <a:srgbClr val="111111"/>
                </a:solidFill>
              </a:rPr>
              <a:t>Bản vá chính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F016A-94FC-4E8B-A3A4-B297C756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181100"/>
            <a:ext cx="2247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4AB1FD-536D-4D72-A7C7-C7AF1389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2287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</a:defRPr>
            </a:pPr>
            <a:r>
              <a:rPr sz="750" b="1">
                <a:solidFill>
                  <a:srgbClr val="111111"/>
                </a:solidFill>
              </a:rPr>
              <a:t>Demo kiểm chứng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142898-0C48-46B1-8C1E-83E7DFE0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1238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65CAB-7473-4211-A22E-AFD008BC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085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26"/>
                </a:solidFill>
              </a:defRPr>
            </a:pPr>
            <a:r>
              <a:rPr sz="900" b="1">
                <a:solidFill>
                  <a:srgbClr val="E85D26"/>
                </a:solidFill>
              </a:rPr>
              <a:t>XSS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FC0723-09E9-464A-AA6F-8FE3B941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600200"/>
            <a:ext cx="1428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5F6D38-AC76-4B64-871A-AA90304F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66875"/>
            <a:ext cx="12763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query · form · hash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FF691-CB10-43B1-9186-00E981D2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00200"/>
            <a:ext cx="2476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76224B-B0C5-4C0B-94F0-89F9EF64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66875"/>
            <a:ext cx="2324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HTML/DOM sink tin text là markup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4EA2AD-7A0D-4A3C-AC68-573C6AF0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00200"/>
            <a:ext cx="1571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1BEA81-A059-426A-B846-2006CFEA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66875"/>
            <a:ext cx="14192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Chạy JS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8A0126-9869-4BE7-8AF7-072C472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600200"/>
            <a:ext cx="2238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293978-EC15-4B46-9328-438396FC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66875"/>
            <a:ext cx="20859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encode · sanitize · textContent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F8B021-7000-49FA-803B-CD3B185E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00200"/>
            <a:ext cx="22479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3239E6-42BB-4481-98EF-7D949C8D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66875"/>
            <a:ext cx="2095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payload thành 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041DC2-2593-44FE-8423-73D148E6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90775"/>
            <a:ext cx="1238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3ACBAF-DD03-4E19-BAEB-525D313B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085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26"/>
                </a:solidFill>
              </a:defRPr>
            </a:pPr>
            <a:r>
              <a:rPr sz="900" b="1">
                <a:solidFill>
                  <a:srgbClr val="E85D26"/>
                </a:solidFill>
              </a:rPr>
              <a:t>Buffer Overflow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B4069A-9C35-4D10-96E5-65765B8C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90775"/>
            <a:ext cx="1428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A7D55A-DB9A-440D-8841-9FF74EA0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57450"/>
            <a:ext cx="12763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HTTP form → argv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626441-764B-4E20-B83F-7B8E21CE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90775"/>
            <a:ext cx="2476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29A95A-39DF-433E-93C5-A66E4E14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57450"/>
            <a:ext cx="2324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C stack buffer tin input vừa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D60719-E7C9-4D3D-BFB8-34F791C7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90775"/>
            <a:ext cx="1571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8EFD8C-2FAC-4FF5-BA77-EFCA33EA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57450"/>
            <a:ext cx="14192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crash/corruption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901E29-D9CE-40AF-AEEE-FD9645FD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90775"/>
            <a:ext cx="22383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7E3B79-D78E-48FA-B1D0-ED1BAD9C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57450"/>
            <a:ext cx="20859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bounds · safe API · hardening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45F9BD-33DD-4170-A835-25DD29C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90775"/>
            <a:ext cx="2247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D19828-F652-40E2-8E00-7CBF21C4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2095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ASan crash → exit 65/67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A7FBD6-E3CA-45F0-A610-FEC00B41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1238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5DE5EB-A1E9-4A6F-AD06-52DB5296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48025"/>
            <a:ext cx="1085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26"/>
                </a:solidFill>
              </a:defRPr>
            </a:pPr>
            <a:r>
              <a:rPr sz="900" b="1">
                <a:solidFill>
                  <a:srgbClr val="E85D26"/>
                </a:solidFill>
              </a:rPr>
              <a:t>Parameter Tampering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25B3BE-B9C9-47D0-A12A-195A9307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81350"/>
            <a:ext cx="1428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081A9A-7FEB-47D3-9EC1-26F3D1D6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48025"/>
            <a:ext cx="12763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price · id · role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3FC9FE-F070-42CC-A7AB-D471F61F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81350"/>
            <a:ext cx="2476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963BF0-F739-42FE-84A7-1CB4EF2C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48025"/>
            <a:ext cx="2324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business logic/authz tin client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FC56B9-588F-4F15-A00B-8E6A4BE4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81350"/>
            <a:ext cx="1571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42F5C5-BE58-45D1-88AE-718317B6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48025"/>
            <a:ext cx="14192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sai giá · IDOR · leo quyền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512D0F-FEF4-4CB0-ADED-7A021153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181350"/>
            <a:ext cx="2238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656073-99C2-4809-B5D9-8CF7D061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48025"/>
            <a:ext cx="20859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DB truth · owner check · allowlist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CD61F0-359A-487A-BFB0-03E38601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81350"/>
            <a:ext cx="22479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746B0D-BF03-4342-8A8B-49EE807A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48025"/>
            <a:ext cx="2095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100000 · 403 · role=user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A39688-7D6B-40EF-8A30-47358DFD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71925"/>
            <a:ext cx="1238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E5A6CB-3703-4A63-907C-F62553E4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1085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26"/>
                </a:solidFill>
              </a:defRPr>
            </a:pPr>
            <a:r>
              <a:rPr sz="900" b="1">
                <a:solidFill>
                  <a:srgbClr val="E85D26"/>
                </a:solidFill>
              </a:rPr>
              <a:t>CSRF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FAE61F-E626-4F7E-9BDD-64A5B8A2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71925"/>
            <a:ext cx="1428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6F2AA3-58C0-4ACB-A6BC-9EA19A61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38600"/>
            <a:ext cx="12763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cross-origin form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FA8B2C5-B39C-4EAD-A086-EB27777D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71925"/>
            <a:ext cx="2476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D1808D-B9F3-4FDB-B833-18BAA89C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38600"/>
            <a:ext cx="2324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state change tin session cookie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64EBF7-5600-4942-BDB8-8D30729A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71925"/>
            <a:ext cx="1571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C1B8E19-E203-4F78-9652-CA2A7503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38600"/>
            <a:ext cx="14192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hành động ngoài ý muốn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171F83-4FBE-4480-81C7-47070CE0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971925"/>
            <a:ext cx="22383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2298C41-AB21-4659-ABCE-C3A5F2F1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38600"/>
            <a:ext cx="20859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token · Origin · SameSite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236203A-242D-4224-B208-3C06EF08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71925"/>
            <a:ext cx="2247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A5CC304-BDDF-42B2-8EB6-E18AE31A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38600"/>
            <a:ext cx="2095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attacker 403; state giữ nguyên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ABAE4ED-58D5-4A20-B38E-A7D90C57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1238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FD9BBE7-A1DF-477B-8FF9-32959863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1085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26"/>
                </a:solidFill>
              </a:defRPr>
            </a:pPr>
            <a:r>
              <a:rPr sz="900" b="1">
                <a:solidFill>
                  <a:srgbClr val="E85D26"/>
                </a:solidFill>
              </a:rPr>
              <a:t>SQL Injection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A57D9F3-A348-403E-98C7-351D3112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62500"/>
            <a:ext cx="1428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E30E0BE-8234-4BD4-838D-EC0FF66C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12763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login/search input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18E1D0E-0FF7-482F-AF0E-079ED004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62500"/>
            <a:ext cx="2476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7233131-5E89-48D0-8E99-37FF0471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29175"/>
            <a:ext cx="2324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query nối chuỗi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731F99-F8C0-45AB-956A-C138A25B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62500"/>
            <a:ext cx="1571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44D7009-9E83-4EF5-AB38-5126297F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29175"/>
            <a:ext cx="14192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bypass · dữ liệu ngoài ý muốn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631E2CF-52EE-4301-A375-2D6545E4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762500"/>
            <a:ext cx="2238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303438B-D7EB-437F-B42C-919E1A2E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29175"/>
            <a:ext cx="20859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parameter binding · hash password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E2B5834-36C1-45BE-BFEC-0840837A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62500"/>
            <a:ext cx="22479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3D010F4-65BA-41E5-9B9D-A9292716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29175"/>
            <a:ext cx="2095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1→0 row; 8→0 row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169AA88-69B2-4306-88BF-E68B62AD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53075"/>
            <a:ext cx="1238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5048CC1-32D6-4963-B015-FC357F84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85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26"/>
                </a:solidFill>
              </a:defRPr>
            </a:pPr>
            <a:r>
              <a:rPr sz="900" b="1">
                <a:solidFill>
                  <a:srgbClr val="E85D26"/>
                </a:solidFill>
              </a:rPr>
              <a:t>Cookie Poisoning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D1B595A-3B0B-41F0-B2BD-8C07C1D0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553075"/>
            <a:ext cx="1428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CA58798-B764-4C5A-B2BB-9059624F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12763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cookie value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91BFEEC-A345-4563-8602-26D9B9AF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553075"/>
            <a:ext cx="2476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3504E10-207B-4356-AB48-787C69E7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2324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authorization tin role client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12A36E8-89F8-47FE-BC00-EBBA02FC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553075"/>
            <a:ext cx="1571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3A2BCFE-A75A-44D1-B50C-32717C50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9750"/>
            <a:ext cx="14192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leo quyền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54AC247-0EDC-4E15-AC93-0C4C2720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553075"/>
            <a:ext cx="22383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358EB3B-4B1B-470F-A60E-32947B56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619750"/>
            <a:ext cx="20859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signature/AEAD · server session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537A3B7-A0A1-46EC-AAA6-0BEA7CA6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553075"/>
            <a:ext cx="2247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29588DE-6687-417D-9FA1-F2B5FDAB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19750"/>
            <a:ext cx="2095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0ECE5"/>
                </a:solidFill>
              </a:defRPr>
            </a:pPr>
            <a:r>
              <a:rPr sz="788" b="0">
                <a:solidFill>
                  <a:srgbClr val="F0ECE5"/>
                </a:solidFill>
              </a:rPr>
              <a:t>tamper reject; DB role quyết định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5AA300D-843D-47B5-9053-91D0AE55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54F9E64-7759-499D-88D5-4D13B978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TOPIC04 · WEB SECURITY LABS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71307A0-EBC1-444D-841A-9C288BA7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6B0A8"/>
                </a:solidFill>
              </a:defRPr>
            </a:pPr>
            <a:r>
              <a:rPr sz="600" b="1">
                <a:solidFill>
                  <a:srgbClr val="B6B0A8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74839694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E85D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90645D-3AAF-4258-AD7C-A5FFA2C8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26"/>
                </a:solidFill>
              </a:defRPr>
            </a:pPr>
            <a:r>
              <a:rPr sz="750" b="1">
                <a:solidFill>
                  <a:srgbClr val="E85D26"/>
                </a:solidFill>
              </a:rPr>
              <a:t>PHẦN H · KẾT LUẬN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E5711-5A21-4B6F-A43A-7C03E43D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6B0A8"/>
                </a:solidFill>
              </a:defRPr>
            </a:pPr>
            <a:r>
              <a:rPr sz="750" b="1">
                <a:solidFill>
                  <a:srgbClr val="B6B0A8"/>
                </a:solidFill>
              </a:rPr>
              <a:t>30 /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5E91B-0985-40F3-81D9-EED07800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935"/>
          </a:solidFill>
          <a:ln xmlns:a="http://schemas.openxmlformats.org/drawingml/2006/main" w="0">
            <a:solidFill>
              <a:srgbClr val="3B39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39BD7-2FEE-4B10-8A41-F23785C2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Dữ liệu từ người dùng là không đáng tin cậy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F140C-0C70-406A-AD11-2C01A30E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5970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64409-0842-4AD0-93EE-AEAD9CD5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44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VULNERABLE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24302-97BD-4643-9F59-C8D16E48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950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4DAE7-9D88-4D65-A844-41C89F3C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175" y="1143000"/>
            <a:ext cx="15970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EEB5E-0127-49A0-9B7D-E3F381BC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375" y="1219200"/>
            <a:ext cx="144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8505E-F009-42A5-B122-0DCAF96D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82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F6515-7C0E-44AE-BC21-8CEC95F8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1143000"/>
            <a:ext cx="15970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92F00-E33D-4272-9EDB-CB2604AF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219200"/>
            <a:ext cx="144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3B3DF-B52F-44DF-8619-1F11506C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F6B6F-280B-4549-A053-56C830E7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143000"/>
            <a:ext cx="15970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A2CB2-6375-4E05-B89B-AF1120AB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19200"/>
            <a:ext cx="144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PATCH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F85A1-1D49-483E-ACE5-E4C288B1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575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CBD46-B2FE-4D5B-910D-6E501808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143000"/>
            <a:ext cx="15970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F2E40E-8C0D-4080-96E4-8117BC2F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1219200"/>
            <a:ext cx="144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RETEST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504DFA-2543-4040-81B9-720ADEC0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50" y="14954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EB04F0-ACAC-4332-B88D-AB4BFDC5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75" y="1143000"/>
            <a:ext cx="15970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BDB66-47A2-4FBF-A6A2-D87ACF64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75" y="1219200"/>
            <a:ext cx="144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SECURE VERDICT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154D8A-30E9-4043-A2F6-61F5FAFB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524500" cy="440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843BD5-11A6-4D3F-A84A-A3248470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71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213367-EDC7-4222-BDE0-222053E3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Năm nguyên tắc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DFA30E-C364-4213-A4EF-B8BE1739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Client không phải vùng tin cậy.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6EF3B4-4D32-4BC2-9581-204DB078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2613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Validation không thay authorization.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AF82C0-55CA-481B-87EB-DF43BE57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956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Input validation không thay output encoding.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A125D2-E257-4B66-B013-C7FFB006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299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Parameter binding tách code khỏi data.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26371C-1320-4909-9F33-1645B9C7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4642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Server kiểm tra quyền trên từng request.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0308EB-E6C5-4881-88EF-DD4E034B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524500" cy="440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93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AE12C8-C8AD-4750-952F-4CC49F23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71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solidFill>
              <a:srgbClr val="E85D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152929-D74D-4E48-99C6-DACB8E0E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ECE5"/>
                </a:solidFill>
              </a:defRPr>
            </a:pPr>
            <a:r>
              <a:rPr sz="1350" b="1">
                <a:solidFill>
                  <a:srgbClr val="F0ECE5"/>
                </a:solidFill>
              </a:rPr>
              <a:t>Chu trình cuối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99C6F2-4521-4C54-B76B-EB89D8BF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Vulnerable → Demo →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CE3A7C-38B3-475D-999B-6AD0EB2F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2613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Evidence → Patch → Retest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7FA0F8-72C6-436A-B9F4-522B7505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956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Retest → Secure Verdict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8CBFE5-C31B-4A4E-9451-03C95BDA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7299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Xác thực · phân quyền · kiểm tra toàn vẹn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CE59DA-006D-4851-B226-A7F7974C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4642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ECE5"/>
                </a:solidFill>
              </a:defRPr>
            </a:pPr>
            <a:r>
              <a:rPr sz="1050" b="0">
                <a:solidFill>
                  <a:srgbClr val="F0ECE5"/>
                </a:solidFill>
              </a:rPr>
              <a:t>/ trên từng request.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900AC1-7940-4B4B-A3C9-6CC64D07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3219"/>
          </a:solidFill>
          <a:ln xmlns:a="http://schemas.openxmlformats.org/drawingml/2006/main" w="0">
            <a:solidFill>
              <a:srgbClr val="7A321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92ED7B-F7C4-4816-AA5F-C10CF179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0"/>
            <a:ext cx="3810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A3219"/>
                </a:solidFill>
              </a:defRPr>
            </a:pPr>
            <a:r>
              <a:rPr sz="600" b="1">
                <a:solidFill>
                  <a:srgbClr val="7A3219"/>
                </a:solidFill>
              </a:rPr>
              <a:t>TOPIC04 · WEB SECURITY LABS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FA6E00-03EF-423A-89A5-4D17FCB1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0"/>
            <a:ext cx="3124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7A3219"/>
                </a:solidFill>
              </a:defRPr>
            </a:pPr>
            <a:r>
              <a:rPr sz="600" b="1">
                <a:solidFill>
                  <a:srgbClr val="7A3219"/>
                </a:solidFill>
              </a:rPr>
              <a:t>LOCAL LAB · SOURCE + EVIDENCE</a:t>
            </a:r>
          </a:p>
        </p:txBody>
      </p:sp>
    </p:spTree>
    <p:extLst>
      <p:ext uri="{BB962C8B-B14F-4D97-AF65-F5344CB8AC3E}">
        <p14:creationId xmlns:p14="http://schemas.microsoft.com/office/powerpoint/2010/main" val="208110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2026-08-02T19:38:27.8460000Z</dcterms:created>
  <dcterms:modified xsi:type="dcterms:W3CDTF">2026-08-02T19:38:27.8460000Z</dcterms:modified>
</coreProperties>
</file>